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1"/>
  </p:notesMasterIdLst>
  <p:sldIdLst>
    <p:sldId id="256" r:id="rId2"/>
    <p:sldId id="258" r:id="rId3"/>
    <p:sldId id="261" r:id="rId4"/>
    <p:sldId id="263" r:id="rId5"/>
    <p:sldId id="280" r:id="rId6"/>
    <p:sldId id="270" r:id="rId7"/>
    <p:sldId id="278" r:id="rId8"/>
    <p:sldId id="279" r:id="rId9"/>
    <p:sldId id="26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1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B94DB-05CB-8F42-A860-B2E7B981DE6A}" type="datetimeFigureOut">
              <a:rPr lang="de-DE" smtClean="0"/>
              <a:t>04.11.24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04245-8C7A-DF43-83DB-AEDABF3CF0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0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Zusammenfassung in einem Satz: This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measure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measures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importance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of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words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within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documents</a:t>
            </a:r>
            <a:r>
              <a:rPr lang="de-D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04245-8C7A-DF43-83DB-AEDABF3CF02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22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04245-8C7A-DF43-83DB-AEDABF3CF02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96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24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0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11/4/24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7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86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5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9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7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76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11/4/24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‹Nr.›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7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2" name="Rectangle 106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30" name="Picture 6" descr="Ein Bild, das Text, Handschrift, Schrift, Screenshot enthält.&#10;&#10;Automatisch generierte Beschreibung">
            <a:extLst>
              <a:ext uri="{FF2B5EF4-FFF2-40B4-BE49-F238E27FC236}">
                <a16:creationId xmlns:a16="http://schemas.microsoft.com/office/drawing/2014/main" id="{DD34DDF5-ADA5-98D3-5631-91F30A59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/>
        </p:blipFill>
        <p:spPr bwMode="auto">
          <a:xfrm>
            <a:off x="1524" y="10"/>
            <a:ext cx="121889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Freeform: Shape 1063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6" name="Freeform: Shape 1065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68" name="Freeform: Shape 1067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0" name="Freeform: Shape 1069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72" name="Freeform: Shape 1071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3249BC-C69F-2340-C4BD-56199D23A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496" y="1384368"/>
            <a:ext cx="8718550" cy="3125338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de-DE" sz="2400" u="sng" dirty="0" err="1"/>
              <a:t>Advanced</a:t>
            </a:r>
            <a:r>
              <a:rPr lang="de-DE" sz="2400" u="sng" dirty="0"/>
              <a:t> Big Data Analysis</a:t>
            </a:r>
            <a:br>
              <a:rPr lang="de-DE" sz="2400" u="sng" dirty="0"/>
            </a:br>
            <a:br>
              <a:rPr lang="de-DE" sz="3200" dirty="0"/>
            </a:br>
            <a:r>
              <a:rPr lang="de-DE" sz="3200" dirty="0" err="1"/>
              <a:t>Efficient</a:t>
            </a:r>
            <a:r>
              <a:rPr lang="de-DE" sz="3200" dirty="0"/>
              <a:t> </a:t>
            </a:r>
            <a:r>
              <a:rPr lang="de-DE" sz="3200" dirty="0" err="1"/>
              <a:t>Computation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PageRank and </a:t>
            </a:r>
            <a:br>
              <a:rPr lang="de-DE" sz="3200" dirty="0"/>
            </a:br>
            <a:r>
              <a:rPr lang="de-DE" sz="3200" dirty="0"/>
              <a:t>Topic-Sensitive Page Rank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CC30A0A-A979-5125-E32F-06221AC08CF5}"/>
              </a:ext>
            </a:extLst>
          </p:cNvPr>
          <p:cNvSpPr txBox="1"/>
          <p:nvPr/>
        </p:nvSpPr>
        <p:spPr>
          <a:xfrm>
            <a:off x="4211472" y="5083688"/>
            <a:ext cx="335059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14.10.2024</a:t>
            </a:r>
          </a:p>
          <a:p>
            <a:pPr algn="ctr"/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Niklas Mezger</a:t>
            </a:r>
            <a:endParaRPr lang="de-DE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Student Number: 202450049</a:t>
            </a:r>
            <a:endParaRPr lang="de-DE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939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BEFA7-ED0A-015E-2098-42C6EEBE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686265"/>
            <a:ext cx="8770571" cy="1345269"/>
          </a:xfrm>
        </p:spPr>
        <p:txBody>
          <a:bodyPr>
            <a:normAutofit fontScale="90000"/>
          </a:bodyPr>
          <a:lstStyle/>
          <a:p>
            <a:r>
              <a:rPr lang="de-DE" b="1" i="0" u="none" strike="noStrike" dirty="0">
                <a:solidFill>
                  <a:srgbClr val="030712"/>
                </a:solidFill>
                <a:effectLst/>
                <a:latin typeface="+mn-lt"/>
              </a:rPr>
              <a:t>The Challenge: Computing PageRank at Web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Scale</a:t>
            </a:r>
            <a:endParaRPr lang="en-GB" sz="2200" dirty="0">
              <a:latin typeface="+mn-lt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472ADA-15D1-72FB-A093-70EC85010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240" y="2357437"/>
            <a:ext cx="8227060" cy="381429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The main challenges we face when computing PageRank are:</a:t>
            </a:r>
          </a:p>
          <a:p>
            <a:pPr algn="l"/>
            <a:r>
              <a:rPr lang="en-US" sz="2600" b="1" i="0" u="none" strike="noStrike" dirty="0">
                <a:solidFill>
                  <a:srgbClr val="030712"/>
                </a:solidFill>
                <a:effectLst/>
              </a:rPr>
              <a:t>1. Size of the Web:</a:t>
            </a:r>
            <a:endParaRPr lang="en-US" sz="2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The web contains billions of pages</a:t>
            </a: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The transition matrix would be enormous - billions by billions</a:t>
            </a: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Most entries in this matrix would be zero</a:t>
            </a:r>
          </a:p>
          <a:p>
            <a:pPr algn="l"/>
            <a:r>
              <a:rPr lang="en-US" sz="2600" b="1" i="0" u="none" strike="noStrike" dirty="0">
                <a:solidFill>
                  <a:srgbClr val="030712"/>
                </a:solidFill>
                <a:effectLst/>
              </a:rPr>
              <a:t>2. Memory Limitations:</a:t>
            </a:r>
            <a:endParaRPr lang="en-US" sz="2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Even modern computers cannot hold the entire matrix in memory</a:t>
            </a: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Loading parts from disk is too slow (called thrashing)</a:t>
            </a:r>
          </a:p>
          <a:p>
            <a:pPr algn="l"/>
            <a:r>
              <a:rPr lang="en-US" sz="2600" b="0" i="0" u="none" strike="noStrike" dirty="0">
                <a:solidFill>
                  <a:srgbClr val="030712"/>
                </a:solidFill>
                <a:effectLst/>
              </a:rPr>
              <a:t>• We need smart solutions to handle these limitations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90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4E8FD-7D52-547C-A38A-02A4FD0A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i="0" u="none" strike="noStrike" dirty="0">
                <a:solidFill>
                  <a:srgbClr val="030712"/>
                </a:solidFill>
                <a:effectLst/>
                <a:latin typeface="+mn-lt"/>
              </a:rPr>
              <a:t>Solution Part 1: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Efficient</a:t>
            </a:r>
            <a:r>
              <a:rPr lang="de-DE" b="1" i="0" u="none" strike="noStrike" dirty="0">
                <a:solidFill>
                  <a:srgbClr val="030712"/>
                </a:solidFill>
                <a:effectLst/>
                <a:latin typeface="+mn-lt"/>
              </a:rPr>
              <a:t> Matrix Storage</a:t>
            </a:r>
            <a:endParaRPr lang="en-GB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F6FE97-C66F-56B3-21F8-B53B0C455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2364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Instead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storing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entire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matrix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can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store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it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more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efficiently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:</a:t>
            </a:r>
          </a:p>
          <a:p>
            <a:pPr algn="l"/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each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web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page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only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store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The total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number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outgoing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links (out-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degree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)</a:t>
            </a: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The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list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it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links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(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destinations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)</a:t>
            </a:r>
          </a:p>
          <a:p>
            <a:pPr algn="l"/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This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saves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enormous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amounts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space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because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:</a:t>
            </a: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don't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store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any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zero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entries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don't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repeatedly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store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same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fraction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(1/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degree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C5B43C-61B6-1EA3-E1D4-72DC884C0547}"/>
              </a:ext>
            </a:extLst>
          </p:cNvPr>
          <p:cNvSpPr txBox="1"/>
          <p:nvPr/>
        </p:nvSpPr>
        <p:spPr>
          <a:xfrm>
            <a:off x="2163127" y="4144656"/>
            <a:ext cx="4855369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Example</a:t>
            </a:r>
            <a:r>
              <a:rPr lang="de-DE" sz="1500" b="1" dirty="0">
                <a:solidFill>
                  <a:srgbClr val="030712"/>
                </a:solidFill>
              </a:rPr>
              <a:t> </a:t>
            </a:r>
            <a:r>
              <a:rPr lang="de-DE" sz="1500" b="1" dirty="0" err="1">
                <a:solidFill>
                  <a:srgbClr val="030712"/>
                </a:solidFill>
              </a:rPr>
              <a:t>Efficient</a:t>
            </a:r>
            <a:r>
              <a:rPr lang="de-DE" sz="1500" b="1" dirty="0">
                <a:solidFill>
                  <a:srgbClr val="030712"/>
                </a:solidFill>
              </a:rPr>
              <a:t> Storage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Page A: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degree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=3, links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→ [B, C, D]</a:t>
            </a: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Page B: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degree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=2, links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→ [A, D]</a:t>
            </a: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Page C: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degree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=1, links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→ [A]</a:t>
            </a:r>
            <a:endParaRPr lang="de-DE" sz="1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6DC0271-6E3F-95DD-B0BB-2BDE30AFE51D}"/>
                  </a:ext>
                </a:extLst>
              </p:cNvPr>
              <p:cNvSpPr txBox="1"/>
              <p:nvPr/>
            </p:nvSpPr>
            <p:spPr>
              <a:xfrm>
                <a:off x="7800925" y="3983363"/>
                <a:ext cx="3104198" cy="13382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500" b="1" i="0" u="none" strike="noStrike" dirty="0">
                    <a:solidFill>
                      <a:srgbClr val="030712"/>
                    </a:solidFill>
                    <a:effectLst/>
                  </a:rPr>
                  <a:t>Example</a:t>
                </a:r>
                <a:r>
                  <a:rPr lang="de-DE" sz="1500" b="1" dirty="0">
                    <a:solidFill>
                      <a:srgbClr val="030712"/>
                    </a:solidFill>
                  </a:rPr>
                  <a:t> Traditional Storage</a:t>
                </a:r>
                <a:endParaRPr lang="de-DE" sz="1500" b="0" i="0" u="none" strike="noStrike" dirty="0">
                  <a:solidFill>
                    <a:srgbClr val="030712"/>
                  </a:solidFill>
                  <a:effectLst/>
                </a:endParaRPr>
              </a:p>
              <a:p>
                <a:pPr algn="l"/>
                <a:r>
                  <a:rPr lang="de-DE" sz="1600" dirty="0"/>
                  <a:t>[ 0 ½ 1 0</a:t>
                </a:r>
              </a:p>
              <a:p>
                <a:pPr algn="l"/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e-DE" sz="1600" dirty="0"/>
                  <a:t> 0 0 ½</a:t>
                </a:r>
              </a:p>
              <a:p>
                <a:pPr algn="l"/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e-DE" sz="1600" dirty="0"/>
                  <a:t> 0 0 ½</a:t>
                </a:r>
              </a:p>
              <a:p>
                <a:pPr algn="l"/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de-DE" sz="1600" dirty="0"/>
                  <a:t> ½ 0 0 ]</a:t>
                </a:r>
                <a:endParaRPr lang="de-DE" sz="15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6DC0271-6E3F-95DD-B0BB-2BDE30AF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925" y="3983363"/>
                <a:ext cx="3104198" cy="1338251"/>
              </a:xfrm>
              <a:prstGeom prst="rect">
                <a:avLst/>
              </a:prstGeom>
              <a:blipFill>
                <a:blip r:embed="rId2"/>
                <a:stretch>
                  <a:fillRect l="-5306" t="-935" b="-4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81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05B44-2772-A62D-4BD9-7EBC1B7E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de-DE" sz="2900" b="1" i="0" u="none" strike="noStrike" dirty="0">
                <a:solidFill>
                  <a:srgbClr val="030712"/>
                </a:solidFill>
                <a:effectLst/>
                <a:latin typeface="+mn-lt"/>
              </a:rPr>
              <a:t>Solution Part 2: The Block-Stripe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78ECFE-6672-28DA-3064-08CCDEAF0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40" y="2438400"/>
            <a:ext cx="8569960" cy="378460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handle large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matrices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divide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into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smaller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blocks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:</a:t>
            </a:r>
          </a:p>
          <a:p>
            <a:pPr algn="l"/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How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it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works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Divide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matrix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into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k²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blocks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Each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block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handles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portion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source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and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destination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Blocks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can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processed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independently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Benefits: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Each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block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is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small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enough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fit in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memory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Can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process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blocks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in parallel on different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machines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Reduces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amount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data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that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needs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transferred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074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D6363-8EA6-4161-4DBA-7D8D5418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i="0" u="none" strike="noStrike" dirty="0">
                <a:solidFill>
                  <a:srgbClr val="030712"/>
                </a:solidFill>
                <a:effectLst/>
                <a:latin typeface="+mn-lt"/>
              </a:rPr>
              <a:t>Block-Stripe Method: A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Practical</a:t>
            </a:r>
            <a:r>
              <a:rPr lang="de-DE" b="1" i="0" u="none" strike="noStrike" dirty="0">
                <a:solidFill>
                  <a:srgbClr val="030712"/>
                </a:solidFill>
                <a:effectLst/>
                <a:latin typeface="+mn-lt"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Example</a:t>
            </a:r>
            <a:endParaRPr lang="en-US" dirty="0">
              <a:latin typeface="+mn-lt"/>
            </a:endParaRPr>
          </a:p>
        </p:txBody>
      </p:sp>
      <p:pic>
        <p:nvPicPr>
          <p:cNvPr id="6" name="Inhaltsplatzhalter 5" descr="Ein Bild, das Text, Screenshot, Zahl, Schrift enthält.&#10;&#10;Automatisch generierte Beschreibung">
            <a:extLst>
              <a:ext uri="{FF2B5EF4-FFF2-40B4-BE49-F238E27FC236}">
                <a16:creationId xmlns:a16="http://schemas.microsoft.com/office/drawing/2014/main" id="{E971226F-69EC-349E-DCD8-04A057351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07406" y="2538413"/>
            <a:ext cx="4101737" cy="3657600"/>
          </a:xfr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D0DF9D-373D-C9DA-5E15-042F22861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35480" y="2519362"/>
            <a:ext cx="4879658" cy="3657601"/>
          </a:xfrm>
        </p:spPr>
        <p:txBody>
          <a:bodyPr>
            <a:normAutofit fontScale="77500" lnSpcReduction="20000"/>
          </a:bodyPr>
          <a:lstStyle/>
          <a:p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Let's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look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at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how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divide a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matrix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a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small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web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with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4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pages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(A, B, C, D):</a:t>
            </a:r>
          </a:p>
          <a:p>
            <a:pPr algn="l"/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How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it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works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Each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block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represents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links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between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specific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group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source and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destination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Block M₁₁: Links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from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A,B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A,B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Block M₁₂: Links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from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C,D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A,B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Block M₂₁: Links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from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A,B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C,D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Block M₂₂: Links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from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C,D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C,D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7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57A8-2152-E403-8483-E6C682B6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60CF91-A2F3-1152-22EC-52BD9688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de-DE" sz="2900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How</a:t>
            </a:r>
            <a:r>
              <a:rPr lang="de-DE" sz="2900" b="1" i="0" u="none" strike="noStrike" dirty="0">
                <a:solidFill>
                  <a:srgbClr val="030712"/>
                </a:solidFill>
                <a:effectLst/>
                <a:latin typeface="+mn-lt"/>
              </a:rPr>
              <a:t> Topic-Sensitive PageRank 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54986F-25C5-48C3-78D3-570FBC9A0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239" y="2424112"/>
            <a:ext cx="8770571" cy="3784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Instead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one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PageRank,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we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compute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multiple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PageRanks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1.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Choose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different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(like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sports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technology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cooking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)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2.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each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: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Identify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trusted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about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that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Make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random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surfers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prefer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these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pages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Calculate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a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special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PageRank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this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When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a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user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rgbClr val="030712"/>
                </a:solidFill>
                <a:effectLst/>
              </a:rPr>
              <a:t>searches</a:t>
            </a:r>
            <a:r>
              <a:rPr lang="de-DE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1.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Determine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likely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their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search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2. Use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corresponding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topic-specific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PageRank</a:t>
            </a:r>
          </a:p>
          <a:p>
            <a:pPr algn="l"/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3. Return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more</a:t>
            </a:r>
            <a:r>
              <a:rPr lang="de-DE" b="0" i="0" u="none" strike="noStrike" dirty="0">
                <a:solidFill>
                  <a:srgbClr val="030712"/>
                </a:solidFill>
                <a:effectLst/>
              </a:rPr>
              <a:t> relevant </a:t>
            </a:r>
            <a:r>
              <a:rPr lang="de-DE" b="0" i="0" u="none" strike="noStrike" dirty="0" err="1">
                <a:solidFill>
                  <a:srgbClr val="030712"/>
                </a:solidFill>
                <a:effectLst/>
              </a:rPr>
              <a:t>results</a:t>
            </a:r>
            <a:endParaRPr lang="de-DE" b="0" i="0" u="none" strike="noStrike" dirty="0">
              <a:solidFill>
                <a:srgbClr val="03071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905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2BF2-ECF4-DECD-10D8-B563394A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50E8E-2267-458C-60FF-CA8C3CB9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de-DE" sz="2900" b="1" i="0" u="none" strike="noStrike" dirty="0" err="1">
                <a:solidFill>
                  <a:srgbClr val="030712"/>
                </a:solidFill>
                <a:effectLst/>
                <a:latin typeface="+mn-lt"/>
              </a:rPr>
              <a:t>Implementing</a:t>
            </a:r>
            <a:r>
              <a:rPr lang="de-DE" sz="2900" b="1" i="0" u="none" strike="noStrike" dirty="0">
                <a:solidFill>
                  <a:srgbClr val="030712"/>
                </a:solidFill>
                <a:effectLst/>
                <a:latin typeface="+mn-lt"/>
              </a:rPr>
              <a:t> Topic-Sensitive PageRank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B91D7E-5108-0F38-E997-0DA9B7A1C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5705" y="2523754"/>
            <a:ext cx="3895106" cy="2461718"/>
          </a:xfrm>
        </p:spPr>
        <p:txBody>
          <a:bodyPr>
            <a:normAutofit/>
          </a:bodyPr>
          <a:lstStyle/>
          <a:p>
            <a:pPr algn="l"/>
            <a:r>
              <a:rPr lang="de-DE" sz="1500" b="1" i="0" u="none" strike="noStrike" dirty="0" err="1">
                <a:solidFill>
                  <a:srgbClr val="030712"/>
                </a:solidFill>
                <a:effectLst/>
                <a:latin typeface="+mj-lt"/>
              </a:rPr>
              <a:t>Step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  <a:latin typeface="+mj-lt"/>
              </a:rPr>
              <a:t> 3: Query Processing</a:t>
            </a:r>
            <a:endParaRPr lang="de-DE" sz="1500" b="0" i="0" u="none" strike="noStrike" dirty="0">
              <a:solidFill>
                <a:srgbClr val="030712"/>
              </a:solidFill>
              <a:effectLst/>
              <a:latin typeface="+mj-lt"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• Analyze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query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words</a:t>
            </a:r>
            <a:endParaRPr lang="de-DE" sz="1500" b="0" i="0" u="none" strike="noStrike" dirty="0">
              <a:solidFill>
                <a:srgbClr val="030712"/>
              </a:solidFill>
              <a:effectLst/>
              <a:latin typeface="+mj-lt"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• Match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to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most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 relevant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topic</a:t>
            </a:r>
            <a:endParaRPr lang="de-DE" sz="1500" b="0" i="0" u="none" strike="noStrike" dirty="0">
              <a:solidFill>
                <a:srgbClr val="030712"/>
              </a:solidFill>
              <a:effectLst/>
              <a:latin typeface="+mj-lt"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• Use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corresponding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  <a:latin typeface="+mj-lt"/>
              </a:rPr>
              <a:t> PageRank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  <a:latin typeface="+mj-lt"/>
              </a:rPr>
              <a:t>vector</a:t>
            </a:r>
            <a:endParaRPr lang="de-DE" sz="1500" b="0" i="0" u="none" strike="noStrike" dirty="0">
              <a:solidFill>
                <a:srgbClr val="030712"/>
              </a:solidFill>
              <a:effectLst/>
              <a:latin typeface="+mj-lt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D6BBFC6-79DC-715D-867A-2F278B977B8E}"/>
              </a:ext>
            </a:extLst>
          </p:cNvPr>
          <p:cNvSpPr txBox="1">
            <a:spLocks/>
          </p:cNvSpPr>
          <p:nvPr/>
        </p:nvSpPr>
        <p:spPr>
          <a:xfrm>
            <a:off x="2071689" y="2562225"/>
            <a:ext cx="5158740" cy="3784600"/>
          </a:xfrm>
          <a:prstGeom prst="rect">
            <a:avLst/>
          </a:prstGeom>
        </p:spPr>
        <p:txBody>
          <a:bodyPr vert="horz" lIns="109728" tIns="109728" rIns="109728" bIns="9144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 err="1">
                <a:solidFill>
                  <a:srgbClr val="030712"/>
                </a:solidFill>
                <a:latin typeface="+mj-lt"/>
              </a:rPr>
              <a:t>Step</a:t>
            </a:r>
            <a:r>
              <a:rPr lang="de-DE" b="1" dirty="0">
                <a:solidFill>
                  <a:srgbClr val="030712"/>
                </a:solidFill>
                <a:latin typeface="+mj-lt"/>
              </a:rPr>
              <a:t> 1: </a:t>
            </a:r>
            <a:r>
              <a:rPr lang="de-DE" b="1" dirty="0" err="1">
                <a:solidFill>
                  <a:srgbClr val="030712"/>
                </a:solidFill>
                <a:latin typeface="+mj-lt"/>
              </a:rPr>
              <a:t>Creating</a:t>
            </a:r>
            <a:r>
              <a:rPr lang="de-DE" b="1" dirty="0">
                <a:solidFill>
                  <a:srgbClr val="030712"/>
                </a:solidFill>
                <a:latin typeface="+mj-lt"/>
              </a:rPr>
              <a:t> Topic Sets</a:t>
            </a:r>
            <a:endParaRPr lang="de-DE" dirty="0">
              <a:solidFill>
                <a:srgbClr val="030712"/>
              </a:solidFill>
              <a:latin typeface="+mj-lt"/>
            </a:endParaRP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Use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established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directories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like DMOZ</a:t>
            </a: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Choose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16-20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major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topics</a:t>
            </a:r>
            <a:endParaRPr lang="de-DE" dirty="0">
              <a:solidFill>
                <a:srgbClr val="030712"/>
              </a:solidFill>
              <a:latin typeface="+mj-lt"/>
            </a:endParaRP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Identify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key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pages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for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each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topic</a:t>
            </a:r>
            <a:endParaRPr lang="de-DE" dirty="0">
              <a:solidFill>
                <a:srgbClr val="030712"/>
              </a:solidFill>
              <a:latin typeface="+mj-lt"/>
            </a:endParaRPr>
          </a:p>
          <a:p>
            <a:r>
              <a:rPr lang="de-DE" b="1" dirty="0" err="1">
                <a:solidFill>
                  <a:srgbClr val="030712"/>
                </a:solidFill>
                <a:latin typeface="+mj-lt"/>
              </a:rPr>
              <a:t>Step</a:t>
            </a:r>
            <a:r>
              <a:rPr lang="de-DE" b="1" dirty="0">
                <a:solidFill>
                  <a:srgbClr val="030712"/>
                </a:solidFill>
                <a:latin typeface="+mj-lt"/>
              </a:rPr>
              <a:t> 2: </a:t>
            </a:r>
            <a:r>
              <a:rPr lang="de-DE" b="1" dirty="0" err="1">
                <a:solidFill>
                  <a:srgbClr val="030712"/>
                </a:solidFill>
                <a:latin typeface="+mj-lt"/>
              </a:rPr>
              <a:t>Modified</a:t>
            </a:r>
            <a:r>
              <a:rPr lang="de-DE" b="1" dirty="0">
                <a:solidFill>
                  <a:srgbClr val="030712"/>
                </a:solidFill>
                <a:latin typeface="+mj-lt"/>
              </a:rPr>
              <a:t> Random Walk</a:t>
            </a:r>
            <a:endParaRPr lang="de-DE" dirty="0">
              <a:solidFill>
                <a:srgbClr val="030712"/>
              </a:solidFill>
              <a:latin typeface="+mj-lt"/>
            </a:endParaRP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Random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surfers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teleport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only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to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topic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pages</a:t>
            </a:r>
            <a:endParaRPr lang="de-DE" dirty="0">
              <a:solidFill>
                <a:srgbClr val="030712"/>
              </a:solidFill>
              <a:latin typeface="+mj-lt"/>
            </a:endParaRP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Formula: v' = </a:t>
            </a:r>
            <a:r>
              <a:rPr lang="el-GR" dirty="0">
                <a:solidFill>
                  <a:srgbClr val="030712"/>
                </a:solidFill>
                <a:latin typeface="+mj-lt"/>
              </a:rPr>
              <a:t>β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Mv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+ (1-</a:t>
            </a:r>
            <a:r>
              <a:rPr lang="el-GR" dirty="0">
                <a:solidFill>
                  <a:srgbClr val="030712"/>
                </a:solidFill>
                <a:latin typeface="+mj-lt"/>
              </a:rPr>
              <a:t>β)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e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ₛ/|S|</a:t>
            </a:r>
          </a:p>
          <a:p>
            <a:r>
              <a:rPr lang="de-DE" dirty="0">
                <a:solidFill>
                  <a:srgbClr val="030712"/>
                </a:solidFill>
                <a:latin typeface="+mj-lt"/>
              </a:rPr>
              <a:t>• S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is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the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set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of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pages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about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the</a:t>
            </a:r>
            <a:r>
              <a:rPr lang="de-DE" dirty="0">
                <a:solidFill>
                  <a:srgbClr val="030712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30712"/>
                </a:solidFill>
                <a:latin typeface="+mj-lt"/>
              </a:rPr>
              <a:t>topic</a:t>
            </a:r>
            <a:endParaRPr lang="de-DE" dirty="0">
              <a:solidFill>
                <a:srgbClr val="03071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771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939E-1221-02F3-A819-6B05A449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3B31D-4723-9BF8-EF89-A61C31B9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9038273" cy="1345269"/>
          </a:xfrm>
        </p:spPr>
        <p:txBody>
          <a:bodyPr>
            <a:normAutofit/>
          </a:bodyPr>
          <a:lstStyle/>
          <a:p>
            <a:r>
              <a:rPr lang="de-DE" sz="2900" dirty="0"/>
              <a:t>Summary</a:t>
            </a:r>
            <a:endParaRPr lang="de-DE" sz="29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FA1377-6CE0-DAA7-3E8A-DFAA9E866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3523" y="2424112"/>
            <a:ext cx="5215890" cy="1905001"/>
          </a:xfrm>
        </p:spPr>
        <p:txBody>
          <a:bodyPr>
            <a:noAutofit/>
          </a:bodyPr>
          <a:lstStyle/>
          <a:p>
            <a:pPr algn="l"/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Efficient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Computation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Store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matrices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sparsely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Use block-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stripe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method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Distribute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computation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across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machines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50C9DAB-F88F-2952-C6F2-5C1D77F14A60}"/>
              </a:ext>
            </a:extLst>
          </p:cNvPr>
          <p:cNvSpPr txBox="1">
            <a:spLocks/>
          </p:cNvSpPr>
          <p:nvPr/>
        </p:nvSpPr>
        <p:spPr>
          <a:xfrm>
            <a:off x="6439376" y="2476499"/>
            <a:ext cx="4239101" cy="1905001"/>
          </a:xfrm>
          <a:prstGeom prst="rect">
            <a:avLst/>
          </a:prstGeom>
        </p:spPr>
        <p:txBody>
          <a:bodyPr vert="horz" lIns="109728" tIns="109728" rIns="109728" bIns="9144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For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</a:rPr>
              <a:t> Topic </a:t>
            </a:r>
            <a:r>
              <a:rPr lang="de-DE" sz="1500" b="1" i="0" u="none" strike="noStrike" dirty="0" err="1">
                <a:solidFill>
                  <a:srgbClr val="030712"/>
                </a:solidFill>
                <a:effectLst/>
              </a:rPr>
              <a:t>Sensitivity</a:t>
            </a:r>
            <a:r>
              <a:rPr lang="de-DE" sz="1500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Create multiple PageRank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vectors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Use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topic-specific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teleport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sets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• Match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queries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5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500" b="0" i="0" u="none" strike="noStrike" dirty="0" err="1">
                <a:solidFill>
                  <a:srgbClr val="030712"/>
                </a:solidFill>
                <a:effectLst/>
              </a:rPr>
              <a:t>topics</a:t>
            </a:r>
            <a:endParaRPr lang="de-DE" sz="1500" b="0" i="0" u="none" strike="noStrike" dirty="0">
              <a:solidFill>
                <a:srgbClr val="030712"/>
              </a:solidFill>
              <a:effectLst/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2EC3D23-C44C-DFFC-706B-B621AF082F00}"/>
              </a:ext>
            </a:extLst>
          </p:cNvPr>
          <p:cNvSpPr txBox="1">
            <a:spLocks/>
          </p:cNvSpPr>
          <p:nvPr/>
        </p:nvSpPr>
        <p:spPr>
          <a:xfrm>
            <a:off x="1637347" y="4400549"/>
            <a:ext cx="9041129" cy="1905001"/>
          </a:xfrm>
          <a:prstGeom prst="rect">
            <a:avLst/>
          </a:prstGeom>
        </p:spPr>
        <p:txBody>
          <a:bodyPr vert="horz" lIns="109728" tIns="109728" rIns="109728" bIns="9144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Together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,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these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improvements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make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search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1" i="0" u="none" strike="noStrike" dirty="0" err="1">
                <a:solidFill>
                  <a:srgbClr val="030712"/>
                </a:solidFill>
                <a:effectLst/>
              </a:rPr>
              <a:t>engines</a:t>
            </a:r>
            <a:r>
              <a:rPr lang="de-DE" sz="1600" b="1" i="0" u="none" strike="noStrike" dirty="0">
                <a:solidFill>
                  <a:srgbClr val="030712"/>
                </a:solidFill>
                <a:effectLst/>
              </a:rPr>
              <a:t>: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More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scalable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More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efficient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  <a:p>
            <a:pPr algn="l"/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• More relevant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to</a:t>
            </a:r>
            <a:r>
              <a:rPr lang="de-DE" sz="1600" b="0" i="0" u="none" strike="noStrike" dirty="0">
                <a:solidFill>
                  <a:srgbClr val="030712"/>
                </a:solidFill>
                <a:effectLst/>
              </a:rPr>
              <a:t> </a:t>
            </a:r>
            <a:r>
              <a:rPr lang="de-DE" sz="1600" b="0" i="0" u="none" strike="noStrike" dirty="0" err="1">
                <a:solidFill>
                  <a:srgbClr val="030712"/>
                </a:solidFill>
                <a:effectLst/>
              </a:rPr>
              <a:t>users</a:t>
            </a:r>
            <a:endParaRPr lang="de-DE" sz="1600" b="0" i="0" u="none" strike="noStrike" dirty="0">
              <a:solidFill>
                <a:srgbClr val="03071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495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8D2E6-1F3D-4494-BDE3-23062BD1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listening! </a:t>
            </a:r>
          </a:p>
        </p:txBody>
      </p:sp>
    </p:spTree>
    <p:extLst>
      <p:ext uri="{BB962C8B-B14F-4D97-AF65-F5344CB8AC3E}">
        <p14:creationId xmlns:p14="http://schemas.microsoft.com/office/powerpoint/2010/main" val="408622467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Macintosh PowerPoint</Application>
  <PresentationFormat>Breitbild</PresentationFormat>
  <Paragraphs>93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Meiryo</vt:lpstr>
      <vt:lpstr>Aptos</vt:lpstr>
      <vt:lpstr>Cambria Math</vt:lpstr>
      <vt:lpstr>Corbel</vt:lpstr>
      <vt:lpstr>Times New Roman</vt:lpstr>
      <vt:lpstr>SketchLinesVTI</vt:lpstr>
      <vt:lpstr>Advanced Big Data Analysis  Efficient Computation of PageRank and  Topic-Sensitive Page Rank </vt:lpstr>
      <vt:lpstr>The Challenge: Computing PageRank at Web Scale</vt:lpstr>
      <vt:lpstr>Solution Part 1: Efficient Matrix Storage</vt:lpstr>
      <vt:lpstr>Solution Part 2: The Block-Stripe Method</vt:lpstr>
      <vt:lpstr>Block-Stripe Method: A Practical Example</vt:lpstr>
      <vt:lpstr>How Topic-Sensitive PageRank Works</vt:lpstr>
      <vt:lpstr>Implementing Topic-Sensitive PageRank</vt:lpstr>
      <vt:lpstr>Summary</vt:lpstr>
      <vt:lpstr>Thanks for listening!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Mezger</dc:creator>
  <cp:lastModifiedBy>Niklas Mezger</cp:lastModifiedBy>
  <cp:revision>13</cp:revision>
  <dcterms:created xsi:type="dcterms:W3CDTF">2024-09-08T09:10:19Z</dcterms:created>
  <dcterms:modified xsi:type="dcterms:W3CDTF">2024-11-04T10:22:24Z</dcterms:modified>
</cp:coreProperties>
</file>