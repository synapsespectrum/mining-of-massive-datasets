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60" r:id="rId4"/>
    <p:sldId id="263" r:id="rId5"/>
    <p:sldId id="261" r:id="rId6"/>
    <p:sldId id="262" r:id="rId7"/>
    <p:sldId id="267" r:id="rId8"/>
    <p:sldId id="264" r:id="rId9"/>
    <p:sldId id="265" r:id="rId10"/>
    <p:sldId id="268" r:id="rId11"/>
    <p:sldId id="270" r:id="rId12"/>
    <p:sldId id="271" r:id="rId13"/>
    <p:sldId id="273" r:id="rId14"/>
    <p:sldId id="274" r:id="rId15"/>
    <p:sldId id="272" r:id="rId16"/>
    <p:sldId id="275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88738" autoAdjust="0"/>
  </p:normalViewPr>
  <p:slideViewPr>
    <p:cSldViewPr snapToGrid="0">
      <p:cViewPr>
        <p:scale>
          <a:sx n="64" d="100"/>
          <a:sy n="64" d="100"/>
        </p:scale>
        <p:origin x="228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F4C69-7D49-4BFC-9395-211E7BA39F60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47245-5357-41F1-B5E3-CC2404424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2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73763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6FA09-AA94-012E-75EA-90AF3840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40CE3A-263A-A9C5-3236-2A608EF07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E23DA9-369B-CE14-6120-504428CB8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80091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7840-BF15-FC65-48F7-D6316BCA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C0769A-2F25-22A9-9524-AD595A3F3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C7D76C-3877-915E-DD19-851C7BE3A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98723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5524-AA18-1A15-E8F9-4AEB153D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3152C6-436D-7FDD-41FF-B218E2C9C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E4C71F-D765-D88F-5BD6-133E43CF1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03183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E0335-CFAB-6AE4-8F0B-84DC16E8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D08F01-5C5E-0F4E-6786-2454B3892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C2B136-F96E-C07C-95CC-A6E0EA54C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21917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EB6B-45ED-14D7-3765-9E642069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A26FC9-82B2-5249-0D2B-F111ADF34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E2319C-2EF7-7B4F-F3E2-07EBB6942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30310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3F21-A6A2-1D7F-9CB0-57F8A45A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B0D0A8-1899-C1A0-007D-1BA70C9B4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2921C3-2DFD-89BD-62CA-4A5F03074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00319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EB48-2DC0-521E-21C7-2D2E708D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4DCE40-4F9C-BB58-232E-C14452C6E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12D5B2-AA54-DA6A-BAA9-552EAF401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79156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C8D3A-DA40-A6AC-034E-28437FAA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0936BE-A7BE-7111-30BC-CC19F0195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BDC5A0-FBE3-1ECE-1146-6A7DA275F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6777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4A8DB-86C8-8754-4C7D-7362D72A5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65A4D-DA6B-CC07-B9CC-A049213C4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5FA2D0-8CAF-893C-C0C2-28796B41C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69648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AE3E3-AA44-EB11-D741-6CB81C9C3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33AAC6-43FB-54E1-28B0-ECBA8B0EB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FFE3BE-60E7-D815-829A-DBB65027E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845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9FC7B-A71F-22A8-8F79-50A14BDC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B3C696-5574-7F39-E54F-BCB8B1691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8E1F06-557E-1923-5B6E-B9A31A8C4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19324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87345-E629-7C4D-AEF8-D0144186E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345A85-DCD4-5333-66F1-855786B20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BB97CB-359C-B721-B4FD-811730B66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62230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9FA19-08F0-F5DE-375D-61F5372A1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B9482D-1552-E517-7FAD-D2E6C9146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2A2774-926C-E61A-DC5A-0E276C84B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5293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467A1-214E-06E8-E766-74E437DF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6096A3-D970-BCB9-5A5C-84DA68C29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9F1175-68A5-198E-DE87-B29330F58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415102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EBE3-119D-258A-9C25-219AC23BF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63B9EE-9F3A-F3D9-B399-983A9060D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E7DDC0-DB12-BFD9-7637-0B5EF9D3D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12005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B358-E497-D097-3034-9A0ECE9D1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07B8B-C915-ABE2-AF5F-A8760FC35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448D39-4AC0-0053-65FB-5CB3C8B4F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919765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FC612-260D-057E-CE09-76BC33D1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6EBDF1-D703-D791-BE1F-9EE89A4C3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35BFB8-3F8A-F1B7-7759-5E5FFCAB7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63199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B9B4-E981-D4DB-E030-A5DC1D57D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0F583D-EBC7-90B8-BACF-B30145188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4EAF3-E9D4-6CCD-F451-4C40CAE2F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01167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6EAE-D22E-8483-FDAA-E1C83EB51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08644-115E-E77E-BCF0-709300907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6770E-2D9D-2913-ABD9-88E9F8C1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915F3-5E34-ED96-9E68-265CD15D4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544B2-0CBF-3CD2-CB0D-5F964E3D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95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2BC5-03D5-2CE3-BC72-89B1A9E2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B25C5-5D5A-13E5-2141-190FAC012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CE32-E5DA-A27E-E544-B506B3C9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1113B-3497-77FC-48C4-03C9EBE6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7DC6C-6C64-D53D-D35B-4CD67975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445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ABD4-BC10-02D8-7BA0-818BAD46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5ECEA-5241-7898-526D-0598F38AE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7B56A-7F16-6ECA-0AC4-06A04ABF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D48F2-730A-D5E6-D7DD-26A591CB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047DB-C0B2-0954-75D0-035F69985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96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E7B0-A790-BCE7-70EE-7665F8D21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383A3-0D65-5375-40D5-8542E670C9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8AAA0-85E4-7EEE-2827-D1B6296DB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0B668-05F0-8076-EA43-5ABE25A1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B0020-DB8F-A0DD-D356-12DE6694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E4419-0A46-80EC-6AF9-C9C8015E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65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E9E2E-886B-73C5-0A54-B709E556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251A8-59B9-2BED-5A91-C05903512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E7917-1098-4525-EC5C-76A04FD0A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2DA03-6DD2-FC75-F2B5-FF3AEB36C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22B9C-31E5-665A-F994-92BD21AE6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FB23AE-5786-3D25-FBB6-2CB68297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23D6F3-CEE7-DA6F-CD16-1F9E9DB0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3DE25-78CC-5ADB-199E-9ED2BCE1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54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8C74-119C-8EF2-5830-7C9DD447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123876-4BBF-BDA7-12A8-7AF0906B4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D1D10-F9DF-B4E9-5892-2A677EBA5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EBB26-02F5-561E-ECC0-7A436AEC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6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5575B-2957-E35F-C856-0AA46AB0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41D8A-C979-2DEF-AF01-366428A9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1405D-AFAF-551F-D43A-2C8CC3B2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01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2B3F-A55B-4876-C937-4643A406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2B2D-0C64-F001-858A-5A7D5794A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2B260-DA18-3EAC-402E-57E25F93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DDDBD-5563-ACFE-2591-31E6AC26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D705A-8E8B-ED25-7C1A-D7AFBEBC2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ED21F-9F04-A524-1ED1-CF3FA4B4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83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20A71-20E8-2F2A-32E1-80CCC4ACD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E0183-6AF1-EE4D-7466-EF0D2470F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0766B-2A83-3091-E13B-15943B1F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D5B0F-54EE-D077-9B78-DDE3EC29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379B8-9FD6-0A85-F72B-92B16CF41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6C6BB-5FA2-6461-08B9-CA2BC43A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20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D2008-21DF-526F-362D-437F093E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11319-597C-716C-CE43-9BA925F8A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CD85E-688F-B1A6-5969-A99BA96B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3B9BA-8CFD-D0B5-B6FB-CBFFBD78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F27EF-CB2B-46F6-1656-D92019C0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38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3C41BA-4B72-D19B-8175-31D93A975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B56DB-1BDF-6523-5FB2-2D0058678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3A352-9A56-EEC4-1C5B-D5E75678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3DA1C-D679-C51D-9628-5AE59E6E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FDF2C-6DAB-5401-B500-FC3E3C87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98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D233FF-CDB3-A8D8-5086-CD93A08B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F153E-26E6-1C99-B536-0C5BB2999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027E5-851E-C969-99A6-08CF9137B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2ACB0-4C51-42AD-86D8-CE562CAFA7AD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90B74-7A91-BE67-1830-3251A2555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0858B-CF06-CD3F-5BB1-A5408D95F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AA3EF-0C32-4AF6-9A1A-9F769DE14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74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29373E6-A0AD-6AE0-13F5-522D29A658A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E311F9CB-4D91-6B2A-76F9-2F3ACDE6E3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51B6C8F-9523-1B8B-7BF4-0BBA82D9CFB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CB1E575A-6059-AE6B-90F8-732F1F8D543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endParaRPr lang="ko-KR" altLang="en-US" sz="16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880E12F1-ABF9-884E-1F7F-59242DCF94A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8E3D7EEA-AB8A-FD50-7C99-DD095E3E2F6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91086913-F0AB-E03C-4F9E-927535FE7A4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C3196A69-689D-54FE-34B1-50197590E56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E1BE1952-89A2-2DE2-B184-9756B6FF05EA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58AB3DD9-6E34-3A60-8CD8-4EA816A45380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8EC99084-4593-A7F4-07B6-0F56530F6AC6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23C4EF21-2524-1346-0989-044C272011AB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E68E7640-ABCE-415F-B68A-0F6D2CEE31CA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C546C901-F8F6-CCA7-1BA8-69CBC1BED7F4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E013016-6C66-256A-66AF-FE2B16FA45A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FE0C2A6-E43E-0862-5090-73348837F4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1C744EC6-66EE-6C70-1502-233148FEFF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377A3CBB-65E4-BAF9-2F00-92DAC37BE6A2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391AFF7A-B7BA-A86D-5FC7-EAAD76C741D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408FDECB-E240-FBD0-E9DB-3075F449194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AA07F941-D3D3-24BA-568A-D2DEAE1B1E6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AF555FE-13EB-8360-F048-0F4D6E1277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DB752E1-549C-56F6-2556-44A19FE11C65}"/>
              </a:ext>
            </a:extLst>
          </p:cNvPr>
          <p:cNvGrpSpPr/>
          <p:nvPr/>
        </p:nvGrpSpPr>
        <p:grpSpPr>
          <a:xfrm>
            <a:off x="-1789890" y="2199166"/>
            <a:ext cx="9863706" cy="3861690"/>
            <a:chOff x="1314428" y="2463384"/>
            <a:chExt cx="9863706" cy="386169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CDFF17-7851-B1C5-D1F2-36080B4DA298}"/>
                </a:ext>
              </a:extLst>
            </p:cNvPr>
            <p:cNvSpPr txBox="1"/>
            <p:nvPr/>
          </p:nvSpPr>
          <p:spPr>
            <a:xfrm>
              <a:off x="1314428" y="2463384"/>
              <a:ext cx="9863706" cy="1075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2800" i="1" kern="100" dirty="0">
                  <a:effectLst/>
                  <a:latin typeface="+mj-lt"/>
                  <a:ea typeface="맑은 고딕" panose="020B0503020000020004" pitchFamily="50" charset="-127"/>
                  <a:cs typeface="Arial" panose="020B0604020202020204" pitchFamily="34" charset="0"/>
                </a:rPr>
                <a:t>Chapter 8: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2800" i="1" kern="100" dirty="0">
                  <a:effectLst/>
                  <a:latin typeface="+mj-lt"/>
                  <a:ea typeface="맑은 고딕" panose="020B0503020000020004" pitchFamily="50" charset="-127"/>
                  <a:cs typeface="Arial" panose="020B0604020202020204" pitchFamily="34" charset="0"/>
                </a:rPr>
                <a:t>Advertising on the Web </a:t>
              </a:r>
              <a:endParaRPr lang="ko-KR" altLang="ko-KR" sz="2800" i="1" kern="100" dirty="0">
                <a:effectLst/>
                <a:latin typeface="+mj-lt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4CA9CB4-1C25-B232-7D2E-A40609566785}"/>
                </a:ext>
              </a:extLst>
            </p:cNvPr>
            <p:cNvSpPr txBox="1"/>
            <p:nvPr/>
          </p:nvSpPr>
          <p:spPr>
            <a:xfrm>
              <a:off x="2105848" y="3733420"/>
              <a:ext cx="8254410" cy="4944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000" u="sng" kern="100" dirty="0">
                  <a:solidFill>
                    <a:prstClr val="black"/>
                  </a:solidFill>
                  <a:latin typeface="+mj-lt"/>
                  <a:ea typeface="맑은 고딕" panose="020B0503020000020004" pitchFamily="50" charset="-127"/>
                  <a:cs typeface="Arial" panose="020B0604020202020204" pitchFamily="34" charset="0"/>
                </a:rPr>
                <a:t>Gabriella Pasya Irianti </a:t>
              </a:r>
              <a:endParaRPr kumimoji="0" lang="en-US" altLang="ko-KR" sz="2000" i="0" u="sng" strike="noStrike" kern="1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0F04DC9-7465-099D-51A2-5087C314B31B}"/>
                </a:ext>
              </a:extLst>
            </p:cNvPr>
            <p:cNvSpPr txBox="1"/>
            <p:nvPr/>
          </p:nvSpPr>
          <p:spPr>
            <a:xfrm>
              <a:off x="5682340" y="4247375"/>
              <a:ext cx="1085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cs typeface="Arial" panose="020B0604020202020204" pitchFamily="34" charset="0"/>
                </a:rPr>
                <a:t>(226750)</a:t>
              </a:r>
              <a:endParaRPr lang="ko-KR" altLang="en-US" dirty="0"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08F5601-E6A2-D832-07DC-2EEACE740BC2}"/>
                </a:ext>
              </a:extLst>
            </p:cNvPr>
            <p:cNvSpPr txBox="1"/>
            <p:nvPr/>
          </p:nvSpPr>
          <p:spPr>
            <a:xfrm>
              <a:off x="3181878" y="5054211"/>
              <a:ext cx="6102350" cy="467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b="1" i="1" dirty="0">
                  <a:latin typeface="+mj-lt"/>
                  <a:cs typeface="Arial" panose="020B0604020202020204" pitchFamily="34" charset="0"/>
                </a:rPr>
                <a:t>November, 2025</a:t>
              </a:r>
              <a:endParaRPr lang="ko-KR" altLang="en-US" b="1" i="1" dirty="0">
                <a:latin typeface="+mj-lt"/>
                <a:cs typeface="Arial" panose="020B0604020202020204" pitchFamily="34" charset="0"/>
              </a:endParaRPr>
            </a:p>
          </p:txBody>
        </p:sp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6AC9B483-0C42-30BA-21A2-3036AB087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07729" y="5911193"/>
              <a:ext cx="1834770" cy="413881"/>
            </a:xfrm>
            <a:prstGeom prst="rect">
              <a:avLst/>
            </a:prstGeom>
          </p:spPr>
        </p:pic>
      </p:grpSp>
      <p:pic>
        <p:nvPicPr>
          <p:cNvPr id="1026" name="Picture 2" descr="Everything You Need To Know About Internet Advertising – U Space Network">
            <a:extLst>
              <a:ext uri="{FF2B5EF4-FFF2-40B4-BE49-F238E27FC236}">
                <a16:creationId xmlns:a16="http://schemas.microsoft.com/office/drawing/2014/main" id="{F784E41D-E374-49AB-C5E5-459F17B72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300" y="1974224"/>
            <a:ext cx="6001861" cy="40866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57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CFAC7-D35E-A068-3F0E-4180B682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BB8F388-A1EA-69B0-8104-8A1FE11F648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1EF51C18-DFE9-257A-7B02-F1E1A4C8C7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5E14A8B8-F6A4-8D21-6B65-A32C0A942A5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69D27287-187D-D5B2-CE27-D227B91072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3600" dirty="0">
                    <a:solidFill>
                      <a:srgbClr val="44546A"/>
                    </a:solidFill>
                  </a:rPr>
                  <a:t>Overview</a:t>
                </a:r>
                <a:endParaRPr lang="ko-KR" altLang="en-US" sz="36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FA149638-65F3-CDFE-87F0-4B241684A5E2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90391CF2-69B6-4DF0-5621-15A0BFE3077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98B1372D-0FBE-51C8-223F-F6685DF96BD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250B2902-2968-1BCA-DCED-8960BE26CBA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81536C69-642F-AF0D-DF9A-F897558799BE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86C1A021-7BC6-73D7-3694-587D0FC87C91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021A01CD-4565-83A7-0B18-CCCA1B60B158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20E509D8-EE95-74D7-5F0A-F52FA75581D4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FEDD593-72C5-DE4E-F3F3-4A3D980A3B2F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4DDCE924-22E6-C9B4-D4AB-0D7E816D7BE3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0EB8CEF-C8E2-84BC-8EC2-B528C501477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CAFBF16-4FFA-B276-4EB8-FC49EA3A26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76FFCE7E-72E7-E800-12BD-93E3F25DD2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2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408EE130-569D-3D7B-3E77-DFC9EC4D674A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2BEA33ED-D607-D6F2-CE58-E9239E2ADBA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CF3EEB61-ECD7-EFC4-4F55-0F211EBCC3F7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F35DFAFD-38AC-0CE1-9A8D-DC64605067D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4BFC74E-59C5-760F-F7AE-578C2E5210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E3709F7-FD91-0FB6-D56B-8241CE577581}"/>
              </a:ext>
            </a:extLst>
          </p:cNvPr>
          <p:cNvSpPr txBox="1"/>
          <p:nvPr/>
        </p:nvSpPr>
        <p:spPr>
          <a:xfrm>
            <a:off x="654276" y="5726892"/>
            <a:ext cx="478278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8.1 Issues in Online Advertising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6678B-762A-59F2-0BAA-A503E0B94DC4}"/>
              </a:ext>
            </a:extLst>
          </p:cNvPr>
          <p:cNvSpPr txBox="1"/>
          <p:nvPr/>
        </p:nvSpPr>
        <p:spPr>
          <a:xfrm>
            <a:off x="6029596" y="5718261"/>
            <a:ext cx="478278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8.2 On-Line Algorithms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CF0BEB4-9175-5050-CA42-BEC7E22D98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877" b="89229"/>
          <a:stretch/>
        </p:blipFill>
        <p:spPr>
          <a:xfrm>
            <a:off x="634564" y="1616618"/>
            <a:ext cx="4782780" cy="73866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E6AF312-8FE5-FBC4-4679-4EFE8F227E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441" r="40885" b="34892"/>
          <a:stretch/>
        </p:blipFill>
        <p:spPr>
          <a:xfrm>
            <a:off x="634564" y="2437385"/>
            <a:ext cx="4551205" cy="28575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5A819DD-5EDC-4FD6-FC1F-046BAB1CC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401" y="3471702"/>
            <a:ext cx="1369987" cy="1295711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5480E54A-8112-3449-CC22-A2B6EC63CCBD}"/>
              </a:ext>
            </a:extLst>
          </p:cNvPr>
          <p:cNvSpPr/>
          <p:nvPr/>
        </p:nvSpPr>
        <p:spPr>
          <a:xfrm>
            <a:off x="654276" y="1563115"/>
            <a:ext cx="4640738" cy="37166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B55EF117-B0FE-1226-E1CB-EB36786CA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705" y="1585840"/>
            <a:ext cx="38556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Subcription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      Advertising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9C3E94D2-B89B-8F58-8EE7-3966E6111D71}"/>
              </a:ext>
            </a:extLst>
          </p:cNvPr>
          <p:cNvSpPr/>
          <p:nvPr/>
        </p:nvSpPr>
        <p:spPr>
          <a:xfrm>
            <a:off x="8706108" y="1689089"/>
            <a:ext cx="425302" cy="15473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2FA33F-96DE-7BE5-7CD4-C02E9FCD6FD7}"/>
              </a:ext>
            </a:extLst>
          </p:cNvPr>
          <p:cNvSpPr txBox="1"/>
          <p:nvPr/>
        </p:nvSpPr>
        <p:spPr>
          <a:xfrm>
            <a:off x="607745" y="5457222"/>
            <a:ext cx="4782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+mj-lt"/>
              </a:rPr>
              <a:t>Outline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6EFEF7-7E30-EF09-FE61-8CD2775D9829}"/>
              </a:ext>
            </a:extLst>
          </p:cNvPr>
          <p:cNvSpPr txBox="1"/>
          <p:nvPr/>
        </p:nvSpPr>
        <p:spPr>
          <a:xfrm>
            <a:off x="7385789" y="3379159"/>
            <a:ext cx="473026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Search Advertising </a:t>
            </a:r>
            <a:r>
              <a:rPr lang="en-US" altLang="ko-KR" sz="1400" dirty="0"/>
              <a:t>= Most Profitable Online Ad Venue.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The "</a:t>
            </a:r>
            <a:r>
              <a:rPr lang="en-US" altLang="ko-KR" sz="1400" b="1" dirty="0" err="1"/>
              <a:t>Adwords</a:t>
            </a:r>
            <a:r>
              <a:rPr lang="en-US" altLang="ko-KR" sz="1400" b="1" dirty="0"/>
              <a:t> </a:t>
            </a:r>
            <a:r>
              <a:rPr lang="en-US" altLang="ko-KR" sz="1400" dirty="0"/>
              <a:t>Model" matches search queries to relevant 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Algorithms used are </a:t>
            </a:r>
            <a:r>
              <a:rPr lang="en-US" altLang="ko-KR" sz="1400" b="1" dirty="0"/>
              <a:t>greedy </a:t>
            </a:r>
            <a:r>
              <a:rPr lang="en-US" altLang="ko-KR" sz="1400" dirty="0"/>
              <a:t>(maximize immediate revenue) and </a:t>
            </a:r>
            <a:r>
              <a:rPr lang="en-US" altLang="ko-KR" sz="1400" b="1" dirty="0"/>
              <a:t>on-line</a:t>
            </a:r>
            <a:r>
              <a:rPr lang="en-US" altLang="ko-KR" sz="1400" dirty="0"/>
              <a:t> (make real-time decisions without future knowledge).</a:t>
            </a:r>
            <a:endParaRPr lang="ko-KR" alt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D9BF0B-22DE-787A-9E04-9FFA95FF75A9}"/>
              </a:ext>
            </a:extLst>
          </p:cNvPr>
          <p:cNvSpPr txBox="1"/>
          <p:nvPr/>
        </p:nvSpPr>
        <p:spPr>
          <a:xfrm>
            <a:off x="5842850" y="2253408"/>
            <a:ext cx="62732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Input</a:t>
            </a:r>
            <a:r>
              <a:rPr lang="en-US" altLang="ko-KR" sz="1400" dirty="0"/>
              <a:t>: Search query (e.g., “laptop").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Process</a:t>
            </a:r>
            <a:r>
              <a:rPr lang="en-US" altLang="ko-KR" sz="1400" dirty="0"/>
              <a:t>: Keyword matching + bids + click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Output</a:t>
            </a:r>
            <a:r>
              <a:rPr lang="en-US" altLang="ko-KR" sz="1400" dirty="0"/>
              <a:t>: Ranked ads (ordered by relevance and bid).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2A4F74-6907-BFD7-0BB4-96FC8C8B86F9}"/>
              </a:ext>
            </a:extLst>
          </p:cNvPr>
          <p:cNvSpPr txBox="1"/>
          <p:nvPr/>
        </p:nvSpPr>
        <p:spPr>
          <a:xfrm>
            <a:off x="691715" y="6094350"/>
            <a:ext cx="53535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What types of advertising can be found in the web?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What factors should be considered for different types of advertising?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E0FA478-DDA4-568F-E870-1807CCC96736}"/>
              </a:ext>
            </a:extLst>
          </p:cNvPr>
          <p:cNvSpPr txBox="1"/>
          <p:nvPr/>
        </p:nvSpPr>
        <p:spPr>
          <a:xfrm>
            <a:off x="6070730" y="6087593"/>
            <a:ext cx="62732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What is On-line algorithms and Off-line algorithms?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What if Greedy Algorithms and Competitive Ratio?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87409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2452-B551-2B8D-C90E-DBF9E17C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3175B0E-03DF-EB39-94D2-B5E2A3FB2F4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E2469B0E-9473-D7BE-3FB3-567276672C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558CE25-615D-9A2A-CA0F-862720CD92C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60" y="300036"/>
              <a:ext cx="1188248" cy="547688"/>
              <a:chOff x="385760" y="300036"/>
              <a:chExt cx="1188248" cy="547688"/>
            </a:xfrm>
          </p:grpSpPr>
          <p:sp>
            <p:nvSpPr>
              <p:cNvPr id="21" name="사각형: 둥근 한쪽 모서리 20">
                <a:extLst>
                  <a:ext uri="{FF2B5EF4-FFF2-40B4-BE49-F238E27FC236}">
                    <a16:creationId xmlns:a16="http://schemas.microsoft.com/office/drawing/2014/main" id="{7E2007CF-20CA-1295-B740-0A1C73C39F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60" y="300037"/>
                <a:ext cx="528640" cy="547687"/>
              </a:xfrm>
              <a:prstGeom prst="round1Rect">
                <a:avLst>
                  <a:gd name="adj" fmla="val 11356"/>
                </a:avLst>
              </a:prstGeom>
              <a:solidFill>
                <a:srgbClr val="08724F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prstClr val="white"/>
                    </a:solidFill>
                  </a:rPr>
                  <a:t>←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69303F58-A694-479B-E96D-8887A9B235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914400" y="300036"/>
                <a:ext cx="528640" cy="547687"/>
              </a:xfrm>
              <a:prstGeom prst="rect">
                <a:avLst/>
              </a:prstGeom>
              <a:solidFill>
                <a:srgbClr val="00A86B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4B7755F2-C9B2-2C4A-7EA8-4F0D58B12BE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064201" y="467495"/>
                <a:ext cx="176429" cy="232832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F6DE249C-A51D-EB10-EEEE-F06C17C07350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312072" y="447672"/>
                <a:ext cx="261936" cy="261936"/>
                <a:chOff x="1312072" y="447672"/>
                <a:chExt cx="261936" cy="261936"/>
              </a:xfrm>
            </p:grpSpPr>
            <p:sp>
              <p:nvSpPr>
                <p:cNvPr id="25" name="타원 24">
                  <a:extLst>
                    <a:ext uri="{FF2B5EF4-FFF2-40B4-BE49-F238E27FC236}">
                      <a16:creationId xmlns:a16="http://schemas.microsoft.com/office/drawing/2014/main" id="{F7FB93AD-F15A-979F-BD32-E93A4A83AC1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312072" y="447672"/>
                  <a:ext cx="261936" cy="261936"/>
                </a:xfrm>
                <a:prstGeom prst="ellipse">
                  <a:avLst/>
                </a:prstGeom>
                <a:solidFill>
                  <a:srgbClr val="C7EA46"/>
                </a:solidFill>
                <a:ln w="69850">
                  <a:noFill/>
                </a:ln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" name="타원 25">
                  <a:extLst>
                    <a:ext uri="{FF2B5EF4-FFF2-40B4-BE49-F238E27FC236}">
                      <a16:creationId xmlns:a16="http://schemas.microsoft.com/office/drawing/2014/main" id="{8B8392B8-7931-BA77-A466-B2DEED2EC7D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394940" y="532926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881D4351-86A3-EED0-68D1-66A1EE00212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453576" y="532926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" name="타원 27">
                  <a:extLst>
                    <a:ext uri="{FF2B5EF4-FFF2-40B4-BE49-F238E27FC236}">
                      <a16:creationId xmlns:a16="http://schemas.microsoft.com/office/drawing/2014/main" id="{CCBA7050-60FB-C765-8076-AAB58AF8F03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394940" y="591603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841D5ED3-F199-F6EF-BF80-899A74ABC0F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453576" y="591603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46307E3-D51F-6FA9-BC3E-D3D9517FD6F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AAC2F30-26FE-B809-F525-E4E16226D8F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D58CC59-E335-DB11-E152-969B54CB205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3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3D6E8DDB-CEBB-00CA-4AD9-A03F33CD65BF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83791247-87C8-BB61-A4F3-69BB6AE690B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ACAC4965-97FB-7EAF-16A0-CAF94D375B3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7D1F478E-6BA9-F47F-283C-D196D7B9B05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CD9FBFF-FC68-C1F0-C90E-CC1BA2D30C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E820AB9-C69F-F64F-0475-FF08596F2A61}"/>
              </a:ext>
            </a:extLst>
          </p:cNvPr>
          <p:cNvSpPr txBox="1"/>
          <p:nvPr/>
        </p:nvSpPr>
        <p:spPr>
          <a:xfrm>
            <a:off x="722779" y="3208407"/>
            <a:ext cx="9239368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000" b="1" dirty="0">
                <a:latin typeface="+mj-lt"/>
              </a:rPr>
              <a:t>8.1 Issues in Online Advertising</a:t>
            </a:r>
          </a:p>
        </p:txBody>
      </p:sp>
    </p:spTree>
    <p:extLst>
      <p:ext uri="{BB962C8B-B14F-4D97-AF65-F5344CB8AC3E}">
        <p14:creationId xmlns:p14="http://schemas.microsoft.com/office/powerpoint/2010/main" val="2012302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58134-B6AD-DDE6-BD22-B4966D92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75B391C-92DE-DC9E-3C17-67506B803A2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FDA6B438-95C0-FCA7-3DA7-252226ED53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7A1E5FB-6937-F531-902D-F9813DBC4F3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ED7F53AA-C0BE-B2E0-D487-776ED09A92F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rgbClr val="44546A"/>
                    </a:solidFill>
                  </a:rPr>
                  <a:t>8.1.1 Advertising Opportunities</a:t>
                </a:r>
                <a:endParaRPr lang="ko-KR" altLang="en-US" sz="28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C61C183F-573D-E256-6CE3-32241C79CEC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E18507C1-1761-51BD-1468-3D2C25824CB7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029EBF84-A734-9C19-2569-9C97C6D4CDC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F72A0398-B00C-2069-9FA8-CC50D8AB7E6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E201D1D3-AE12-848E-AB41-FF7628C5D8F0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19F6CBE0-8B28-5B8E-ABA6-90C3F3BA026A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6108D005-C52E-3206-CC52-E88AA2E8F22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8BE167A9-15DB-D007-2B9E-26DF361D14F2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A8C46F7A-4B16-845C-0083-DED026822EF6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5F7AD856-5AED-E4A4-5141-B085BE019E2B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EF4DA6B6-E1A9-64F0-C8F8-22B8420D3C4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1D95F3BD-7FD2-4EC3-9BB0-8B8BA50D71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2A02BEA-A332-E5D1-7E8C-A1D9021B5A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4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26937345-D36C-05DF-3CDB-1D1F29A05525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DFF51869-AAF8-6156-269D-8AC09535ADD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223FFFCF-0C85-7D0C-0CA3-894D5CA700C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31EDF19D-1C2A-9C91-7DD0-5AD293CFADA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4CC6B5D-6D4A-CB80-187D-7CA1B4D103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E75C547-255D-2EE7-4A4B-4C62660F18C4}"/>
              </a:ext>
            </a:extLst>
          </p:cNvPr>
          <p:cNvSpPr txBox="1"/>
          <p:nvPr/>
        </p:nvSpPr>
        <p:spPr>
          <a:xfrm>
            <a:off x="723549" y="1946834"/>
            <a:ext cx="598974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Search 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Placement</a:t>
            </a:r>
            <a:r>
              <a:rPr lang="en-US" altLang="ko-KR" sz="1400" dirty="0"/>
              <a:t>: Appear alongside or above search engine results when users enter a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Payment Model</a:t>
            </a:r>
            <a:r>
              <a:rPr lang="en-US" altLang="ko-KR" sz="1400" dirty="0"/>
              <a:t>: Advertisers pay only when the ad is clicked (Pay-Per-Click or PPC model).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Targeting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Ads are selected based on keywords specified by the advertiser.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Additional factors like the bid amount, click-through rate (CTR), and advertiser's budget influence which ads are shown.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Dynamic Selection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Ads are chosen and displayed in real-time based on the user's search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Purpose</a:t>
            </a:r>
            <a:r>
              <a:rPr lang="en-US" altLang="ko-KR" sz="1400" dirty="0"/>
              <a:t>: To capture immediate user intent, targeting users actively searching for products or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Example</a:t>
            </a:r>
            <a:r>
              <a:rPr lang="en-US" altLang="ko-KR" sz="1400" dirty="0"/>
              <a:t>: An ad for "convertible cars" shown when a user searches for "buy convertible car."</a:t>
            </a:r>
            <a:endParaRPr lang="ko-KR" alt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9ECF66-3A35-9C76-4D28-63F3C0174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391" y="1402021"/>
            <a:ext cx="4128178" cy="53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5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116E-4B59-8414-8CDB-23ADC2D8B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29EC32B9-1F63-B7F1-1FF6-101396E89B3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DDD6EB09-E5DA-F4C1-30A3-640E0679E2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5B7C531-1090-50D1-BD84-663189EFE6F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52498C39-79F1-B66F-71D5-14E2C481B2F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rgbClr val="44546A"/>
                    </a:solidFill>
                  </a:rPr>
                  <a:t>8.1.1 Advertising Opportunities</a:t>
                </a:r>
                <a:endParaRPr lang="ko-KR" altLang="en-US" sz="28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87B32A0F-9461-DF08-3856-6B9D091FEFD5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659223E2-1CE3-D0D1-45D3-C93F93D1D83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93D66540-ECD4-DBF9-3856-091CC6B3560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57F2E91B-E283-BB9F-014F-43C9E6144E4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9C44E0F8-4713-5755-AC5A-5A4F9E30FB3B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613C31F8-F83A-9882-7D6D-72D09581B0F5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46094FF6-3DF0-E1BD-E1B9-F9E21C75C3F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9AD38945-8ACF-554F-7377-F8F0F5065D2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6B127394-E6F4-214E-0ED6-7D5BD702DF51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AFF9822D-956B-66E5-35F7-9D1F3EF66586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1B6F9F1F-6A45-1895-91EC-30DCE8C5341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B9DE37B-C837-0B6A-8118-8D85C6140E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0565CF2-B0DD-625F-ADC0-860A4E9C60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5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98B98EE9-382E-9D23-05DA-331F50CC4007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7574A3D5-DFD5-C972-9461-08AC9119B96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153D9BCB-78A7-5C35-F71A-3B1C250E487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14573F27-10CF-39AE-AE35-A7839D590B7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D099F01-4964-DC17-1985-95B84C513C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03DA3C5-CC35-844F-ED20-7F9AF8380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090" y="1507074"/>
            <a:ext cx="4603869" cy="3948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9E272B-D459-792C-275A-BAFFE44B695D}"/>
              </a:ext>
            </a:extLst>
          </p:cNvPr>
          <p:cNvSpPr txBox="1"/>
          <p:nvPr/>
        </p:nvSpPr>
        <p:spPr>
          <a:xfrm>
            <a:off x="607745" y="2007559"/>
            <a:ext cx="616664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Direct 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Placement</a:t>
            </a:r>
            <a:r>
              <a:rPr lang="en-US" altLang="ko-KR" sz="1400" dirty="0"/>
              <a:t>: Static placements on specific platforms like eBay, Craigslist, or auto trading 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Payment Model</a:t>
            </a:r>
            <a:r>
              <a:rPr lang="en-US" altLang="ko-KR" sz="1400" dirty="0"/>
              <a:t>: Advertisers might pay a fee, a commission, or sometimes post ads for free.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Targeting: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Relies on user activity on the platform (e.g., searching for specific items or browsing categories).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No advanced algorithms or bidding processes are typically involved.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Static Selection: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Ads are pre-posted by advertisers and are retrieved when users search or browse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Purpose</a:t>
            </a:r>
            <a:r>
              <a:rPr lang="en-US" altLang="ko-KR" sz="1400" dirty="0"/>
              <a:t>: To provide general visibility for products or services on platforms where users browse or shop.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Example</a:t>
            </a:r>
            <a:r>
              <a:rPr lang="en-US" altLang="ko-KR" sz="1400" dirty="0"/>
              <a:t>: A listing for a used "convertible car" on Craigslist or eBay.</a:t>
            </a:r>
            <a:endParaRPr lang="ko-KR" altLang="en-US" sz="14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1B475F0-E82D-6201-5CDA-C8A20A31F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090" y="5546989"/>
            <a:ext cx="4731346" cy="100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12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355F0-8BBC-AB37-C77C-C7920D9A4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DDC79E93-F511-301D-84EB-2C010372B60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21FEA00A-A998-B381-08B5-14F2757613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36DE545D-E50E-6A4C-50AD-1F8AF951836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A3FCDCE3-B6C5-EA3B-5A8E-631745A875A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rgbClr val="44546A"/>
                    </a:solidFill>
                  </a:rPr>
                  <a:t>8.1.1 Advertising Opportunities</a:t>
                </a:r>
                <a:endParaRPr lang="ko-KR" altLang="en-US" sz="28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7040233F-736B-10D0-CF4A-EE5A295B7FA2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B3DB6D9B-BDAC-7C40-5039-52189232EDA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F603E5CF-77CC-1A9B-34D2-6CA5BAA8ACE7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0DE176FA-1165-69CD-C9D8-35E8249FCDB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C0B0BC06-B4E6-F294-F55D-9AD195D90310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51ACFD30-5CE6-F8E8-0910-9B58DCF3D6A5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45BE245D-2C84-1D35-D4F1-3664B4579222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F08BEDF8-4CD5-DA9A-C13D-0D03B0676893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019AF74E-013D-C09D-0991-5AA5AFFA510C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BA470F03-027C-376F-6079-6BC9A34C913E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A7DA14C9-0AAF-E9B7-5962-8AC8069A7C5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60B3CE72-CCE4-5504-9F64-78ABD4090E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711CB710-BD42-3E8F-420C-36CDAA5C64A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6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B19E4815-A6DD-2515-20FC-CB4B7605B3F9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5CCAF9C9-9875-5CA6-9DF1-0AB9E12DA86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C4EAB562-CFF6-D86E-A776-CC1D6C21375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70054351-1456-A56B-7167-62B79918784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8239C45-ACE6-D64C-EC21-DCF597626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578472-E415-7648-7231-DA83041586E3}"/>
              </a:ext>
            </a:extLst>
          </p:cNvPr>
          <p:cNvSpPr txBox="1"/>
          <p:nvPr/>
        </p:nvSpPr>
        <p:spPr>
          <a:xfrm>
            <a:off x="872065" y="1915364"/>
            <a:ext cx="56563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Display 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These are </a:t>
            </a:r>
            <a:r>
              <a:rPr lang="en-US" altLang="ko-KR" sz="1400" b="1" dirty="0"/>
              <a:t>static or dynamic ads </a:t>
            </a:r>
            <a:r>
              <a:rPr lang="en-US" altLang="ko-KR" sz="1400" dirty="0"/>
              <a:t>shown on various websites.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Payment Model</a:t>
            </a:r>
            <a:r>
              <a:rPr lang="en-US" altLang="ko-KR" sz="1400" dirty="0"/>
              <a:t>: Advertisers are charged a fixed rate per impression (one view of the ad when a user loads the page).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 new impression is counted every time the page is reloaded, even by the same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Dynamic Display</a:t>
            </a:r>
            <a:r>
              <a:rPr lang="en-US" altLang="ko-KR" sz="1400" dirty="0"/>
              <a:t>: The ads displayed may rotate or change each time the page is loaded.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Contextual Ads in Online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Platforms like </a:t>
            </a:r>
            <a:r>
              <a:rPr lang="en-US" altLang="ko-KR" sz="1400" b="1" dirty="0"/>
              <a:t>Amazon </a:t>
            </a:r>
            <a:r>
              <a:rPr lang="en-US" altLang="ko-KR" sz="1400" dirty="0"/>
              <a:t>use their own algorithms to show 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Ads are </a:t>
            </a:r>
            <a:r>
              <a:rPr lang="en-US" altLang="ko-KR" sz="1400" b="1" dirty="0"/>
              <a:t>not directly paid for by product manufacturers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Purpose: </a:t>
            </a:r>
            <a:r>
              <a:rPr lang="en-US" altLang="ko-KR" sz="1400" dirty="0"/>
              <a:t>The store selects ads to maximize the likelihood that the user will find the product relevant and make a purchase.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These ads are customized based on user behavior or preferences, making them highly targeted.</a:t>
            </a:r>
            <a:endParaRPr lang="ko-KR" alt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5FB031-3D4B-9766-06BC-0894A155A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366" y="2160724"/>
            <a:ext cx="4805795" cy="31315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B1D23A-6E81-72C2-E9DC-F15A420E0B7E}"/>
              </a:ext>
            </a:extLst>
          </p:cNvPr>
          <p:cNvSpPr/>
          <p:nvPr/>
        </p:nvSpPr>
        <p:spPr>
          <a:xfrm>
            <a:off x="864940" y="1865321"/>
            <a:ext cx="5660551" cy="1948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62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4069-2221-915B-4F6D-F4CEE658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CFBEC093-AE65-E7CD-A339-EDD2EC0FA8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98825666-7347-3867-FB8A-EFBF59D91D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796EC35-1058-D520-7CF6-76A0286961D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0C4F6E4E-CCB4-81EA-EE00-450EF57237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rgbClr val="44546A"/>
                    </a:solidFill>
                  </a:rPr>
                  <a:t>8.1.1 Advertising Opportunities</a:t>
                </a:r>
                <a:endParaRPr lang="ko-KR" altLang="en-US" sz="28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E4828506-4581-9CA6-2000-F7AFF269C6F4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FAFA3DEF-5D97-1C15-3CEF-C86BD83756D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D458A7A5-1732-EE79-36B7-429FBF6D668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9315652A-25CA-ACDB-9B7C-52C48109CCF7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60A8D53C-D0DD-F964-1CBF-C936F5969EAA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8FA47B91-CA8A-F77F-F20A-62B40A5DF9B1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3A4236FD-D2E9-5401-6786-F4E99D38F336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D245BE45-EB36-DD78-B4BF-B52B60466FA3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5B60421D-93B1-6E82-B931-D8BD178DE6E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8576CD66-00E8-65A3-C786-5B4ABD9AB08E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D9FEDEB-ABC2-788E-2908-9392AC6C5F4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CFBB8E09-3905-9FE1-9DEC-0D2B2F26836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CB3C722C-A292-6A61-4BBC-8285E09C701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7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8383FAA9-ACCF-B7FF-C421-EFFD8B3EEAA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5574A411-988A-5C8F-C9C7-3601FEE5D3C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2D0A2C53-A172-942C-0F40-20F4559D6EE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60A7083D-C222-A29B-9994-AC02F5CAA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8C2422A-F0DD-76C6-0EB3-514569E3B1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A3A726-A104-6471-D0F3-6CA17F901D66}"/>
              </a:ext>
            </a:extLst>
          </p:cNvPr>
          <p:cNvSpPr txBox="1"/>
          <p:nvPr/>
        </p:nvSpPr>
        <p:spPr>
          <a:xfrm>
            <a:off x="872065" y="1915364"/>
            <a:ext cx="56563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Display 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These are </a:t>
            </a:r>
            <a:r>
              <a:rPr lang="en-US" altLang="ko-KR" sz="1400" b="1" dirty="0"/>
              <a:t>static or dynamic ads </a:t>
            </a:r>
            <a:r>
              <a:rPr lang="en-US" altLang="ko-KR" sz="1400" dirty="0"/>
              <a:t>shown on various websites.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Payment Model</a:t>
            </a:r>
            <a:r>
              <a:rPr lang="en-US" altLang="ko-KR" sz="1400" dirty="0"/>
              <a:t>: Advertisers are charged a fixed rate per impression (one view of the ad when a user loads the page).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 new impression is counted every time the page is reloaded, even by the same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Dynamic Display</a:t>
            </a:r>
            <a:r>
              <a:rPr lang="en-US" altLang="ko-KR" sz="1400" dirty="0"/>
              <a:t>: The ads displayed may rotate or change each time the page is loaded.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Contextual Ads in Online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Platforms like </a:t>
            </a:r>
            <a:r>
              <a:rPr lang="en-US" altLang="ko-KR" sz="1400" b="1" dirty="0"/>
              <a:t>Amazon </a:t>
            </a:r>
            <a:r>
              <a:rPr lang="en-US" altLang="ko-KR" sz="1400" dirty="0"/>
              <a:t>use their own algorithms to show 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Ads are </a:t>
            </a:r>
            <a:r>
              <a:rPr lang="en-US" altLang="ko-KR" sz="1400" b="1" dirty="0"/>
              <a:t>not directly paid for by product manufacturers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Purpose: </a:t>
            </a:r>
            <a:r>
              <a:rPr lang="en-US" altLang="ko-KR" sz="1400" dirty="0"/>
              <a:t>The store selects ads to maximize the likelihood that the user will find the product relevant and make a purchase.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These ads are customized based on user behavior or preferences, making them highly targeted.</a:t>
            </a:r>
            <a:endParaRPr lang="ko-KR" alt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9E0D61-8F68-E488-69AD-002F150781C6}"/>
              </a:ext>
            </a:extLst>
          </p:cNvPr>
          <p:cNvSpPr/>
          <p:nvPr/>
        </p:nvSpPr>
        <p:spPr>
          <a:xfrm>
            <a:off x="864940" y="4130011"/>
            <a:ext cx="5660551" cy="1948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91F364-55B1-ED91-51D9-74A067448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02" y="2156302"/>
            <a:ext cx="3607436" cy="443499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EDE1263-4BB6-66A5-27F3-40077B16D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802" y="1605419"/>
            <a:ext cx="3518664" cy="49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3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3F403-4453-01B9-F938-E345C13B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E891284D-629A-9E5A-CCFD-49993967C5C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29772BF7-241F-6009-E920-28A0F9E748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D839023-6B54-2E0E-20DE-18443867212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B5484710-5CE1-F0F6-EEC8-B4EE52EE0F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rgbClr val="44546A"/>
                    </a:solidFill>
                  </a:rPr>
                  <a:t>8.1.2 Direct Placement of Advertisements</a:t>
                </a:r>
                <a:endParaRPr lang="ko-KR" altLang="en-US" sz="28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112BC91A-C152-058A-EA14-E54C5E2E5229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4B6E72E0-B5D3-9C64-4DB9-873E3CF988D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65C420DD-FD07-FDE1-8D90-A3959136046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3EADCB0F-69ED-0AF2-A049-9BCC20B25E1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3F6BAAC9-A56F-8723-0FF0-AE814C1F1F23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CB55D208-F7AB-EBAC-E9C5-C95FC942C1B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3063C519-8E39-E8C0-9E22-79B203EA3B1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3FE19064-6C3D-D7C1-E91A-C27200E6D3D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92B45FB5-748B-19A8-BE4E-249F21E57DA2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078BB4E6-523D-FDC0-E820-DA952B999995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A69C046E-FA7E-F732-F890-E120EC4E524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893A786-68B2-C5D9-163F-59759625DF1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A3664C1-29C8-E2B4-5F0D-6BFC4A9C60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8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BCBAC3A5-CF69-F08D-7909-C000B7DB4812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1D576F46-B118-2238-D920-C61D795BDE3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0D9CE61D-C249-9E2B-7691-38447580222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B9A92993-8889-E77B-8EEE-915BA74F59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56A8A44-12D8-1653-0300-348426C13F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8F83A54-1798-228C-6EBB-758D4B859F0E}"/>
              </a:ext>
            </a:extLst>
          </p:cNvPr>
          <p:cNvSpPr txBox="1"/>
          <p:nvPr/>
        </p:nvSpPr>
        <p:spPr>
          <a:xfrm>
            <a:off x="654276" y="2020264"/>
            <a:ext cx="50873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When advertisers can place ads directly, such as a free ad on Craig’s List or the “buy it now” feature at eBay, there are several problems that the site must deal with. 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BE5E87-2910-5DF8-D1D1-7026066DD770}"/>
              </a:ext>
            </a:extLst>
          </p:cNvPr>
          <p:cNvSpPr txBox="1"/>
          <p:nvPr/>
        </p:nvSpPr>
        <p:spPr>
          <a:xfrm>
            <a:off x="654276" y="2992582"/>
            <a:ext cx="508730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How Ads Are Matched to Queries: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Ads are matched to user queries (e.g., "apartment Palo Alto")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Inverted Index</a:t>
            </a:r>
            <a:r>
              <a:rPr lang="en-US" altLang="ko-KR" sz="1400" dirty="0"/>
              <a:t>: A system that indexes words in ads, similar to a search engine, to find ads containing all the words in a query.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Database Parameters</a:t>
            </a:r>
            <a:r>
              <a:rPr lang="en-US" altLang="ko-KR" sz="1400" dirty="0"/>
              <a:t>: Advertisers can use specific fields like "manufacturer," "model," or "color" to describe their ads. This structured data makes matching queries more precise (e.g., filtering for specific car models).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Users can also use dropdown menus or similar tools to refine their searches, ensuring better matches.</a:t>
            </a:r>
            <a:endParaRPr lang="ko-KR" alt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25F341E-76B6-1E48-F081-2DCB42E1A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548035"/>
            <a:ext cx="5959175" cy="51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142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C779-8F76-21D2-862E-2FDAA132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393D30CF-62C9-BB18-DD29-3BCB9FFB0C3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643596E5-CE48-2738-4420-1BEE369FE6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542E46A-34F8-5A1D-39B3-5FA72ECD19B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2D456BF9-E94C-C5E8-31C1-74DE9A83B8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rgbClr val="44546A"/>
                    </a:solidFill>
                  </a:rPr>
                  <a:t>8.1.2 Direct Placement of Advertisements</a:t>
                </a:r>
                <a:endParaRPr lang="ko-KR" altLang="en-US" sz="28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80935D16-097D-87A3-9FA8-E2662A7DAAEE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4846FB5D-D139-C317-BC10-C8CB891FBDE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E571D0A3-0F8B-3FC1-C54B-C1C81499F50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70A8A5E4-91FB-FB9B-1270-1CCD6379879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25974441-EA16-7BBC-8D5C-FFE1B7C4FF70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7C311B53-7545-0354-94A4-CD0A65582310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3B9553B7-CE44-DA34-755B-D9381991804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607AF11F-A71F-5D3D-D6E0-05320E3D304C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181DB38D-3059-2F35-AC1A-4416CF329D48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37C1A224-2FB8-279F-1B03-62C7614F6139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5F51C59-A931-8705-72E2-D02B3F03A40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992BFF2-A06A-66B0-F652-A8C168C70C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4246D74-15F3-33B6-921E-986CF5DC51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9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252A6418-1B1D-21CD-F32E-B32A6D91D324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2A1A5E9D-6289-A981-5C33-ADF090AC0A0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3AD13AC7-2511-8C50-505F-14E3EDD83B1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36E8C2E8-FAB8-68A1-9741-A3B6C020C97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44B53D1-DD6A-39D0-766B-838A5FEC61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B2E7071-A5A1-1431-D205-918FB8F6D82A}"/>
              </a:ext>
            </a:extLst>
          </p:cNvPr>
          <p:cNvSpPr txBox="1"/>
          <p:nvPr/>
        </p:nvSpPr>
        <p:spPr>
          <a:xfrm>
            <a:off x="569949" y="2221371"/>
            <a:ext cx="560116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Challenges in </a:t>
            </a:r>
            <a:r>
              <a:rPr lang="en-US" altLang="ko-KR" sz="1400" b="1" dirty="0" err="1"/>
              <a:t>Ranking</a:t>
            </a:r>
            <a:r>
              <a:rPr lang="en-US" altLang="ko-KR" sz="1400" dirty="0" err="1"/>
              <a:t>:Unlike</a:t>
            </a:r>
            <a:r>
              <a:rPr lang="en-US" altLang="ko-KR" sz="1400" dirty="0"/>
              <a:t> web search, there are no natural indicators (e.g., backlinks) to determine which ads are more "important."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Ranking Strategies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Most-Recent-First</a:t>
            </a:r>
            <a:r>
              <a:rPr lang="en-US" altLang="ko-KR" sz="1400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400" dirty="0"/>
              <a:t>Simple and equitable.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400" dirty="0"/>
              <a:t>However, it can be abused—advertisers may frequently repost slightly modified versions of their ads to stay at the top.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400" dirty="0"/>
              <a:t>Solutions to detect similar ads (e.g., text similarity detection) have been discussed in earlier sections.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Attractiveness-Based Ranking</a:t>
            </a:r>
            <a:r>
              <a:rPr lang="en-US" altLang="ko-KR" sz="1400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400" dirty="0"/>
              <a:t>Ads are ranked based on how often they are clicked (click-through rate or CTR). The assumption is that more attractive ads receive more clicks.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8F4924-8EA2-847C-57E8-B3E76410352E}"/>
              </a:ext>
            </a:extLst>
          </p:cNvPr>
          <p:cNvSpPr txBox="1"/>
          <p:nvPr/>
        </p:nvSpPr>
        <p:spPr>
          <a:xfrm>
            <a:off x="569949" y="1627030"/>
            <a:ext cx="4782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Ranking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648A4A2-1E8E-6308-566C-6206AB1332BE}"/>
              </a:ext>
            </a:extLst>
          </p:cNvPr>
          <p:cNvCxnSpPr>
            <a:cxnSpLocks/>
          </p:cNvCxnSpPr>
          <p:nvPr/>
        </p:nvCxnSpPr>
        <p:spPr>
          <a:xfrm>
            <a:off x="6322251" y="1627030"/>
            <a:ext cx="0" cy="4564659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D4D5594-86E1-7DA8-AE78-D5ACCA348DA0}"/>
              </a:ext>
            </a:extLst>
          </p:cNvPr>
          <p:cNvSpPr txBox="1"/>
          <p:nvPr/>
        </p:nvSpPr>
        <p:spPr>
          <a:xfrm>
            <a:off x="6401129" y="1627030"/>
            <a:ext cx="4782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Click Probability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EC0027-7943-24E0-D6FD-377CC9768821}"/>
              </a:ext>
            </a:extLst>
          </p:cNvPr>
          <p:cNvSpPr txBox="1"/>
          <p:nvPr/>
        </p:nvSpPr>
        <p:spPr>
          <a:xfrm>
            <a:off x="6473393" y="2221371"/>
            <a:ext cx="53723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Three main factors affect whether an ad is clicked:</a:t>
            </a:r>
          </a:p>
          <a:p>
            <a:pPr>
              <a:buFont typeface="+mj-lt"/>
              <a:buAutoNum type="arabicPeriod"/>
            </a:pPr>
            <a:r>
              <a:rPr lang="en-US" altLang="ko-KR" sz="1400" b="1" dirty="0"/>
              <a:t>Position in the List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The first ad in a list is much more likely to be clicked.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The likelihood of clicks drops </a:t>
            </a:r>
            <a:r>
              <a:rPr lang="en-US" altLang="ko-KR" sz="1400" b="1" dirty="0"/>
              <a:t>exponentially</a:t>
            </a:r>
            <a:r>
              <a:rPr lang="en-US" altLang="ko-KR" sz="1400" dirty="0"/>
              <a:t> as the ad's position moves down.</a:t>
            </a:r>
          </a:p>
          <a:p>
            <a:pPr>
              <a:buFont typeface="+mj-lt"/>
              <a:buAutoNum type="arabicPeriod"/>
            </a:pPr>
            <a:r>
              <a:rPr lang="en-US" altLang="ko-KR" sz="1400" b="1" dirty="0"/>
              <a:t>Relevance to Query Terms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Ads are more appealing if they explicitly include terms from the user query.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Example: An ad for a "used convertible" is more attractive when the query contains the word "convertible," even if the ad is relevant without it (e.g., matching just "used car").</a:t>
            </a:r>
          </a:p>
          <a:p>
            <a:pPr>
              <a:buFont typeface="+mj-lt"/>
              <a:buAutoNum type="arabicPeriod"/>
            </a:pPr>
            <a:r>
              <a:rPr lang="en-US" altLang="ko-KR" sz="1400" b="1" dirty="0"/>
              <a:t>Opportunity for Evaluation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New ads need to be displayed enough times to estimate their attractiveness (CTR).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If all ads start with a click probability of 0, they might never get shown, making it impossible to evaluate their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230614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B70AF-D9DA-B98A-8928-2CCF2F4F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3F981C5A-470A-9C54-C2F4-39F83B34BA6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432A8BBA-D3D2-98B0-B159-E3CF890CAE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D0615C2D-5F16-2914-9D35-A5332FB2669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47FA5734-4E07-33D6-0E1A-AE52A4943CC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chemeClr val="tx2"/>
                    </a:solidFill>
                  </a:rPr>
                  <a:t>8.1.3 </a:t>
                </a:r>
                <a:r>
                  <a:rPr lang="de-DE" altLang="ko-KR" sz="2800" dirty="0">
                    <a:solidFill>
                      <a:schemeClr val="tx2"/>
                    </a:solidFill>
                  </a:rPr>
                  <a:t>Issues for Display Ads</a:t>
                </a:r>
                <a:r>
                  <a:rPr lang="en-US" altLang="ko-KR" sz="2800" dirty="0">
                    <a:solidFill>
                      <a:schemeClr val="tx2"/>
                    </a:solidFill>
                  </a:rPr>
                  <a:t> 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3097FCBE-BC2C-5CC8-636A-A4B7FE59DEEF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289250A5-5F40-F58D-CA0B-BC62C75A16B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CE2D95FF-E994-3DBE-CDC9-D1C1DEC38B5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C0371F60-74F7-EB75-4048-61AB91B73B1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83FE24BD-52D1-17EE-38D7-CC5D2B1456C1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A8B822E2-3D6F-0ABF-0F59-ACBEE59BDBDE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B6A156FB-06D2-DE31-5DBB-9AE12D8D573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532D435A-AEFB-11DF-1815-FE9477CD7BAE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FDD78F7D-32BD-CF7F-63DC-C2E928BF4D07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2346546A-A7F5-4383-06C8-0E166BD65023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DC7FDC3-075F-9F70-ED54-07CE120F6C2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1FBF6B93-BD8C-0B10-B770-C3FE25400E6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210A452E-00B4-3F82-38E4-BF3AB9A007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10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0033FA74-5C59-EE22-848C-B61BBE79D65A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D7B47150-84FF-07B0-06AC-13ED0E404D5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F268D391-8147-1BDF-A481-05B24D6B0B4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5D5FADD3-73C9-29F4-520E-CA23A242F9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4EE4290-DCCC-C7D3-72A8-5E98B91A58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DEFB05FA-159A-6564-3D26-9CB5E44585A8}"/>
              </a:ext>
            </a:extLst>
          </p:cNvPr>
          <p:cNvSpPr txBox="1"/>
          <p:nvPr/>
        </p:nvSpPr>
        <p:spPr>
          <a:xfrm>
            <a:off x="654276" y="2011880"/>
            <a:ext cx="525184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Limitations of Display 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Display ads on the web share similarities with traditional media (e.g., newspaper or magazine ads).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Effectiveness Issues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Ads are shown to a broad audience, many of whom may not be interested.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For example, an ad for Chevrolet in the </a:t>
            </a:r>
            <a:r>
              <a:rPr lang="en-US" altLang="ko-KR" i="1" dirty="0"/>
              <a:t>New York Times</a:t>
            </a:r>
            <a:r>
              <a:rPr lang="en-US" altLang="ko-KR" dirty="0"/>
              <a:t> or on Yahoo! might be irrelevant to many viewers (e.g., those who already own a car or don’t drive).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The </a:t>
            </a:r>
            <a:r>
              <a:rPr lang="en-US" altLang="ko-KR" b="1" dirty="0"/>
              <a:t>cost per impression</a:t>
            </a:r>
            <a:r>
              <a:rPr lang="en-US" altLang="ko-KR" dirty="0"/>
              <a:t> for web display ads is low (fractions of a cent) because of their general lack of focus.</a:t>
            </a:r>
          </a:p>
        </p:txBody>
      </p:sp>
      <p:pic>
        <p:nvPicPr>
          <p:cNvPr id="4116" name="Picture 20" descr="How Chevrolet Partnered with Disney to Launch the 2022 Bolt EUV |  RightMetric">
            <a:extLst>
              <a:ext uri="{FF2B5EF4-FFF2-40B4-BE49-F238E27FC236}">
                <a16:creationId xmlns:a16="http://schemas.microsoft.com/office/drawing/2014/main" id="{74DF73D1-0BC4-D7E1-602D-2BF86440F5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7" t="7547" r="19092" b="13772"/>
          <a:stretch/>
        </p:blipFill>
        <p:spPr bwMode="auto">
          <a:xfrm>
            <a:off x="5963122" y="2011880"/>
            <a:ext cx="6129543" cy="397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168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138D-CB11-A350-FAED-104B966F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F392AC64-675A-C816-63A3-F310B9CFEFA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5F9F9578-6486-F7DE-1952-F806B3EAC2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B8F469AE-2B05-D6FB-5D18-6E3DABF5BA2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6DAF27E3-2394-975C-5E57-75442B489B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chemeClr val="tx2"/>
                    </a:solidFill>
                  </a:rPr>
                  <a:t>8.1.3 </a:t>
                </a:r>
                <a:r>
                  <a:rPr lang="de-DE" altLang="ko-KR" sz="2800" dirty="0">
                    <a:solidFill>
                      <a:schemeClr val="tx2"/>
                    </a:solidFill>
                  </a:rPr>
                  <a:t>Issues for Display Ads</a:t>
                </a:r>
                <a:r>
                  <a:rPr lang="en-US" altLang="ko-KR" sz="2800" dirty="0">
                    <a:solidFill>
                      <a:schemeClr val="tx2"/>
                    </a:solidFill>
                  </a:rPr>
                  <a:t> 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C77C7EDC-D3AA-BC41-0634-44F45CF9DFDA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8559E4C9-EA5A-FB08-8500-3B7D9225592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21A6F917-F72B-15B9-EC4D-F64A5250A8B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EA830BD9-6529-EBB5-3539-8F2E7F67378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993B04FB-E046-384B-2CF9-8356FC7D91F3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9E105084-B2FF-1DEF-AE7D-93CFBFB7E3B5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FB692458-E44A-4562-77C1-261462E67CD9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E7EA605C-D1D8-EE34-0450-4E5CEB698B1E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A09708D6-0625-BFF5-0F57-E84C5DA72BA3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C111061D-F17C-9A4F-5888-F543D3F0F831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23B4505-264F-98FA-A7A2-36281E936B7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5FE2750-3883-9FEB-4C5C-C4255FDBBC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70181DA2-CBA0-386A-35E7-7A24A2C0BBF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11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5B99C07E-2C90-5929-573B-81C4358C0EF0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30F24AD2-C22B-AB64-AB8B-E66325AA9E8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E8748107-B533-BDE8-E63D-FBDFAC2FD16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4A4DD303-C147-85CC-8328-74DACF7560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BE0EF04-8235-D2AE-C44F-094D99CFAB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4E3711-0B75-7374-78BC-399231AF85EB}"/>
              </a:ext>
            </a:extLst>
          </p:cNvPr>
          <p:cNvSpPr txBox="1"/>
          <p:nvPr/>
        </p:nvSpPr>
        <p:spPr>
          <a:xfrm>
            <a:off x="752386" y="2003820"/>
            <a:ext cx="54938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Specialization to Improve Effectiveness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Traditional media addressed this by creating specialized outlets (e.g., </a:t>
            </a:r>
            <a:r>
              <a:rPr lang="en-US" altLang="ko-KR" i="1" dirty="0"/>
              <a:t>Golf Digest</a:t>
            </a:r>
            <a:r>
              <a:rPr lang="en-US" altLang="ko-KR" dirty="0"/>
              <a:t> for golf enthusiasts).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Ads in such focused media have a </a:t>
            </a:r>
            <a:r>
              <a:rPr lang="en-US" altLang="ko-KR" b="1" dirty="0"/>
              <a:t>higher probability of engaging the right audience</a:t>
            </a:r>
            <a:r>
              <a:rPr lang="en-US" altLang="ko-KR" dirty="0"/>
              <a:t> and justify charging more per impression.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The same principle applies to the web: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An ad for golf clubs on a golf-related page (e.g., </a:t>
            </a:r>
            <a:r>
              <a:rPr lang="en-US" altLang="ko-KR" i="1" dirty="0"/>
              <a:t>sports.yahoo.com/golf</a:t>
            </a:r>
            <a:r>
              <a:rPr lang="en-US" altLang="ko-KR" dirty="0"/>
              <a:t>) is far more effective than placing it on a general Yahoo! homepage.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E8FBF5-C4D8-A2EE-B5B0-8E35F50F8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02" y="2166537"/>
            <a:ext cx="5632940" cy="337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25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0C2E-83A4-DC52-0132-66320DB01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4694B5F-65D7-98CF-4BFF-811CDE57E2D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FF3F0521-1C1E-7F97-A973-2F91CBFA85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3DFD646-75B1-0A1B-B34B-249D505305C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B566E2A9-DDC5-7FDE-F70D-42BF5B31C10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chemeClr val="tx2"/>
                    </a:solidFill>
                  </a:rPr>
                  <a:t>8.1.3 </a:t>
                </a:r>
                <a:r>
                  <a:rPr lang="de-DE" altLang="ko-KR" sz="2800" dirty="0">
                    <a:solidFill>
                      <a:schemeClr val="tx2"/>
                    </a:solidFill>
                  </a:rPr>
                  <a:t>Issues for Display Ads</a:t>
                </a:r>
                <a:r>
                  <a:rPr lang="en-US" altLang="ko-KR" sz="2800" dirty="0">
                    <a:solidFill>
                      <a:schemeClr val="tx2"/>
                    </a:solidFill>
                  </a:rPr>
                  <a:t> 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7133E320-B9C1-3546-F58B-C63CF6B37D57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B14220C2-9089-CED1-51A3-F92DE46AC5A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0EC788A7-A70E-D6CC-73B2-CD1C699CF78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EC2C43A5-05FE-02DB-FA6E-9C0D93F057C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BEDC34AE-CC8E-3842-DBDD-478F96CF35DE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1D3CE820-8498-5E18-FC6E-13D3771F9B70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629B4206-3930-239A-7D75-67B878B60C26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39230BEA-AB6D-3FA1-6D06-7A69A79F0E2F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E728D5D-4B96-E6BB-D670-0AF362B460C2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392C0F5D-0827-D07D-1036-8C781096D641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1BB31A3-47AB-95B5-2F34-530B422F394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A33ADEC-4CFD-EB81-351E-45633A1D62C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CC5D572E-405A-FC5E-48AF-BD29CEA0412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12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0608DDAF-69E0-68B5-2C07-79B09F55FF35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184204F0-D21A-3386-A49A-E8E970DD1E3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08CDDBB7-4536-C11E-4CA5-84886A2B82B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086EB615-14C1-4C62-1EA6-424849DF86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7BFC053-15BC-938D-F212-BB5DB4DE50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3370E4E-D4D1-F6CE-EB0C-8171DD98BED6}"/>
              </a:ext>
            </a:extLst>
          </p:cNvPr>
          <p:cNvSpPr txBox="1"/>
          <p:nvPr/>
        </p:nvSpPr>
        <p:spPr>
          <a:xfrm>
            <a:off x="494839" y="1768100"/>
            <a:ext cx="58671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Unique Advantages of Web Display 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The </a:t>
            </a:r>
            <a:r>
              <a:rPr lang="en-US" altLang="ko-KR" sz="1400" b="1" dirty="0"/>
              <a:t>web surpasses traditional media</a:t>
            </a:r>
            <a:r>
              <a:rPr lang="en-US" altLang="ko-KR" sz="1400" dirty="0"/>
              <a:t> because it allows personalized ad targeting: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Ads can be tailored based on </a:t>
            </a:r>
            <a:r>
              <a:rPr lang="en-US" altLang="ko-KR" sz="1400" b="1" dirty="0"/>
              <a:t>individual user data</a:t>
            </a:r>
            <a:r>
              <a:rPr lang="en-US" altLang="ko-KR" sz="1400" dirty="0"/>
              <a:t>, regardless of the specific webpage the user is 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For instance, if a user like "Sally" is identified as a golf enthusiast, she can be shown golf-related ads on any site, not just on golf-related pages.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D0796-8A4B-27F0-32F4-A146BB844C74}"/>
              </a:ext>
            </a:extLst>
          </p:cNvPr>
          <p:cNvSpPr txBox="1"/>
          <p:nvPr/>
        </p:nvSpPr>
        <p:spPr>
          <a:xfrm>
            <a:off x="607745" y="3911058"/>
            <a:ext cx="61812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Methods for Personalization</a:t>
            </a:r>
          </a:p>
          <a:p>
            <a:r>
              <a:rPr lang="en-US" altLang="ko-KR" sz="1400" dirty="0"/>
              <a:t>Sally’s interest in golf can be deduced in various ways, such as: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Membership in a </a:t>
            </a:r>
            <a:r>
              <a:rPr lang="en-US" altLang="ko-KR" sz="1400" b="1" dirty="0"/>
              <a:t>golf-related group</a:t>
            </a:r>
            <a:r>
              <a:rPr lang="en-US" altLang="ko-KR" sz="1400" dirty="0"/>
              <a:t> on social media (e.g., Facebook).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Frequent mentions of "golf" in her </a:t>
            </a:r>
            <a:r>
              <a:rPr lang="en-US" altLang="ko-KR" sz="1400" b="1" dirty="0"/>
              <a:t>email conversations</a:t>
            </a:r>
            <a:r>
              <a:rPr lang="en-US" altLang="ko-KR" sz="1400" dirty="0"/>
              <a:t> (e.g., Gmail).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Time spent browsing </a:t>
            </a:r>
            <a:r>
              <a:rPr lang="en-US" altLang="ko-KR" sz="1400" b="1" dirty="0"/>
              <a:t>golf-related websites</a:t>
            </a:r>
            <a:r>
              <a:rPr lang="en-US" altLang="ko-KR" sz="1400" dirty="0"/>
              <a:t> (e.g., Yahoo!'s golf page).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Frequent </a:t>
            </a:r>
            <a:r>
              <a:rPr lang="en-US" altLang="ko-KR" sz="1400" b="1" dirty="0"/>
              <a:t>search queries</a:t>
            </a:r>
            <a:r>
              <a:rPr lang="en-US" altLang="ko-KR" sz="1400" dirty="0"/>
              <a:t> related to golf.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Bookmarking </a:t>
            </a:r>
            <a:r>
              <a:rPr lang="en-US" altLang="ko-KR" sz="1400" b="1" dirty="0"/>
              <a:t>golf course websites</a:t>
            </a:r>
            <a:r>
              <a:rPr lang="en-US" altLang="ko-KR" sz="1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14987-D091-8CCF-7924-99C212487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988" y="1706765"/>
            <a:ext cx="4597267" cy="424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59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B012B-E58B-4184-A19A-1C498140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2ABEA79-6676-C92B-3412-99DE11F6DB0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B7C1FD03-3665-81CA-D49D-E39F9185A1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B3844812-B4AB-8AAA-6DBF-94BDA120DB4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A495ED70-47D7-999C-BEF1-40F9495BAEE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chemeClr val="tx2"/>
                    </a:solidFill>
                  </a:rPr>
                  <a:t>8.1.3 </a:t>
                </a:r>
                <a:r>
                  <a:rPr lang="de-DE" altLang="ko-KR" sz="2800" dirty="0">
                    <a:solidFill>
                      <a:schemeClr val="tx2"/>
                    </a:solidFill>
                  </a:rPr>
                  <a:t>Issues for Display Ads</a:t>
                </a:r>
                <a:r>
                  <a:rPr lang="en-US" altLang="ko-KR" sz="2800" dirty="0">
                    <a:solidFill>
                      <a:schemeClr val="tx2"/>
                    </a:solidFill>
                  </a:rPr>
                  <a:t> 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482FFCFD-7B9B-1DFE-72CA-72E415495984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FA2F5B0A-B4D9-72FB-EBF7-22DE0AE9897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075A0E46-500F-6C8D-28EC-0002B0DB833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08C2B25C-8498-9B74-DAD8-018737BDAA1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30D4E786-48CF-8DCF-960F-D06751B47EAD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EB70E966-9411-F977-6B02-59C71B347FD5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C70510A0-9BE2-D609-8ED0-F179DD43F333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E1A4C986-2E23-4D21-4D66-443EFDAC2223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F2DB2E5B-B05F-8869-FFF2-A392CEDBCAF8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E89B4132-9373-B545-C492-E99393D2D8C4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04E3568-68F0-8210-92B0-054EEE7FF41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5D7D155-8D90-F591-BDAB-058B8323455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3DA1630-44AC-A6C5-6D1C-DEECA26A8E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13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2BB14F42-786E-F3BC-CDC7-A2D97C84E20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276E3E4B-AA0D-5571-D34D-ED5796B1BA1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31754265-9103-D2B5-F731-32400A98476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AFB30341-F415-8294-C52F-3F4FD781F43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5F5B0FC-6AAF-2552-967E-01FFA3CF98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18F26C2-E092-16E7-BA61-4FBC47708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988" y="1706765"/>
            <a:ext cx="4597267" cy="42453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F78734-6FEA-2A65-7930-A2007F74370C}"/>
              </a:ext>
            </a:extLst>
          </p:cNvPr>
          <p:cNvSpPr txBox="1"/>
          <p:nvPr/>
        </p:nvSpPr>
        <p:spPr>
          <a:xfrm>
            <a:off x="1021866" y="2006352"/>
            <a:ext cx="522328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Privacy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Personalization depends on collecting and analyzing user data, which raises significant </a:t>
            </a:r>
            <a:r>
              <a:rPr lang="en-US" altLang="ko-KR" b="1" dirty="0"/>
              <a:t>privacy issues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Users often appreciate </a:t>
            </a:r>
            <a:r>
              <a:rPr lang="en-US" altLang="ko-KR" b="1" dirty="0"/>
              <a:t>relevant ads</a:t>
            </a:r>
            <a:r>
              <a:rPr lang="en-US" altLang="ko-KR" dirty="0"/>
              <a:t> (they're less intrusive and more useful).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However, there's a risk of misuse if sensitive data (e.g., user preferences or behavior) is exposed to people outside the algorithms managing 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The tradeoff: </a:t>
            </a:r>
            <a:r>
              <a:rPr lang="en-US" altLang="ko-KR" b="1" dirty="0"/>
              <a:t>Effective, free services</a:t>
            </a:r>
            <a:r>
              <a:rPr lang="en-US" altLang="ko-KR" dirty="0"/>
              <a:t> supported by ads rely on such data collection, but it opens the door to potential exploitation or privacy violations.</a:t>
            </a:r>
          </a:p>
        </p:txBody>
      </p:sp>
    </p:spTree>
    <p:extLst>
      <p:ext uri="{BB962C8B-B14F-4D97-AF65-F5344CB8AC3E}">
        <p14:creationId xmlns:p14="http://schemas.microsoft.com/office/powerpoint/2010/main" val="2198650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8C168-6099-7F68-19FB-ACDA2491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FD33A74-4FE3-EB02-F84A-19A97DA55B0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1EB8F6F1-D053-89D2-8333-65513F6A20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F662F49-A6FA-471F-9834-79093E0127E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60" y="300036"/>
              <a:ext cx="1188248" cy="547688"/>
              <a:chOff x="385760" y="300036"/>
              <a:chExt cx="1188248" cy="547688"/>
            </a:xfrm>
          </p:grpSpPr>
          <p:sp>
            <p:nvSpPr>
              <p:cNvPr id="21" name="사각형: 둥근 한쪽 모서리 20">
                <a:extLst>
                  <a:ext uri="{FF2B5EF4-FFF2-40B4-BE49-F238E27FC236}">
                    <a16:creationId xmlns:a16="http://schemas.microsoft.com/office/drawing/2014/main" id="{F9E36FA0-4CAD-7950-05DC-B0DCCC492A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60" y="300037"/>
                <a:ext cx="528640" cy="547687"/>
              </a:xfrm>
              <a:prstGeom prst="round1Rect">
                <a:avLst>
                  <a:gd name="adj" fmla="val 11356"/>
                </a:avLst>
              </a:prstGeom>
              <a:solidFill>
                <a:srgbClr val="08724F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prstClr val="white"/>
                    </a:solidFill>
                  </a:rPr>
                  <a:t>←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C030A35-96AC-7BA1-D2F7-8507D200A5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914400" y="300036"/>
                <a:ext cx="528640" cy="547687"/>
              </a:xfrm>
              <a:prstGeom prst="rect">
                <a:avLst/>
              </a:prstGeom>
              <a:solidFill>
                <a:srgbClr val="00A86B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F7DDEF0B-3776-B4E2-83EF-0A7A47005FA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064201" y="467495"/>
                <a:ext cx="176429" cy="232832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5B9AC0C4-D11F-5D06-8514-F649144C6AB0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312072" y="447672"/>
                <a:ext cx="261936" cy="261936"/>
                <a:chOff x="1312072" y="447672"/>
                <a:chExt cx="261936" cy="261936"/>
              </a:xfrm>
            </p:grpSpPr>
            <p:sp>
              <p:nvSpPr>
                <p:cNvPr id="25" name="타원 24">
                  <a:extLst>
                    <a:ext uri="{FF2B5EF4-FFF2-40B4-BE49-F238E27FC236}">
                      <a16:creationId xmlns:a16="http://schemas.microsoft.com/office/drawing/2014/main" id="{652FAFFC-B9D4-9F7D-F55B-BE5B5A732E2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312072" y="447672"/>
                  <a:ext cx="261936" cy="261936"/>
                </a:xfrm>
                <a:prstGeom prst="ellipse">
                  <a:avLst/>
                </a:prstGeom>
                <a:solidFill>
                  <a:srgbClr val="C7EA46"/>
                </a:solidFill>
                <a:ln w="69850">
                  <a:noFill/>
                </a:ln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" name="타원 25">
                  <a:extLst>
                    <a:ext uri="{FF2B5EF4-FFF2-40B4-BE49-F238E27FC236}">
                      <a16:creationId xmlns:a16="http://schemas.microsoft.com/office/drawing/2014/main" id="{D72377B3-A214-F9A2-4808-DC3AF24208A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394940" y="532926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DA89DF5E-BD55-7AC0-DA3A-6C5A0510084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453576" y="532926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" name="타원 27">
                  <a:extLst>
                    <a:ext uri="{FF2B5EF4-FFF2-40B4-BE49-F238E27FC236}">
                      <a16:creationId xmlns:a16="http://schemas.microsoft.com/office/drawing/2014/main" id="{581D83CD-21D1-79C1-DD2D-787857BD96E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394940" y="591603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F4D02015-26F3-1E95-FE00-76E8FF0E3E5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453576" y="591603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15C048FF-CBD0-CECD-391B-2BD6F9E3DD2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57800F5-464D-C5E4-5825-1BAEB74B10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09A90B-B08F-37E6-464C-98F45CD806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14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8F3E277F-3AA4-628B-437F-5BABD757BAB3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AAAD4001-21A6-05AE-2A9C-65782C3A2C2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9F5404AF-E3DA-DC02-A24E-EDBE255AC71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5C32781C-3844-7F29-0F0D-163704BA58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FC22830-1F69-76BD-34FB-8E0B04026F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32180CE-8686-F42A-E2C4-295309A9EA01}"/>
              </a:ext>
            </a:extLst>
          </p:cNvPr>
          <p:cNvSpPr txBox="1"/>
          <p:nvPr/>
        </p:nvSpPr>
        <p:spPr>
          <a:xfrm>
            <a:off x="722779" y="3208407"/>
            <a:ext cx="9239368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000" b="1" dirty="0">
                <a:latin typeface="+mj-lt"/>
              </a:rPr>
              <a:t>8.1 Online Algorithms</a:t>
            </a:r>
          </a:p>
        </p:txBody>
      </p:sp>
    </p:spTree>
    <p:extLst>
      <p:ext uri="{BB962C8B-B14F-4D97-AF65-F5344CB8AC3E}">
        <p14:creationId xmlns:p14="http://schemas.microsoft.com/office/powerpoint/2010/main" val="3762236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AB57F-8D17-44AD-A19B-0B2E2849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85A60FF-A5B1-AB68-B60C-13AD981BDDA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2A4E2597-4CC9-DFF3-DD34-0656A8CF82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387E4DA-6470-13FD-DA40-3890ECF749B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5536B099-0E83-77E0-76F8-205E056BCE0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chemeClr val="tx2"/>
                    </a:solidFill>
                  </a:rPr>
                  <a:t>8.2.1 </a:t>
                </a:r>
                <a:r>
                  <a:rPr lang="de-DE" altLang="ko-KR" sz="2800" dirty="0">
                    <a:solidFill>
                      <a:schemeClr val="tx2"/>
                    </a:solidFill>
                  </a:rPr>
                  <a:t>On-line and Offline Algorithms</a:t>
                </a:r>
                <a:r>
                  <a:rPr lang="en-US" altLang="ko-KR" sz="2800" dirty="0">
                    <a:solidFill>
                      <a:schemeClr val="tx2"/>
                    </a:solidFill>
                  </a:rPr>
                  <a:t> 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D2E3C62C-DF72-A422-6B5D-3697FFED2E0E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A062376C-7EB9-3A41-98E5-D33E269AB7E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0164591A-CB1D-22C1-AB57-0F998C9616C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B5E8ADF2-B43D-CAE3-1C91-31F174E7CB9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C520BA64-FEB2-D54D-2AD4-5E83E700F5AD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417B9263-ECAF-36F9-79DC-8B58F42A4415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4B5453F0-E7D3-A610-AC70-F46B0872A824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469ADD43-D5D4-CB99-3D11-5E94EEE5F509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53B78970-D9A9-E352-4341-03C897B605E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2CB7C65A-A711-42A3-4ED3-47CB67E45F38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508BB7E-6EF0-8A54-ED58-CAC65256E75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C366D94-FDDE-81F1-AC50-53CD799C4E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7747F592-788D-F0C3-103B-52FF6472528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15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5944F7F0-F58D-C3DE-A550-34C4085984A0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40059136-BE90-1D8B-9063-2651A9F0670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7E526D8D-A8C3-7FAB-D1CA-FE792A1D021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9A3040D3-65CB-7D8C-EB09-A929522858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5FD47C9-9249-C9BC-D908-38456241E0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DA9CD92-AC1B-A6BE-AF21-6D9F11C3DF12}"/>
              </a:ext>
            </a:extLst>
          </p:cNvPr>
          <p:cNvSpPr txBox="1"/>
          <p:nvPr/>
        </p:nvSpPr>
        <p:spPr>
          <a:xfrm>
            <a:off x="494839" y="1859340"/>
            <a:ext cx="54112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Off-Line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Definition</a:t>
            </a:r>
            <a:r>
              <a:rPr lang="en-US" altLang="ko-KR" dirty="0"/>
              <a:t>: These algorithms have access to </a:t>
            </a:r>
            <a:r>
              <a:rPr lang="en-US" altLang="ko-KR" b="1" dirty="0"/>
              <a:t>all data upfront</a:t>
            </a:r>
            <a:r>
              <a:rPr lang="en-US" altLang="ko-KR" dirty="0"/>
              <a:t> before making any decisions.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Example: If you could see all search queries for a month, you could plan the best way to allocate ads for maximum revenue and impressions.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Strength</a:t>
            </a:r>
            <a:r>
              <a:rPr lang="en-US" altLang="ko-KR" dirty="0"/>
              <a:t>: Off-line algorithms produce optimal results because they work with </a:t>
            </a:r>
            <a:r>
              <a:rPr lang="en-US" altLang="ko-KR" b="1" dirty="0"/>
              <a:t>complete information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Limitation</a:t>
            </a:r>
            <a:r>
              <a:rPr lang="en-US" altLang="ko-KR" dirty="0"/>
              <a:t>: They are impractical for real-time applications like search ads, as users can’t wait for their queries to be processed after a month.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718B8-2308-A836-7869-53BC224B6F0B}"/>
              </a:ext>
            </a:extLst>
          </p:cNvPr>
          <p:cNvSpPr txBox="1"/>
          <p:nvPr/>
        </p:nvSpPr>
        <p:spPr>
          <a:xfrm>
            <a:off x="6322251" y="1859340"/>
            <a:ext cx="53749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On-Line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Definition</a:t>
            </a:r>
            <a:r>
              <a:rPr lang="en-US" altLang="ko-KR" dirty="0"/>
              <a:t>: These algorithms make decisions </a:t>
            </a:r>
            <a:r>
              <a:rPr lang="en-US" altLang="ko-KR" b="1" dirty="0"/>
              <a:t>in real time</a:t>
            </a:r>
            <a:r>
              <a:rPr lang="en-US" altLang="ko-KR" dirty="0"/>
              <a:t>, as each piece of data (e.g., a search query) arrives.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Example: When a query like "chesterfield" arrives, the algorithm must immediately decide which ad to show without knowing future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Strength</a:t>
            </a:r>
            <a:r>
              <a:rPr lang="en-US" altLang="ko-KR" dirty="0"/>
              <a:t>: They are ideal for real-time systems where decisions must be made instantly.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Limitation</a:t>
            </a:r>
            <a:r>
              <a:rPr lang="en-US" altLang="ko-KR" dirty="0"/>
              <a:t>: They don’t have knowledge of future data, so they can’t always make the globally optimal decision.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7FF432-9F44-316E-BD6C-C9BAB62BFF31}"/>
              </a:ext>
            </a:extLst>
          </p:cNvPr>
          <p:cNvCxnSpPr>
            <a:cxnSpLocks/>
          </p:cNvCxnSpPr>
          <p:nvPr/>
        </p:nvCxnSpPr>
        <p:spPr>
          <a:xfrm>
            <a:off x="6122382" y="1627030"/>
            <a:ext cx="0" cy="4564659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86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EE1DD-50BA-FCB8-FB28-19BE1833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C6DE81E9-D220-C4D9-1571-DCB1233FD4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8D2F4283-5FC8-901F-EA79-1C4F489939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C04AF24-FCB9-7C75-CCDE-363E204B730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475AE722-DAC8-BD66-9BF1-3441413A63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chemeClr val="tx2"/>
                    </a:solidFill>
                  </a:rPr>
                  <a:t>8.2.1 </a:t>
                </a:r>
                <a:r>
                  <a:rPr lang="de-DE" altLang="ko-KR" sz="2800" dirty="0">
                    <a:solidFill>
                      <a:schemeClr val="tx2"/>
                    </a:solidFill>
                  </a:rPr>
                  <a:t>On-line and Offline Algorithms</a:t>
                </a:r>
                <a:r>
                  <a:rPr lang="en-US" altLang="ko-KR" sz="2800" dirty="0">
                    <a:solidFill>
                      <a:schemeClr val="tx2"/>
                    </a:solidFill>
                  </a:rPr>
                  <a:t> 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DD675094-5159-D5D0-E79F-001F0EBC4A3F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728AE0E8-1913-BD9C-291C-67DE8011CFA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9CB12A6B-DA5B-5531-35C5-F41FC5A0955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6D4DCA1D-55A7-9969-9B4A-5B7493B9C9B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BF2C0239-D6EB-CF58-6A26-7984362F787F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3DD49584-422C-ACAB-48D1-DEDA955C2498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EA8AD50D-067F-A6FB-5A0F-B31D5D7C3202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7E9BB670-4D4C-918D-0A87-5495FA650D10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79900768-8EF7-1DF1-ABE4-A7910A30710E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9C98E068-CE80-4686-5E8E-22CC8EC1A38D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ECAC915-2618-D320-5ED7-661053B8071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E98B53B-C5A9-2737-1180-94E2934DC8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8CA56F5-F4C9-1A82-1E1E-FE697F37B60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16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7ED6D5D3-EF84-97A5-D419-8445F9ACD9FA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86FC1E47-C315-CBCF-6C58-9A395458A5C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449E4135-C7C1-2A47-5A42-83A46FA9297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B7D29E79-D999-5C5B-955D-69489C2BCDD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1D958D7-134F-0C6D-C475-34E3D02A98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D569E06-467A-59BB-C36E-92CC442777E6}"/>
              </a:ext>
            </a:extLst>
          </p:cNvPr>
          <p:cNvSpPr txBox="1"/>
          <p:nvPr/>
        </p:nvSpPr>
        <p:spPr>
          <a:xfrm>
            <a:off x="574786" y="1742082"/>
            <a:ext cx="53513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Why On-Line Algorithms Are Needed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Each search query requires an immediate response.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Information from </a:t>
            </a:r>
            <a:r>
              <a:rPr lang="en-US" altLang="ko-KR" b="1" dirty="0"/>
              <a:t>past data</a:t>
            </a:r>
            <a:r>
              <a:rPr lang="en-US" altLang="ko-KR" dirty="0"/>
              <a:t> (e.g., click-through rates, remaining budget) can be used, but future queries remain unknown.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Challenges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Balancing advertiser budgets: Ads with higher bids often seem preferable (e.g., B bidding 20 cents for "chesterfield"), but showing them too often might leave other advertisers’ budgets unspent.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Real-time trade-offs: Without knowing future queries (e.g., "sofa"), decisions may lead to suboptimal revenue or impressions.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1EECF2-E518-1E6E-8AA6-490163C1C247}"/>
              </a:ext>
            </a:extLst>
          </p:cNvPr>
          <p:cNvSpPr txBox="1"/>
          <p:nvPr/>
        </p:nvSpPr>
        <p:spPr>
          <a:xfrm>
            <a:off x="6265891" y="3562350"/>
            <a:ext cx="626588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Decision Dilemma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If you show </a:t>
            </a:r>
            <a:r>
              <a:rPr lang="en-US" altLang="ko-KR" sz="1400" b="1" dirty="0"/>
              <a:t>B's ad</a:t>
            </a:r>
            <a:r>
              <a:rPr lang="en-US" altLang="ko-KR" sz="1400" dirty="0"/>
              <a:t> for "chesterfield" now (because they bid more), B's budget may run out quickly, especially if there are many "sofa" queries later.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If you show </a:t>
            </a:r>
            <a:r>
              <a:rPr lang="en-US" altLang="ko-KR" sz="1400" b="1" dirty="0"/>
              <a:t>A's ad</a:t>
            </a:r>
            <a:r>
              <a:rPr lang="en-US" altLang="ko-KR" sz="1400" dirty="0"/>
              <a:t> for "chesterfield," A’s budget gets utilized, and B still has enough to cover "sofa" queries later.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Insight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If you knew there would be </a:t>
            </a:r>
            <a:r>
              <a:rPr lang="en-US" altLang="ko-KR" sz="1400" b="1" dirty="0"/>
              <a:t>500+ sofa queries</a:t>
            </a:r>
            <a:r>
              <a:rPr lang="en-US" altLang="ko-KR" sz="1400" dirty="0"/>
              <a:t>, it’s better to show A’s ad now and save B’s budget for "sofa."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Since future queries are unknown, an on-line algorithm has to make a </a:t>
            </a:r>
            <a:r>
              <a:rPr lang="en-US" altLang="ko-KR" sz="1400" b="1" dirty="0"/>
              <a:t>greedy decision</a:t>
            </a:r>
            <a:r>
              <a:rPr lang="en-US" altLang="ko-KR" sz="1400" dirty="0"/>
              <a:t> based on available information.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B32D07D-B34F-E6CB-37DC-115546031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999210"/>
              </p:ext>
            </p:extLst>
          </p:nvPr>
        </p:nvGraphicFramePr>
        <p:xfrm>
          <a:off x="7388973" y="1804223"/>
          <a:ext cx="40197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862">
                  <a:extLst>
                    <a:ext uri="{9D8B030D-6E8A-4147-A177-3AD203B41FA5}">
                      <a16:colId xmlns:a16="http://schemas.microsoft.com/office/drawing/2014/main" val="230978738"/>
                    </a:ext>
                  </a:extLst>
                </a:gridCol>
                <a:gridCol w="2009862">
                  <a:extLst>
                    <a:ext uri="{9D8B030D-6E8A-4147-A177-3AD203B41FA5}">
                      <a16:colId xmlns:a16="http://schemas.microsoft.com/office/drawing/2014/main" val="891250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473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chesterfield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sofa, chesterfield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0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$10c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$20c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14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$100/month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$100/month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305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189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D57E-C5A9-7E7B-35FA-E0B13561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FF2D2C4-B0FA-BE02-4E2D-66CD495190A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AC2A3F85-ED99-153D-78E9-C546396FA3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AF9685EA-F14F-D316-B26F-E3DDC295BAA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548C2268-562D-2363-96D7-C798C4DA15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chemeClr val="tx2"/>
                    </a:solidFill>
                  </a:rPr>
                  <a:t>8.2.2 Greedy</a:t>
                </a:r>
                <a:r>
                  <a:rPr lang="de-DE" altLang="ko-KR" sz="2800" dirty="0">
                    <a:solidFill>
                      <a:schemeClr val="tx2"/>
                    </a:solidFill>
                  </a:rPr>
                  <a:t> Algorithms</a:t>
                </a:r>
                <a:r>
                  <a:rPr lang="en-US" altLang="ko-KR" sz="2800" dirty="0">
                    <a:solidFill>
                      <a:schemeClr val="tx2"/>
                    </a:solidFill>
                  </a:rPr>
                  <a:t> 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54DF4B4C-6C96-D920-ED20-409DF3F2A7D4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9FCB51DA-8674-A451-549F-0AE3C5C1DA4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ECB8275C-B842-135A-3C60-D109156D61D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A1A48C7A-C19F-C349-41D0-A887CFAD5CC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FD737516-1428-E938-6E9A-97F8B2464877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23596C7A-8F89-783E-67A6-03CCE00FA5DE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595C93A5-AB79-7936-B63F-8961479360F0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1E11DB9C-8AE9-EAF2-FA52-C32DB1308303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80CFBF17-F2F6-1AD0-EE7E-0DA318810DC4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7D737043-F670-6099-F4B3-377ACC83937A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D32F41AF-289B-834B-4B2E-29ABAE6D37A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4C0DCEA-E7A4-0469-128B-2EE32911E6F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8F9D2EC-B3F4-290B-FE55-0FC11EDBD0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17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457B6367-3691-6131-6B90-15E6DC8A8B1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D8F0F0BD-EDB6-6124-2E48-F1673D545B1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58557A52-1328-E8F9-64BB-7C588522044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F1FBABE2-7D7D-B279-78CE-79B89C5CCBA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1874C0F-9C1B-08CC-D136-9D8F6AD994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91BE86C-77D7-A007-8D35-B73DD173F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172912"/>
              </p:ext>
            </p:extLst>
          </p:nvPr>
        </p:nvGraphicFramePr>
        <p:xfrm>
          <a:off x="7388973" y="1553493"/>
          <a:ext cx="40197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862">
                  <a:extLst>
                    <a:ext uri="{9D8B030D-6E8A-4147-A177-3AD203B41FA5}">
                      <a16:colId xmlns:a16="http://schemas.microsoft.com/office/drawing/2014/main" val="230978738"/>
                    </a:ext>
                  </a:extLst>
                </a:gridCol>
                <a:gridCol w="2009862">
                  <a:extLst>
                    <a:ext uri="{9D8B030D-6E8A-4147-A177-3AD203B41FA5}">
                      <a16:colId xmlns:a16="http://schemas.microsoft.com/office/drawing/2014/main" val="891250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473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chesterfield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sofa, chesterfield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0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$10c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$20c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14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$100/month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$100/month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3051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F835BC-DD59-1EED-4DEE-A47349C559C3}"/>
              </a:ext>
            </a:extLst>
          </p:cNvPr>
          <p:cNvSpPr txBox="1"/>
          <p:nvPr/>
        </p:nvSpPr>
        <p:spPr>
          <a:xfrm>
            <a:off x="452503" y="1541324"/>
            <a:ext cx="56434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b="1" dirty="0"/>
              <a:t>Definition</a:t>
            </a:r>
            <a:r>
              <a:rPr lang="en-US" altLang="ko-KR" dirty="0"/>
              <a:t>: Greedy algorithms make decisions </a:t>
            </a:r>
            <a:r>
              <a:rPr lang="en-US" altLang="ko-KR" b="1" dirty="0"/>
              <a:t>incrementally</a:t>
            </a:r>
            <a:r>
              <a:rPr lang="en-US" altLang="ko-KR" dirty="0"/>
              <a:t>, based on the current input and past information, to </a:t>
            </a:r>
            <a:r>
              <a:rPr lang="en-US" altLang="ko-KR" b="1" dirty="0"/>
              <a:t>maximize immediate gains</a:t>
            </a:r>
            <a:r>
              <a:rPr lang="en-US" altLang="ko-KR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b="1" dirty="0"/>
              <a:t>Key Feature</a:t>
            </a:r>
            <a:r>
              <a:rPr lang="en-US" altLang="ko-KR" dirty="0"/>
              <a:t>: They do not consider future inputs, focusing only on what seems optimal at the moment.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7152E-0483-5140-7919-FEB35F676F03}"/>
              </a:ext>
            </a:extLst>
          </p:cNvPr>
          <p:cNvSpPr txBox="1"/>
          <p:nvPr/>
        </p:nvSpPr>
        <p:spPr>
          <a:xfrm>
            <a:off x="585774" y="3737997"/>
            <a:ext cx="541712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How the Greedy Algorithm Works</a:t>
            </a:r>
          </a:p>
          <a:p>
            <a:pPr>
              <a:buFont typeface="+mj-lt"/>
              <a:buAutoNum type="arabicPeriod"/>
            </a:pPr>
            <a:r>
              <a:rPr lang="en-US" altLang="ko-KR" sz="1400" dirty="0"/>
              <a:t>The first 500 queries (either "chesterfield" or "sofa") are assigned to B because B bids more (20 cents) than A (10 cents).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B’s budget is now depleted: $100 ÷ $0.20 = 500 queries.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Total revenue so far: </a:t>
            </a:r>
            <a:r>
              <a:rPr lang="en-US" altLang="ko-KR" sz="1400" b="1" dirty="0"/>
              <a:t>$100</a:t>
            </a:r>
            <a:r>
              <a:rPr lang="en-US" altLang="ko-KR" sz="1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400" dirty="0"/>
              <a:t>After B’s budget is exhausted: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The next 1000 "chesterfield" queries are assigned to 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"Sofa" queries receive </a:t>
            </a:r>
            <a:r>
              <a:rPr lang="en-US" altLang="ko-KR" sz="1400" b="1" dirty="0"/>
              <a:t>no ad</a:t>
            </a:r>
            <a:r>
              <a:rPr lang="en-US" altLang="ko-KR" sz="1400" dirty="0"/>
              <a:t> because A doesn’t bid on "sofa."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Total revenue remains </a:t>
            </a:r>
            <a:r>
              <a:rPr lang="en-US" altLang="ko-KR" sz="1400" b="1" dirty="0"/>
              <a:t>$100</a:t>
            </a:r>
            <a:r>
              <a:rPr lang="en-US" altLang="ko-KR" sz="1400" dirty="0"/>
              <a:t>, as no additional revenue comes from "sofa" queries.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27BE6C-4888-EFD1-6A69-655228A62DA7}"/>
              </a:ext>
            </a:extLst>
          </p:cNvPr>
          <p:cNvSpPr txBox="1"/>
          <p:nvPr/>
        </p:nvSpPr>
        <p:spPr>
          <a:xfrm>
            <a:off x="6736411" y="3737997"/>
            <a:ext cx="49607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Comparison to Off-Line Algorithm</a:t>
            </a:r>
          </a:p>
          <a:p>
            <a:r>
              <a:rPr lang="en-US" altLang="ko-KR" sz="1400" dirty="0"/>
              <a:t>If an </a:t>
            </a:r>
            <a:r>
              <a:rPr lang="en-US" altLang="ko-KR" sz="1400" b="1" dirty="0"/>
              <a:t>off-line algorithm</a:t>
            </a:r>
            <a:r>
              <a:rPr lang="en-US" altLang="ko-KR" sz="1400" dirty="0"/>
              <a:t> (with future knowledge) were used:</a:t>
            </a:r>
          </a:p>
          <a:p>
            <a:pPr>
              <a:buFont typeface="+mj-lt"/>
              <a:buAutoNum type="arabicPeriod"/>
            </a:pPr>
            <a:r>
              <a:rPr lang="en-US" altLang="ko-KR" sz="1400" dirty="0"/>
              <a:t>Assign the first 500 "chesterfield" queries to A (since B will have "sofa" queries later):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Revenue from A: </a:t>
            </a:r>
            <a:r>
              <a:rPr lang="en-US" altLang="ko-KR" sz="1400" b="1" dirty="0"/>
              <a:t>500 × $0.10 = $50</a:t>
            </a:r>
            <a:r>
              <a:rPr lang="en-US" altLang="ko-KR" sz="1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400" dirty="0"/>
              <a:t>Assign the next 500 "sofa" queries to B: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400" dirty="0"/>
              <a:t>Revenue from B: </a:t>
            </a:r>
            <a:r>
              <a:rPr lang="en-US" altLang="ko-KR" sz="1400" b="1" dirty="0"/>
              <a:t>500 × $0.20 = $100</a:t>
            </a:r>
            <a:r>
              <a:rPr lang="en-US" altLang="ko-KR" sz="1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400" b="1" dirty="0"/>
              <a:t>Total Revenue</a:t>
            </a:r>
            <a:r>
              <a:rPr lang="en-US" altLang="ko-KR" sz="1400" dirty="0"/>
              <a:t>: $50 (A) + $100 (B) = </a:t>
            </a:r>
            <a:r>
              <a:rPr lang="en-US" altLang="ko-KR" sz="1400" b="1" dirty="0"/>
              <a:t>$150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4613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8501-A706-20D2-A1FC-608062D8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38D2A1E9-1CEB-0547-EA74-E60DCC9328F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8A772444-0D0F-D23E-4667-FE602640E3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791612C-381F-123B-E61A-165E6B7BD40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59" y="300036"/>
              <a:ext cx="11848575" cy="552451"/>
              <a:chOff x="385759" y="300036"/>
              <a:chExt cx="11848575" cy="552451"/>
            </a:xfrm>
          </p:grpSpPr>
          <p:sp>
            <p:nvSpPr>
              <p:cNvPr id="19" name="사각형: 둥근 한쪽 모서리 18">
                <a:extLst>
                  <a:ext uri="{FF2B5EF4-FFF2-40B4-BE49-F238E27FC236}">
                    <a16:creationId xmlns:a16="http://schemas.microsoft.com/office/drawing/2014/main" id="{3F1A1096-0344-FC79-861C-9C5CE90C3DB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59" y="304800"/>
                <a:ext cx="11848575" cy="547687"/>
              </a:xfrm>
              <a:prstGeom prst="round1Rect">
                <a:avLst>
                  <a:gd name="adj" fmla="val 12707"/>
                </a:avLst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7300" latinLnBrk="0">
                  <a:defRPr/>
                </a:pPr>
                <a:r>
                  <a:rPr lang="en-US" altLang="ko-KR" sz="2800" dirty="0">
                    <a:solidFill>
                      <a:schemeClr val="tx2"/>
                    </a:solidFill>
                  </a:rPr>
                  <a:t>8.2.3 The Competitive Ratio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D7AA5675-599C-B438-F069-597A808072BE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85760" y="300036"/>
                <a:ext cx="1188248" cy="547688"/>
                <a:chOff x="385760" y="300036"/>
                <a:chExt cx="1188248" cy="547688"/>
              </a:xfrm>
            </p:grpSpPr>
            <p:sp>
              <p:nvSpPr>
                <p:cNvPr id="21" name="사각형: 둥근 한쪽 모서리 20">
                  <a:extLst>
                    <a:ext uri="{FF2B5EF4-FFF2-40B4-BE49-F238E27FC236}">
                      <a16:creationId xmlns:a16="http://schemas.microsoft.com/office/drawing/2014/main" id="{A00D79F5-8B84-B5DF-182B-32284D9BE35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385760" y="300037"/>
                  <a:ext cx="528640" cy="547687"/>
                </a:xfrm>
                <a:prstGeom prst="round1Rect">
                  <a:avLst>
                    <a:gd name="adj" fmla="val 11356"/>
                  </a:avLst>
                </a:prstGeom>
                <a:solidFill>
                  <a:srgbClr val="08724F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prstClr val="white"/>
                      </a:solidFill>
                    </a:rPr>
                    <a:t>←</a:t>
                  </a: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FF12680F-665B-E4DC-E52D-B84A342C772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914400" y="300036"/>
                  <a:ext cx="528640" cy="547687"/>
                </a:xfrm>
                <a:prstGeom prst="rect">
                  <a:avLst/>
                </a:prstGeom>
                <a:solidFill>
                  <a:srgbClr val="00A86B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45843B36-3EB1-9A2E-4EB0-43A72F2117F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1064201" y="467495"/>
                  <a:ext cx="176429" cy="232832"/>
                </a:xfrm>
                <a:custGeom>
                  <a:avLst/>
                  <a:gdLst>
                    <a:gd name="T0" fmla="*/ 1093 w 9310"/>
                    <a:gd name="T1" fmla="*/ 12245 h 12286"/>
                    <a:gd name="T2" fmla="*/ 582 w 9310"/>
                    <a:gd name="T3" fmla="*/ 12007 h 12286"/>
                    <a:gd name="T4" fmla="*/ 279 w 9310"/>
                    <a:gd name="T5" fmla="*/ 11710 h 12286"/>
                    <a:gd name="T6" fmla="*/ 42 w 9310"/>
                    <a:gd name="T7" fmla="*/ 11209 h 12286"/>
                    <a:gd name="T8" fmla="*/ 0 w 9310"/>
                    <a:gd name="T9" fmla="*/ 1919 h 12286"/>
                    <a:gd name="T10" fmla="*/ 117 w 9310"/>
                    <a:gd name="T11" fmla="*/ 1260 h 12286"/>
                    <a:gd name="T12" fmla="*/ 498 w 9310"/>
                    <a:gd name="T13" fmla="*/ 629 h 12286"/>
                    <a:gd name="T14" fmla="*/ 1088 w 9310"/>
                    <a:gd name="T15" fmla="*/ 189 h 12286"/>
                    <a:gd name="T16" fmla="*/ 1821 w 9310"/>
                    <a:gd name="T17" fmla="*/ 1 h 12286"/>
                    <a:gd name="T18" fmla="*/ 7682 w 9310"/>
                    <a:gd name="T19" fmla="*/ 22 h 12286"/>
                    <a:gd name="T20" fmla="*/ 8385 w 9310"/>
                    <a:gd name="T21" fmla="*/ 278 h 12286"/>
                    <a:gd name="T22" fmla="*/ 8929 w 9310"/>
                    <a:gd name="T23" fmla="*/ 772 h 12286"/>
                    <a:gd name="T24" fmla="*/ 9250 w 9310"/>
                    <a:gd name="T25" fmla="*/ 1440 h 12286"/>
                    <a:gd name="T26" fmla="*/ 9310 w 9310"/>
                    <a:gd name="T27" fmla="*/ 8471 h 12286"/>
                    <a:gd name="T28" fmla="*/ 9201 w 9310"/>
                    <a:gd name="T29" fmla="*/ 8777 h 12286"/>
                    <a:gd name="T30" fmla="*/ 8880 w 9310"/>
                    <a:gd name="T31" fmla="*/ 8949 h 12286"/>
                    <a:gd name="T32" fmla="*/ 8601 w 9310"/>
                    <a:gd name="T33" fmla="*/ 8894 h 12286"/>
                    <a:gd name="T34" fmla="*/ 8370 w 9310"/>
                    <a:gd name="T35" fmla="*/ 8615 h 12286"/>
                    <a:gd name="T36" fmla="*/ 8349 w 9310"/>
                    <a:gd name="T37" fmla="*/ 1870 h 12286"/>
                    <a:gd name="T38" fmla="*/ 8255 w 9310"/>
                    <a:gd name="T39" fmla="*/ 1503 h 12286"/>
                    <a:gd name="T40" fmla="*/ 8035 w 9310"/>
                    <a:gd name="T41" fmla="*/ 1209 h 12286"/>
                    <a:gd name="T42" fmla="*/ 7720 w 9310"/>
                    <a:gd name="T43" fmla="*/ 1018 h 12286"/>
                    <a:gd name="T44" fmla="*/ 7390 w 9310"/>
                    <a:gd name="T45" fmla="*/ 960 h 12286"/>
                    <a:gd name="T46" fmla="*/ 1680 w 9310"/>
                    <a:gd name="T47" fmla="*/ 989 h 12286"/>
                    <a:gd name="T48" fmla="*/ 1346 w 9310"/>
                    <a:gd name="T49" fmla="*/ 1150 h 12286"/>
                    <a:gd name="T50" fmla="*/ 1098 w 9310"/>
                    <a:gd name="T51" fmla="*/ 1423 h 12286"/>
                    <a:gd name="T52" fmla="*/ 970 w 9310"/>
                    <a:gd name="T53" fmla="*/ 1774 h 12286"/>
                    <a:gd name="T54" fmla="*/ 962 w 9310"/>
                    <a:gd name="T55" fmla="*/ 10904 h 12286"/>
                    <a:gd name="T56" fmla="*/ 1091 w 9310"/>
                    <a:gd name="T57" fmla="*/ 11185 h 12286"/>
                    <a:gd name="T58" fmla="*/ 1405 w 9310"/>
                    <a:gd name="T59" fmla="*/ 11326 h 12286"/>
                    <a:gd name="T60" fmla="*/ 1677 w 9310"/>
                    <a:gd name="T61" fmla="*/ 11273 h 12286"/>
                    <a:gd name="T62" fmla="*/ 4346 w 9310"/>
                    <a:gd name="T63" fmla="*/ 8559 h 12286"/>
                    <a:gd name="T64" fmla="*/ 4655 w 9310"/>
                    <a:gd name="T65" fmla="*/ 8448 h 12286"/>
                    <a:gd name="T66" fmla="*/ 4964 w 9310"/>
                    <a:gd name="T67" fmla="*/ 8559 h 12286"/>
                    <a:gd name="T68" fmla="*/ 7633 w 9310"/>
                    <a:gd name="T69" fmla="*/ 11273 h 12286"/>
                    <a:gd name="T70" fmla="*/ 7902 w 9310"/>
                    <a:gd name="T71" fmla="*/ 11326 h 12286"/>
                    <a:gd name="T72" fmla="*/ 8215 w 9310"/>
                    <a:gd name="T73" fmla="*/ 11182 h 12286"/>
                    <a:gd name="T74" fmla="*/ 8349 w 9310"/>
                    <a:gd name="T75" fmla="*/ 10897 h 12286"/>
                    <a:gd name="T76" fmla="*/ 8408 w 9310"/>
                    <a:gd name="T77" fmla="*/ 10618 h 12286"/>
                    <a:gd name="T78" fmla="*/ 8687 w 9310"/>
                    <a:gd name="T79" fmla="*/ 10387 h 12286"/>
                    <a:gd name="T80" fmla="*/ 8974 w 9310"/>
                    <a:gd name="T81" fmla="*/ 10387 h 12286"/>
                    <a:gd name="T82" fmla="*/ 9253 w 9310"/>
                    <a:gd name="T83" fmla="*/ 10618 h 12286"/>
                    <a:gd name="T84" fmla="*/ 9309 w 9310"/>
                    <a:gd name="T85" fmla="*/ 10920 h 12286"/>
                    <a:gd name="T86" fmla="*/ 9174 w 9310"/>
                    <a:gd name="T87" fmla="*/ 11466 h 12286"/>
                    <a:gd name="T88" fmla="*/ 8890 w 9310"/>
                    <a:gd name="T89" fmla="*/ 11865 h 12286"/>
                    <a:gd name="T90" fmla="*/ 8474 w 9310"/>
                    <a:gd name="T91" fmla="*/ 12151 h 12286"/>
                    <a:gd name="T92" fmla="*/ 7913 w 9310"/>
                    <a:gd name="T93" fmla="*/ 12286 h 12286"/>
                    <a:gd name="T94" fmla="*/ 7489 w 9310"/>
                    <a:gd name="T95" fmla="*/ 12242 h 12286"/>
                    <a:gd name="T96" fmla="*/ 6997 w 9310"/>
                    <a:gd name="T97" fmla="*/ 12001 h 12286"/>
                    <a:gd name="T98" fmla="*/ 2472 w 9310"/>
                    <a:gd name="T99" fmla="*/ 11859 h 12286"/>
                    <a:gd name="T100" fmla="*/ 2080 w 9310"/>
                    <a:gd name="T101" fmla="*/ 12145 h 12286"/>
                    <a:gd name="T102" fmla="*/ 1545 w 9310"/>
                    <a:gd name="T103" fmla="*/ 12285 h 12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10" h="12286">
                      <a:moveTo>
                        <a:pt x="1447" y="12286"/>
                      </a:moveTo>
                      <a:lnTo>
                        <a:pt x="1375" y="12286"/>
                      </a:lnTo>
                      <a:lnTo>
                        <a:pt x="1232" y="12272"/>
                      </a:lnTo>
                      <a:lnTo>
                        <a:pt x="1093" y="12245"/>
                      </a:lnTo>
                      <a:lnTo>
                        <a:pt x="957" y="12203"/>
                      </a:lnTo>
                      <a:lnTo>
                        <a:pt x="826" y="12150"/>
                      </a:lnTo>
                      <a:lnTo>
                        <a:pt x="700" y="12085"/>
                      </a:lnTo>
                      <a:lnTo>
                        <a:pt x="582" y="12007"/>
                      </a:lnTo>
                      <a:lnTo>
                        <a:pt x="471" y="11918"/>
                      </a:lnTo>
                      <a:lnTo>
                        <a:pt x="419" y="11869"/>
                      </a:lnTo>
                      <a:lnTo>
                        <a:pt x="370" y="11818"/>
                      </a:lnTo>
                      <a:lnTo>
                        <a:pt x="279" y="11710"/>
                      </a:lnTo>
                      <a:lnTo>
                        <a:pt x="202" y="11595"/>
                      </a:lnTo>
                      <a:lnTo>
                        <a:pt x="135" y="11471"/>
                      </a:lnTo>
                      <a:lnTo>
                        <a:pt x="82" y="11343"/>
                      </a:lnTo>
                      <a:lnTo>
                        <a:pt x="42" y="11209"/>
                      </a:lnTo>
                      <a:lnTo>
                        <a:pt x="14" y="11070"/>
                      </a:lnTo>
                      <a:lnTo>
                        <a:pt x="1" y="10927"/>
                      </a:lnTo>
                      <a:lnTo>
                        <a:pt x="0" y="10855"/>
                      </a:lnTo>
                      <a:lnTo>
                        <a:pt x="0" y="1919"/>
                      </a:lnTo>
                      <a:lnTo>
                        <a:pt x="1" y="1821"/>
                      </a:lnTo>
                      <a:lnTo>
                        <a:pt x="22" y="1627"/>
                      </a:lnTo>
                      <a:lnTo>
                        <a:pt x="60" y="1440"/>
                      </a:lnTo>
                      <a:lnTo>
                        <a:pt x="117" y="1260"/>
                      </a:lnTo>
                      <a:lnTo>
                        <a:pt x="189" y="1089"/>
                      </a:lnTo>
                      <a:lnTo>
                        <a:pt x="278" y="924"/>
                      </a:lnTo>
                      <a:lnTo>
                        <a:pt x="382" y="772"/>
                      </a:lnTo>
                      <a:lnTo>
                        <a:pt x="498" y="629"/>
                      </a:lnTo>
                      <a:lnTo>
                        <a:pt x="629" y="498"/>
                      </a:lnTo>
                      <a:lnTo>
                        <a:pt x="772" y="382"/>
                      </a:lnTo>
                      <a:lnTo>
                        <a:pt x="924" y="278"/>
                      </a:lnTo>
                      <a:lnTo>
                        <a:pt x="1088" y="189"/>
                      </a:lnTo>
                      <a:lnTo>
                        <a:pt x="1260" y="117"/>
                      </a:lnTo>
                      <a:lnTo>
                        <a:pt x="1440" y="60"/>
                      </a:lnTo>
                      <a:lnTo>
                        <a:pt x="1627" y="22"/>
                      </a:lnTo>
                      <a:lnTo>
                        <a:pt x="1821" y="1"/>
                      </a:lnTo>
                      <a:lnTo>
                        <a:pt x="1919" y="0"/>
                      </a:lnTo>
                      <a:lnTo>
                        <a:pt x="7390" y="0"/>
                      </a:lnTo>
                      <a:lnTo>
                        <a:pt x="7489" y="1"/>
                      </a:lnTo>
                      <a:lnTo>
                        <a:pt x="7682" y="22"/>
                      </a:lnTo>
                      <a:lnTo>
                        <a:pt x="7869" y="60"/>
                      </a:lnTo>
                      <a:lnTo>
                        <a:pt x="8049" y="117"/>
                      </a:lnTo>
                      <a:lnTo>
                        <a:pt x="8222" y="189"/>
                      </a:lnTo>
                      <a:lnTo>
                        <a:pt x="8385" y="278"/>
                      </a:lnTo>
                      <a:lnTo>
                        <a:pt x="8539" y="382"/>
                      </a:lnTo>
                      <a:lnTo>
                        <a:pt x="8681" y="498"/>
                      </a:lnTo>
                      <a:lnTo>
                        <a:pt x="8811" y="629"/>
                      </a:lnTo>
                      <a:lnTo>
                        <a:pt x="8929" y="772"/>
                      </a:lnTo>
                      <a:lnTo>
                        <a:pt x="9033" y="924"/>
                      </a:lnTo>
                      <a:lnTo>
                        <a:pt x="9120" y="1089"/>
                      </a:lnTo>
                      <a:lnTo>
                        <a:pt x="9194" y="1260"/>
                      </a:lnTo>
                      <a:lnTo>
                        <a:pt x="9250" y="1440"/>
                      </a:lnTo>
                      <a:lnTo>
                        <a:pt x="9289" y="1627"/>
                      </a:lnTo>
                      <a:lnTo>
                        <a:pt x="9308" y="1821"/>
                      </a:lnTo>
                      <a:lnTo>
                        <a:pt x="9310" y="1919"/>
                      </a:lnTo>
                      <a:lnTo>
                        <a:pt x="9310" y="8471"/>
                      </a:lnTo>
                      <a:lnTo>
                        <a:pt x="9308" y="8521"/>
                      </a:lnTo>
                      <a:lnTo>
                        <a:pt x="9289" y="8615"/>
                      </a:lnTo>
                      <a:lnTo>
                        <a:pt x="9253" y="8700"/>
                      </a:lnTo>
                      <a:lnTo>
                        <a:pt x="9201" y="8777"/>
                      </a:lnTo>
                      <a:lnTo>
                        <a:pt x="9136" y="8842"/>
                      </a:lnTo>
                      <a:lnTo>
                        <a:pt x="9058" y="8894"/>
                      </a:lnTo>
                      <a:lnTo>
                        <a:pt x="8974" y="8930"/>
                      </a:lnTo>
                      <a:lnTo>
                        <a:pt x="8880" y="8949"/>
                      </a:lnTo>
                      <a:lnTo>
                        <a:pt x="8830" y="8952"/>
                      </a:lnTo>
                      <a:lnTo>
                        <a:pt x="8781" y="8949"/>
                      </a:lnTo>
                      <a:lnTo>
                        <a:pt x="8687" y="8930"/>
                      </a:lnTo>
                      <a:lnTo>
                        <a:pt x="8601" y="8894"/>
                      </a:lnTo>
                      <a:lnTo>
                        <a:pt x="8524" y="8842"/>
                      </a:lnTo>
                      <a:lnTo>
                        <a:pt x="8460" y="8777"/>
                      </a:lnTo>
                      <a:lnTo>
                        <a:pt x="8408" y="8700"/>
                      </a:lnTo>
                      <a:lnTo>
                        <a:pt x="8370" y="8615"/>
                      </a:lnTo>
                      <a:lnTo>
                        <a:pt x="8352" y="8521"/>
                      </a:lnTo>
                      <a:lnTo>
                        <a:pt x="8350" y="8471"/>
                      </a:lnTo>
                      <a:lnTo>
                        <a:pt x="8350" y="1919"/>
                      </a:lnTo>
                      <a:lnTo>
                        <a:pt x="8349" y="1870"/>
                      </a:lnTo>
                      <a:lnTo>
                        <a:pt x="8340" y="1774"/>
                      </a:lnTo>
                      <a:lnTo>
                        <a:pt x="8320" y="1680"/>
                      </a:lnTo>
                      <a:lnTo>
                        <a:pt x="8293" y="1590"/>
                      </a:lnTo>
                      <a:lnTo>
                        <a:pt x="8255" y="1503"/>
                      </a:lnTo>
                      <a:lnTo>
                        <a:pt x="8211" y="1423"/>
                      </a:lnTo>
                      <a:lnTo>
                        <a:pt x="8160" y="1346"/>
                      </a:lnTo>
                      <a:lnTo>
                        <a:pt x="8101" y="1274"/>
                      </a:lnTo>
                      <a:lnTo>
                        <a:pt x="8035" y="1209"/>
                      </a:lnTo>
                      <a:lnTo>
                        <a:pt x="7964" y="1150"/>
                      </a:lnTo>
                      <a:lnTo>
                        <a:pt x="7888" y="1099"/>
                      </a:lnTo>
                      <a:lnTo>
                        <a:pt x="7806" y="1054"/>
                      </a:lnTo>
                      <a:lnTo>
                        <a:pt x="7720" y="1018"/>
                      </a:lnTo>
                      <a:lnTo>
                        <a:pt x="7630" y="989"/>
                      </a:lnTo>
                      <a:lnTo>
                        <a:pt x="7537" y="970"/>
                      </a:lnTo>
                      <a:lnTo>
                        <a:pt x="7440" y="960"/>
                      </a:lnTo>
                      <a:lnTo>
                        <a:pt x="7390" y="960"/>
                      </a:lnTo>
                      <a:lnTo>
                        <a:pt x="1919" y="960"/>
                      </a:lnTo>
                      <a:lnTo>
                        <a:pt x="1870" y="960"/>
                      </a:lnTo>
                      <a:lnTo>
                        <a:pt x="1774" y="970"/>
                      </a:lnTo>
                      <a:lnTo>
                        <a:pt x="1680" y="989"/>
                      </a:lnTo>
                      <a:lnTo>
                        <a:pt x="1589" y="1018"/>
                      </a:lnTo>
                      <a:lnTo>
                        <a:pt x="1503" y="1054"/>
                      </a:lnTo>
                      <a:lnTo>
                        <a:pt x="1422" y="1099"/>
                      </a:lnTo>
                      <a:lnTo>
                        <a:pt x="1346" y="1150"/>
                      </a:lnTo>
                      <a:lnTo>
                        <a:pt x="1274" y="1209"/>
                      </a:lnTo>
                      <a:lnTo>
                        <a:pt x="1209" y="1274"/>
                      </a:lnTo>
                      <a:lnTo>
                        <a:pt x="1150" y="1346"/>
                      </a:lnTo>
                      <a:lnTo>
                        <a:pt x="1098" y="1423"/>
                      </a:lnTo>
                      <a:lnTo>
                        <a:pt x="1054" y="1503"/>
                      </a:lnTo>
                      <a:lnTo>
                        <a:pt x="1018" y="1590"/>
                      </a:lnTo>
                      <a:lnTo>
                        <a:pt x="989" y="1680"/>
                      </a:lnTo>
                      <a:lnTo>
                        <a:pt x="970" y="1774"/>
                      </a:lnTo>
                      <a:lnTo>
                        <a:pt x="960" y="1870"/>
                      </a:lnTo>
                      <a:lnTo>
                        <a:pt x="960" y="1919"/>
                      </a:lnTo>
                      <a:lnTo>
                        <a:pt x="960" y="10855"/>
                      </a:lnTo>
                      <a:lnTo>
                        <a:pt x="962" y="10904"/>
                      </a:lnTo>
                      <a:lnTo>
                        <a:pt x="978" y="10995"/>
                      </a:lnTo>
                      <a:lnTo>
                        <a:pt x="1011" y="11078"/>
                      </a:lnTo>
                      <a:lnTo>
                        <a:pt x="1061" y="11152"/>
                      </a:lnTo>
                      <a:lnTo>
                        <a:pt x="1091" y="11185"/>
                      </a:lnTo>
                      <a:lnTo>
                        <a:pt x="1129" y="11218"/>
                      </a:lnTo>
                      <a:lnTo>
                        <a:pt x="1212" y="11271"/>
                      </a:lnTo>
                      <a:lnTo>
                        <a:pt x="1306" y="11307"/>
                      </a:lnTo>
                      <a:lnTo>
                        <a:pt x="1405" y="11326"/>
                      </a:lnTo>
                      <a:lnTo>
                        <a:pt x="1456" y="11327"/>
                      </a:lnTo>
                      <a:lnTo>
                        <a:pt x="1504" y="11325"/>
                      </a:lnTo>
                      <a:lnTo>
                        <a:pt x="1595" y="11307"/>
                      </a:lnTo>
                      <a:lnTo>
                        <a:pt x="1677" y="11273"/>
                      </a:lnTo>
                      <a:lnTo>
                        <a:pt x="1751" y="11222"/>
                      </a:lnTo>
                      <a:lnTo>
                        <a:pt x="1784" y="11191"/>
                      </a:lnTo>
                      <a:lnTo>
                        <a:pt x="4310" y="8592"/>
                      </a:lnTo>
                      <a:lnTo>
                        <a:pt x="4346" y="8559"/>
                      </a:lnTo>
                      <a:lnTo>
                        <a:pt x="4426" y="8505"/>
                      </a:lnTo>
                      <a:lnTo>
                        <a:pt x="4513" y="8468"/>
                      </a:lnTo>
                      <a:lnTo>
                        <a:pt x="4607" y="8449"/>
                      </a:lnTo>
                      <a:lnTo>
                        <a:pt x="4655" y="8448"/>
                      </a:lnTo>
                      <a:lnTo>
                        <a:pt x="4703" y="8449"/>
                      </a:lnTo>
                      <a:lnTo>
                        <a:pt x="4797" y="8468"/>
                      </a:lnTo>
                      <a:lnTo>
                        <a:pt x="4885" y="8505"/>
                      </a:lnTo>
                      <a:lnTo>
                        <a:pt x="4964" y="8559"/>
                      </a:lnTo>
                      <a:lnTo>
                        <a:pt x="4999" y="8592"/>
                      </a:lnTo>
                      <a:lnTo>
                        <a:pt x="7527" y="11191"/>
                      </a:lnTo>
                      <a:lnTo>
                        <a:pt x="7560" y="11222"/>
                      </a:lnTo>
                      <a:lnTo>
                        <a:pt x="7633" y="11273"/>
                      </a:lnTo>
                      <a:lnTo>
                        <a:pt x="7714" y="11307"/>
                      </a:lnTo>
                      <a:lnTo>
                        <a:pt x="7803" y="11325"/>
                      </a:lnTo>
                      <a:lnTo>
                        <a:pt x="7852" y="11327"/>
                      </a:lnTo>
                      <a:lnTo>
                        <a:pt x="7902" y="11326"/>
                      </a:lnTo>
                      <a:lnTo>
                        <a:pt x="8002" y="11306"/>
                      </a:lnTo>
                      <a:lnTo>
                        <a:pt x="8095" y="11270"/>
                      </a:lnTo>
                      <a:lnTo>
                        <a:pt x="8179" y="11215"/>
                      </a:lnTo>
                      <a:lnTo>
                        <a:pt x="8215" y="11182"/>
                      </a:lnTo>
                      <a:lnTo>
                        <a:pt x="8248" y="11148"/>
                      </a:lnTo>
                      <a:lnTo>
                        <a:pt x="8298" y="11073"/>
                      </a:lnTo>
                      <a:lnTo>
                        <a:pt x="8331" y="10989"/>
                      </a:lnTo>
                      <a:lnTo>
                        <a:pt x="8349" y="10897"/>
                      </a:lnTo>
                      <a:lnTo>
                        <a:pt x="8350" y="10847"/>
                      </a:lnTo>
                      <a:lnTo>
                        <a:pt x="8352" y="10798"/>
                      </a:lnTo>
                      <a:lnTo>
                        <a:pt x="8370" y="10704"/>
                      </a:lnTo>
                      <a:lnTo>
                        <a:pt x="8408" y="10618"/>
                      </a:lnTo>
                      <a:lnTo>
                        <a:pt x="8460" y="10541"/>
                      </a:lnTo>
                      <a:lnTo>
                        <a:pt x="8524" y="10477"/>
                      </a:lnTo>
                      <a:lnTo>
                        <a:pt x="8601" y="10425"/>
                      </a:lnTo>
                      <a:lnTo>
                        <a:pt x="8687" y="10387"/>
                      </a:lnTo>
                      <a:lnTo>
                        <a:pt x="8781" y="10369"/>
                      </a:lnTo>
                      <a:lnTo>
                        <a:pt x="8830" y="10367"/>
                      </a:lnTo>
                      <a:lnTo>
                        <a:pt x="8880" y="10369"/>
                      </a:lnTo>
                      <a:lnTo>
                        <a:pt x="8974" y="10387"/>
                      </a:lnTo>
                      <a:lnTo>
                        <a:pt x="9058" y="10425"/>
                      </a:lnTo>
                      <a:lnTo>
                        <a:pt x="9136" y="10477"/>
                      </a:lnTo>
                      <a:lnTo>
                        <a:pt x="9201" y="10541"/>
                      </a:lnTo>
                      <a:lnTo>
                        <a:pt x="9253" y="10618"/>
                      </a:lnTo>
                      <a:lnTo>
                        <a:pt x="9289" y="10704"/>
                      </a:lnTo>
                      <a:lnTo>
                        <a:pt x="9308" y="10798"/>
                      </a:lnTo>
                      <a:lnTo>
                        <a:pt x="9310" y="10847"/>
                      </a:lnTo>
                      <a:lnTo>
                        <a:pt x="9309" y="10920"/>
                      </a:lnTo>
                      <a:lnTo>
                        <a:pt x="9295" y="11063"/>
                      </a:lnTo>
                      <a:lnTo>
                        <a:pt x="9267" y="11202"/>
                      </a:lnTo>
                      <a:lnTo>
                        <a:pt x="9227" y="11336"/>
                      </a:lnTo>
                      <a:lnTo>
                        <a:pt x="9174" y="11466"/>
                      </a:lnTo>
                      <a:lnTo>
                        <a:pt x="9107" y="11588"/>
                      </a:lnTo>
                      <a:lnTo>
                        <a:pt x="9030" y="11705"/>
                      </a:lnTo>
                      <a:lnTo>
                        <a:pt x="8939" y="11814"/>
                      </a:lnTo>
                      <a:lnTo>
                        <a:pt x="8890" y="11865"/>
                      </a:lnTo>
                      <a:lnTo>
                        <a:pt x="8837" y="11915"/>
                      </a:lnTo>
                      <a:lnTo>
                        <a:pt x="8724" y="12006"/>
                      </a:lnTo>
                      <a:lnTo>
                        <a:pt x="8602" y="12085"/>
                      </a:lnTo>
                      <a:lnTo>
                        <a:pt x="8474" y="12151"/>
                      </a:lnTo>
                      <a:lnTo>
                        <a:pt x="8340" y="12206"/>
                      </a:lnTo>
                      <a:lnTo>
                        <a:pt x="8200" y="12246"/>
                      </a:lnTo>
                      <a:lnTo>
                        <a:pt x="8058" y="12273"/>
                      </a:lnTo>
                      <a:lnTo>
                        <a:pt x="7913" y="12286"/>
                      </a:lnTo>
                      <a:lnTo>
                        <a:pt x="7841" y="12286"/>
                      </a:lnTo>
                      <a:lnTo>
                        <a:pt x="7767" y="12285"/>
                      </a:lnTo>
                      <a:lnTo>
                        <a:pt x="7626" y="12269"/>
                      </a:lnTo>
                      <a:lnTo>
                        <a:pt x="7489" y="12242"/>
                      </a:lnTo>
                      <a:lnTo>
                        <a:pt x="7358" y="12200"/>
                      </a:lnTo>
                      <a:lnTo>
                        <a:pt x="7232" y="12147"/>
                      </a:lnTo>
                      <a:lnTo>
                        <a:pt x="7111" y="12079"/>
                      </a:lnTo>
                      <a:lnTo>
                        <a:pt x="6997" y="12001"/>
                      </a:lnTo>
                      <a:lnTo>
                        <a:pt x="6889" y="11911"/>
                      </a:lnTo>
                      <a:lnTo>
                        <a:pt x="6839" y="11859"/>
                      </a:lnTo>
                      <a:lnTo>
                        <a:pt x="4655" y="9615"/>
                      </a:lnTo>
                      <a:lnTo>
                        <a:pt x="2472" y="11859"/>
                      </a:lnTo>
                      <a:lnTo>
                        <a:pt x="2422" y="11909"/>
                      </a:lnTo>
                      <a:lnTo>
                        <a:pt x="2315" y="12000"/>
                      </a:lnTo>
                      <a:lnTo>
                        <a:pt x="2201" y="12079"/>
                      </a:lnTo>
                      <a:lnTo>
                        <a:pt x="2080" y="12145"/>
                      </a:lnTo>
                      <a:lnTo>
                        <a:pt x="1955" y="12199"/>
                      </a:lnTo>
                      <a:lnTo>
                        <a:pt x="1823" y="12240"/>
                      </a:lnTo>
                      <a:lnTo>
                        <a:pt x="1686" y="12269"/>
                      </a:lnTo>
                      <a:lnTo>
                        <a:pt x="1545" y="12285"/>
                      </a:lnTo>
                      <a:lnTo>
                        <a:pt x="1473" y="12286"/>
                      </a:lnTo>
                      <a:lnTo>
                        <a:pt x="1460" y="12286"/>
                      </a:lnTo>
                      <a:lnTo>
                        <a:pt x="1447" y="122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9AC93872-209C-7AE4-E367-654EF76AA0CB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312072" y="447672"/>
                  <a:ext cx="261936" cy="261936"/>
                  <a:chOff x="1312072" y="447672"/>
                  <a:chExt cx="261936" cy="261936"/>
                </a:xfrm>
              </p:grpSpPr>
              <p:sp>
                <p:nvSpPr>
                  <p:cNvPr id="25" name="타원 24">
                    <a:extLst>
                      <a:ext uri="{FF2B5EF4-FFF2-40B4-BE49-F238E27FC236}">
                        <a16:creationId xmlns:a16="http://schemas.microsoft.com/office/drawing/2014/main" id="{E7549510-B1D0-308A-A9FB-0A5787631D10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12072" y="447672"/>
                    <a:ext cx="261936" cy="261936"/>
                  </a:xfrm>
                  <a:prstGeom prst="ellipse">
                    <a:avLst/>
                  </a:prstGeom>
                  <a:solidFill>
                    <a:srgbClr val="C7EA46"/>
                  </a:solidFill>
                  <a:ln w="69850">
                    <a:noFill/>
                  </a:ln>
                  <a:effectLst>
                    <a:outerShdw blurRad="50800" dist="381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" name="타원 25">
                    <a:extLst>
                      <a:ext uri="{FF2B5EF4-FFF2-40B4-BE49-F238E27FC236}">
                        <a16:creationId xmlns:a16="http://schemas.microsoft.com/office/drawing/2014/main" id="{016EB8CC-1D6C-D78C-3740-774547691450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42C90F2C-28A2-AF25-C85E-1B740F7AAB92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32926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12E40881-3557-F1CE-405F-F88947952DBF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394940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DD497ADB-49C3-47A2-ABD1-BA6CCF3874B5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453576" y="591603"/>
                    <a:ext cx="29905" cy="29905"/>
                  </a:xfrm>
                  <a:prstGeom prst="ellipse">
                    <a:avLst/>
                  </a:prstGeom>
                  <a:solidFill>
                    <a:schemeClr val="bg1"/>
                  </a:solidFill>
                  <a:ln w="698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AC2005E-44D5-929B-94B6-2861FB47A99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240E0B7-AB0D-80DF-C573-43100F3952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71871CB4-5656-418F-EB50-75057B90EBC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18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9707BFB2-80A3-795F-47DD-5C386A3B888B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B54860C9-225C-C9A5-D53F-2D418A9A8B3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AFEE6DCE-8B0C-DECF-21DA-B6C13279797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5AB5B5E4-FD05-97F5-B382-BC6315A7A0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ACB7BAC-628A-CEC6-0B94-D71E97768E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705B283-3E8D-B5D0-E904-4604911A4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213452"/>
              </p:ext>
            </p:extLst>
          </p:nvPr>
        </p:nvGraphicFramePr>
        <p:xfrm>
          <a:off x="7403963" y="1705103"/>
          <a:ext cx="40197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862">
                  <a:extLst>
                    <a:ext uri="{9D8B030D-6E8A-4147-A177-3AD203B41FA5}">
                      <a16:colId xmlns:a16="http://schemas.microsoft.com/office/drawing/2014/main" val="230978738"/>
                    </a:ext>
                  </a:extLst>
                </a:gridCol>
                <a:gridCol w="2009862">
                  <a:extLst>
                    <a:ext uri="{9D8B030D-6E8A-4147-A177-3AD203B41FA5}">
                      <a16:colId xmlns:a16="http://schemas.microsoft.com/office/drawing/2014/main" val="891250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473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chesterfield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sofa, chesterfield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0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$10c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$20c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14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$100/month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$100/month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30517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D7B2B4-CBBA-A30F-A1EB-54BC452954AE}"/>
              </a:ext>
            </a:extLst>
          </p:cNvPr>
          <p:cNvSpPr txBox="1"/>
          <p:nvPr/>
        </p:nvSpPr>
        <p:spPr>
          <a:xfrm>
            <a:off x="498283" y="1548867"/>
            <a:ext cx="6434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Definition</a:t>
            </a:r>
            <a:r>
              <a:rPr lang="en-US" altLang="ko-KR" sz="1400" dirty="0"/>
              <a:t>: The </a:t>
            </a:r>
            <a:r>
              <a:rPr lang="en-US" altLang="ko-KR" sz="1400" b="1" dirty="0"/>
              <a:t>competitive ratio</a:t>
            </a:r>
            <a:r>
              <a:rPr lang="en-US" altLang="ko-KR" sz="1400" dirty="0"/>
              <a:t> is the worst-case ratio between the result of an on-line algorithm and the optimal off-line algorithm for the same problem.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It’s a constant c, where 0&lt;c≤1.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If c=1, the on-line algorithm performs as well as the off-line algorithm (rare for most real-world problems).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Purpose</a:t>
            </a:r>
            <a:r>
              <a:rPr lang="en-US" altLang="ko-KR" sz="1400" dirty="0"/>
              <a:t>: It quantifies the </a:t>
            </a:r>
            <a:r>
              <a:rPr lang="en-US" altLang="ko-KR" sz="1400" b="1" dirty="0"/>
              <a:t>efficiency</a:t>
            </a:r>
            <a:r>
              <a:rPr lang="en-US" altLang="ko-KR" sz="1400" dirty="0"/>
              <a:t> or </a:t>
            </a:r>
            <a:r>
              <a:rPr lang="en-US" altLang="ko-KR" sz="1400" b="1" dirty="0"/>
              <a:t>performance loss</a:t>
            </a:r>
            <a:r>
              <a:rPr lang="en-US" altLang="ko-KR" sz="1400" dirty="0"/>
              <a:t> of the on-line algorithm due to its inability to see future inputs.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CC495-079E-8F13-1D29-D70F05777DDF}"/>
              </a:ext>
            </a:extLst>
          </p:cNvPr>
          <p:cNvSpPr txBox="1"/>
          <p:nvPr/>
        </p:nvSpPr>
        <p:spPr>
          <a:xfrm>
            <a:off x="654276" y="3537682"/>
            <a:ext cx="5206878" cy="16004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Competitive Ratio of the Greedy Algorithm</a:t>
            </a:r>
          </a:p>
          <a:p>
            <a:r>
              <a:rPr lang="en-US" altLang="ko-KR" sz="1400" b="1" dirty="0"/>
              <a:t>     Scenario Recap (from Example 8.2):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Performance Comparison:</a:t>
            </a:r>
          </a:p>
          <a:p>
            <a:r>
              <a:rPr lang="en-US" altLang="ko-KR" sz="1400" b="1" dirty="0"/>
              <a:t>     Greedy Algorithm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Earned $100 in total revenue.</a:t>
            </a:r>
          </a:p>
          <a:p>
            <a:r>
              <a:rPr lang="en-US" altLang="ko-KR" sz="1400" b="1" dirty="0"/>
              <a:t>      Optimal Off-Line Algorithm</a:t>
            </a:r>
            <a:r>
              <a:rPr lang="en-US" altLang="ko-KR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Earned $150 by allocating queries more strategically.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0D6C9B-4531-BE98-0D89-10A1A31EC09B}"/>
              </a:ext>
            </a:extLst>
          </p:cNvPr>
          <p:cNvSpPr txBox="1"/>
          <p:nvPr/>
        </p:nvSpPr>
        <p:spPr>
          <a:xfrm>
            <a:off x="6267711" y="3511595"/>
            <a:ext cx="5676570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Worst-Case Competitive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By modifying the inputs, we can identify a lower competitive ratio: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Suppose </a:t>
            </a:r>
            <a:r>
              <a:rPr lang="en-US" altLang="ko-KR" sz="1400" b="1" dirty="0"/>
              <a:t>A’s bid</a:t>
            </a:r>
            <a:r>
              <a:rPr lang="en-US" altLang="ko-KR" sz="1400" dirty="0"/>
              <a:t> is raised to just below </a:t>
            </a:r>
            <a:r>
              <a:rPr lang="en-US" altLang="ko-KR" sz="1400" b="1" dirty="0"/>
              <a:t>B’s bid</a:t>
            </a:r>
            <a:r>
              <a:rPr lang="en-US" altLang="ko-KR" sz="1400" dirty="0"/>
              <a:t> (e.g., 19.9 cents instead of 10 cents).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Greedy Algorithm</a:t>
            </a:r>
            <a:r>
              <a:rPr lang="en-US" altLang="ko-KR" sz="1400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Still assigns all initial queries to B (since B has the highest bid).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Earns $100.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Optimal Off-Line Algorithm</a:t>
            </a:r>
            <a:r>
              <a:rPr lang="en-US" altLang="ko-KR" sz="1400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Assigns half the queries to A and half to B, earning nearly $200 as ϵ </a:t>
            </a:r>
            <a:r>
              <a:rPr lang="en-US" altLang="ko-KR" sz="1400" dirty="0" err="1"/>
              <a:t>approches</a:t>
            </a:r>
            <a:r>
              <a:rPr lang="en-US" altLang="ko-KR" sz="1400" dirty="0"/>
              <a:t> 0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F3AF046-EE67-D8FB-2C97-6548DC993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76" y="5293377"/>
            <a:ext cx="5206878" cy="46706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16850FF-9EF1-B8E7-6997-347E0DDFE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549" y="6252552"/>
            <a:ext cx="5258894" cy="41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26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93BC0-3D01-626F-9445-23D1AE03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2FFB39F4-D4FF-F6EF-2876-DFAE5F34C0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564" y="266700"/>
            <a:ext cx="11891435" cy="6591301"/>
            <a:chOff x="342899" y="266700"/>
            <a:chExt cx="11891435" cy="6591301"/>
          </a:xfrm>
        </p:grpSpPr>
        <p:sp>
          <p:nvSpPr>
            <p:cNvPr id="9" name="사각형: 둥근 한쪽 모서리 8">
              <a:extLst>
                <a:ext uri="{FF2B5EF4-FFF2-40B4-BE49-F238E27FC236}">
                  <a16:creationId xmlns:a16="http://schemas.microsoft.com/office/drawing/2014/main" id="{059B8BC5-4B9F-EC67-E9D9-D98E2B21C1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342899" y="266700"/>
              <a:ext cx="11891435" cy="6591300"/>
            </a:xfrm>
            <a:prstGeom prst="round1Rect">
              <a:avLst>
                <a:gd name="adj" fmla="val 1403"/>
              </a:avLst>
            </a:prstGeom>
            <a:solidFill>
              <a:schemeClr val="bg1">
                <a:lumMod val="95000"/>
              </a:schemeClr>
            </a:solidFill>
            <a:ln w="69850">
              <a:solidFill>
                <a:schemeClr val="bg1"/>
              </a:solidFill>
            </a:ln>
            <a:effectLst>
              <a:outerShdw blurRad="279400" dist="63500" dir="10800000" algn="r" rotWithShape="0">
                <a:srgbClr val="043927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292D907-0381-5573-1500-AF415879F31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85760" y="300036"/>
              <a:ext cx="1188248" cy="547688"/>
              <a:chOff x="385760" y="300036"/>
              <a:chExt cx="1188248" cy="547688"/>
            </a:xfrm>
          </p:grpSpPr>
          <p:sp>
            <p:nvSpPr>
              <p:cNvPr id="21" name="사각형: 둥근 한쪽 모서리 20">
                <a:extLst>
                  <a:ext uri="{FF2B5EF4-FFF2-40B4-BE49-F238E27FC236}">
                    <a16:creationId xmlns:a16="http://schemas.microsoft.com/office/drawing/2014/main" id="{1050359B-63D2-05D5-F8CB-FCFD496CAF3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385760" y="300037"/>
                <a:ext cx="528640" cy="547687"/>
              </a:xfrm>
              <a:prstGeom prst="round1Rect">
                <a:avLst>
                  <a:gd name="adj" fmla="val 11356"/>
                </a:avLst>
              </a:prstGeom>
              <a:solidFill>
                <a:srgbClr val="08724F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prstClr val="white"/>
                    </a:solidFill>
                  </a:rPr>
                  <a:t>←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2B3730F-9FDF-4148-CBA8-82DBD11614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914400" y="300036"/>
                <a:ext cx="528640" cy="547687"/>
              </a:xfrm>
              <a:prstGeom prst="rect">
                <a:avLst/>
              </a:prstGeom>
              <a:solidFill>
                <a:srgbClr val="00A86B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07738322-7184-9091-7A2C-3BFE0FB35F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064201" y="467495"/>
                <a:ext cx="176429" cy="232832"/>
              </a:xfrm>
              <a:custGeom>
                <a:avLst/>
                <a:gdLst>
                  <a:gd name="T0" fmla="*/ 1093 w 9310"/>
                  <a:gd name="T1" fmla="*/ 12245 h 12286"/>
                  <a:gd name="T2" fmla="*/ 582 w 9310"/>
                  <a:gd name="T3" fmla="*/ 12007 h 12286"/>
                  <a:gd name="T4" fmla="*/ 279 w 9310"/>
                  <a:gd name="T5" fmla="*/ 11710 h 12286"/>
                  <a:gd name="T6" fmla="*/ 42 w 9310"/>
                  <a:gd name="T7" fmla="*/ 11209 h 12286"/>
                  <a:gd name="T8" fmla="*/ 0 w 9310"/>
                  <a:gd name="T9" fmla="*/ 1919 h 12286"/>
                  <a:gd name="T10" fmla="*/ 117 w 9310"/>
                  <a:gd name="T11" fmla="*/ 1260 h 12286"/>
                  <a:gd name="T12" fmla="*/ 498 w 9310"/>
                  <a:gd name="T13" fmla="*/ 629 h 12286"/>
                  <a:gd name="T14" fmla="*/ 1088 w 9310"/>
                  <a:gd name="T15" fmla="*/ 189 h 12286"/>
                  <a:gd name="T16" fmla="*/ 1821 w 9310"/>
                  <a:gd name="T17" fmla="*/ 1 h 12286"/>
                  <a:gd name="T18" fmla="*/ 7682 w 9310"/>
                  <a:gd name="T19" fmla="*/ 22 h 12286"/>
                  <a:gd name="T20" fmla="*/ 8385 w 9310"/>
                  <a:gd name="T21" fmla="*/ 278 h 12286"/>
                  <a:gd name="T22" fmla="*/ 8929 w 9310"/>
                  <a:gd name="T23" fmla="*/ 772 h 12286"/>
                  <a:gd name="T24" fmla="*/ 9250 w 9310"/>
                  <a:gd name="T25" fmla="*/ 1440 h 12286"/>
                  <a:gd name="T26" fmla="*/ 9310 w 9310"/>
                  <a:gd name="T27" fmla="*/ 8471 h 12286"/>
                  <a:gd name="T28" fmla="*/ 9201 w 9310"/>
                  <a:gd name="T29" fmla="*/ 8777 h 12286"/>
                  <a:gd name="T30" fmla="*/ 8880 w 9310"/>
                  <a:gd name="T31" fmla="*/ 8949 h 12286"/>
                  <a:gd name="T32" fmla="*/ 8601 w 9310"/>
                  <a:gd name="T33" fmla="*/ 8894 h 12286"/>
                  <a:gd name="T34" fmla="*/ 8370 w 9310"/>
                  <a:gd name="T35" fmla="*/ 8615 h 12286"/>
                  <a:gd name="T36" fmla="*/ 8349 w 9310"/>
                  <a:gd name="T37" fmla="*/ 1870 h 12286"/>
                  <a:gd name="T38" fmla="*/ 8255 w 9310"/>
                  <a:gd name="T39" fmla="*/ 1503 h 12286"/>
                  <a:gd name="T40" fmla="*/ 8035 w 9310"/>
                  <a:gd name="T41" fmla="*/ 1209 h 12286"/>
                  <a:gd name="T42" fmla="*/ 7720 w 9310"/>
                  <a:gd name="T43" fmla="*/ 1018 h 12286"/>
                  <a:gd name="T44" fmla="*/ 7390 w 9310"/>
                  <a:gd name="T45" fmla="*/ 960 h 12286"/>
                  <a:gd name="T46" fmla="*/ 1680 w 9310"/>
                  <a:gd name="T47" fmla="*/ 989 h 12286"/>
                  <a:gd name="T48" fmla="*/ 1346 w 9310"/>
                  <a:gd name="T49" fmla="*/ 1150 h 12286"/>
                  <a:gd name="T50" fmla="*/ 1098 w 9310"/>
                  <a:gd name="T51" fmla="*/ 1423 h 12286"/>
                  <a:gd name="T52" fmla="*/ 970 w 9310"/>
                  <a:gd name="T53" fmla="*/ 1774 h 12286"/>
                  <a:gd name="T54" fmla="*/ 962 w 9310"/>
                  <a:gd name="T55" fmla="*/ 10904 h 12286"/>
                  <a:gd name="T56" fmla="*/ 1091 w 9310"/>
                  <a:gd name="T57" fmla="*/ 11185 h 12286"/>
                  <a:gd name="T58" fmla="*/ 1405 w 9310"/>
                  <a:gd name="T59" fmla="*/ 11326 h 12286"/>
                  <a:gd name="T60" fmla="*/ 1677 w 9310"/>
                  <a:gd name="T61" fmla="*/ 11273 h 12286"/>
                  <a:gd name="T62" fmla="*/ 4346 w 9310"/>
                  <a:gd name="T63" fmla="*/ 8559 h 12286"/>
                  <a:gd name="T64" fmla="*/ 4655 w 9310"/>
                  <a:gd name="T65" fmla="*/ 8448 h 12286"/>
                  <a:gd name="T66" fmla="*/ 4964 w 9310"/>
                  <a:gd name="T67" fmla="*/ 8559 h 12286"/>
                  <a:gd name="T68" fmla="*/ 7633 w 9310"/>
                  <a:gd name="T69" fmla="*/ 11273 h 12286"/>
                  <a:gd name="T70" fmla="*/ 7902 w 9310"/>
                  <a:gd name="T71" fmla="*/ 11326 h 12286"/>
                  <a:gd name="T72" fmla="*/ 8215 w 9310"/>
                  <a:gd name="T73" fmla="*/ 11182 h 12286"/>
                  <a:gd name="T74" fmla="*/ 8349 w 9310"/>
                  <a:gd name="T75" fmla="*/ 10897 h 12286"/>
                  <a:gd name="T76" fmla="*/ 8408 w 9310"/>
                  <a:gd name="T77" fmla="*/ 10618 h 12286"/>
                  <a:gd name="T78" fmla="*/ 8687 w 9310"/>
                  <a:gd name="T79" fmla="*/ 10387 h 12286"/>
                  <a:gd name="T80" fmla="*/ 8974 w 9310"/>
                  <a:gd name="T81" fmla="*/ 10387 h 12286"/>
                  <a:gd name="T82" fmla="*/ 9253 w 9310"/>
                  <a:gd name="T83" fmla="*/ 10618 h 12286"/>
                  <a:gd name="T84" fmla="*/ 9309 w 9310"/>
                  <a:gd name="T85" fmla="*/ 10920 h 12286"/>
                  <a:gd name="T86" fmla="*/ 9174 w 9310"/>
                  <a:gd name="T87" fmla="*/ 11466 h 12286"/>
                  <a:gd name="T88" fmla="*/ 8890 w 9310"/>
                  <a:gd name="T89" fmla="*/ 11865 h 12286"/>
                  <a:gd name="T90" fmla="*/ 8474 w 9310"/>
                  <a:gd name="T91" fmla="*/ 12151 h 12286"/>
                  <a:gd name="T92" fmla="*/ 7913 w 9310"/>
                  <a:gd name="T93" fmla="*/ 12286 h 12286"/>
                  <a:gd name="T94" fmla="*/ 7489 w 9310"/>
                  <a:gd name="T95" fmla="*/ 12242 h 12286"/>
                  <a:gd name="T96" fmla="*/ 6997 w 9310"/>
                  <a:gd name="T97" fmla="*/ 12001 h 12286"/>
                  <a:gd name="T98" fmla="*/ 2472 w 9310"/>
                  <a:gd name="T99" fmla="*/ 11859 h 12286"/>
                  <a:gd name="T100" fmla="*/ 2080 w 9310"/>
                  <a:gd name="T101" fmla="*/ 12145 h 12286"/>
                  <a:gd name="T102" fmla="*/ 1545 w 9310"/>
                  <a:gd name="T103" fmla="*/ 12285 h 12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10" h="12286">
                    <a:moveTo>
                      <a:pt x="1447" y="12286"/>
                    </a:moveTo>
                    <a:lnTo>
                      <a:pt x="1375" y="12286"/>
                    </a:lnTo>
                    <a:lnTo>
                      <a:pt x="1232" y="12272"/>
                    </a:lnTo>
                    <a:lnTo>
                      <a:pt x="1093" y="12245"/>
                    </a:lnTo>
                    <a:lnTo>
                      <a:pt x="957" y="12203"/>
                    </a:lnTo>
                    <a:lnTo>
                      <a:pt x="826" y="12150"/>
                    </a:lnTo>
                    <a:lnTo>
                      <a:pt x="700" y="12085"/>
                    </a:lnTo>
                    <a:lnTo>
                      <a:pt x="582" y="12007"/>
                    </a:lnTo>
                    <a:lnTo>
                      <a:pt x="471" y="11918"/>
                    </a:lnTo>
                    <a:lnTo>
                      <a:pt x="419" y="11869"/>
                    </a:lnTo>
                    <a:lnTo>
                      <a:pt x="370" y="11818"/>
                    </a:lnTo>
                    <a:lnTo>
                      <a:pt x="279" y="11710"/>
                    </a:lnTo>
                    <a:lnTo>
                      <a:pt x="202" y="11595"/>
                    </a:lnTo>
                    <a:lnTo>
                      <a:pt x="135" y="11471"/>
                    </a:lnTo>
                    <a:lnTo>
                      <a:pt x="82" y="11343"/>
                    </a:lnTo>
                    <a:lnTo>
                      <a:pt x="42" y="11209"/>
                    </a:lnTo>
                    <a:lnTo>
                      <a:pt x="14" y="11070"/>
                    </a:lnTo>
                    <a:lnTo>
                      <a:pt x="1" y="10927"/>
                    </a:lnTo>
                    <a:lnTo>
                      <a:pt x="0" y="10855"/>
                    </a:lnTo>
                    <a:lnTo>
                      <a:pt x="0" y="1919"/>
                    </a:lnTo>
                    <a:lnTo>
                      <a:pt x="1" y="1821"/>
                    </a:lnTo>
                    <a:lnTo>
                      <a:pt x="22" y="1627"/>
                    </a:lnTo>
                    <a:lnTo>
                      <a:pt x="60" y="1440"/>
                    </a:lnTo>
                    <a:lnTo>
                      <a:pt x="117" y="1260"/>
                    </a:lnTo>
                    <a:lnTo>
                      <a:pt x="189" y="1089"/>
                    </a:lnTo>
                    <a:lnTo>
                      <a:pt x="278" y="924"/>
                    </a:lnTo>
                    <a:lnTo>
                      <a:pt x="382" y="772"/>
                    </a:lnTo>
                    <a:lnTo>
                      <a:pt x="498" y="629"/>
                    </a:lnTo>
                    <a:lnTo>
                      <a:pt x="629" y="498"/>
                    </a:lnTo>
                    <a:lnTo>
                      <a:pt x="772" y="382"/>
                    </a:lnTo>
                    <a:lnTo>
                      <a:pt x="924" y="278"/>
                    </a:lnTo>
                    <a:lnTo>
                      <a:pt x="1088" y="189"/>
                    </a:lnTo>
                    <a:lnTo>
                      <a:pt x="1260" y="117"/>
                    </a:lnTo>
                    <a:lnTo>
                      <a:pt x="1440" y="60"/>
                    </a:lnTo>
                    <a:lnTo>
                      <a:pt x="1627" y="22"/>
                    </a:lnTo>
                    <a:lnTo>
                      <a:pt x="1821" y="1"/>
                    </a:lnTo>
                    <a:lnTo>
                      <a:pt x="1919" y="0"/>
                    </a:lnTo>
                    <a:lnTo>
                      <a:pt x="7390" y="0"/>
                    </a:lnTo>
                    <a:lnTo>
                      <a:pt x="7489" y="1"/>
                    </a:lnTo>
                    <a:lnTo>
                      <a:pt x="7682" y="22"/>
                    </a:lnTo>
                    <a:lnTo>
                      <a:pt x="7869" y="60"/>
                    </a:lnTo>
                    <a:lnTo>
                      <a:pt x="8049" y="117"/>
                    </a:lnTo>
                    <a:lnTo>
                      <a:pt x="8222" y="189"/>
                    </a:lnTo>
                    <a:lnTo>
                      <a:pt x="8385" y="278"/>
                    </a:lnTo>
                    <a:lnTo>
                      <a:pt x="8539" y="382"/>
                    </a:lnTo>
                    <a:lnTo>
                      <a:pt x="8681" y="498"/>
                    </a:lnTo>
                    <a:lnTo>
                      <a:pt x="8811" y="629"/>
                    </a:lnTo>
                    <a:lnTo>
                      <a:pt x="8929" y="772"/>
                    </a:lnTo>
                    <a:lnTo>
                      <a:pt x="9033" y="924"/>
                    </a:lnTo>
                    <a:lnTo>
                      <a:pt x="9120" y="1089"/>
                    </a:lnTo>
                    <a:lnTo>
                      <a:pt x="9194" y="1260"/>
                    </a:lnTo>
                    <a:lnTo>
                      <a:pt x="9250" y="1440"/>
                    </a:lnTo>
                    <a:lnTo>
                      <a:pt x="9289" y="1627"/>
                    </a:lnTo>
                    <a:lnTo>
                      <a:pt x="9308" y="1821"/>
                    </a:lnTo>
                    <a:lnTo>
                      <a:pt x="9310" y="1919"/>
                    </a:lnTo>
                    <a:lnTo>
                      <a:pt x="9310" y="8471"/>
                    </a:lnTo>
                    <a:lnTo>
                      <a:pt x="9308" y="8521"/>
                    </a:lnTo>
                    <a:lnTo>
                      <a:pt x="9289" y="8615"/>
                    </a:lnTo>
                    <a:lnTo>
                      <a:pt x="9253" y="8700"/>
                    </a:lnTo>
                    <a:lnTo>
                      <a:pt x="9201" y="8777"/>
                    </a:lnTo>
                    <a:lnTo>
                      <a:pt x="9136" y="8842"/>
                    </a:lnTo>
                    <a:lnTo>
                      <a:pt x="9058" y="8894"/>
                    </a:lnTo>
                    <a:lnTo>
                      <a:pt x="8974" y="8930"/>
                    </a:lnTo>
                    <a:lnTo>
                      <a:pt x="8880" y="8949"/>
                    </a:lnTo>
                    <a:lnTo>
                      <a:pt x="8830" y="8952"/>
                    </a:lnTo>
                    <a:lnTo>
                      <a:pt x="8781" y="8949"/>
                    </a:lnTo>
                    <a:lnTo>
                      <a:pt x="8687" y="8930"/>
                    </a:lnTo>
                    <a:lnTo>
                      <a:pt x="8601" y="8894"/>
                    </a:lnTo>
                    <a:lnTo>
                      <a:pt x="8524" y="8842"/>
                    </a:lnTo>
                    <a:lnTo>
                      <a:pt x="8460" y="8777"/>
                    </a:lnTo>
                    <a:lnTo>
                      <a:pt x="8408" y="8700"/>
                    </a:lnTo>
                    <a:lnTo>
                      <a:pt x="8370" y="8615"/>
                    </a:lnTo>
                    <a:lnTo>
                      <a:pt x="8352" y="8521"/>
                    </a:lnTo>
                    <a:lnTo>
                      <a:pt x="8350" y="8471"/>
                    </a:lnTo>
                    <a:lnTo>
                      <a:pt x="8350" y="1919"/>
                    </a:lnTo>
                    <a:lnTo>
                      <a:pt x="8349" y="1870"/>
                    </a:lnTo>
                    <a:lnTo>
                      <a:pt x="8340" y="1774"/>
                    </a:lnTo>
                    <a:lnTo>
                      <a:pt x="8320" y="1680"/>
                    </a:lnTo>
                    <a:lnTo>
                      <a:pt x="8293" y="1590"/>
                    </a:lnTo>
                    <a:lnTo>
                      <a:pt x="8255" y="1503"/>
                    </a:lnTo>
                    <a:lnTo>
                      <a:pt x="8211" y="1423"/>
                    </a:lnTo>
                    <a:lnTo>
                      <a:pt x="8160" y="1346"/>
                    </a:lnTo>
                    <a:lnTo>
                      <a:pt x="8101" y="1274"/>
                    </a:lnTo>
                    <a:lnTo>
                      <a:pt x="8035" y="1209"/>
                    </a:lnTo>
                    <a:lnTo>
                      <a:pt x="7964" y="1150"/>
                    </a:lnTo>
                    <a:lnTo>
                      <a:pt x="7888" y="1099"/>
                    </a:lnTo>
                    <a:lnTo>
                      <a:pt x="7806" y="1054"/>
                    </a:lnTo>
                    <a:lnTo>
                      <a:pt x="7720" y="1018"/>
                    </a:lnTo>
                    <a:lnTo>
                      <a:pt x="7630" y="989"/>
                    </a:lnTo>
                    <a:lnTo>
                      <a:pt x="7537" y="970"/>
                    </a:lnTo>
                    <a:lnTo>
                      <a:pt x="7440" y="960"/>
                    </a:lnTo>
                    <a:lnTo>
                      <a:pt x="7390" y="960"/>
                    </a:lnTo>
                    <a:lnTo>
                      <a:pt x="1919" y="960"/>
                    </a:lnTo>
                    <a:lnTo>
                      <a:pt x="1870" y="960"/>
                    </a:lnTo>
                    <a:lnTo>
                      <a:pt x="1774" y="970"/>
                    </a:lnTo>
                    <a:lnTo>
                      <a:pt x="1680" y="989"/>
                    </a:lnTo>
                    <a:lnTo>
                      <a:pt x="1589" y="1018"/>
                    </a:lnTo>
                    <a:lnTo>
                      <a:pt x="1503" y="1054"/>
                    </a:lnTo>
                    <a:lnTo>
                      <a:pt x="1422" y="1099"/>
                    </a:lnTo>
                    <a:lnTo>
                      <a:pt x="1346" y="1150"/>
                    </a:lnTo>
                    <a:lnTo>
                      <a:pt x="1274" y="1209"/>
                    </a:lnTo>
                    <a:lnTo>
                      <a:pt x="1209" y="1274"/>
                    </a:lnTo>
                    <a:lnTo>
                      <a:pt x="1150" y="1346"/>
                    </a:lnTo>
                    <a:lnTo>
                      <a:pt x="1098" y="1423"/>
                    </a:lnTo>
                    <a:lnTo>
                      <a:pt x="1054" y="1503"/>
                    </a:lnTo>
                    <a:lnTo>
                      <a:pt x="1018" y="1590"/>
                    </a:lnTo>
                    <a:lnTo>
                      <a:pt x="989" y="1680"/>
                    </a:lnTo>
                    <a:lnTo>
                      <a:pt x="970" y="1774"/>
                    </a:lnTo>
                    <a:lnTo>
                      <a:pt x="960" y="1870"/>
                    </a:lnTo>
                    <a:lnTo>
                      <a:pt x="960" y="1919"/>
                    </a:lnTo>
                    <a:lnTo>
                      <a:pt x="960" y="10855"/>
                    </a:lnTo>
                    <a:lnTo>
                      <a:pt x="962" y="10904"/>
                    </a:lnTo>
                    <a:lnTo>
                      <a:pt x="978" y="10995"/>
                    </a:lnTo>
                    <a:lnTo>
                      <a:pt x="1011" y="11078"/>
                    </a:lnTo>
                    <a:lnTo>
                      <a:pt x="1061" y="11152"/>
                    </a:lnTo>
                    <a:lnTo>
                      <a:pt x="1091" y="11185"/>
                    </a:lnTo>
                    <a:lnTo>
                      <a:pt x="1129" y="11218"/>
                    </a:lnTo>
                    <a:lnTo>
                      <a:pt x="1212" y="11271"/>
                    </a:lnTo>
                    <a:lnTo>
                      <a:pt x="1306" y="11307"/>
                    </a:lnTo>
                    <a:lnTo>
                      <a:pt x="1405" y="11326"/>
                    </a:lnTo>
                    <a:lnTo>
                      <a:pt x="1456" y="11327"/>
                    </a:lnTo>
                    <a:lnTo>
                      <a:pt x="1504" y="11325"/>
                    </a:lnTo>
                    <a:lnTo>
                      <a:pt x="1595" y="11307"/>
                    </a:lnTo>
                    <a:lnTo>
                      <a:pt x="1677" y="11273"/>
                    </a:lnTo>
                    <a:lnTo>
                      <a:pt x="1751" y="11222"/>
                    </a:lnTo>
                    <a:lnTo>
                      <a:pt x="1784" y="11191"/>
                    </a:lnTo>
                    <a:lnTo>
                      <a:pt x="4310" y="8592"/>
                    </a:lnTo>
                    <a:lnTo>
                      <a:pt x="4346" y="8559"/>
                    </a:lnTo>
                    <a:lnTo>
                      <a:pt x="4426" y="8505"/>
                    </a:lnTo>
                    <a:lnTo>
                      <a:pt x="4513" y="8468"/>
                    </a:lnTo>
                    <a:lnTo>
                      <a:pt x="4607" y="8449"/>
                    </a:lnTo>
                    <a:lnTo>
                      <a:pt x="4655" y="8448"/>
                    </a:lnTo>
                    <a:lnTo>
                      <a:pt x="4703" y="8449"/>
                    </a:lnTo>
                    <a:lnTo>
                      <a:pt x="4797" y="8468"/>
                    </a:lnTo>
                    <a:lnTo>
                      <a:pt x="4885" y="8505"/>
                    </a:lnTo>
                    <a:lnTo>
                      <a:pt x="4964" y="8559"/>
                    </a:lnTo>
                    <a:lnTo>
                      <a:pt x="4999" y="8592"/>
                    </a:lnTo>
                    <a:lnTo>
                      <a:pt x="7527" y="11191"/>
                    </a:lnTo>
                    <a:lnTo>
                      <a:pt x="7560" y="11222"/>
                    </a:lnTo>
                    <a:lnTo>
                      <a:pt x="7633" y="11273"/>
                    </a:lnTo>
                    <a:lnTo>
                      <a:pt x="7714" y="11307"/>
                    </a:lnTo>
                    <a:lnTo>
                      <a:pt x="7803" y="11325"/>
                    </a:lnTo>
                    <a:lnTo>
                      <a:pt x="7852" y="11327"/>
                    </a:lnTo>
                    <a:lnTo>
                      <a:pt x="7902" y="11326"/>
                    </a:lnTo>
                    <a:lnTo>
                      <a:pt x="8002" y="11306"/>
                    </a:lnTo>
                    <a:lnTo>
                      <a:pt x="8095" y="11270"/>
                    </a:lnTo>
                    <a:lnTo>
                      <a:pt x="8179" y="11215"/>
                    </a:lnTo>
                    <a:lnTo>
                      <a:pt x="8215" y="11182"/>
                    </a:lnTo>
                    <a:lnTo>
                      <a:pt x="8248" y="11148"/>
                    </a:lnTo>
                    <a:lnTo>
                      <a:pt x="8298" y="11073"/>
                    </a:lnTo>
                    <a:lnTo>
                      <a:pt x="8331" y="10989"/>
                    </a:lnTo>
                    <a:lnTo>
                      <a:pt x="8349" y="10897"/>
                    </a:lnTo>
                    <a:lnTo>
                      <a:pt x="8350" y="10847"/>
                    </a:lnTo>
                    <a:lnTo>
                      <a:pt x="8352" y="10798"/>
                    </a:lnTo>
                    <a:lnTo>
                      <a:pt x="8370" y="10704"/>
                    </a:lnTo>
                    <a:lnTo>
                      <a:pt x="8408" y="10618"/>
                    </a:lnTo>
                    <a:lnTo>
                      <a:pt x="8460" y="10541"/>
                    </a:lnTo>
                    <a:lnTo>
                      <a:pt x="8524" y="10477"/>
                    </a:lnTo>
                    <a:lnTo>
                      <a:pt x="8601" y="10425"/>
                    </a:lnTo>
                    <a:lnTo>
                      <a:pt x="8687" y="10387"/>
                    </a:lnTo>
                    <a:lnTo>
                      <a:pt x="8781" y="10369"/>
                    </a:lnTo>
                    <a:lnTo>
                      <a:pt x="8830" y="10367"/>
                    </a:lnTo>
                    <a:lnTo>
                      <a:pt x="8880" y="10369"/>
                    </a:lnTo>
                    <a:lnTo>
                      <a:pt x="8974" y="10387"/>
                    </a:lnTo>
                    <a:lnTo>
                      <a:pt x="9058" y="10425"/>
                    </a:lnTo>
                    <a:lnTo>
                      <a:pt x="9136" y="10477"/>
                    </a:lnTo>
                    <a:lnTo>
                      <a:pt x="9201" y="10541"/>
                    </a:lnTo>
                    <a:lnTo>
                      <a:pt x="9253" y="10618"/>
                    </a:lnTo>
                    <a:lnTo>
                      <a:pt x="9289" y="10704"/>
                    </a:lnTo>
                    <a:lnTo>
                      <a:pt x="9308" y="10798"/>
                    </a:lnTo>
                    <a:lnTo>
                      <a:pt x="9310" y="10847"/>
                    </a:lnTo>
                    <a:lnTo>
                      <a:pt x="9309" y="10920"/>
                    </a:lnTo>
                    <a:lnTo>
                      <a:pt x="9295" y="11063"/>
                    </a:lnTo>
                    <a:lnTo>
                      <a:pt x="9267" y="11202"/>
                    </a:lnTo>
                    <a:lnTo>
                      <a:pt x="9227" y="11336"/>
                    </a:lnTo>
                    <a:lnTo>
                      <a:pt x="9174" y="11466"/>
                    </a:lnTo>
                    <a:lnTo>
                      <a:pt x="9107" y="11588"/>
                    </a:lnTo>
                    <a:lnTo>
                      <a:pt x="9030" y="11705"/>
                    </a:lnTo>
                    <a:lnTo>
                      <a:pt x="8939" y="11814"/>
                    </a:lnTo>
                    <a:lnTo>
                      <a:pt x="8890" y="11865"/>
                    </a:lnTo>
                    <a:lnTo>
                      <a:pt x="8837" y="11915"/>
                    </a:lnTo>
                    <a:lnTo>
                      <a:pt x="8724" y="12006"/>
                    </a:lnTo>
                    <a:lnTo>
                      <a:pt x="8602" y="12085"/>
                    </a:lnTo>
                    <a:lnTo>
                      <a:pt x="8474" y="12151"/>
                    </a:lnTo>
                    <a:lnTo>
                      <a:pt x="8340" y="12206"/>
                    </a:lnTo>
                    <a:lnTo>
                      <a:pt x="8200" y="12246"/>
                    </a:lnTo>
                    <a:lnTo>
                      <a:pt x="8058" y="12273"/>
                    </a:lnTo>
                    <a:lnTo>
                      <a:pt x="7913" y="12286"/>
                    </a:lnTo>
                    <a:lnTo>
                      <a:pt x="7841" y="12286"/>
                    </a:lnTo>
                    <a:lnTo>
                      <a:pt x="7767" y="12285"/>
                    </a:lnTo>
                    <a:lnTo>
                      <a:pt x="7626" y="12269"/>
                    </a:lnTo>
                    <a:lnTo>
                      <a:pt x="7489" y="12242"/>
                    </a:lnTo>
                    <a:lnTo>
                      <a:pt x="7358" y="12200"/>
                    </a:lnTo>
                    <a:lnTo>
                      <a:pt x="7232" y="12147"/>
                    </a:lnTo>
                    <a:lnTo>
                      <a:pt x="7111" y="12079"/>
                    </a:lnTo>
                    <a:lnTo>
                      <a:pt x="6997" y="12001"/>
                    </a:lnTo>
                    <a:lnTo>
                      <a:pt x="6889" y="11911"/>
                    </a:lnTo>
                    <a:lnTo>
                      <a:pt x="6839" y="11859"/>
                    </a:lnTo>
                    <a:lnTo>
                      <a:pt x="4655" y="9615"/>
                    </a:lnTo>
                    <a:lnTo>
                      <a:pt x="2472" y="11859"/>
                    </a:lnTo>
                    <a:lnTo>
                      <a:pt x="2422" y="11909"/>
                    </a:lnTo>
                    <a:lnTo>
                      <a:pt x="2315" y="12000"/>
                    </a:lnTo>
                    <a:lnTo>
                      <a:pt x="2201" y="12079"/>
                    </a:lnTo>
                    <a:lnTo>
                      <a:pt x="2080" y="12145"/>
                    </a:lnTo>
                    <a:lnTo>
                      <a:pt x="1955" y="12199"/>
                    </a:lnTo>
                    <a:lnTo>
                      <a:pt x="1823" y="12240"/>
                    </a:lnTo>
                    <a:lnTo>
                      <a:pt x="1686" y="12269"/>
                    </a:lnTo>
                    <a:lnTo>
                      <a:pt x="1545" y="12285"/>
                    </a:lnTo>
                    <a:lnTo>
                      <a:pt x="1473" y="12286"/>
                    </a:lnTo>
                    <a:lnTo>
                      <a:pt x="1460" y="12286"/>
                    </a:lnTo>
                    <a:lnTo>
                      <a:pt x="1447" y="1228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A407FBB6-3F71-AB76-8E4A-2CB5B19D125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312072" y="447672"/>
                <a:ext cx="261936" cy="261936"/>
                <a:chOff x="1312072" y="447672"/>
                <a:chExt cx="261936" cy="261936"/>
              </a:xfrm>
            </p:grpSpPr>
            <p:sp>
              <p:nvSpPr>
                <p:cNvPr id="25" name="타원 24">
                  <a:extLst>
                    <a:ext uri="{FF2B5EF4-FFF2-40B4-BE49-F238E27FC236}">
                      <a16:creationId xmlns:a16="http://schemas.microsoft.com/office/drawing/2014/main" id="{3B10BB4E-AC55-5C25-5714-144CF9F8E84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312072" y="447672"/>
                  <a:ext cx="261936" cy="261936"/>
                </a:xfrm>
                <a:prstGeom prst="ellipse">
                  <a:avLst/>
                </a:prstGeom>
                <a:solidFill>
                  <a:srgbClr val="C7EA46"/>
                </a:solidFill>
                <a:ln w="69850">
                  <a:noFill/>
                </a:ln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" name="타원 25">
                  <a:extLst>
                    <a:ext uri="{FF2B5EF4-FFF2-40B4-BE49-F238E27FC236}">
                      <a16:creationId xmlns:a16="http://schemas.microsoft.com/office/drawing/2014/main" id="{63D5F317-23A9-EA01-5BFB-14674A90A2A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394940" y="532926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DF27A0D9-F59C-0F68-2E77-14B773F98A1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453576" y="532926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" name="타원 27">
                  <a:extLst>
                    <a:ext uri="{FF2B5EF4-FFF2-40B4-BE49-F238E27FC236}">
                      <a16:creationId xmlns:a16="http://schemas.microsoft.com/office/drawing/2014/main" id="{0E0FA011-6C3B-A5B1-9AA5-24F650880B6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394940" y="591603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79270ACB-92E9-DB4A-32B1-991D944374F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flipH="1">
                  <a:off x="1453576" y="591603"/>
                  <a:ext cx="29905" cy="29905"/>
                </a:xfrm>
                <a:prstGeom prst="ellipse">
                  <a:avLst/>
                </a:prstGeom>
                <a:solidFill>
                  <a:schemeClr val="bg1"/>
                </a:solidFill>
                <a:ln w="698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7778A42-8F67-A418-C722-0B86F3738B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7178" y="972318"/>
              <a:ext cx="2301841" cy="313557"/>
              <a:chOff x="537178" y="972318"/>
              <a:chExt cx="2301841" cy="313557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11FCA2C-79EA-4097-7C36-AEA4886C2D5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537178" y="972318"/>
                <a:ext cx="1066837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9388" algn="ctr" latinLnBrk="0">
                  <a:defRPr/>
                </a:pPr>
                <a:r>
                  <a:rPr lang="en-US" altLang="ko-KR" sz="900" kern="0" dirty="0">
                    <a:solidFill>
                      <a:srgbClr val="44546A"/>
                    </a:solidFill>
                  </a:rPr>
                  <a:t>__Data Mining</a:t>
                </a:r>
                <a:endParaRPr lang="ko-KR" altLang="en-US" sz="900" dirty="0">
                  <a:solidFill>
                    <a:srgbClr val="44546A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E3BA83B0-2536-E88B-FBF0-350152F011B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1772183" y="972318"/>
                <a:ext cx="1066836" cy="313557"/>
              </a:xfrm>
              <a:prstGeom prst="rect">
                <a:avLst/>
              </a:prstGeom>
              <a:solidFill>
                <a:schemeClr val="bg1"/>
              </a:solidFill>
              <a:ln w="698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r>
                  <a:rPr lang="en-US" altLang="ko-KR" sz="1000" kern="0" dirty="0">
                    <a:solidFill>
                      <a:srgbClr val="44546A"/>
                    </a:solidFill>
                  </a:rPr>
                  <a:t>19 page</a:t>
                </a:r>
                <a:endParaRPr lang="ko-KR" altLang="en-US" sz="2400" dirty="0">
                  <a:solidFill>
                    <a:srgbClr val="44546A"/>
                  </a:solidFill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25BE6DFD-8F5C-04B9-BB53-ADA2F53E6C6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700936" y="1042582"/>
                <a:ext cx="54187" cy="156932"/>
                <a:chOff x="2871787" y="1122365"/>
                <a:chExt cx="77757" cy="225192"/>
              </a:xfrm>
            </p:grpSpPr>
            <p:sp>
              <p:nvSpPr>
                <p:cNvPr id="17" name="이등변 삼각형 16">
                  <a:extLst>
                    <a:ext uri="{FF2B5EF4-FFF2-40B4-BE49-F238E27FC236}">
                      <a16:creationId xmlns:a16="http://schemas.microsoft.com/office/drawing/2014/main" id="{FC0EC22E-65C5-EFE7-267A-024700450AB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71787" y="112236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" name="이등변 삼각형 17">
                  <a:extLst>
                    <a:ext uri="{FF2B5EF4-FFF2-40B4-BE49-F238E27FC236}">
                      <a16:creationId xmlns:a16="http://schemas.microsoft.com/office/drawing/2014/main" id="{D71D5238-F94A-8D41-0265-76DAA3851F5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0800000">
                  <a:off x="2871787" y="1280525"/>
                  <a:ext cx="77757" cy="67032"/>
                </a:xfrm>
                <a:prstGeom prst="triangl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BC982EE1-8CFD-6A76-8250-67477C8188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8109" y="1050363"/>
                <a:ext cx="137005" cy="168203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rgbClr val="00A86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36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4BBA63C-F419-DFFF-BB56-F73E080ADE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537174" y="1402021"/>
              <a:ext cx="11654824" cy="5455980"/>
            </a:xfrm>
            <a:prstGeom prst="rect">
              <a:avLst/>
            </a:prstGeom>
            <a:solidFill>
              <a:schemeClr val="bg1"/>
            </a:solidFill>
            <a:ln w="698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ko-KR" altLang="en-US" sz="2400" dirty="0">
                <a:solidFill>
                  <a:srgbClr val="44546A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875E529-69B3-9D90-871F-350F2AEE1BA7}"/>
              </a:ext>
            </a:extLst>
          </p:cNvPr>
          <p:cNvSpPr txBox="1"/>
          <p:nvPr/>
        </p:nvSpPr>
        <p:spPr>
          <a:xfrm>
            <a:off x="722779" y="3208407"/>
            <a:ext cx="9239368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000" b="1" dirty="0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7824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1668</TotalTime>
  <Words>2572</Words>
  <Application>Microsoft Office PowerPoint</Application>
  <PresentationFormat>Widescreen</PresentationFormat>
  <Paragraphs>276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Wingdings</vt:lpstr>
      <vt:lpstr>맑은 고딕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IRIANTI GABRIELLA PASYA</dc:creator>
  <cp:lastModifiedBy>IRIANTI GABRIELLA PASYA</cp:lastModifiedBy>
  <cp:revision>1</cp:revision>
  <dcterms:created xsi:type="dcterms:W3CDTF">2024-11-23T05:09:18Z</dcterms:created>
  <dcterms:modified xsi:type="dcterms:W3CDTF">2024-11-24T08:57:59Z</dcterms:modified>
</cp:coreProperties>
</file>