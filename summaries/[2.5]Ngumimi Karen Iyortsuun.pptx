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sldIdLst>
    <p:sldId id="256" r:id="rId2"/>
    <p:sldId id="257" r:id="rId3"/>
    <p:sldId id="258" r:id="rId4"/>
    <p:sldId id="259" r:id="rId5"/>
    <p:sldId id="270" r:id="rId6"/>
    <p:sldId id="271" r:id="rId7"/>
    <p:sldId id="277" r:id="rId8"/>
    <p:sldId id="262" r:id="rId9"/>
    <p:sldId id="260" r:id="rId10"/>
    <p:sldId id="265" r:id="rId11"/>
    <p:sldId id="272" r:id="rId12"/>
    <p:sldId id="273" r:id="rId13"/>
    <p:sldId id="274" r:id="rId14"/>
    <p:sldId id="278" r:id="rId15"/>
    <p:sldId id="279" r:id="rId16"/>
    <p:sldId id="266"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83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0013D4-ED14-4EC9-B9E8-65992847B5D8}" type="datetimeFigureOut">
              <a:rPr lang="en-US" smtClean="0"/>
              <a:t>9/23/2024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675BB-3020-4EEC-8B4F-ED5A6BDE2ECD}" type="slidenum">
              <a:rPr lang="en-US" smtClean="0"/>
              <a:t>‹#›</a:t>
            </a:fld>
            <a:endParaRPr lang="en-US"/>
          </a:p>
        </p:txBody>
      </p:sp>
    </p:spTree>
    <p:extLst>
      <p:ext uri="{BB962C8B-B14F-4D97-AF65-F5344CB8AC3E}">
        <p14:creationId xmlns:p14="http://schemas.microsoft.com/office/powerpoint/2010/main" val="2642600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675BB-3020-4EEC-8B4F-ED5A6BDE2ECD}" type="slidenum">
              <a:rPr lang="en-US" smtClean="0"/>
              <a:t>1</a:t>
            </a:fld>
            <a:endParaRPr lang="en-US"/>
          </a:p>
        </p:txBody>
      </p:sp>
    </p:spTree>
    <p:extLst>
      <p:ext uri="{BB962C8B-B14F-4D97-AF65-F5344CB8AC3E}">
        <p14:creationId xmlns:p14="http://schemas.microsoft.com/office/powerpoint/2010/main" val="805561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675BB-3020-4EEC-8B4F-ED5A6BDE2ECD}" type="slidenum">
              <a:rPr lang="en-US" smtClean="0"/>
              <a:t>5</a:t>
            </a:fld>
            <a:endParaRPr lang="en-US"/>
          </a:p>
        </p:txBody>
      </p:sp>
    </p:spTree>
    <p:extLst>
      <p:ext uri="{BB962C8B-B14F-4D97-AF65-F5344CB8AC3E}">
        <p14:creationId xmlns:p14="http://schemas.microsoft.com/office/powerpoint/2010/main" val="41691946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675BB-3020-4EEC-8B4F-ED5A6BDE2ECD}" type="slidenum">
              <a:rPr lang="en-US" smtClean="0"/>
              <a:t>15</a:t>
            </a:fld>
            <a:endParaRPr lang="en-US"/>
          </a:p>
        </p:txBody>
      </p:sp>
    </p:spTree>
    <p:extLst>
      <p:ext uri="{BB962C8B-B14F-4D97-AF65-F5344CB8AC3E}">
        <p14:creationId xmlns:p14="http://schemas.microsoft.com/office/powerpoint/2010/main" val="2111339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0A515-8D63-7734-6E1F-1B340EE6E1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03A96A5-1DC3-2944-B9FA-3B62CF1796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6C6E5BE-74BF-3B4F-4A0B-7D9D395A08E6}"/>
              </a:ext>
            </a:extLst>
          </p:cNvPr>
          <p:cNvSpPr>
            <a:spLocks noGrp="1"/>
          </p:cNvSpPr>
          <p:nvPr>
            <p:ph type="dt" sz="half" idx="10"/>
          </p:nvPr>
        </p:nvSpPr>
        <p:spPr/>
        <p:txBody>
          <a:bodyPr/>
          <a:lstStyle/>
          <a:p>
            <a:fld id="{2A9E1B0F-574A-4401-B5D2-69DB185ABCEC}" type="datetime1">
              <a:rPr lang="en-US" smtClean="0"/>
              <a:t>9/27/2024</a:t>
            </a:fld>
            <a:endParaRPr lang="en-US"/>
          </a:p>
        </p:txBody>
      </p:sp>
      <p:sp>
        <p:nvSpPr>
          <p:cNvPr id="5" name="Footer Placeholder 4">
            <a:extLst>
              <a:ext uri="{FF2B5EF4-FFF2-40B4-BE49-F238E27FC236}">
                <a16:creationId xmlns:a16="http://schemas.microsoft.com/office/drawing/2014/main" id="{19119C5A-2BB0-FBF4-DE47-8D0172D0AA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511F22-15BB-5F9D-0F67-097B4127D417}"/>
              </a:ext>
            </a:extLst>
          </p:cNvPr>
          <p:cNvSpPr>
            <a:spLocks noGrp="1"/>
          </p:cNvSpPr>
          <p:nvPr>
            <p:ph type="sldNum" sz="quarter" idx="12"/>
          </p:nvPr>
        </p:nvSpPr>
        <p:spPr/>
        <p:txBody>
          <a:bodyPr/>
          <a:lstStyle/>
          <a:p>
            <a:fld id="{BBA2409C-9313-42BD-B852-D36E47DA4A25}" type="slidenum">
              <a:rPr lang="en-US" smtClean="0"/>
              <a:t>‹#›</a:t>
            </a:fld>
            <a:endParaRPr lang="en-US"/>
          </a:p>
        </p:txBody>
      </p:sp>
    </p:spTree>
    <p:extLst>
      <p:ext uri="{BB962C8B-B14F-4D97-AF65-F5344CB8AC3E}">
        <p14:creationId xmlns:p14="http://schemas.microsoft.com/office/powerpoint/2010/main" val="1479773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F5D15-76EA-F534-B53F-A1B64EFA03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29EE51-4517-A237-CBED-4CB56676D1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9D6820-DC41-ACB7-4338-FD86B11939BC}"/>
              </a:ext>
            </a:extLst>
          </p:cNvPr>
          <p:cNvSpPr>
            <a:spLocks noGrp="1"/>
          </p:cNvSpPr>
          <p:nvPr>
            <p:ph type="dt" sz="half" idx="10"/>
          </p:nvPr>
        </p:nvSpPr>
        <p:spPr/>
        <p:txBody>
          <a:bodyPr/>
          <a:lstStyle/>
          <a:p>
            <a:fld id="{D09792C1-F3FA-421C-A080-19D3D41E3112}" type="datetime1">
              <a:rPr lang="en-US" smtClean="0"/>
              <a:t>9/27/2024</a:t>
            </a:fld>
            <a:endParaRPr lang="en-US"/>
          </a:p>
        </p:txBody>
      </p:sp>
      <p:sp>
        <p:nvSpPr>
          <p:cNvPr id="5" name="Footer Placeholder 4">
            <a:extLst>
              <a:ext uri="{FF2B5EF4-FFF2-40B4-BE49-F238E27FC236}">
                <a16:creationId xmlns:a16="http://schemas.microsoft.com/office/drawing/2014/main" id="{0235F66B-9DAB-2D6D-D1B0-9043C897F7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581761-62C3-67CF-B936-B42FFFC3EB77}"/>
              </a:ext>
            </a:extLst>
          </p:cNvPr>
          <p:cNvSpPr>
            <a:spLocks noGrp="1"/>
          </p:cNvSpPr>
          <p:nvPr>
            <p:ph type="sldNum" sz="quarter" idx="12"/>
          </p:nvPr>
        </p:nvSpPr>
        <p:spPr/>
        <p:txBody>
          <a:bodyPr/>
          <a:lstStyle/>
          <a:p>
            <a:fld id="{BBA2409C-9313-42BD-B852-D36E47DA4A25}" type="slidenum">
              <a:rPr lang="en-US" smtClean="0"/>
              <a:t>‹#›</a:t>
            </a:fld>
            <a:endParaRPr lang="en-US"/>
          </a:p>
        </p:txBody>
      </p:sp>
    </p:spTree>
    <p:extLst>
      <p:ext uri="{BB962C8B-B14F-4D97-AF65-F5344CB8AC3E}">
        <p14:creationId xmlns:p14="http://schemas.microsoft.com/office/powerpoint/2010/main" val="2551381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9CB65-5928-19E4-62CF-C08581C43E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81D5039-7946-A05F-F533-B94741A150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51302F-8411-C69E-75BA-E13F6A980606}"/>
              </a:ext>
            </a:extLst>
          </p:cNvPr>
          <p:cNvSpPr>
            <a:spLocks noGrp="1"/>
          </p:cNvSpPr>
          <p:nvPr>
            <p:ph type="dt" sz="half" idx="10"/>
          </p:nvPr>
        </p:nvSpPr>
        <p:spPr/>
        <p:txBody>
          <a:bodyPr/>
          <a:lstStyle/>
          <a:p>
            <a:fld id="{5BD9655C-7135-4FD6-B362-C095BA220D1B}" type="datetime1">
              <a:rPr lang="en-US" smtClean="0"/>
              <a:t>9/27/2024</a:t>
            </a:fld>
            <a:endParaRPr lang="en-US"/>
          </a:p>
        </p:txBody>
      </p:sp>
      <p:sp>
        <p:nvSpPr>
          <p:cNvPr id="5" name="Footer Placeholder 4">
            <a:extLst>
              <a:ext uri="{FF2B5EF4-FFF2-40B4-BE49-F238E27FC236}">
                <a16:creationId xmlns:a16="http://schemas.microsoft.com/office/drawing/2014/main" id="{04ECEFD5-208E-9B25-E4C8-2ED357805A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B69FD2-94EF-8CC2-C01E-09C6F7FD9643}"/>
              </a:ext>
            </a:extLst>
          </p:cNvPr>
          <p:cNvSpPr>
            <a:spLocks noGrp="1"/>
          </p:cNvSpPr>
          <p:nvPr>
            <p:ph type="sldNum" sz="quarter" idx="12"/>
          </p:nvPr>
        </p:nvSpPr>
        <p:spPr/>
        <p:txBody>
          <a:bodyPr/>
          <a:lstStyle/>
          <a:p>
            <a:fld id="{BBA2409C-9313-42BD-B852-D36E47DA4A25}" type="slidenum">
              <a:rPr lang="en-US" smtClean="0"/>
              <a:t>‹#›</a:t>
            </a:fld>
            <a:endParaRPr lang="en-US"/>
          </a:p>
        </p:txBody>
      </p:sp>
    </p:spTree>
    <p:extLst>
      <p:ext uri="{BB962C8B-B14F-4D97-AF65-F5344CB8AC3E}">
        <p14:creationId xmlns:p14="http://schemas.microsoft.com/office/powerpoint/2010/main" val="2185149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DFD26-D7AB-C8B6-F90F-342E01CCFD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6A404C-9A2D-E61C-C85F-B6FF5D08EB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648B0F-B4F0-4654-C0A4-B96B00F31B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1CD748A-B8F8-D25C-38D0-5DAFC03488FB}"/>
              </a:ext>
            </a:extLst>
          </p:cNvPr>
          <p:cNvSpPr>
            <a:spLocks noGrp="1"/>
          </p:cNvSpPr>
          <p:nvPr>
            <p:ph type="dt" sz="half" idx="10"/>
          </p:nvPr>
        </p:nvSpPr>
        <p:spPr/>
        <p:txBody>
          <a:bodyPr/>
          <a:lstStyle/>
          <a:p>
            <a:fld id="{54046E55-BB73-4EF4-ABBA-23DF112D109D}" type="datetime1">
              <a:rPr lang="en-US" smtClean="0"/>
              <a:t>9/27/2024</a:t>
            </a:fld>
            <a:endParaRPr lang="en-US"/>
          </a:p>
        </p:txBody>
      </p:sp>
      <p:sp>
        <p:nvSpPr>
          <p:cNvPr id="6" name="Footer Placeholder 5">
            <a:extLst>
              <a:ext uri="{FF2B5EF4-FFF2-40B4-BE49-F238E27FC236}">
                <a16:creationId xmlns:a16="http://schemas.microsoft.com/office/drawing/2014/main" id="{22BD96BF-CEED-17F1-137B-E7116D7713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616713-89E9-89E3-317A-80C523ABEC6B}"/>
              </a:ext>
            </a:extLst>
          </p:cNvPr>
          <p:cNvSpPr>
            <a:spLocks noGrp="1"/>
          </p:cNvSpPr>
          <p:nvPr>
            <p:ph type="sldNum" sz="quarter" idx="12"/>
          </p:nvPr>
        </p:nvSpPr>
        <p:spPr/>
        <p:txBody>
          <a:bodyPr/>
          <a:lstStyle/>
          <a:p>
            <a:fld id="{BBA2409C-9313-42BD-B852-D36E47DA4A25}" type="slidenum">
              <a:rPr lang="en-US" smtClean="0"/>
              <a:t>‹#›</a:t>
            </a:fld>
            <a:endParaRPr lang="en-US"/>
          </a:p>
        </p:txBody>
      </p:sp>
    </p:spTree>
    <p:extLst>
      <p:ext uri="{BB962C8B-B14F-4D97-AF65-F5344CB8AC3E}">
        <p14:creationId xmlns:p14="http://schemas.microsoft.com/office/powerpoint/2010/main" val="711307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D4893-EAC8-26DE-6EE0-8E826D012E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F060C6C-FD1C-5A67-7AB5-412492F126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95A77B-F627-2132-5A92-F44B76D037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62F4AA3-609C-BC6E-0D69-E7FC4752D6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D0B652-5F22-8B96-654A-CAE0F7DCE2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DDE682-784D-BC07-6827-38493C39BE55}"/>
              </a:ext>
            </a:extLst>
          </p:cNvPr>
          <p:cNvSpPr>
            <a:spLocks noGrp="1"/>
          </p:cNvSpPr>
          <p:nvPr>
            <p:ph type="dt" sz="half" idx="10"/>
          </p:nvPr>
        </p:nvSpPr>
        <p:spPr/>
        <p:txBody>
          <a:bodyPr/>
          <a:lstStyle/>
          <a:p>
            <a:fld id="{81B2C2E4-6B8D-4EC4-9141-1251E2B38B3C}" type="datetime1">
              <a:rPr lang="en-US" smtClean="0"/>
              <a:t>9/27/2024</a:t>
            </a:fld>
            <a:endParaRPr lang="en-US"/>
          </a:p>
        </p:txBody>
      </p:sp>
      <p:sp>
        <p:nvSpPr>
          <p:cNvPr id="8" name="Footer Placeholder 7">
            <a:extLst>
              <a:ext uri="{FF2B5EF4-FFF2-40B4-BE49-F238E27FC236}">
                <a16:creationId xmlns:a16="http://schemas.microsoft.com/office/drawing/2014/main" id="{0FA0CFF5-17C8-0874-35C6-DDC5FFA8DE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E978141-18D5-7324-542B-C41709231057}"/>
              </a:ext>
            </a:extLst>
          </p:cNvPr>
          <p:cNvSpPr>
            <a:spLocks noGrp="1"/>
          </p:cNvSpPr>
          <p:nvPr>
            <p:ph type="sldNum" sz="quarter" idx="12"/>
          </p:nvPr>
        </p:nvSpPr>
        <p:spPr/>
        <p:txBody>
          <a:bodyPr/>
          <a:lstStyle/>
          <a:p>
            <a:fld id="{BBA2409C-9313-42BD-B852-D36E47DA4A25}" type="slidenum">
              <a:rPr lang="en-US" smtClean="0"/>
              <a:t>‹#›</a:t>
            </a:fld>
            <a:endParaRPr lang="en-US"/>
          </a:p>
        </p:txBody>
      </p:sp>
    </p:spTree>
    <p:extLst>
      <p:ext uri="{BB962C8B-B14F-4D97-AF65-F5344CB8AC3E}">
        <p14:creationId xmlns:p14="http://schemas.microsoft.com/office/powerpoint/2010/main" val="3592202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38F85-74E2-4158-55FC-AC2BD793D2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516B44-4A80-8CC1-24B6-6E0B7E79E953}"/>
              </a:ext>
            </a:extLst>
          </p:cNvPr>
          <p:cNvSpPr>
            <a:spLocks noGrp="1"/>
          </p:cNvSpPr>
          <p:nvPr>
            <p:ph type="dt" sz="half" idx="10"/>
          </p:nvPr>
        </p:nvSpPr>
        <p:spPr/>
        <p:txBody>
          <a:bodyPr/>
          <a:lstStyle/>
          <a:p>
            <a:fld id="{1322D880-084D-48C5-B785-159AEDF4AC93}" type="datetime1">
              <a:rPr lang="en-US" smtClean="0"/>
              <a:t>9/27/2024</a:t>
            </a:fld>
            <a:endParaRPr lang="en-US"/>
          </a:p>
        </p:txBody>
      </p:sp>
      <p:sp>
        <p:nvSpPr>
          <p:cNvPr id="4" name="Footer Placeholder 3">
            <a:extLst>
              <a:ext uri="{FF2B5EF4-FFF2-40B4-BE49-F238E27FC236}">
                <a16:creationId xmlns:a16="http://schemas.microsoft.com/office/drawing/2014/main" id="{86E6A955-BC70-A610-5826-864E6272B9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EF2DD5-3DEA-3B95-1CB1-9C748A15C727}"/>
              </a:ext>
            </a:extLst>
          </p:cNvPr>
          <p:cNvSpPr>
            <a:spLocks noGrp="1"/>
          </p:cNvSpPr>
          <p:nvPr>
            <p:ph type="sldNum" sz="quarter" idx="12"/>
          </p:nvPr>
        </p:nvSpPr>
        <p:spPr/>
        <p:txBody>
          <a:bodyPr/>
          <a:lstStyle/>
          <a:p>
            <a:fld id="{BBA2409C-9313-42BD-B852-D36E47DA4A25}" type="slidenum">
              <a:rPr lang="en-US" smtClean="0"/>
              <a:t>‹#›</a:t>
            </a:fld>
            <a:endParaRPr lang="en-US"/>
          </a:p>
        </p:txBody>
      </p:sp>
    </p:spTree>
    <p:extLst>
      <p:ext uri="{BB962C8B-B14F-4D97-AF65-F5344CB8AC3E}">
        <p14:creationId xmlns:p14="http://schemas.microsoft.com/office/powerpoint/2010/main" val="3911441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4C3F01-BF42-C6CB-B749-1960072306EB}"/>
              </a:ext>
            </a:extLst>
          </p:cNvPr>
          <p:cNvSpPr>
            <a:spLocks noGrp="1"/>
          </p:cNvSpPr>
          <p:nvPr>
            <p:ph type="dt" sz="half" idx="10"/>
          </p:nvPr>
        </p:nvSpPr>
        <p:spPr/>
        <p:txBody>
          <a:bodyPr/>
          <a:lstStyle/>
          <a:p>
            <a:fld id="{DAF6642B-ACF7-4E18-B211-4998FCC3F92E}" type="datetime1">
              <a:rPr lang="en-US" smtClean="0"/>
              <a:t>9/27/2024</a:t>
            </a:fld>
            <a:endParaRPr lang="en-US"/>
          </a:p>
        </p:txBody>
      </p:sp>
      <p:sp>
        <p:nvSpPr>
          <p:cNvPr id="3" name="Footer Placeholder 2">
            <a:extLst>
              <a:ext uri="{FF2B5EF4-FFF2-40B4-BE49-F238E27FC236}">
                <a16:creationId xmlns:a16="http://schemas.microsoft.com/office/drawing/2014/main" id="{AE26CB64-46F8-C661-EB0F-D38353B0D8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072BB2-D36E-4C58-6B30-D821A89DE278}"/>
              </a:ext>
            </a:extLst>
          </p:cNvPr>
          <p:cNvSpPr>
            <a:spLocks noGrp="1"/>
          </p:cNvSpPr>
          <p:nvPr>
            <p:ph type="sldNum" sz="quarter" idx="12"/>
          </p:nvPr>
        </p:nvSpPr>
        <p:spPr/>
        <p:txBody>
          <a:bodyPr/>
          <a:lstStyle/>
          <a:p>
            <a:fld id="{BBA2409C-9313-42BD-B852-D36E47DA4A25}" type="slidenum">
              <a:rPr lang="en-US" smtClean="0"/>
              <a:t>‹#›</a:t>
            </a:fld>
            <a:endParaRPr lang="en-US"/>
          </a:p>
        </p:txBody>
      </p:sp>
    </p:spTree>
    <p:extLst>
      <p:ext uri="{BB962C8B-B14F-4D97-AF65-F5344CB8AC3E}">
        <p14:creationId xmlns:p14="http://schemas.microsoft.com/office/powerpoint/2010/main" val="3141979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DD8FF-7D30-91DA-BFB9-A821F789FB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FECD69-9B69-5612-9D1A-2E9E56262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8EA822-1323-B7E0-DB6B-E31E19C162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DC16DF-7F50-A3B8-B353-7015C862957D}"/>
              </a:ext>
            </a:extLst>
          </p:cNvPr>
          <p:cNvSpPr>
            <a:spLocks noGrp="1"/>
          </p:cNvSpPr>
          <p:nvPr>
            <p:ph type="dt" sz="half" idx="10"/>
          </p:nvPr>
        </p:nvSpPr>
        <p:spPr/>
        <p:txBody>
          <a:bodyPr/>
          <a:lstStyle/>
          <a:p>
            <a:fld id="{12D44EF7-D4EF-457D-9358-C9AD294AEEBC}" type="datetime1">
              <a:rPr lang="en-US" smtClean="0"/>
              <a:t>9/27/2024</a:t>
            </a:fld>
            <a:endParaRPr lang="en-US"/>
          </a:p>
        </p:txBody>
      </p:sp>
      <p:sp>
        <p:nvSpPr>
          <p:cNvPr id="6" name="Footer Placeholder 5">
            <a:extLst>
              <a:ext uri="{FF2B5EF4-FFF2-40B4-BE49-F238E27FC236}">
                <a16:creationId xmlns:a16="http://schemas.microsoft.com/office/drawing/2014/main" id="{6A398FAF-A9D8-862C-0443-3514FEED34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C9F315-24C9-B686-C557-7EDA762B3522}"/>
              </a:ext>
            </a:extLst>
          </p:cNvPr>
          <p:cNvSpPr>
            <a:spLocks noGrp="1"/>
          </p:cNvSpPr>
          <p:nvPr>
            <p:ph type="sldNum" sz="quarter" idx="12"/>
          </p:nvPr>
        </p:nvSpPr>
        <p:spPr/>
        <p:txBody>
          <a:bodyPr/>
          <a:lstStyle/>
          <a:p>
            <a:fld id="{BBA2409C-9313-42BD-B852-D36E47DA4A25}" type="slidenum">
              <a:rPr lang="en-US" smtClean="0"/>
              <a:t>‹#›</a:t>
            </a:fld>
            <a:endParaRPr lang="en-US"/>
          </a:p>
        </p:txBody>
      </p:sp>
    </p:spTree>
    <p:extLst>
      <p:ext uri="{BB962C8B-B14F-4D97-AF65-F5344CB8AC3E}">
        <p14:creationId xmlns:p14="http://schemas.microsoft.com/office/powerpoint/2010/main" val="1925990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11A76-86EE-E885-8ECB-4CE07AC9E5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B7547D-CDB2-51AC-5BD7-7B88629E7F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D22A8A-46DA-ABE1-014F-C2B1DB3843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19F8C8-DF72-1F79-BDC8-86863DC5E58C}"/>
              </a:ext>
            </a:extLst>
          </p:cNvPr>
          <p:cNvSpPr>
            <a:spLocks noGrp="1"/>
          </p:cNvSpPr>
          <p:nvPr>
            <p:ph type="dt" sz="half" idx="10"/>
          </p:nvPr>
        </p:nvSpPr>
        <p:spPr/>
        <p:txBody>
          <a:bodyPr/>
          <a:lstStyle/>
          <a:p>
            <a:fld id="{44C25E94-DE87-4B10-882E-28B62C270C50}" type="datetime1">
              <a:rPr lang="en-US" smtClean="0"/>
              <a:t>9/27/2024</a:t>
            </a:fld>
            <a:endParaRPr lang="en-US"/>
          </a:p>
        </p:txBody>
      </p:sp>
      <p:sp>
        <p:nvSpPr>
          <p:cNvPr id="6" name="Footer Placeholder 5">
            <a:extLst>
              <a:ext uri="{FF2B5EF4-FFF2-40B4-BE49-F238E27FC236}">
                <a16:creationId xmlns:a16="http://schemas.microsoft.com/office/drawing/2014/main" id="{0F96781A-2285-E4E8-1A23-E55C4531E2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81C997-7881-3C02-5C3E-CD6DD569881B}"/>
              </a:ext>
            </a:extLst>
          </p:cNvPr>
          <p:cNvSpPr>
            <a:spLocks noGrp="1"/>
          </p:cNvSpPr>
          <p:nvPr>
            <p:ph type="sldNum" sz="quarter" idx="12"/>
          </p:nvPr>
        </p:nvSpPr>
        <p:spPr/>
        <p:txBody>
          <a:bodyPr/>
          <a:lstStyle/>
          <a:p>
            <a:fld id="{BBA2409C-9313-42BD-B852-D36E47DA4A25}" type="slidenum">
              <a:rPr lang="en-US" smtClean="0"/>
              <a:t>‹#›</a:t>
            </a:fld>
            <a:endParaRPr lang="en-US"/>
          </a:p>
        </p:txBody>
      </p:sp>
    </p:spTree>
    <p:extLst>
      <p:ext uri="{BB962C8B-B14F-4D97-AF65-F5344CB8AC3E}">
        <p14:creationId xmlns:p14="http://schemas.microsoft.com/office/powerpoint/2010/main" val="2593766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894B5-E5CF-1625-BEC0-7CA590ADF4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759E492-DEAC-1E2B-DA31-09A93537DF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0E53F4-4C48-3255-EFE1-56897557FE62}"/>
              </a:ext>
            </a:extLst>
          </p:cNvPr>
          <p:cNvSpPr>
            <a:spLocks noGrp="1"/>
          </p:cNvSpPr>
          <p:nvPr>
            <p:ph type="dt" sz="half" idx="10"/>
          </p:nvPr>
        </p:nvSpPr>
        <p:spPr/>
        <p:txBody>
          <a:bodyPr/>
          <a:lstStyle/>
          <a:p>
            <a:fld id="{96D22862-338A-4474-B4F3-0D28FF5D9374}" type="datetime1">
              <a:rPr lang="en-US" smtClean="0"/>
              <a:t>9/27/2024</a:t>
            </a:fld>
            <a:endParaRPr lang="en-US"/>
          </a:p>
        </p:txBody>
      </p:sp>
      <p:sp>
        <p:nvSpPr>
          <p:cNvPr id="5" name="Footer Placeholder 4">
            <a:extLst>
              <a:ext uri="{FF2B5EF4-FFF2-40B4-BE49-F238E27FC236}">
                <a16:creationId xmlns:a16="http://schemas.microsoft.com/office/drawing/2014/main" id="{0CDD2F2D-9DB7-C835-C53B-BDA9389C47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C2630D-8122-350D-0983-12F8F771FA38}"/>
              </a:ext>
            </a:extLst>
          </p:cNvPr>
          <p:cNvSpPr>
            <a:spLocks noGrp="1"/>
          </p:cNvSpPr>
          <p:nvPr>
            <p:ph type="sldNum" sz="quarter" idx="12"/>
          </p:nvPr>
        </p:nvSpPr>
        <p:spPr/>
        <p:txBody>
          <a:bodyPr/>
          <a:lstStyle/>
          <a:p>
            <a:fld id="{BBA2409C-9313-42BD-B852-D36E47DA4A25}" type="slidenum">
              <a:rPr lang="en-US" smtClean="0"/>
              <a:t>‹#›</a:t>
            </a:fld>
            <a:endParaRPr lang="en-US"/>
          </a:p>
        </p:txBody>
      </p:sp>
    </p:spTree>
    <p:extLst>
      <p:ext uri="{BB962C8B-B14F-4D97-AF65-F5344CB8AC3E}">
        <p14:creationId xmlns:p14="http://schemas.microsoft.com/office/powerpoint/2010/main" val="3949663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386692-4474-8494-9D18-7DA8913A2F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828A9A-1236-9C8A-F005-3ED021B206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C85E9F-FF1E-1246-7AC8-90F3554EF832}"/>
              </a:ext>
            </a:extLst>
          </p:cNvPr>
          <p:cNvSpPr>
            <a:spLocks noGrp="1"/>
          </p:cNvSpPr>
          <p:nvPr>
            <p:ph type="dt" sz="half" idx="10"/>
          </p:nvPr>
        </p:nvSpPr>
        <p:spPr/>
        <p:txBody>
          <a:bodyPr/>
          <a:lstStyle/>
          <a:p>
            <a:fld id="{A5CB7821-0507-4DD4-8179-6033D67A6A6E}" type="datetime1">
              <a:rPr lang="en-US" smtClean="0"/>
              <a:t>9/27/2024</a:t>
            </a:fld>
            <a:endParaRPr lang="en-US"/>
          </a:p>
        </p:txBody>
      </p:sp>
      <p:sp>
        <p:nvSpPr>
          <p:cNvPr id="5" name="Footer Placeholder 4">
            <a:extLst>
              <a:ext uri="{FF2B5EF4-FFF2-40B4-BE49-F238E27FC236}">
                <a16:creationId xmlns:a16="http://schemas.microsoft.com/office/drawing/2014/main" id="{E2335CFD-52D5-F6B2-ED37-0A8B916287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53DA08-3A55-A492-5A22-156D20AF9F17}"/>
              </a:ext>
            </a:extLst>
          </p:cNvPr>
          <p:cNvSpPr>
            <a:spLocks noGrp="1"/>
          </p:cNvSpPr>
          <p:nvPr>
            <p:ph type="sldNum" sz="quarter" idx="12"/>
          </p:nvPr>
        </p:nvSpPr>
        <p:spPr/>
        <p:txBody>
          <a:bodyPr/>
          <a:lstStyle/>
          <a:p>
            <a:fld id="{BBA2409C-9313-42BD-B852-D36E47DA4A25}" type="slidenum">
              <a:rPr lang="en-US" smtClean="0"/>
              <a:t>‹#›</a:t>
            </a:fld>
            <a:endParaRPr lang="en-US"/>
          </a:p>
        </p:txBody>
      </p:sp>
    </p:spTree>
    <p:extLst>
      <p:ext uri="{BB962C8B-B14F-4D97-AF65-F5344CB8AC3E}">
        <p14:creationId xmlns:p14="http://schemas.microsoft.com/office/powerpoint/2010/main" val="1444608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A45537-FBC0-0EBB-0C86-FBDC559E66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CACF32-7EB4-4208-2158-A984BDF62C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DED7DB-9945-D8F2-E9E8-8F8F44AF91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94490D-562D-4341-BFB9-2BCBD818B275}" type="datetime1">
              <a:rPr lang="en-US" smtClean="0"/>
              <a:t>9/27/2024</a:t>
            </a:fld>
            <a:endParaRPr lang="en-US"/>
          </a:p>
        </p:txBody>
      </p:sp>
      <p:sp>
        <p:nvSpPr>
          <p:cNvPr id="5" name="Footer Placeholder 4">
            <a:extLst>
              <a:ext uri="{FF2B5EF4-FFF2-40B4-BE49-F238E27FC236}">
                <a16:creationId xmlns:a16="http://schemas.microsoft.com/office/drawing/2014/main" id="{4B2DF53F-F6FC-BD36-3D45-330954FAA1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6B5E51-F402-E752-DFE5-39D4DAD130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A2409C-9313-42BD-B852-D36E47DA4A25}" type="slidenum">
              <a:rPr lang="en-US" smtClean="0"/>
              <a:t>‹#›</a:t>
            </a:fld>
            <a:endParaRPr lang="en-US"/>
          </a:p>
        </p:txBody>
      </p:sp>
    </p:spTree>
    <p:extLst>
      <p:ext uri="{BB962C8B-B14F-4D97-AF65-F5344CB8AC3E}">
        <p14:creationId xmlns:p14="http://schemas.microsoft.com/office/powerpoint/2010/main" val="3575324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26845C7-EDC6-DEEE-EA50-BF20B7CBBE71}"/>
              </a:ext>
            </a:extLst>
          </p:cNvPr>
          <p:cNvSpPr/>
          <p:nvPr/>
        </p:nvSpPr>
        <p:spPr>
          <a:xfrm>
            <a:off x="-1" y="2770"/>
            <a:ext cx="12192000" cy="13081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9C8D54-081A-89DD-C5A6-8D869568E09B}"/>
              </a:ext>
            </a:extLst>
          </p:cNvPr>
          <p:cNvSpPr>
            <a:spLocks noGrp="1"/>
          </p:cNvSpPr>
          <p:nvPr>
            <p:ph type="ctrTitle"/>
          </p:nvPr>
        </p:nvSpPr>
        <p:spPr>
          <a:xfrm>
            <a:off x="873551" y="1624773"/>
            <a:ext cx="10444898" cy="1941348"/>
          </a:xfrm>
        </p:spPr>
        <p:txBody>
          <a:bodyPr>
            <a:normAutofit/>
          </a:bodyPr>
          <a:lstStyle/>
          <a:p>
            <a:r>
              <a:rPr lang="en-US" dirty="0"/>
              <a:t>Mining of Massive Datasets</a:t>
            </a:r>
          </a:p>
        </p:txBody>
      </p:sp>
      <p:sp>
        <p:nvSpPr>
          <p:cNvPr id="3" name="Subtitle 2">
            <a:extLst>
              <a:ext uri="{FF2B5EF4-FFF2-40B4-BE49-F238E27FC236}">
                <a16:creationId xmlns:a16="http://schemas.microsoft.com/office/drawing/2014/main" id="{8A216363-D05C-51EC-722B-A4718A85CC50}"/>
              </a:ext>
            </a:extLst>
          </p:cNvPr>
          <p:cNvSpPr>
            <a:spLocks noGrp="1"/>
          </p:cNvSpPr>
          <p:nvPr>
            <p:ph type="subTitle" idx="1"/>
          </p:nvPr>
        </p:nvSpPr>
        <p:spPr>
          <a:xfrm>
            <a:off x="1523999" y="3566121"/>
            <a:ext cx="9144000" cy="556182"/>
          </a:xfrm>
        </p:spPr>
        <p:txBody>
          <a:bodyPr/>
          <a:lstStyle/>
          <a:p>
            <a:r>
              <a:rPr lang="en-US" b="1" dirty="0"/>
              <a:t>2.5 The Communication-Cost Model</a:t>
            </a:r>
          </a:p>
        </p:txBody>
      </p:sp>
      <p:sp>
        <p:nvSpPr>
          <p:cNvPr id="4" name="Subtitle 2">
            <a:extLst>
              <a:ext uri="{FF2B5EF4-FFF2-40B4-BE49-F238E27FC236}">
                <a16:creationId xmlns:a16="http://schemas.microsoft.com/office/drawing/2014/main" id="{F4509A62-AE36-CD73-175F-855EA55A73FA}"/>
              </a:ext>
            </a:extLst>
          </p:cNvPr>
          <p:cNvSpPr txBox="1">
            <a:spLocks/>
          </p:cNvSpPr>
          <p:nvPr/>
        </p:nvSpPr>
        <p:spPr>
          <a:xfrm>
            <a:off x="8606673" y="5443406"/>
            <a:ext cx="2711776" cy="90554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800" dirty="0"/>
              <a:t>Ngumimi Karen Iyortsuun</a:t>
            </a:r>
          </a:p>
          <a:p>
            <a:pPr algn="r"/>
            <a:r>
              <a:rPr lang="en-US" sz="1800" dirty="0"/>
              <a:t>30</a:t>
            </a:r>
            <a:r>
              <a:rPr lang="en-US" sz="1800" baseline="30000" dirty="0"/>
              <a:t>th</a:t>
            </a:r>
            <a:r>
              <a:rPr lang="en-US" sz="1800" dirty="0"/>
              <a:t> September 2024</a:t>
            </a:r>
          </a:p>
        </p:txBody>
      </p:sp>
      <p:sp>
        <p:nvSpPr>
          <p:cNvPr id="5" name="Subtitle 2">
            <a:extLst>
              <a:ext uri="{FF2B5EF4-FFF2-40B4-BE49-F238E27FC236}">
                <a16:creationId xmlns:a16="http://schemas.microsoft.com/office/drawing/2014/main" id="{0C391919-A98C-D759-DC12-495E8F2F0589}"/>
              </a:ext>
            </a:extLst>
          </p:cNvPr>
          <p:cNvSpPr txBox="1">
            <a:spLocks/>
          </p:cNvSpPr>
          <p:nvPr/>
        </p:nvSpPr>
        <p:spPr>
          <a:xfrm>
            <a:off x="273376" y="798291"/>
            <a:ext cx="7161229" cy="51258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a:t>Advanced Big Data Analysis (GR24254-1)</a:t>
            </a:r>
          </a:p>
        </p:txBody>
      </p:sp>
    </p:spTree>
    <p:extLst>
      <p:ext uri="{BB962C8B-B14F-4D97-AF65-F5344CB8AC3E}">
        <p14:creationId xmlns:p14="http://schemas.microsoft.com/office/powerpoint/2010/main" val="4260270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7C4C51A-2237-0D3E-1E57-B8ECE564D8E0}"/>
              </a:ext>
            </a:extLst>
          </p:cNvPr>
          <p:cNvSpPr/>
          <p:nvPr/>
        </p:nvSpPr>
        <p:spPr>
          <a:xfrm>
            <a:off x="-1" y="2770"/>
            <a:ext cx="12192000" cy="13081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19FCF1-59D0-4899-25F5-1892C62DC706}"/>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E2A7FD41-0C14-BC0C-C59A-A1217096E3C6}"/>
              </a:ext>
            </a:extLst>
          </p:cNvPr>
          <p:cNvSpPr>
            <a:spLocks noGrp="1"/>
          </p:cNvSpPr>
          <p:nvPr>
            <p:ph idx="1"/>
          </p:nvPr>
        </p:nvSpPr>
        <p:spPr/>
        <p:txBody>
          <a:bodyPr>
            <a:normAutofit/>
          </a:bodyPr>
          <a:lstStyle/>
          <a:p>
            <a:pPr marL="514350" indent="-514350">
              <a:buFont typeface="+mj-lt"/>
              <a:buAutoNum type="arabicPeriod"/>
            </a:pPr>
            <a:r>
              <a:rPr lang="en-US" sz="2000" dirty="0"/>
              <a:t>Communication-Cost Model Overview</a:t>
            </a:r>
          </a:p>
          <a:p>
            <a:pPr marL="514350" indent="-514350">
              <a:buFont typeface="+mj-lt"/>
              <a:buAutoNum type="arabicPeriod"/>
            </a:pPr>
            <a:r>
              <a:rPr lang="en-US" sz="2000" dirty="0"/>
              <a:t>Communication Cost in Task Networks</a:t>
            </a:r>
          </a:p>
          <a:p>
            <a:pPr marL="514350" indent="-514350">
              <a:buFont typeface="+mj-lt"/>
              <a:buAutoNum type="arabicPeriod"/>
            </a:pPr>
            <a:r>
              <a:rPr lang="en-US" sz="2000" dirty="0"/>
              <a:t>Wall-Clock Time </a:t>
            </a:r>
          </a:p>
          <a:p>
            <a:pPr marL="514350" indent="-514350">
              <a:buFont typeface="+mj-lt"/>
              <a:buAutoNum type="arabicPeriod"/>
            </a:pPr>
            <a:r>
              <a:rPr lang="en-US" sz="2000" dirty="0"/>
              <a:t>Multiway Joins (and Their Efficiency)</a:t>
            </a:r>
          </a:p>
          <a:p>
            <a:pPr marL="514350" indent="-514350">
              <a:buFont typeface="+mj-lt"/>
              <a:buAutoNum type="arabicPeriod"/>
            </a:pPr>
            <a:r>
              <a:rPr lang="en-US" sz="2000" dirty="0"/>
              <a:t>Star Joins</a:t>
            </a:r>
          </a:p>
        </p:txBody>
      </p:sp>
      <p:sp>
        <p:nvSpPr>
          <p:cNvPr id="4" name="Slide Number Placeholder 3">
            <a:extLst>
              <a:ext uri="{FF2B5EF4-FFF2-40B4-BE49-F238E27FC236}">
                <a16:creationId xmlns:a16="http://schemas.microsoft.com/office/drawing/2014/main" id="{1AE81BF3-E060-5EA8-31D4-FE305C5822C6}"/>
              </a:ext>
            </a:extLst>
          </p:cNvPr>
          <p:cNvSpPr>
            <a:spLocks noGrp="1"/>
          </p:cNvSpPr>
          <p:nvPr>
            <p:ph type="sldNum" sz="quarter" idx="12"/>
          </p:nvPr>
        </p:nvSpPr>
        <p:spPr/>
        <p:txBody>
          <a:bodyPr/>
          <a:lstStyle/>
          <a:p>
            <a:fld id="{BBA2409C-9313-42BD-B852-D36E47DA4A25}" type="slidenum">
              <a:rPr lang="en-US" smtClean="0"/>
              <a:t>2</a:t>
            </a:fld>
            <a:endParaRPr lang="en-US"/>
          </a:p>
        </p:txBody>
      </p:sp>
    </p:spTree>
    <p:extLst>
      <p:ext uri="{BB962C8B-B14F-4D97-AF65-F5344CB8AC3E}">
        <p14:creationId xmlns:p14="http://schemas.microsoft.com/office/powerpoint/2010/main" val="1394378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588CB0-95F6-F275-A402-D1F8E60C5C69}"/>
              </a:ext>
            </a:extLst>
          </p:cNvPr>
          <p:cNvSpPr/>
          <p:nvPr/>
        </p:nvSpPr>
        <p:spPr>
          <a:xfrm>
            <a:off x="-1" y="2770"/>
            <a:ext cx="12192000" cy="13081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31753-01E3-0A77-6DFD-5E7800E80FE2}"/>
              </a:ext>
            </a:extLst>
          </p:cNvPr>
          <p:cNvSpPr>
            <a:spLocks noGrp="1"/>
          </p:cNvSpPr>
          <p:nvPr>
            <p:ph type="title"/>
          </p:nvPr>
        </p:nvSpPr>
        <p:spPr>
          <a:xfrm>
            <a:off x="707010" y="365125"/>
            <a:ext cx="10646790" cy="1325563"/>
          </a:xfrm>
        </p:spPr>
        <p:txBody>
          <a:bodyPr/>
          <a:lstStyle/>
          <a:p>
            <a:r>
              <a:rPr lang="en-US" dirty="0"/>
              <a:t>2.5 Communication-Cost Model Overview</a:t>
            </a:r>
          </a:p>
        </p:txBody>
      </p:sp>
      <p:sp>
        <p:nvSpPr>
          <p:cNvPr id="3" name="Content Placeholder 2">
            <a:extLst>
              <a:ext uri="{FF2B5EF4-FFF2-40B4-BE49-F238E27FC236}">
                <a16:creationId xmlns:a16="http://schemas.microsoft.com/office/drawing/2014/main" id="{98D16EA9-4C80-2DA4-8826-A93F9EA35FDA}"/>
              </a:ext>
            </a:extLst>
          </p:cNvPr>
          <p:cNvSpPr>
            <a:spLocks noGrp="1"/>
          </p:cNvSpPr>
          <p:nvPr>
            <p:ph idx="1"/>
          </p:nvPr>
        </p:nvSpPr>
        <p:spPr>
          <a:xfrm>
            <a:off x="838200" y="1913641"/>
            <a:ext cx="10515600" cy="3725994"/>
          </a:xfrm>
        </p:spPr>
        <p:txBody>
          <a:bodyPr>
            <a:normAutofit/>
          </a:bodyPr>
          <a:lstStyle/>
          <a:p>
            <a:pPr>
              <a:lnSpc>
                <a:spcPct val="100000"/>
              </a:lnSpc>
              <a:buFont typeface="Wingdings" panose="05000000000000000000" pitchFamily="2" charset="2"/>
              <a:buChar char="Ø"/>
            </a:pPr>
            <a:r>
              <a:rPr lang="en-US" sz="1600" dirty="0"/>
              <a:t>Measurement of the </a:t>
            </a:r>
            <a:r>
              <a:rPr lang="en-US" sz="1600" b="1" dirty="0"/>
              <a:t>quality</a:t>
            </a:r>
            <a:r>
              <a:rPr lang="en-US" sz="1600" dirty="0"/>
              <a:t> and </a:t>
            </a:r>
            <a:r>
              <a:rPr lang="en-US" sz="1600" b="1" dirty="0"/>
              <a:t>efficiency of algorithms </a:t>
            </a:r>
            <a:r>
              <a:rPr lang="en-US" sz="1600" dirty="0"/>
              <a:t>based on how much data needs to be moved (communication) between different parts of the computing clusters</a:t>
            </a:r>
          </a:p>
          <a:p>
            <a:pPr>
              <a:lnSpc>
                <a:spcPct val="100000"/>
              </a:lnSpc>
              <a:buFont typeface="Wingdings" panose="05000000000000000000" pitchFamily="2" charset="2"/>
              <a:buChar char="Ø"/>
            </a:pPr>
            <a:r>
              <a:rPr lang="en-US" sz="1600" b="1" dirty="0"/>
              <a:t>Goal-</a:t>
            </a:r>
            <a:r>
              <a:rPr lang="en-US" sz="1600" dirty="0"/>
              <a:t> to understand how the cost of data transfer affects the overall computation time and performance</a:t>
            </a:r>
          </a:p>
          <a:p>
            <a:pPr>
              <a:lnSpc>
                <a:spcPct val="100000"/>
              </a:lnSpc>
              <a:buFont typeface="Wingdings" panose="05000000000000000000" pitchFamily="2" charset="2"/>
              <a:buChar char="Ø"/>
            </a:pPr>
            <a:r>
              <a:rPr lang="en-US" sz="1600" dirty="0"/>
              <a:t>Represented as an acyclic workflow (there are no cycles or loops in the tasks) to help organize tasks in a clear, step-by-step manner</a:t>
            </a:r>
          </a:p>
          <a:p>
            <a:pPr>
              <a:lnSpc>
                <a:spcPct val="100000"/>
              </a:lnSpc>
              <a:buFont typeface="Wingdings" panose="05000000000000000000" pitchFamily="2" charset="2"/>
              <a:buChar char="Ø"/>
            </a:pPr>
            <a:r>
              <a:rPr lang="en-US" sz="1600" b="1" dirty="0"/>
              <a:t>Acyclic network: </a:t>
            </a:r>
            <a:r>
              <a:rPr lang="en-US" sz="1600" dirty="0"/>
              <a:t>Each task output is an input for another task (no returning to the previous task)</a:t>
            </a:r>
          </a:p>
          <a:p>
            <a:pPr>
              <a:lnSpc>
                <a:spcPct val="100000"/>
              </a:lnSpc>
              <a:buFont typeface="Wingdings" panose="05000000000000000000" pitchFamily="2" charset="2"/>
              <a:buChar char="Ø"/>
            </a:pPr>
            <a:r>
              <a:rPr lang="en-US" sz="1600" dirty="0"/>
              <a:t>We will look at how data is transferred between tasks, especially in processes like Multiway joins in MapReduce</a:t>
            </a:r>
          </a:p>
        </p:txBody>
      </p:sp>
      <p:sp>
        <p:nvSpPr>
          <p:cNvPr id="4" name="Slide Number Placeholder 3">
            <a:extLst>
              <a:ext uri="{FF2B5EF4-FFF2-40B4-BE49-F238E27FC236}">
                <a16:creationId xmlns:a16="http://schemas.microsoft.com/office/drawing/2014/main" id="{999A0318-C893-46F4-7725-6E334E86E57C}"/>
              </a:ext>
            </a:extLst>
          </p:cNvPr>
          <p:cNvSpPr>
            <a:spLocks noGrp="1"/>
          </p:cNvSpPr>
          <p:nvPr>
            <p:ph type="sldNum" sz="quarter" idx="12"/>
          </p:nvPr>
        </p:nvSpPr>
        <p:spPr/>
        <p:txBody>
          <a:bodyPr/>
          <a:lstStyle/>
          <a:p>
            <a:fld id="{BBA2409C-9313-42BD-B852-D36E47DA4A25}" type="slidenum">
              <a:rPr lang="en-US" smtClean="0"/>
              <a:t>3</a:t>
            </a:fld>
            <a:endParaRPr lang="en-US"/>
          </a:p>
        </p:txBody>
      </p:sp>
    </p:spTree>
    <p:extLst>
      <p:ext uri="{BB962C8B-B14F-4D97-AF65-F5344CB8AC3E}">
        <p14:creationId xmlns:p14="http://schemas.microsoft.com/office/powerpoint/2010/main" val="475458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C4C1957-B277-8F69-3069-23AA2A2BE79B}"/>
              </a:ext>
            </a:extLst>
          </p:cNvPr>
          <p:cNvSpPr/>
          <p:nvPr/>
        </p:nvSpPr>
        <p:spPr>
          <a:xfrm>
            <a:off x="-1" y="2770"/>
            <a:ext cx="12192000" cy="13081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31753-01E3-0A77-6DFD-5E7800E80FE2}"/>
              </a:ext>
            </a:extLst>
          </p:cNvPr>
          <p:cNvSpPr>
            <a:spLocks noGrp="1"/>
          </p:cNvSpPr>
          <p:nvPr>
            <p:ph type="title"/>
          </p:nvPr>
        </p:nvSpPr>
        <p:spPr>
          <a:xfrm>
            <a:off x="557751" y="386364"/>
            <a:ext cx="11634248" cy="1325563"/>
          </a:xfrm>
        </p:spPr>
        <p:txBody>
          <a:bodyPr/>
          <a:lstStyle/>
          <a:p>
            <a:r>
              <a:rPr lang="en-US" dirty="0"/>
              <a:t>2.5.1 Communication Cost for Task Networks</a:t>
            </a:r>
            <a:endParaRPr lang="en-US" sz="4400" dirty="0"/>
          </a:p>
        </p:txBody>
      </p:sp>
      <p:sp>
        <p:nvSpPr>
          <p:cNvPr id="3" name="Content Placeholder 2">
            <a:extLst>
              <a:ext uri="{FF2B5EF4-FFF2-40B4-BE49-F238E27FC236}">
                <a16:creationId xmlns:a16="http://schemas.microsoft.com/office/drawing/2014/main" id="{98D16EA9-4C80-2DA4-8826-A93F9EA35FDA}"/>
              </a:ext>
            </a:extLst>
          </p:cNvPr>
          <p:cNvSpPr>
            <a:spLocks noGrp="1"/>
          </p:cNvSpPr>
          <p:nvPr>
            <p:ph idx="1"/>
          </p:nvPr>
        </p:nvSpPr>
        <p:spPr>
          <a:xfrm>
            <a:off x="557752" y="2811929"/>
            <a:ext cx="11076495" cy="3737507"/>
          </a:xfrm>
        </p:spPr>
        <p:txBody>
          <a:bodyPr>
            <a:noAutofit/>
          </a:bodyPr>
          <a:lstStyle/>
          <a:p>
            <a:pPr marL="0" indent="0" algn="just">
              <a:buNone/>
            </a:pPr>
            <a:r>
              <a:rPr lang="en-US" sz="1600" dirty="0"/>
              <a:t>The execution time of each task is not considered in this model because, in many cases, communication costs overshadow the execution times.</a:t>
            </a:r>
          </a:p>
          <a:p>
            <a:pPr algn="just">
              <a:buFont typeface="Wingdings" panose="05000000000000000000" pitchFamily="2" charset="2"/>
              <a:buChar char="Ø"/>
            </a:pPr>
            <a:r>
              <a:rPr lang="en-US" sz="1600" u="sng" dirty="0"/>
              <a:t>Simplicity of Tasks:</a:t>
            </a:r>
          </a:p>
          <a:p>
            <a:pPr lvl="1" algn="just">
              <a:buFont typeface="Courier New" panose="02070309020205020404" pitchFamily="49" charset="0"/>
              <a:buChar char="o"/>
            </a:pPr>
            <a:r>
              <a:rPr lang="en-US" sz="1400" dirty="0"/>
              <a:t>The algorithms executed by each task are often simple (linear) and process data quickly once it’s received.</a:t>
            </a:r>
          </a:p>
          <a:p>
            <a:pPr algn="just">
              <a:buFont typeface="Wingdings" panose="05000000000000000000" pitchFamily="2" charset="2"/>
              <a:buChar char="Ø"/>
            </a:pPr>
            <a:r>
              <a:rPr lang="en-US" sz="1600" u="sng" dirty="0"/>
              <a:t>Interconnect Speed:</a:t>
            </a:r>
          </a:p>
          <a:p>
            <a:pPr lvl="1" algn="just">
              <a:buFont typeface="Courier New" panose="02070309020205020404" pitchFamily="49" charset="0"/>
              <a:buChar char="o"/>
            </a:pPr>
            <a:r>
              <a:rPr lang="en-US" sz="1400" dirty="0"/>
              <a:t>The typical communication speed in computing clusters is around one gigabit per second (fast, but relatively slow compared to processor execution speed).</a:t>
            </a:r>
          </a:p>
          <a:p>
            <a:pPr lvl="1" algn="just">
              <a:buFont typeface="Courier New" panose="02070309020205020404" pitchFamily="49" charset="0"/>
              <a:buChar char="o"/>
            </a:pPr>
            <a:r>
              <a:rPr lang="en-US" sz="1400" dirty="0"/>
              <a:t>When multiple nodes in a cluster communicate simultaneously, competition for bandwidth can slow down communication, meaning that a node can perform a significant amount of work on incoming data while waiting for the data to arrive.</a:t>
            </a:r>
          </a:p>
          <a:p>
            <a:pPr algn="just">
              <a:buFont typeface="Wingdings" panose="05000000000000000000" pitchFamily="2" charset="2"/>
              <a:buChar char="Ø"/>
            </a:pPr>
            <a:r>
              <a:rPr lang="en-US" sz="1600" u="sng" dirty="0"/>
              <a:t>Data Retrieval from Disk:</a:t>
            </a:r>
          </a:p>
          <a:p>
            <a:pPr lvl="1" algn="just">
              <a:buFont typeface="Courier New" panose="02070309020205020404" pitchFamily="49" charset="0"/>
              <a:buChar char="o"/>
            </a:pPr>
            <a:r>
              <a:rPr lang="en-US" sz="1400" dirty="0"/>
              <a:t>Even if a task is executed on a node that has the required data chunk, that data often resides on disk and needs to be loaded into memory.</a:t>
            </a:r>
          </a:p>
          <a:p>
            <a:pPr lvl="1" algn="just">
              <a:buFont typeface="Courier New" panose="02070309020205020404" pitchFamily="49" charset="0"/>
              <a:buChar char="o"/>
            </a:pPr>
            <a:r>
              <a:rPr lang="en-US" sz="1400" dirty="0"/>
              <a:t>The time to transfer data from disk to memory can exceed the time it takes to process that data once it’s available, reinforcing the importance of minimizing data movement.</a:t>
            </a:r>
          </a:p>
        </p:txBody>
      </p:sp>
      <p:sp>
        <p:nvSpPr>
          <p:cNvPr id="5" name="Rectangle 4">
            <a:extLst>
              <a:ext uri="{FF2B5EF4-FFF2-40B4-BE49-F238E27FC236}">
                <a16:creationId xmlns:a16="http://schemas.microsoft.com/office/drawing/2014/main" id="{00CD8A2F-B584-C338-3C37-479158E57E8D}"/>
              </a:ext>
            </a:extLst>
          </p:cNvPr>
          <p:cNvSpPr/>
          <p:nvPr/>
        </p:nvSpPr>
        <p:spPr>
          <a:xfrm>
            <a:off x="1338605" y="1486366"/>
            <a:ext cx="4631603" cy="115007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The communication cost of a task </a:t>
            </a:r>
          </a:p>
          <a:p>
            <a:pPr algn="ctr"/>
            <a:r>
              <a:rPr lang="en-US" sz="1400" dirty="0"/>
              <a:t>is the size of the input to that task, which can be measured in bytes or, particularly for relational databases, in the number of tuples (records).</a:t>
            </a:r>
          </a:p>
        </p:txBody>
      </p:sp>
      <p:sp>
        <p:nvSpPr>
          <p:cNvPr id="8" name="Rectangle 7">
            <a:extLst>
              <a:ext uri="{FF2B5EF4-FFF2-40B4-BE49-F238E27FC236}">
                <a16:creationId xmlns:a16="http://schemas.microsoft.com/office/drawing/2014/main" id="{7D104506-BAAF-E93B-40D3-AA90B9217F75}"/>
              </a:ext>
            </a:extLst>
          </p:cNvPr>
          <p:cNvSpPr/>
          <p:nvPr/>
        </p:nvSpPr>
        <p:spPr>
          <a:xfrm>
            <a:off x="6221792" y="1486366"/>
            <a:ext cx="4631603" cy="115007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The total communication cost for an algorithm</a:t>
            </a:r>
          </a:p>
          <a:p>
            <a:pPr algn="ctr"/>
            <a:r>
              <a:rPr lang="en-US" sz="1400" dirty="0"/>
              <a:t>is the sum of the communication costs of all individual tasks within the algorithm.</a:t>
            </a:r>
          </a:p>
        </p:txBody>
      </p:sp>
      <p:sp>
        <p:nvSpPr>
          <p:cNvPr id="10" name="Slide Number Placeholder 9">
            <a:extLst>
              <a:ext uri="{FF2B5EF4-FFF2-40B4-BE49-F238E27FC236}">
                <a16:creationId xmlns:a16="http://schemas.microsoft.com/office/drawing/2014/main" id="{0B73A257-EF1E-E49C-49A7-4FD882AFE0B0}"/>
              </a:ext>
            </a:extLst>
          </p:cNvPr>
          <p:cNvSpPr>
            <a:spLocks noGrp="1"/>
          </p:cNvSpPr>
          <p:nvPr>
            <p:ph type="sldNum" sz="quarter" idx="12"/>
          </p:nvPr>
        </p:nvSpPr>
        <p:spPr/>
        <p:txBody>
          <a:bodyPr/>
          <a:lstStyle/>
          <a:p>
            <a:fld id="{BBA2409C-9313-42BD-B852-D36E47DA4A25}" type="slidenum">
              <a:rPr lang="en-US" smtClean="0"/>
              <a:t>4</a:t>
            </a:fld>
            <a:endParaRPr lang="en-US"/>
          </a:p>
        </p:txBody>
      </p:sp>
    </p:spTree>
    <p:extLst>
      <p:ext uri="{BB962C8B-B14F-4D97-AF65-F5344CB8AC3E}">
        <p14:creationId xmlns:p14="http://schemas.microsoft.com/office/powerpoint/2010/main" val="1403142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7397AB1-CBD3-664D-FB63-AADBD412217E}"/>
              </a:ext>
            </a:extLst>
          </p:cNvPr>
          <p:cNvSpPr/>
          <p:nvPr/>
        </p:nvSpPr>
        <p:spPr>
          <a:xfrm>
            <a:off x="-1" y="2770"/>
            <a:ext cx="12192000" cy="13081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31753-01E3-0A77-6DFD-5E7800E80FE2}"/>
              </a:ext>
            </a:extLst>
          </p:cNvPr>
          <p:cNvSpPr>
            <a:spLocks noGrp="1"/>
          </p:cNvSpPr>
          <p:nvPr>
            <p:ph type="title"/>
          </p:nvPr>
        </p:nvSpPr>
        <p:spPr>
          <a:xfrm>
            <a:off x="527901" y="365125"/>
            <a:ext cx="11114202" cy="1325563"/>
          </a:xfrm>
        </p:spPr>
        <p:txBody>
          <a:bodyPr/>
          <a:lstStyle/>
          <a:p>
            <a:r>
              <a:rPr lang="en-US" dirty="0"/>
              <a:t>2.5.1 Communication Cost for Task Networks</a:t>
            </a:r>
            <a:endParaRPr lang="en-US" sz="4400" dirty="0"/>
          </a:p>
        </p:txBody>
      </p:sp>
      <p:sp>
        <p:nvSpPr>
          <p:cNvPr id="3" name="Content Placeholder 2">
            <a:extLst>
              <a:ext uri="{FF2B5EF4-FFF2-40B4-BE49-F238E27FC236}">
                <a16:creationId xmlns:a16="http://schemas.microsoft.com/office/drawing/2014/main" id="{98D16EA9-4C80-2DA4-8826-A93F9EA35FDA}"/>
              </a:ext>
            </a:extLst>
          </p:cNvPr>
          <p:cNvSpPr>
            <a:spLocks noGrp="1"/>
          </p:cNvSpPr>
          <p:nvPr>
            <p:ph idx="1"/>
          </p:nvPr>
        </p:nvSpPr>
        <p:spPr>
          <a:xfrm>
            <a:off x="527901" y="1690689"/>
            <a:ext cx="11114202" cy="4446160"/>
          </a:xfrm>
        </p:spPr>
        <p:txBody>
          <a:bodyPr>
            <a:normAutofit/>
          </a:bodyPr>
          <a:lstStyle/>
          <a:p>
            <a:pPr marL="0" indent="0">
              <a:buNone/>
            </a:pPr>
            <a:r>
              <a:rPr lang="en-US" sz="1600" dirty="0"/>
              <a:t>Assuming that communication cost is the dominant cost, </a:t>
            </a:r>
            <a:r>
              <a:rPr lang="en-US" sz="1600" b="1" dirty="0"/>
              <a:t>Why Only Count Input Size?</a:t>
            </a:r>
          </a:p>
          <a:p>
            <a:pPr>
              <a:buFont typeface="Wingdings" panose="05000000000000000000" pitchFamily="2" charset="2"/>
              <a:buChar char="Ø"/>
            </a:pPr>
            <a:r>
              <a:rPr lang="en-US" sz="1600" u="sng" dirty="0"/>
              <a:t>Output Size Accounting:</a:t>
            </a:r>
          </a:p>
          <a:p>
            <a:pPr lvl="1">
              <a:buFont typeface="Courier New" panose="02070309020205020404" pitchFamily="49" charset="0"/>
              <a:buChar char="o"/>
            </a:pPr>
            <a:r>
              <a:rPr lang="en-US" sz="1600" dirty="0"/>
              <a:t>If the output of one task becomes the input for another, the output size is implicitly accounted for in the input size of the receiving task. </a:t>
            </a:r>
          </a:p>
          <a:p>
            <a:pPr lvl="1">
              <a:buFont typeface="Courier New" panose="02070309020205020404" pitchFamily="49" charset="0"/>
              <a:buChar char="o"/>
            </a:pPr>
            <a:r>
              <a:rPr lang="en-US" sz="1600" dirty="0"/>
              <a:t>No need to count the output size separately, </a:t>
            </a:r>
            <a:r>
              <a:rPr lang="en-US" sz="1600" b="1" dirty="0"/>
              <a:t>except for the final output of the entire algorithm</a:t>
            </a:r>
            <a:r>
              <a:rPr lang="en-US" sz="1600" dirty="0"/>
              <a:t>.</a:t>
            </a:r>
          </a:p>
          <a:p>
            <a:pPr marL="457200" lvl="1" indent="0">
              <a:buNone/>
            </a:pPr>
            <a:endParaRPr lang="en-US" sz="1600" dirty="0"/>
          </a:p>
          <a:p>
            <a:pPr>
              <a:buFont typeface="Wingdings" panose="05000000000000000000" pitchFamily="2" charset="2"/>
              <a:buChar char="Ø"/>
            </a:pPr>
            <a:r>
              <a:rPr lang="en-US" sz="1600" u="sng" dirty="0"/>
              <a:t>Output Size Relative to Input:</a:t>
            </a:r>
          </a:p>
          <a:p>
            <a:pPr lvl="1">
              <a:buFont typeface="Courier New" panose="02070309020205020404" pitchFamily="49" charset="0"/>
              <a:buChar char="o"/>
            </a:pPr>
            <a:r>
              <a:rPr lang="en-US" sz="1600" dirty="0"/>
              <a:t>The final output of an algorithm is often much smaller than the total input or intermediate data generated during processing. </a:t>
            </a:r>
          </a:p>
          <a:p>
            <a:pPr lvl="1">
              <a:buFont typeface="Courier New" panose="02070309020205020404" pitchFamily="49" charset="0"/>
              <a:buChar char="o"/>
            </a:pPr>
            <a:r>
              <a:rPr lang="en-US" sz="1600" dirty="0"/>
              <a:t>Large outputs generally need to be summarized or aggregated.</a:t>
            </a:r>
          </a:p>
          <a:p>
            <a:pPr lvl="1">
              <a:buFont typeface="Courier New" panose="02070309020205020404" pitchFamily="49" charset="0"/>
              <a:buChar char="o"/>
            </a:pPr>
            <a:r>
              <a:rPr lang="en-US" sz="1600" dirty="0"/>
              <a:t>E.g., instead of calculating an exhaustive transitive closure of a graph, which might produce extensive output, one would typically only require simpler metrics, like the number of reachable nodes or the set of reachable nodes from a single source.</a:t>
            </a:r>
          </a:p>
        </p:txBody>
      </p:sp>
      <p:sp>
        <p:nvSpPr>
          <p:cNvPr id="7" name="TextBox 6">
            <a:extLst>
              <a:ext uri="{FF2B5EF4-FFF2-40B4-BE49-F238E27FC236}">
                <a16:creationId xmlns:a16="http://schemas.microsoft.com/office/drawing/2014/main" id="{48E64BE1-4505-2199-A5F1-D336290DBD75}"/>
              </a:ext>
            </a:extLst>
          </p:cNvPr>
          <p:cNvSpPr txBox="1"/>
          <p:nvPr/>
        </p:nvSpPr>
        <p:spPr>
          <a:xfrm>
            <a:off x="6096000" y="5374850"/>
            <a:ext cx="3219645" cy="101566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dirty="0">
                <a:solidFill>
                  <a:srgbClr val="00B050"/>
                </a:solidFill>
              </a:rPr>
              <a:t>Which specific nodes are reachable from a single starting point?</a:t>
            </a:r>
          </a:p>
        </p:txBody>
      </p:sp>
      <p:sp>
        <p:nvSpPr>
          <p:cNvPr id="9" name="TextBox 8">
            <a:extLst>
              <a:ext uri="{FF2B5EF4-FFF2-40B4-BE49-F238E27FC236}">
                <a16:creationId xmlns:a16="http://schemas.microsoft.com/office/drawing/2014/main" id="{B052EC05-E744-EE6E-B441-F7650FC0A83D}"/>
              </a:ext>
            </a:extLst>
          </p:cNvPr>
          <p:cNvSpPr txBox="1"/>
          <p:nvPr/>
        </p:nvSpPr>
        <p:spPr>
          <a:xfrm>
            <a:off x="2876355" y="5374851"/>
            <a:ext cx="3082563" cy="101566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dirty="0">
                <a:solidFill>
                  <a:srgbClr val="00B050"/>
                </a:solidFill>
              </a:rPr>
              <a:t>How many nodes can be reached from a single node?</a:t>
            </a:r>
          </a:p>
        </p:txBody>
      </p:sp>
      <p:sp>
        <p:nvSpPr>
          <p:cNvPr id="10" name="Slide Number Placeholder 9">
            <a:extLst>
              <a:ext uri="{FF2B5EF4-FFF2-40B4-BE49-F238E27FC236}">
                <a16:creationId xmlns:a16="http://schemas.microsoft.com/office/drawing/2014/main" id="{D4FBD74B-2FE9-7CC5-5CC6-CDFD1D6E49B9}"/>
              </a:ext>
            </a:extLst>
          </p:cNvPr>
          <p:cNvSpPr>
            <a:spLocks noGrp="1"/>
          </p:cNvSpPr>
          <p:nvPr>
            <p:ph type="sldNum" sz="quarter" idx="12"/>
          </p:nvPr>
        </p:nvSpPr>
        <p:spPr/>
        <p:txBody>
          <a:bodyPr/>
          <a:lstStyle/>
          <a:p>
            <a:fld id="{BBA2409C-9313-42BD-B852-D36E47DA4A25}" type="slidenum">
              <a:rPr lang="en-US" smtClean="0"/>
              <a:t>5</a:t>
            </a:fld>
            <a:endParaRPr lang="en-US"/>
          </a:p>
        </p:txBody>
      </p:sp>
    </p:spTree>
    <p:extLst>
      <p:ext uri="{BB962C8B-B14F-4D97-AF65-F5344CB8AC3E}">
        <p14:creationId xmlns:p14="http://schemas.microsoft.com/office/powerpoint/2010/main" val="1491739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DFF547B-F712-782F-2E64-BE4C53BA3255}"/>
              </a:ext>
            </a:extLst>
          </p:cNvPr>
          <p:cNvSpPr/>
          <p:nvPr/>
        </p:nvSpPr>
        <p:spPr>
          <a:xfrm>
            <a:off x="-1" y="2770"/>
            <a:ext cx="12192000" cy="13081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31753-01E3-0A77-6DFD-5E7800E80FE2}"/>
              </a:ext>
            </a:extLst>
          </p:cNvPr>
          <p:cNvSpPr>
            <a:spLocks noGrp="1"/>
          </p:cNvSpPr>
          <p:nvPr>
            <p:ph type="title"/>
          </p:nvPr>
        </p:nvSpPr>
        <p:spPr>
          <a:xfrm>
            <a:off x="449343" y="49273"/>
            <a:ext cx="11293311" cy="1442849"/>
          </a:xfrm>
        </p:spPr>
        <p:txBody>
          <a:bodyPr>
            <a:normAutofit/>
          </a:bodyPr>
          <a:lstStyle/>
          <a:p>
            <a:r>
              <a:rPr lang="en-US" dirty="0"/>
              <a:t>2.5.1 Communication Cost for Task Networks</a:t>
            </a:r>
            <a:br>
              <a:rPr lang="en-US" dirty="0"/>
            </a:br>
            <a:r>
              <a:rPr lang="en-US" sz="2000" dirty="0"/>
              <a:t>Example</a:t>
            </a:r>
            <a:r>
              <a:rPr lang="en-US" sz="2400" dirty="0"/>
              <a:t> </a:t>
            </a:r>
            <a:endParaRPr lang="en-US" sz="4400" dirty="0"/>
          </a:p>
        </p:txBody>
      </p:sp>
      <p:sp>
        <p:nvSpPr>
          <p:cNvPr id="3" name="Content Placeholder 2">
            <a:extLst>
              <a:ext uri="{FF2B5EF4-FFF2-40B4-BE49-F238E27FC236}">
                <a16:creationId xmlns:a16="http://schemas.microsoft.com/office/drawing/2014/main" id="{98D16EA9-4C80-2DA4-8826-A93F9EA35FDA}"/>
              </a:ext>
            </a:extLst>
          </p:cNvPr>
          <p:cNvSpPr>
            <a:spLocks noGrp="1"/>
          </p:cNvSpPr>
          <p:nvPr>
            <p:ph idx="1"/>
          </p:nvPr>
        </p:nvSpPr>
        <p:spPr>
          <a:xfrm>
            <a:off x="471340" y="1673372"/>
            <a:ext cx="11293310" cy="4819503"/>
          </a:xfrm>
        </p:spPr>
        <p:txBody>
          <a:bodyPr>
            <a:normAutofit/>
          </a:bodyPr>
          <a:lstStyle/>
          <a:p>
            <a:pPr marL="457200" indent="-457200" algn="just">
              <a:buFont typeface="+mj-lt"/>
              <a:buAutoNum type="arabicPeriod"/>
            </a:pPr>
            <a:r>
              <a:rPr lang="en-US" sz="1600" b="1" dirty="0"/>
              <a:t>Communication Cost Breakdown</a:t>
            </a:r>
          </a:p>
          <a:p>
            <a:pPr algn="just">
              <a:buFont typeface="Wingdings" panose="05000000000000000000" pitchFamily="2" charset="2"/>
              <a:buChar char="Ø"/>
            </a:pPr>
            <a:r>
              <a:rPr lang="en-US" sz="1600" u="sng" dirty="0"/>
              <a:t>Map Tasks:</a:t>
            </a:r>
          </a:p>
          <a:p>
            <a:pPr lvl="1" algn="just">
              <a:buFont typeface="Courier New" panose="02070309020205020404" pitchFamily="49" charset="0"/>
              <a:buChar char="o"/>
            </a:pPr>
            <a:r>
              <a:rPr lang="en-US" sz="1600" dirty="0"/>
              <a:t>Suppose we are joining </a:t>
            </a:r>
            <a:r>
              <a:rPr lang="en-US" sz="1600" i="1" dirty="0"/>
              <a:t>R(A, B) ⊲⊳ S(B, C), </a:t>
            </a:r>
            <a:r>
              <a:rPr lang="en-US" sz="1600" dirty="0"/>
              <a:t>and the sizes of relations 𝑅 and 𝑆 are </a:t>
            </a:r>
            <a:r>
              <a:rPr lang="en-US" sz="1600" i="1" dirty="0"/>
              <a:t>r</a:t>
            </a:r>
            <a:r>
              <a:rPr lang="en-US" sz="1600" dirty="0"/>
              <a:t> and </a:t>
            </a:r>
            <a:r>
              <a:rPr lang="en-US" sz="1600" i="1" dirty="0"/>
              <a:t>s</a:t>
            </a:r>
            <a:r>
              <a:rPr lang="en-US" sz="1600" dirty="0"/>
              <a:t>, respectively.</a:t>
            </a:r>
          </a:p>
          <a:p>
            <a:pPr lvl="1" algn="just">
              <a:buFont typeface="Courier New" panose="02070309020205020404" pitchFamily="49" charset="0"/>
              <a:buChar char="o"/>
            </a:pPr>
            <a:r>
              <a:rPr lang="en-US" sz="1600" dirty="0"/>
              <a:t>Each chunk of the relations 𝑅 and 𝑆 is processed by individual Map tasks. Thus, the total communication cost for the Map tasks is 𝑟 + 𝑠.</a:t>
            </a:r>
          </a:p>
          <a:p>
            <a:pPr lvl="1" algn="just">
              <a:buFont typeface="Courier New" panose="02070309020205020404" pitchFamily="49" charset="0"/>
              <a:buChar char="o"/>
            </a:pPr>
            <a:r>
              <a:rPr lang="en-US" sz="1600" dirty="0"/>
              <a:t>Map task transformations are straightforward, leading to a computation cost generally small compared to the communication cost.</a:t>
            </a:r>
          </a:p>
          <a:p>
            <a:pPr marL="285750" lvl="1" indent="-285750" algn="just">
              <a:buFont typeface="Wingdings" panose="05000000000000000000" pitchFamily="2" charset="2"/>
              <a:buChar char="Ø"/>
            </a:pPr>
            <a:r>
              <a:rPr lang="en-US" sz="1600" u="sng" dirty="0"/>
              <a:t>Output from Map Tasks:</a:t>
            </a:r>
          </a:p>
          <a:p>
            <a:pPr lvl="1" algn="just">
              <a:buFont typeface="Courier New" panose="02070309020205020404" pitchFamily="49" charset="0"/>
              <a:buChar char="o"/>
            </a:pPr>
            <a:r>
              <a:rPr lang="en-US" sz="1600" dirty="0"/>
              <a:t>The total output size from the Map tasks is expected to be roughly equal to the size of their inputs (𝑟+𝑠).</a:t>
            </a:r>
          </a:p>
          <a:p>
            <a:pPr lvl="1" algn="just">
              <a:buFont typeface="Courier New" panose="02070309020205020404" pitchFamily="49" charset="0"/>
              <a:buChar char="o"/>
            </a:pPr>
            <a:r>
              <a:rPr lang="en-US" sz="1600" dirty="0"/>
              <a:t>Each key-value pair output by the Map tasks is sent to a specific Reduce task. </a:t>
            </a:r>
          </a:p>
          <a:p>
            <a:pPr lvl="1" algn="just">
              <a:buFont typeface="Courier New" panose="02070309020205020404" pitchFamily="49" charset="0"/>
              <a:buChar char="o"/>
            </a:pPr>
            <a:r>
              <a:rPr lang="en-US" sz="1600" dirty="0"/>
              <a:t>It’s unlikely that the Reduce task will execute on the same node as the Map tasks, leading to communication over the cluster's interconnect.</a:t>
            </a:r>
          </a:p>
          <a:p>
            <a:pPr algn="just">
              <a:buFont typeface="Wingdings" panose="05000000000000000000" pitchFamily="2" charset="2"/>
              <a:buChar char="Ø"/>
            </a:pPr>
            <a:r>
              <a:rPr lang="en-US" sz="1600" u="sng" dirty="0"/>
              <a:t>Communication Cost for Reduce Tasks:</a:t>
            </a:r>
          </a:p>
          <a:p>
            <a:pPr lvl="1" algn="just">
              <a:buFont typeface="Courier New" panose="02070309020205020404" pitchFamily="49" charset="0"/>
              <a:buChar char="o"/>
            </a:pPr>
            <a:r>
              <a:rPr lang="en-US" sz="1600" dirty="0"/>
              <a:t>The communication cost for transferring outputs from the Map tasks to the Reduce tasks is also 𝑂(𝑟+𝑠), emphasizing that the communication cost remains proportional to the input sizes.</a:t>
            </a:r>
          </a:p>
        </p:txBody>
      </p:sp>
      <p:sp>
        <p:nvSpPr>
          <p:cNvPr id="4" name="Slide Number Placeholder 3">
            <a:extLst>
              <a:ext uri="{FF2B5EF4-FFF2-40B4-BE49-F238E27FC236}">
                <a16:creationId xmlns:a16="http://schemas.microsoft.com/office/drawing/2014/main" id="{DCBD6D16-1FB3-8AB9-8A5E-183289701A02}"/>
              </a:ext>
            </a:extLst>
          </p:cNvPr>
          <p:cNvSpPr>
            <a:spLocks noGrp="1"/>
          </p:cNvSpPr>
          <p:nvPr>
            <p:ph type="sldNum" sz="quarter" idx="12"/>
          </p:nvPr>
        </p:nvSpPr>
        <p:spPr/>
        <p:txBody>
          <a:bodyPr/>
          <a:lstStyle/>
          <a:p>
            <a:fld id="{BBA2409C-9313-42BD-B852-D36E47DA4A25}" type="slidenum">
              <a:rPr lang="en-US" smtClean="0"/>
              <a:t>6</a:t>
            </a:fld>
            <a:endParaRPr lang="en-US"/>
          </a:p>
        </p:txBody>
      </p:sp>
    </p:spTree>
    <p:extLst>
      <p:ext uri="{BB962C8B-B14F-4D97-AF65-F5344CB8AC3E}">
        <p14:creationId xmlns:p14="http://schemas.microsoft.com/office/powerpoint/2010/main" val="323477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D16EA9-4C80-2DA4-8826-A93F9EA35FDA}"/>
              </a:ext>
            </a:extLst>
          </p:cNvPr>
          <p:cNvSpPr>
            <a:spLocks noGrp="1"/>
          </p:cNvSpPr>
          <p:nvPr>
            <p:ph idx="1"/>
          </p:nvPr>
        </p:nvSpPr>
        <p:spPr>
          <a:xfrm>
            <a:off x="527508" y="1690688"/>
            <a:ext cx="11136984" cy="4710112"/>
          </a:xfrm>
        </p:spPr>
        <p:txBody>
          <a:bodyPr>
            <a:normAutofit fontScale="70000" lnSpcReduction="20000"/>
          </a:bodyPr>
          <a:lstStyle/>
          <a:p>
            <a:pPr marL="514350" indent="-514350" algn="just">
              <a:lnSpc>
                <a:spcPct val="120000"/>
              </a:lnSpc>
              <a:buFont typeface="+mj-lt"/>
              <a:buAutoNum type="arabicPeriod" startAt="2"/>
              <a:tabLst>
                <a:tab pos="857250" algn="l"/>
              </a:tabLst>
            </a:pPr>
            <a:r>
              <a:rPr lang="en-US" sz="2300" b="1" dirty="0"/>
              <a:t>Reduce Tasks and Output Size</a:t>
            </a:r>
          </a:p>
          <a:p>
            <a:pPr algn="just">
              <a:lnSpc>
                <a:spcPct val="120000"/>
              </a:lnSpc>
              <a:buFont typeface="Wingdings" panose="05000000000000000000" pitchFamily="2" charset="2"/>
              <a:buChar char="Ø"/>
            </a:pPr>
            <a:r>
              <a:rPr lang="en-US" sz="2300" u="sng" dirty="0"/>
              <a:t>Reducer Functionality:</a:t>
            </a:r>
          </a:p>
          <a:p>
            <a:pPr lvl="1" algn="just">
              <a:lnSpc>
                <a:spcPct val="120000"/>
              </a:lnSpc>
              <a:buFont typeface="Courier New" panose="02070309020205020404" pitchFamily="49" charset="0"/>
              <a:buChar char="o"/>
            </a:pPr>
            <a:r>
              <a:rPr lang="en-US" sz="2300" dirty="0"/>
              <a:t>The Reduce tasks take the key-value pairs and apply the reducer function to combine values associated with the same key </a:t>
            </a:r>
            <a:r>
              <a:rPr lang="en-US" sz="2300" i="1" dirty="0"/>
              <a:t>B</a:t>
            </a:r>
            <a:r>
              <a:rPr lang="en-US" sz="2300" dirty="0"/>
              <a:t>.</a:t>
            </a:r>
          </a:p>
          <a:p>
            <a:pPr lvl="1" algn="just">
              <a:lnSpc>
                <a:spcPct val="120000"/>
              </a:lnSpc>
              <a:buFont typeface="Courier New" panose="02070309020205020404" pitchFamily="49" charset="0"/>
              <a:buChar char="o"/>
            </a:pPr>
            <a:r>
              <a:rPr lang="en-US" sz="2300" dirty="0"/>
              <a:t>Each tuple from </a:t>
            </a:r>
            <a:r>
              <a:rPr lang="en-US" sz="2300" i="1" dirty="0"/>
              <a:t>R</a:t>
            </a:r>
            <a:r>
              <a:rPr lang="en-US" sz="2300" dirty="0"/>
              <a:t> pairs with tuples from </a:t>
            </a:r>
            <a:r>
              <a:rPr lang="en-US" sz="2300" i="1" dirty="0"/>
              <a:t>S</a:t>
            </a:r>
            <a:r>
              <a:rPr lang="en-US" sz="2300" dirty="0"/>
              <a:t> based on the common attribute </a:t>
            </a:r>
            <a:r>
              <a:rPr lang="en-US" sz="2300" i="1" dirty="0"/>
              <a:t>B</a:t>
            </a:r>
            <a:r>
              <a:rPr lang="en-US" sz="2300" dirty="0"/>
              <a:t> to generate the final output.</a:t>
            </a:r>
          </a:p>
          <a:p>
            <a:pPr algn="just">
              <a:lnSpc>
                <a:spcPct val="120000"/>
              </a:lnSpc>
              <a:buFont typeface="Wingdings" panose="05000000000000000000" pitchFamily="2" charset="2"/>
              <a:buChar char="Ø"/>
            </a:pPr>
            <a:r>
              <a:rPr lang="en-US" sz="2300" u="sng" dirty="0"/>
              <a:t>Output Size Considerations:</a:t>
            </a:r>
          </a:p>
          <a:p>
            <a:pPr lvl="1" algn="just">
              <a:lnSpc>
                <a:spcPct val="120000"/>
              </a:lnSpc>
              <a:buFont typeface="Courier New" panose="02070309020205020404" pitchFamily="49" charset="0"/>
              <a:buChar char="o"/>
            </a:pPr>
            <a:r>
              <a:rPr lang="en-US" sz="2300" dirty="0"/>
              <a:t>The size of the output from the join operation can vary:</a:t>
            </a:r>
          </a:p>
          <a:p>
            <a:pPr lvl="2" algn="just">
              <a:lnSpc>
                <a:spcPct val="120000"/>
              </a:lnSpc>
            </a:pPr>
            <a:r>
              <a:rPr lang="en-US" sz="2300" dirty="0"/>
              <a:t>If there are many distinct values of </a:t>
            </a:r>
            <a:r>
              <a:rPr lang="en-US" sz="2300" i="1" dirty="0"/>
              <a:t>B</a:t>
            </a:r>
            <a:r>
              <a:rPr lang="en-US" sz="2300" dirty="0"/>
              <a:t>, the output is likely smaller since fewer tuples will match.</a:t>
            </a:r>
          </a:p>
          <a:p>
            <a:pPr lvl="2" algn="just">
              <a:lnSpc>
                <a:spcPct val="120000"/>
              </a:lnSpc>
            </a:pPr>
            <a:r>
              <a:rPr lang="en-US" sz="2300" dirty="0"/>
              <a:t>If there are few distinct values, the output can be significantly larger.</a:t>
            </a:r>
          </a:p>
          <a:p>
            <a:pPr lvl="1" algn="just">
              <a:lnSpc>
                <a:spcPct val="120000"/>
              </a:lnSpc>
              <a:buFont typeface="Courier New" panose="02070309020205020404" pitchFamily="49" charset="0"/>
              <a:buChar char="o"/>
            </a:pPr>
            <a:r>
              <a:rPr lang="en-US" sz="2300" dirty="0"/>
              <a:t>In cases of large output, the computation cost required to generate all outputs from the reducers could exceed O(</a:t>
            </a:r>
            <a:r>
              <a:rPr lang="en-US" sz="2300" dirty="0" err="1"/>
              <a:t>r+s</a:t>
            </a:r>
            <a:r>
              <a:rPr lang="en-US" sz="2300" dirty="0"/>
              <a:t>).</a:t>
            </a:r>
          </a:p>
          <a:p>
            <a:pPr algn="just">
              <a:lnSpc>
                <a:spcPct val="120000"/>
              </a:lnSpc>
              <a:buFont typeface="Wingdings" panose="05000000000000000000" pitchFamily="2" charset="2"/>
              <a:buChar char="Ø"/>
            </a:pPr>
            <a:r>
              <a:rPr lang="en-US" sz="2300" u="sng" dirty="0"/>
              <a:t>Aggregation and Communication Cost:</a:t>
            </a:r>
          </a:p>
          <a:p>
            <a:pPr lvl="1" algn="just">
              <a:lnSpc>
                <a:spcPct val="120000"/>
              </a:lnSpc>
              <a:buFont typeface="Courier New" panose="02070309020205020404" pitchFamily="49" charset="0"/>
              <a:buChar char="o"/>
            </a:pPr>
            <a:r>
              <a:rPr lang="en-US" sz="2300" dirty="0"/>
              <a:t>Even if the output is large, it is often expected that some form of aggregation will occur to reduce output size.</a:t>
            </a:r>
          </a:p>
          <a:p>
            <a:pPr lvl="1" algn="just">
              <a:lnSpc>
                <a:spcPct val="120000"/>
              </a:lnSpc>
              <a:buFont typeface="Courier New" panose="02070309020205020404" pitchFamily="49" charset="0"/>
              <a:buChar char="o"/>
            </a:pPr>
            <a:r>
              <a:rPr lang="en-US" sz="2300" dirty="0"/>
              <a:t>The result of the join operation may need to be communicated to other tasks for further processing or aggregation, reinforcing that the communication cost is likely proportional to the computation required to produce the output.</a:t>
            </a:r>
          </a:p>
        </p:txBody>
      </p:sp>
      <p:sp>
        <p:nvSpPr>
          <p:cNvPr id="7" name="Slide Number Placeholder 6">
            <a:extLst>
              <a:ext uri="{FF2B5EF4-FFF2-40B4-BE49-F238E27FC236}">
                <a16:creationId xmlns:a16="http://schemas.microsoft.com/office/drawing/2014/main" id="{327A7BF5-B759-916D-D096-7FDBC0AFAF79}"/>
              </a:ext>
            </a:extLst>
          </p:cNvPr>
          <p:cNvSpPr>
            <a:spLocks noGrp="1"/>
          </p:cNvSpPr>
          <p:nvPr>
            <p:ph type="sldNum" sz="quarter" idx="12"/>
          </p:nvPr>
        </p:nvSpPr>
        <p:spPr/>
        <p:txBody>
          <a:bodyPr/>
          <a:lstStyle/>
          <a:p>
            <a:fld id="{BBA2409C-9313-42BD-B852-D36E47DA4A25}" type="slidenum">
              <a:rPr lang="en-US" smtClean="0"/>
              <a:t>7</a:t>
            </a:fld>
            <a:endParaRPr lang="en-US"/>
          </a:p>
        </p:txBody>
      </p:sp>
      <p:sp>
        <p:nvSpPr>
          <p:cNvPr id="10" name="Rectangle 9">
            <a:extLst>
              <a:ext uri="{FF2B5EF4-FFF2-40B4-BE49-F238E27FC236}">
                <a16:creationId xmlns:a16="http://schemas.microsoft.com/office/drawing/2014/main" id="{521D3B8C-DE41-B80C-1D12-39632403EE7B}"/>
              </a:ext>
            </a:extLst>
          </p:cNvPr>
          <p:cNvSpPr/>
          <p:nvPr/>
        </p:nvSpPr>
        <p:spPr>
          <a:xfrm>
            <a:off x="-1" y="2770"/>
            <a:ext cx="12192000" cy="13081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FB6DD9DE-FD79-4410-75E8-F0D24AA5F3BC}"/>
              </a:ext>
            </a:extLst>
          </p:cNvPr>
          <p:cNvSpPr>
            <a:spLocks noGrp="1"/>
          </p:cNvSpPr>
          <p:nvPr>
            <p:ph type="title"/>
          </p:nvPr>
        </p:nvSpPr>
        <p:spPr>
          <a:xfrm>
            <a:off x="449343" y="49273"/>
            <a:ext cx="11293311" cy="1442849"/>
          </a:xfrm>
        </p:spPr>
        <p:txBody>
          <a:bodyPr>
            <a:normAutofit/>
          </a:bodyPr>
          <a:lstStyle/>
          <a:p>
            <a:r>
              <a:rPr lang="en-US" dirty="0"/>
              <a:t>2.5.1 Communication Cost for Task Networks</a:t>
            </a:r>
            <a:br>
              <a:rPr lang="en-US" dirty="0"/>
            </a:br>
            <a:r>
              <a:rPr lang="en-US" sz="2000" dirty="0"/>
              <a:t>Example –</a:t>
            </a:r>
            <a:r>
              <a:rPr lang="en-US" sz="1200" dirty="0"/>
              <a:t>cont.</a:t>
            </a:r>
            <a:r>
              <a:rPr lang="en-US" sz="1400" dirty="0"/>
              <a:t> </a:t>
            </a:r>
            <a:endParaRPr lang="en-US" sz="4400" dirty="0"/>
          </a:p>
        </p:txBody>
      </p:sp>
    </p:spTree>
    <p:extLst>
      <p:ext uri="{BB962C8B-B14F-4D97-AF65-F5344CB8AC3E}">
        <p14:creationId xmlns:p14="http://schemas.microsoft.com/office/powerpoint/2010/main" val="89651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BA5D79-0C03-FB8F-F16D-761B473452CE}"/>
              </a:ext>
            </a:extLst>
          </p:cNvPr>
          <p:cNvSpPr/>
          <p:nvPr/>
        </p:nvSpPr>
        <p:spPr>
          <a:xfrm>
            <a:off x="-1" y="2770"/>
            <a:ext cx="12192000" cy="13081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31753-01E3-0A77-6DFD-5E7800E80FE2}"/>
              </a:ext>
            </a:extLst>
          </p:cNvPr>
          <p:cNvSpPr>
            <a:spLocks noGrp="1"/>
          </p:cNvSpPr>
          <p:nvPr>
            <p:ph type="title"/>
          </p:nvPr>
        </p:nvSpPr>
        <p:spPr>
          <a:xfrm>
            <a:off x="838200" y="365125"/>
            <a:ext cx="5336357" cy="1325563"/>
          </a:xfrm>
        </p:spPr>
        <p:txBody>
          <a:bodyPr/>
          <a:lstStyle/>
          <a:p>
            <a:r>
              <a:rPr lang="en-US" sz="4400" dirty="0"/>
              <a:t>2.5.2  Wall-Clock Time</a:t>
            </a:r>
          </a:p>
        </p:txBody>
      </p:sp>
      <p:sp>
        <p:nvSpPr>
          <p:cNvPr id="3" name="Content Placeholder 2">
            <a:extLst>
              <a:ext uri="{FF2B5EF4-FFF2-40B4-BE49-F238E27FC236}">
                <a16:creationId xmlns:a16="http://schemas.microsoft.com/office/drawing/2014/main" id="{98D16EA9-4C80-2DA4-8826-A93F9EA35FDA}"/>
              </a:ext>
            </a:extLst>
          </p:cNvPr>
          <p:cNvSpPr>
            <a:spLocks noGrp="1"/>
          </p:cNvSpPr>
          <p:nvPr>
            <p:ph idx="1"/>
          </p:nvPr>
        </p:nvSpPr>
        <p:spPr>
          <a:xfrm>
            <a:off x="557752" y="2728108"/>
            <a:ext cx="11076495" cy="3448017"/>
          </a:xfrm>
        </p:spPr>
        <p:txBody>
          <a:bodyPr>
            <a:noAutofit/>
          </a:bodyPr>
          <a:lstStyle/>
          <a:p>
            <a:pPr>
              <a:buFont typeface="Wingdings" panose="05000000000000000000" pitchFamily="2" charset="2"/>
              <a:buChar char="Ø"/>
            </a:pPr>
            <a:r>
              <a:rPr lang="en-US" sz="1600" dirty="0"/>
              <a:t>Although minimizing communication costs is crucial, focusing solely on this metric can lead to inefficient algorithms when measured by wall-clock time.</a:t>
            </a:r>
          </a:p>
          <a:p>
            <a:pPr>
              <a:buFont typeface="Wingdings" panose="05000000000000000000" pitchFamily="2" charset="2"/>
              <a:buChar char="Ø"/>
            </a:pPr>
            <a:r>
              <a:rPr lang="en-US" sz="1600" dirty="0"/>
              <a:t>For example, if all tasks and data processing are assigned to a single task, communication costs could be minimized, but this approach would result in a high wall-clock time because the task would take too long to finish the entire workload on its own.</a:t>
            </a:r>
          </a:p>
          <a:p>
            <a:pPr>
              <a:buFont typeface="Wingdings" panose="05000000000000000000" pitchFamily="2" charset="2"/>
              <a:buChar char="Ø"/>
            </a:pPr>
            <a:r>
              <a:rPr lang="en-US" sz="1600" dirty="0"/>
              <a:t>The key to improving wall-clock time is to </a:t>
            </a:r>
            <a:r>
              <a:rPr lang="en-US" sz="1600" b="1" dirty="0"/>
              <a:t>divide the work fairly</a:t>
            </a:r>
            <a:r>
              <a:rPr lang="en-US" sz="1600" dirty="0"/>
              <a:t> among the available compute nodes.</a:t>
            </a:r>
          </a:p>
          <a:p>
            <a:pPr>
              <a:buFont typeface="Wingdings" panose="05000000000000000000" pitchFamily="2" charset="2"/>
              <a:buChar char="Ø"/>
            </a:pPr>
            <a:r>
              <a:rPr lang="en-US" sz="1600" dirty="0"/>
              <a:t>By distributing the tasks evenly across the nodes, each task can be executed in parallel, reducing the overall time taken to complete the algorithm.</a:t>
            </a:r>
          </a:p>
          <a:p>
            <a:pPr marR="0" lvl="0" algn="l" defTabSz="914400" rtl="0" eaLnBrk="1" fontAlgn="auto" latinLnBrk="0" hangingPunct="1">
              <a:lnSpc>
                <a:spcPct val="90000"/>
              </a:lnSpc>
              <a:spcBef>
                <a:spcPts val="1000"/>
              </a:spcBef>
              <a:spcAft>
                <a:spcPts val="0"/>
              </a:spcAft>
              <a:buClrTx/>
              <a:buSzTx/>
              <a:buFont typeface="Courier New" panose="02070309020205020404" pitchFamily="49" charset="0"/>
              <a:buChar char="o"/>
              <a:tabLst/>
              <a:defRPr/>
            </a:pPr>
            <a:r>
              <a:rPr kumimoji="0" lang="en-US" sz="1600" b="1" i="0" u="none" strike="noStrike" kern="1200" cap="none" spc="0" normalizeH="0" baseline="0" noProof="0" dirty="0">
                <a:ln>
                  <a:noFill/>
                </a:ln>
                <a:solidFill>
                  <a:prstClr val="black"/>
                </a:solidFill>
                <a:effectLst/>
                <a:uLnTx/>
                <a:uFillTx/>
                <a:latin typeface="Aptos" panose="02110004020202020204"/>
                <a:ea typeface="+mn-ea"/>
                <a:cs typeface="+mn-cs"/>
              </a:rPr>
              <a:t>Takeaway:</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The goal is not just to minimize communication, but to ensure that the </a:t>
            </a:r>
            <a:r>
              <a:rPr kumimoji="0" lang="en-US" sz="1600" b="1" i="0" u="none" strike="noStrike" kern="1200" cap="none" spc="0" normalizeH="0" baseline="0" noProof="0" dirty="0">
                <a:ln>
                  <a:noFill/>
                </a:ln>
                <a:solidFill>
                  <a:prstClr val="black"/>
                </a:solidFill>
                <a:effectLst/>
                <a:uLnTx/>
                <a:uFillTx/>
                <a:latin typeface="Aptos" panose="02110004020202020204"/>
                <a:ea typeface="+mn-ea"/>
                <a:cs typeface="+mn-cs"/>
              </a:rPr>
              <a:t>total elapsed time</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(wall clock time) is as low as possible.</a:t>
            </a:r>
          </a:p>
        </p:txBody>
      </p:sp>
      <p:sp>
        <p:nvSpPr>
          <p:cNvPr id="4" name="Oval 3">
            <a:extLst>
              <a:ext uri="{FF2B5EF4-FFF2-40B4-BE49-F238E27FC236}">
                <a16:creationId xmlns:a16="http://schemas.microsoft.com/office/drawing/2014/main" id="{35A6B34F-1924-597E-6828-39339530E1CA}"/>
              </a:ext>
            </a:extLst>
          </p:cNvPr>
          <p:cNvSpPr/>
          <p:nvPr/>
        </p:nvSpPr>
        <p:spPr>
          <a:xfrm>
            <a:off x="7012758" y="365124"/>
            <a:ext cx="2512242" cy="2281515"/>
          </a:xfrm>
          <a:prstGeom prst="ellips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Wall clock time refers to the time it takes for an algorithm to run from start to finish in real-world terms.</a:t>
            </a:r>
          </a:p>
        </p:txBody>
      </p:sp>
      <p:sp>
        <p:nvSpPr>
          <p:cNvPr id="6" name="TextBox 5">
            <a:extLst>
              <a:ext uri="{FF2B5EF4-FFF2-40B4-BE49-F238E27FC236}">
                <a16:creationId xmlns:a16="http://schemas.microsoft.com/office/drawing/2014/main" id="{B1A05BC0-E435-5C61-2909-7FE633C2DEFB}"/>
              </a:ext>
            </a:extLst>
          </p:cNvPr>
          <p:cNvSpPr txBox="1"/>
          <p:nvPr/>
        </p:nvSpPr>
        <p:spPr>
          <a:xfrm>
            <a:off x="9341178" y="62101"/>
            <a:ext cx="2560162" cy="1323439"/>
          </a:xfrm>
          <a:prstGeom prst="rect">
            <a:avLst/>
          </a:prstGeom>
          <a:noFill/>
        </p:spPr>
        <p:txBody>
          <a:bodyPr wrap="square">
            <a:spAutoFit/>
          </a:bodyPr>
          <a:lstStyle/>
          <a:p>
            <a:pPr algn="ctr"/>
            <a:r>
              <a:rPr lang="en-US" sz="1600" dirty="0"/>
              <a:t>In the context of parallel algorithms, it is the time from when the first task starts until the last task finishes.</a:t>
            </a:r>
          </a:p>
        </p:txBody>
      </p:sp>
      <p:sp>
        <p:nvSpPr>
          <p:cNvPr id="7" name="Slide Number Placeholder 6">
            <a:extLst>
              <a:ext uri="{FF2B5EF4-FFF2-40B4-BE49-F238E27FC236}">
                <a16:creationId xmlns:a16="http://schemas.microsoft.com/office/drawing/2014/main" id="{6BA5FEAF-715D-0A1C-7FE8-6C2EEB6DACDC}"/>
              </a:ext>
            </a:extLst>
          </p:cNvPr>
          <p:cNvSpPr>
            <a:spLocks noGrp="1"/>
          </p:cNvSpPr>
          <p:nvPr>
            <p:ph type="sldNum" sz="quarter" idx="12"/>
          </p:nvPr>
        </p:nvSpPr>
        <p:spPr/>
        <p:txBody>
          <a:bodyPr/>
          <a:lstStyle/>
          <a:p>
            <a:fld id="{BBA2409C-9313-42BD-B852-D36E47DA4A25}" type="slidenum">
              <a:rPr lang="en-US" smtClean="0"/>
              <a:t>8</a:t>
            </a:fld>
            <a:endParaRPr lang="en-US"/>
          </a:p>
        </p:txBody>
      </p:sp>
    </p:spTree>
    <p:extLst>
      <p:ext uri="{BB962C8B-B14F-4D97-AF65-F5344CB8AC3E}">
        <p14:creationId xmlns:p14="http://schemas.microsoft.com/office/powerpoint/2010/main" val="247709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4B6533D-989D-9DF8-EB81-0971929B6F9B}"/>
              </a:ext>
            </a:extLst>
          </p:cNvPr>
          <p:cNvSpPr/>
          <p:nvPr/>
        </p:nvSpPr>
        <p:spPr>
          <a:xfrm>
            <a:off x="-1" y="2770"/>
            <a:ext cx="12192000" cy="13081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31753-01E3-0A77-6DFD-5E7800E80FE2}"/>
              </a:ext>
            </a:extLst>
          </p:cNvPr>
          <p:cNvSpPr>
            <a:spLocks noGrp="1"/>
          </p:cNvSpPr>
          <p:nvPr>
            <p:ph type="title"/>
          </p:nvPr>
        </p:nvSpPr>
        <p:spPr>
          <a:xfrm>
            <a:off x="634737" y="365125"/>
            <a:ext cx="11167621" cy="1325563"/>
          </a:xfrm>
        </p:spPr>
        <p:txBody>
          <a:bodyPr/>
          <a:lstStyle/>
          <a:p>
            <a:r>
              <a:rPr lang="en-US" sz="4400" dirty="0"/>
              <a:t>2.5.3 Multiway Joins (and Their Efficiency)</a:t>
            </a:r>
          </a:p>
        </p:txBody>
      </p:sp>
      <p:sp>
        <p:nvSpPr>
          <p:cNvPr id="3" name="Content Placeholder 2">
            <a:extLst>
              <a:ext uri="{FF2B5EF4-FFF2-40B4-BE49-F238E27FC236}">
                <a16:creationId xmlns:a16="http://schemas.microsoft.com/office/drawing/2014/main" id="{98D16EA9-4C80-2DA4-8826-A93F9EA35FDA}"/>
              </a:ext>
            </a:extLst>
          </p:cNvPr>
          <p:cNvSpPr>
            <a:spLocks noGrp="1"/>
          </p:cNvSpPr>
          <p:nvPr>
            <p:ph idx="1"/>
          </p:nvPr>
        </p:nvSpPr>
        <p:spPr>
          <a:xfrm>
            <a:off x="634737" y="1825625"/>
            <a:ext cx="11167621" cy="4351338"/>
          </a:xfrm>
        </p:spPr>
        <p:txBody>
          <a:bodyPr>
            <a:normAutofit/>
          </a:bodyPr>
          <a:lstStyle/>
          <a:p>
            <a:pPr marL="0" indent="0">
              <a:buNone/>
            </a:pPr>
            <a:r>
              <a:rPr lang="en-US" sz="1600" b="1" dirty="0"/>
              <a:t>Multiway joins</a:t>
            </a:r>
            <a:r>
              <a:rPr lang="en-US" sz="1600" dirty="0"/>
              <a:t> can be optimized by analyzing the communication cost in a cluster computing environment, particularly using a MapReduce framework.</a:t>
            </a:r>
          </a:p>
          <a:p>
            <a:pPr>
              <a:buFont typeface="Wingdings" panose="05000000000000000000" pitchFamily="2" charset="2"/>
              <a:buChar char="Ø"/>
            </a:pPr>
            <a:r>
              <a:rPr lang="en-US" sz="1600" dirty="0"/>
              <a:t>A multiway join involves joining three or more relations (tables) – illustrated here as 𝑅</a:t>
            </a:r>
            <a:r>
              <a:rPr lang="en-US" sz="1600" i="1" dirty="0"/>
              <a:t>(A, B), </a:t>
            </a:r>
            <a:r>
              <a:rPr lang="en-US" sz="1600" dirty="0"/>
              <a:t>𝑆(𝐵,𝐶), and</a:t>
            </a:r>
            <a:r>
              <a:rPr lang="en-US" sz="1600" i="1" dirty="0"/>
              <a:t> </a:t>
            </a:r>
            <a:r>
              <a:rPr lang="en-US" sz="1600" dirty="0"/>
              <a:t>𝑇(𝐶,𝐷) to optimize MapReduce and communication cost analysis.</a:t>
            </a:r>
          </a:p>
          <a:p>
            <a:pPr>
              <a:buFont typeface="Wingdings" panose="05000000000000000000" pitchFamily="2" charset="2"/>
              <a:buChar char="Ø"/>
            </a:pPr>
            <a:r>
              <a:rPr lang="en-US" sz="1600" dirty="0"/>
              <a:t>General Approach for Multiway Joins:</a:t>
            </a:r>
          </a:p>
          <a:p>
            <a:pPr lvl="1">
              <a:buFont typeface="Courier New" panose="02070309020205020404" pitchFamily="49" charset="0"/>
              <a:buChar char="o"/>
            </a:pPr>
            <a:r>
              <a:rPr lang="en-US" sz="1600" u="sng" dirty="0"/>
              <a:t>Hashing attributes: </a:t>
            </a:r>
          </a:p>
          <a:p>
            <a:pPr marL="973138" lvl="1" indent="-285750"/>
            <a:r>
              <a:rPr lang="en-US" sz="1600" dirty="0"/>
              <a:t>Some attributes from the relations are selected and hashed into buckets (i.e., groups) to enable efficient joining. In this example, attributes 𝐵 and 𝐶 are selected.</a:t>
            </a:r>
          </a:p>
          <a:p>
            <a:pPr lvl="1">
              <a:buFont typeface="Courier New" panose="02070309020205020404" pitchFamily="49" charset="0"/>
              <a:buChar char="o"/>
            </a:pPr>
            <a:r>
              <a:rPr lang="en-US" sz="1600" u="sng" dirty="0"/>
              <a:t>Number of buckets: </a:t>
            </a:r>
          </a:p>
          <a:p>
            <a:pPr marL="973138" lvl="1" indent="-285750"/>
            <a:r>
              <a:rPr lang="en-US" sz="1600" dirty="0"/>
              <a:t>Each attribute is hashed into a certain number of buckets, and the product of the number of buckets for each attribute must equal 𝑘, the number of reducers that will be used.</a:t>
            </a:r>
          </a:p>
          <a:p>
            <a:pPr lvl="1">
              <a:buFont typeface="Courier New" panose="02070309020205020404" pitchFamily="49" charset="0"/>
              <a:buChar char="o"/>
            </a:pPr>
            <a:r>
              <a:rPr lang="en-US" sz="1600" u="sng" dirty="0"/>
              <a:t>Reducers identified with vectors: </a:t>
            </a:r>
          </a:p>
          <a:p>
            <a:pPr marL="973138" lvl="1" indent="-285750"/>
            <a:r>
              <a:rPr lang="en-US" sz="1600" dirty="0"/>
              <a:t>Each reducer is associated with a vector representing a combination of bucket numbers for each attribute.</a:t>
            </a:r>
          </a:p>
          <a:p>
            <a:pPr lvl="1">
              <a:buFont typeface="Courier New" panose="02070309020205020404" pitchFamily="49" charset="0"/>
              <a:buChar char="o"/>
            </a:pPr>
            <a:r>
              <a:rPr lang="en-US" sz="1600" u="sng" dirty="0"/>
              <a:t>Sending tuples to reducers: </a:t>
            </a:r>
          </a:p>
          <a:p>
            <a:pPr marL="973138" lvl="1" indent="-285750"/>
            <a:r>
              <a:rPr lang="en-US" sz="1600" dirty="0"/>
              <a:t>Each tuple (row of data) from the relations is sent to all reducers where it might find matching tuples to join with.</a:t>
            </a:r>
          </a:p>
        </p:txBody>
      </p:sp>
      <p:sp>
        <p:nvSpPr>
          <p:cNvPr id="4" name="Slide Number Placeholder 3">
            <a:extLst>
              <a:ext uri="{FF2B5EF4-FFF2-40B4-BE49-F238E27FC236}">
                <a16:creationId xmlns:a16="http://schemas.microsoft.com/office/drawing/2014/main" id="{A2788662-E935-3F81-ABA9-0E6BE681C7B1}"/>
              </a:ext>
            </a:extLst>
          </p:cNvPr>
          <p:cNvSpPr>
            <a:spLocks noGrp="1"/>
          </p:cNvSpPr>
          <p:nvPr>
            <p:ph type="sldNum" sz="quarter" idx="12"/>
          </p:nvPr>
        </p:nvSpPr>
        <p:spPr/>
        <p:txBody>
          <a:bodyPr/>
          <a:lstStyle/>
          <a:p>
            <a:fld id="{BBA2409C-9313-42BD-B852-D36E47DA4A25}" type="slidenum">
              <a:rPr lang="en-US" smtClean="0"/>
              <a:t>9</a:t>
            </a:fld>
            <a:endParaRPr lang="en-US"/>
          </a:p>
        </p:txBody>
      </p:sp>
    </p:spTree>
    <p:extLst>
      <p:ext uri="{BB962C8B-B14F-4D97-AF65-F5344CB8AC3E}">
        <p14:creationId xmlns:p14="http://schemas.microsoft.com/office/powerpoint/2010/main" val="3139545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92FD379-66C2-A2C6-B126-868D15D5B25E}"/>
              </a:ext>
            </a:extLst>
          </p:cNvPr>
          <p:cNvSpPr/>
          <p:nvPr/>
        </p:nvSpPr>
        <p:spPr>
          <a:xfrm>
            <a:off x="-1" y="0"/>
            <a:ext cx="12192000" cy="13081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31753-01E3-0A77-6DFD-5E7800E80FE2}"/>
              </a:ext>
            </a:extLst>
          </p:cNvPr>
          <p:cNvSpPr>
            <a:spLocks noGrp="1"/>
          </p:cNvSpPr>
          <p:nvPr>
            <p:ph type="title"/>
          </p:nvPr>
        </p:nvSpPr>
        <p:spPr>
          <a:xfrm>
            <a:off x="480766" y="610449"/>
            <a:ext cx="11462994" cy="784945"/>
          </a:xfrm>
        </p:spPr>
        <p:txBody>
          <a:bodyPr/>
          <a:lstStyle/>
          <a:p>
            <a:r>
              <a:rPr lang="en-US" sz="4400" dirty="0"/>
              <a:t>2.5.3 Multiway Joins (and Their Efficiency)</a:t>
            </a:r>
          </a:p>
        </p:txBody>
      </p:sp>
      <p:sp>
        <p:nvSpPr>
          <p:cNvPr id="3" name="Content Placeholder 2">
            <a:extLst>
              <a:ext uri="{FF2B5EF4-FFF2-40B4-BE49-F238E27FC236}">
                <a16:creationId xmlns:a16="http://schemas.microsoft.com/office/drawing/2014/main" id="{98D16EA9-4C80-2DA4-8826-A93F9EA35FDA}"/>
              </a:ext>
            </a:extLst>
          </p:cNvPr>
          <p:cNvSpPr>
            <a:spLocks noGrp="1"/>
          </p:cNvSpPr>
          <p:nvPr>
            <p:ph idx="1"/>
          </p:nvPr>
        </p:nvSpPr>
        <p:spPr>
          <a:xfrm>
            <a:off x="480766" y="2323809"/>
            <a:ext cx="5439267" cy="3827143"/>
          </a:xfrm>
        </p:spPr>
        <p:txBody>
          <a:bodyPr>
            <a:noAutofit/>
          </a:bodyPr>
          <a:lstStyle/>
          <a:p>
            <a:pPr>
              <a:buFont typeface="Wingdings" panose="05000000000000000000" pitchFamily="2" charset="2"/>
              <a:buChar char="Ø"/>
            </a:pPr>
            <a:r>
              <a:rPr lang="en-US" sz="1600" b="1" dirty="0"/>
              <a:t>Step-by-Step Two-Way Join</a:t>
            </a:r>
            <a:r>
              <a:rPr lang="en-US" sz="1600" dirty="0"/>
              <a:t>:</a:t>
            </a:r>
          </a:p>
          <a:p>
            <a:pPr lvl="1">
              <a:buFont typeface="Courier New" panose="02070309020205020404" pitchFamily="49" charset="0"/>
              <a:buChar char="o"/>
            </a:pPr>
            <a:r>
              <a:rPr lang="en-US" sz="1600" dirty="0"/>
              <a:t>First, we join 𝑅</a:t>
            </a:r>
            <a:r>
              <a:rPr lang="en-US" sz="1600" i="1" dirty="0"/>
              <a:t>(A, B)</a:t>
            </a:r>
            <a:r>
              <a:rPr lang="en-US" sz="1600" dirty="0"/>
              <a:t> and 𝑆(𝐵,𝐶), producing an intermediate result of size </a:t>
            </a:r>
            <a:r>
              <a:rPr lang="en-US" sz="1600" i="1" dirty="0"/>
              <a:t>prs </a:t>
            </a:r>
            <a:r>
              <a:rPr lang="en-US" sz="1600" dirty="0"/>
              <a:t>where </a:t>
            </a:r>
            <a:r>
              <a:rPr lang="en-US" sz="1600" i="1" dirty="0"/>
              <a:t>p</a:t>
            </a:r>
            <a:r>
              <a:rPr lang="en-US" sz="1600" dirty="0"/>
              <a:t> is the probability that an </a:t>
            </a:r>
            <a:r>
              <a:rPr lang="en-US" sz="1600" i="1" dirty="0"/>
              <a:t>R</a:t>
            </a:r>
            <a:r>
              <a:rPr lang="en-US" sz="1600" dirty="0"/>
              <a:t>-tuple and </a:t>
            </a:r>
            <a:r>
              <a:rPr lang="en-US" sz="1600" i="1" dirty="0"/>
              <a:t>S</a:t>
            </a:r>
            <a:r>
              <a:rPr lang="en-US" sz="1600" dirty="0"/>
              <a:t>-tuple agree on </a:t>
            </a:r>
            <a:r>
              <a:rPr lang="en-US" sz="1600" i="1" dirty="0"/>
              <a:t>B</a:t>
            </a:r>
            <a:r>
              <a:rPr lang="en-US" sz="1600" dirty="0"/>
              <a:t>.</a:t>
            </a:r>
          </a:p>
          <a:p>
            <a:pPr lvl="1">
              <a:buFont typeface="Courier New" panose="02070309020205020404" pitchFamily="49" charset="0"/>
              <a:buChar char="o"/>
            </a:pPr>
            <a:r>
              <a:rPr lang="en-US" sz="1600" dirty="0"/>
              <a:t>Then, this intermediate result is joined with 𝑇(𝐶,𝐷), producing the final output.</a:t>
            </a:r>
          </a:p>
          <a:p>
            <a:pPr lvl="1">
              <a:buFont typeface="Courier New" panose="02070309020205020404" pitchFamily="49" charset="0"/>
              <a:buChar char="o"/>
            </a:pPr>
            <a:r>
              <a:rPr lang="en-US" sz="1600" dirty="0"/>
              <a:t>The total communication cost for this approach is </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𝑂(𝑟+𝑠+𝑡+𝑝𝑠𝑡</a:t>
            </a:r>
            <a:r>
              <a:rPr lang="en-US" sz="1600" i="1" dirty="0"/>
              <a:t>)</a:t>
            </a:r>
            <a:r>
              <a:rPr lang="en-US" sz="1600" dirty="0"/>
              <a:t>.</a:t>
            </a:r>
          </a:p>
          <a:p>
            <a:pPr marL="457200" lvl="1" indent="0">
              <a:buNone/>
            </a:pPr>
            <a:endParaRPr lang="en-US" sz="1600" dirty="0"/>
          </a:p>
          <a:p>
            <a:pPr marL="457200" lvl="1" indent="0">
              <a:buNone/>
            </a:pPr>
            <a:r>
              <a:rPr lang="en-US" sz="1600" dirty="0"/>
              <a:t>If we change the order and first join 𝑆(𝐵,𝐶) with 𝑇(𝐶,𝐷), then the communication cost is 𝑂(𝑟+𝑠+𝑡+𝑝𝑠𝑡), where 𝑝 is now the probability that 𝑆-tuples and 𝑇-tuples agree on 𝐶.</a:t>
            </a:r>
          </a:p>
        </p:txBody>
      </p:sp>
      <p:sp>
        <p:nvSpPr>
          <p:cNvPr id="5" name="TextBox 4">
            <a:extLst>
              <a:ext uri="{FF2B5EF4-FFF2-40B4-BE49-F238E27FC236}">
                <a16:creationId xmlns:a16="http://schemas.microsoft.com/office/drawing/2014/main" id="{68F70883-E7CE-22DE-286D-15AC7EF20EC1}"/>
              </a:ext>
            </a:extLst>
          </p:cNvPr>
          <p:cNvSpPr txBox="1"/>
          <p:nvPr/>
        </p:nvSpPr>
        <p:spPr>
          <a:xfrm>
            <a:off x="6014300" y="2323809"/>
            <a:ext cx="5696933" cy="3451201"/>
          </a:xfrm>
          <a:prstGeom prst="rect">
            <a:avLst/>
          </a:prstGeom>
          <a:noFill/>
        </p:spPr>
        <p:txBody>
          <a:bodyPr wrap="square">
            <a:spAutoFit/>
          </a:bodyPr>
          <a:lstStyle/>
          <a:p>
            <a:pPr marL="228600" marR="0" lvl="0" indent="-228600"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1600" b="1" i="0" u="none" strike="noStrike" kern="1200" cap="none" spc="0" normalizeH="0" baseline="0" noProof="0" dirty="0">
                <a:ln>
                  <a:noFill/>
                </a:ln>
                <a:solidFill>
                  <a:prstClr val="black"/>
                </a:solidFill>
                <a:effectLst/>
                <a:uLnTx/>
                <a:uFillTx/>
                <a:latin typeface="Aptos" panose="02110004020202020204"/>
                <a:ea typeface="+mn-ea"/>
                <a:cs typeface="+mn-cs"/>
              </a:rPr>
              <a:t>Single MapReduce Job for Multiway Join</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742950" marR="0" lvl="1" indent="-285750" defTabSz="914400" rtl="0" eaLnBrk="1" fontAlgn="auto" latinLnBrk="0" hangingPunct="1">
              <a:lnSpc>
                <a:spcPct val="90000"/>
              </a:lnSpc>
              <a:spcBef>
                <a:spcPts val="500"/>
              </a:spcBef>
              <a:spcAft>
                <a:spcPts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In this approach, a single MapReduce job joins all three relations in one go. Here, k reducers are used, and we pick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b</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and ccc to represent the number of buckets for the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B-values and 𝐶-values</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respectively.</a:t>
            </a:r>
          </a:p>
          <a:p>
            <a:pPr marL="742950" marR="0" lvl="1" indent="-285750" defTabSz="914400" rtl="0" eaLnBrk="1" fontAlgn="auto" latinLnBrk="0" hangingPunct="1">
              <a:lnSpc>
                <a:spcPct val="90000"/>
              </a:lnSpc>
              <a:spcBef>
                <a:spcPts val="500"/>
              </a:spcBef>
              <a:spcAft>
                <a:spcPts val="0"/>
              </a:spcAft>
              <a:buClrTx/>
              <a:buSzTx/>
              <a:buFont typeface="Courier New" panose="02070309020205020404" pitchFamily="49" charset="0"/>
              <a:buChar char="o"/>
              <a:tabLst/>
              <a:defRPr/>
            </a:pPr>
            <a:r>
              <a:rPr kumimoji="0" lang="en-US" sz="1600" i="0" u="sng" strike="noStrike" kern="1200" cap="none" spc="0" normalizeH="0" baseline="0" noProof="0" dirty="0">
                <a:ln>
                  <a:noFill/>
                </a:ln>
                <a:solidFill>
                  <a:prstClr val="black"/>
                </a:solidFill>
                <a:effectLst/>
                <a:uLnTx/>
                <a:uFillTx/>
                <a:latin typeface="Aptos" panose="02110004020202020204"/>
                <a:ea typeface="+mn-ea"/>
                <a:cs typeface="+mn-cs"/>
              </a:rPr>
              <a:t>Hash functions: </a:t>
            </a:r>
          </a:p>
          <a:p>
            <a:pPr marL="973138" marR="0" lvl="1" indent="-285750"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A hash function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h(v)</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is used to assign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B</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-values to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b</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buckets, and another hash function g(w)g(w)g(w) assigns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𝐶 </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-values to ccc buckets. The total number of reducers 𝑘 is the product of the number of buckets, so 𝑏𝑐=𝑘.</a:t>
            </a:r>
          </a:p>
          <a:p>
            <a:pPr marL="742950" marR="0" lvl="1" indent="-285750" defTabSz="914400" rtl="0" eaLnBrk="1" fontAlgn="auto" latinLnBrk="0" hangingPunct="1">
              <a:lnSpc>
                <a:spcPct val="90000"/>
              </a:lnSpc>
              <a:spcBef>
                <a:spcPts val="500"/>
              </a:spcBef>
              <a:spcAft>
                <a:spcPts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Each reducer handles joining the tuples where </a:t>
            </a:r>
            <a:r>
              <a:rPr kumimoji="0" lang="pl-PL" sz="1600" b="0" i="1" u="none" strike="noStrike" kern="1200" cap="none" spc="0" normalizeH="0" baseline="0" noProof="0" dirty="0">
                <a:ln>
                  <a:noFill/>
                </a:ln>
                <a:solidFill>
                  <a:prstClr val="black"/>
                </a:solidFill>
                <a:effectLst/>
                <a:uLnTx/>
                <a:uFillTx/>
                <a:latin typeface="Aptos" panose="02110004020202020204"/>
                <a:ea typeface="+mn-ea"/>
                <a:cs typeface="+mn-cs"/>
              </a:rPr>
              <a:t>h(v)=i </a:t>
            </a:r>
            <a:r>
              <a:rPr kumimoji="0" lang="pl-PL" sz="1600" b="0" i="0" u="none" strike="noStrike" kern="1200" cap="none" spc="0" normalizeH="0" baseline="0" noProof="0" dirty="0">
                <a:ln>
                  <a:noFill/>
                </a:ln>
                <a:solidFill>
                  <a:prstClr val="black"/>
                </a:solidFill>
                <a:effectLst/>
                <a:uLnTx/>
                <a:uFillTx/>
                <a:latin typeface="Aptos" panose="02110004020202020204"/>
                <a:ea typeface="+mn-ea"/>
                <a:cs typeface="+mn-cs"/>
              </a:rPr>
              <a:t>and 𝑔(𝑤)=𝑗</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which ensures that the right tuples from </a:t>
            </a:r>
            <a:r>
              <a:rPr lang="en-US" sz="1600" dirty="0"/>
              <a:t>𝑅</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𝑆, and 𝑇 are combined.</a:t>
            </a:r>
          </a:p>
        </p:txBody>
      </p:sp>
      <p:sp>
        <p:nvSpPr>
          <p:cNvPr id="7" name="TextBox 6">
            <a:extLst>
              <a:ext uri="{FF2B5EF4-FFF2-40B4-BE49-F238E27FC236}">
                <a16:creationId xmlns:a16="http://schemas.microsoft.com/office/drawing/2014/main" id="{9A351CF0-856E-EAA6-2A6A-72FACB6E013B}"/>
              </a:ext>
            </a:extLst>
          </p:cNvPr>
          <p:cNvSpPr txBox="1"/>
          <p:nvPr/>
        </p:nvSpPr>
        <p:spPr>
          <a:xfrm>
            <a:off x="480766" y="1485455"/>
            <a:ext cx="11230467" cy="663771"/>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Aptos" panose="02110004020202020204"/>
                <a:ea typeface="+mn-ea"/>
                <a:cs typeface="+mn-cs"/>
              </a:rPr>
              <a:t>Example: Joining Three Relations</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Given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R(A,B)</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𝑆(𝐵,𝐶), and 𝑇(𝐶,𝐷)</a:t>
            </a:r>
          </a:p>
        </p:txBody>
      </p:sp>
      <p:sp>
        <p:nvSpPr>
          <p:cNvPr id="8" name="Slide Number Placeholder 7">
            <a:extLst>
              <a:ext uri="{FF2B5EF4-FFF2-40B4-BE49-F238E27FC236}">
                <a16:creationId xmlns:a16="http://schemas.microsoft.com/office/drawing/2014/main" id="{BE782F3F-C734-12AE-64BE-FC5436864A6A}"/>
              </a:ext>
            </a:extLst>
          </p:cNvPr>
          <p:cNvSpPr>
            <a:spLocks noGrp="1"/>
          </p:cNvSpPr>
          <p:nvPr>
            <p:ph type="sldNum" sz="quarter" idx="12"/>
          </p:nvPr>
        </p:nvSpPr>
        <p:spPr/>
        <p:txBody>
          <a:bodyPr/>
          <a:lstStyle/>
          <a:p>
            <a:fld id="{BBA2409C-9313-42BD-B852-D36E47DA4A25}" type="slidenum">
              <a:rPr lang="en-US" smtClean="0"/>
              <a:t>10</a:t>
            </a:fld>
            <a:endParaRPr lang="en-US"/>
          </a:p>
        </p:txBody>
      </p:sp>
    </p:spTree>
    <p:extLst>
      <p:ext uri="{BB962C8B-B14F-4D97-AF65-F5344CB8AC3E}">
        <p14:creationId xmlns:p14="http://schemas.microsoft.com/office/powerpoint/2010/main" val="4135719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7B76C1D-44B0-7D60-1067-CAAABC5B9206}"/>
              </a:ext>
            </a:extLst>
          </p:cNvPr>
          <p:cNvSpPr/>
          <p:nvPr/>
        </p:nvSpPr>
        <p:spPr>
          <a:xfrm>
            <a:off x="-1" y="2770"/>
            <a:ext cx="12192000" cy="13081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31753-01E3-0A77-6DFD-5E7800E80FE2}"/>
              </a:ext>
            </a:extLst>
          </p:cNvPr>
          <p:cNvSpPr>
            <a:spLocks noGrp="1"/>
          </p:cNvSpPr>
          <p:nvPr>
            <p:ph type="title"/>
          </p:nvPr>
        </p:nvSpPr>
        <p:spPr>
          <a:xfrm>
            <a:off x="546754" y="365125"/>
            <a:ext cx="10807046" cy="1325563"/>
          </a:xfrm>
        </p:spPr>
        <p:txBody>
          <a:bodyPr/>
          <a:lstStyle/>
          <a:p>
            <a:r>
              <a:rPr lang="en-US" sz="4400" dirty="0"/>
              <a:t>2.5.3 Multiway Joins (and Their Efficiency)</a:t>
            </a:r>
          </a:p>
        </p:txBody>
      </p:sp>
      <p:sp>
        <p:nvSpPr>
          <p:cNvPr id="3" name="Content Placeholder 2">
            <a:extLst>
              <a:ext uri="{FF2B5EF4-FFF2-40B4-BE49-F238E27FC236}">
                <a16:creationId xmlns:a16="http://schemas.microsoft.com/office/drawing/2014/main" id="{98D16EA9-4C80-2DA4-8826-A93F9EA35FDA}"/>
              </a:ext>
            </a:extLst>
          </p:cNvPr>
          <p:cNvSpPr>
            <a:spLocks noGrp="1"/>
          </p:cNvSpPr>
          <p:nvPr>
            <p:ph idx="1"/>
          </p:nvPr>
        </p:nvSpPr>
        <p:spPr>
          <a:xfrm>
            <a:off x="546754" y="1542821"/>
            <a:ext cx="11057641" cy="4950054"/>
          </a:xfrm>
        </p:spPr>
        <p:txBody>
          <a:bodyPr>
            <a:normAutofit lnSpcReduction="10000"/>
          </a:bodyPr>
          <a:lstStyle/>
          <a:p>
            <a:pPr marL="0" indent="0">
              <a:lnSpc>
                <a:spcPct val="150000"/>
              </a:lnSpc>
              <a:buNone/>
            </a:pPr>
            <a:r>
              <a:rPr lang="en-US" sz="1600" b="1" dirty="0"/>
              <a:t>Example: Joining Three Relations</a:t>
            </a:r>
          </a:p>
          <a:p>
            <a:pPr>
              <a:lnSpc>
                <a:spcPct val="150000"/>
              </a:lnSpc>
              <a:buFont typeface="Wingdings" panose="05000000000000000000" pitchFamily="2" charset="2"/>
              <a:buChar char="Ø"/>
            </a:pPr>
            <a:r>
              <a:rPr lang="en-US" sz="1600" dirty="0"/>
              <a:t>Handling the Distribution of Tuples to Reducers</a:t>
            </a:r>
          </a:p>
          <a:p>
            <a:pPr lvl="1">
              <a:lnSpc>
                <a:spcPct val="150000"/>
              </a:lnSpc>
              <a:buFont typeface="Courier New" panose="02070309020205020404" pitchFamily="49" charset="0"/>
              <a:buChar char="o"/>
            </a:pPr>
            <a:r>
              <a:rPr lang="en-US" sz="1600" u="sng" dirty="0"/>
              <a:t>For </a:t>
            </a:r>
            <a:r>
              <a:rPr kumimoji="0" lang="en-US" sz="1600" i="0" u="sng" strike="noStrike" kern="1200" cap="none" spc="0" normalizeH="0" baseline="0" noProof="0" dirty="0">
                <a:ln>
                  <a:noFill/>
                </a:ln>
                <a:solidFill>
                  <a:prstClr val="black"/>
                </a:solidFill>
                <a:effectLst/>
                <a:uLnTx/>
                <a:uFillTx/>
                <a:latin typeface="Aptos" panose="02110004020202020204"/>
                <a:ea typeface="+mn-ea"/>
                <a:cs typeface="+mn-cs"/>
              </a:rPr>
              <a:t>𝑆(𝐵,𝐶)</a:t>
            </a:r>
            <a:r>
              <a:rPr lang="en-US" sz="1600" u="sng" dirty="0"/>
              <a:t>:</a:t>
            </a:r>
          </a:p>
          <a:p>
            <a:pPr lvl="2">
              <a:lnSpc>
                <a:spcPct val="150000"/>
              </a:lnSpc>
            </a:pPr>
            <a:r>
              <a:rPr lang="en-US" sz="1600" dirty="0"/>
              <a:t>Since an </a:t>
            </a:r>
            <a:r>
              <a:rPr lang="en-US" sz="1600" i="1" dirty="0"/>
              <a:t>S</a:t>
            </a:r>
            <a:r>
              <a:rPr lang="en-US" sz="1600" dirty="0"/>
              <a:t>-tuple contains both </a:t>
            </a:r>
            <a:r>
              <a:rPr lang="en-US" sz="1600" i="1" dirty="0"/>
              <a:t>B</a:t>
            </a:r>
            <a:r>
              <a:rPr lang="en-US" sz="1600" dirty="0"/>
              <a:t>- and </a:t>
            </a:r>
            <a:r>
              <a:rPr lang="en-US" sz="1600" i="1" dirty="0"/>
              <a:t>C</a:t>
            </a:r>
            <a:r>
              <a:rPr lang="en-US" sz="1600" dirty="0"/>
              <a:t>-values, it is easy to determine which reducer it should be sent to based on the hash functions </a:t>
            </a:r>
            <a:r>
              <a:rPr lang="en-US" sz="1600" i="1" dirty="0"/>
              <a:t>h(v) </a:t>
            </a:r>
            <a:r>
              <a:rPr lang="en-US" sz="1600" dirty="0"/>
              <a:t>and </a:t>
            </a:r>
            <a:r>
              <a:rPr lang="en-US" sz="1600" i="1" dirty="0"/>
              <a:t>g(w)</a:t>
            </a:r>
            <a:r>
              <a:rPr lang="en-US" sz="1600" dirty="0"/>
              <a:t>.</a:t>
            </a:r>
          </a:p>
          <a:p>
            <a:pPr lvl="1">
              <a:lnSpc>
                <a:spcPct val="150000"/>
              </a:lnSpc>
              <a:buFont typeface="Courier New" panose="02070309020205020404" pitchFamily="49" charset="0"/>
              <a:buChar char="o"/>
            </a:pPr>
            <a:r>
              <a:rPr lang="en-US" sz="1600" u="sng" dirty="0"/>
              <a:t>For 𝑅</a:t>
            </a:r>
            <a:r>
              <a:rPr lang="en-US" sz="1600" i="1" u="sng" dirty="0"/>
              <a:t>(A,B)</a:t>
            </a:r>
            <a:r>
              <a:rPr lang="en-US" sz="1600" u="sng" dirty="0"/>
              <a:t>:</a:t>
            </a:r>
          </a:p>
          <a:p>
            <a:pPr lvl="2">
              <a:lnSpc>
                <a:spcPct val="150000"/>
              </a:lnSpc>
            </a:pPr>
            <a:r>
              <a:rPr lang="en-US" sz="1600" dirty="0"/>
              <a:t>The RRR-tuple only contains the </a:t>
            </a:r>
            <a:r>
              <a:rPr lang="en-US" sz="1600" i="1" dirty="0"/>
              <a:t>B</a:t>
            </a:r>
            <a:r>
              <a:rPr lang="en-US" sz="1600" dirty="0"/>
              <a:t>-value, so it needs to be sent to multiple reducers since we don’t know the </a:t>
            </a:r>
            <a:r>
              <a:rPr lang="en-US" sz="1600" i="1" dirty="0"/>
              <a:t>C</a:t>
            </a:r>
            <a:r>
              <a:rPr lang="en-US" sz="1600" dirty="0"/>
              <a:t>-value. Specifically, it must be sent to all reducers that handle the possible </a:t>
            </a:r>
            <a:r>
              <a:rPr lang="en-US" sz="1600" i="1" dirty="0"/>
              <a:t>C</a:t>
            </a:r>
            <a:r>
              <a:rPr lang="en-US" sz="1600" dirty="0"/>
              <a:t>-values (there are </a:t>
            </a:r>
            <a:r>
              <a:rPr lang="en-US" sz="1600" i="1" dirty="0"/>
              <a:t>c</a:t>
            </a:r>
            <a:r>
              <a:rPr lang="en-US" sz="1600" dirty="0"/>
              <a:t> such reducers, one for each possible bucket for </a:t>
            </a:r>
            <a:r>
              <a:rPr lang="en-US" sz="1600" i="1" dirty="0"/>
              <a:t>C</a:t>
            </a:r>
            <a:r>
              <a:rPr lang="en-US" sz="1600" dirty="0"/>
              <a:t>).</a:t>
            </a:r>
          </a:p>
          <a:p>
            <a:pPr lvl="1">
              <a:lnSpc>
                <a:spcPct val="150000"/>
              </a:lnSpc>
              <a:buFont typeface="Courier New" panose="02070309020205020404" pitchFamily="49" charset="0"/>
              <a:buChar char="o"/>
            </a:pPr>
            <a:r>
              <a:rPr lang="en-US" sz="1600" u="sng" dirty="0"/>
              <a:t>For  𝑇(𝐶,𝐷):</a:t>
            </a:r>
          </a:p>
          <a:p>
            <a:pPr lvl="2">
              <a:lnSpc>
                <a:spcPct val="150000"/>
              </a:lnSpc>
            </a:pPr>
            <a:r>
              <a:rPr lang="en-US" sz="1600" dirty="0"/>
              <a:t>Similarly, a </a:t>
            </a:r>
            <a:r>
              <a:rPr lang="en-US" sz="1600" i="1" dirty="0"/>
              <a:t>T</a:t>
            </a:r>
            <a:r>
              <a:rPr lang="en-US" sz="1600" dirty="0"/>
              <a:t>-tuple contains only the </a:t>
            </a:r>
            <a:r>
              <a:rPr lang="en-US" sz="1600" i="1" dirty="0"/>
              <a:t>C</a:t>
            </a:r>
            <a:r>
              <a:rPr lang="en-US" sz="1600" dirty="0"/>
              <a:t>-value, so it must be sent to all reducers responsible for the different </a:t>
            </a:r>
            <a:r>
              <a:rPr lang="en-US" sz="1600" i="1" dirty="0"/>
              <a:t>B</a:t>
            </a:r>
            <a:r>
              <a:rPr lang="en-US" sz="1600" dirty="0"/>
              <a:t>-values (there are </a:t>
            </a:r>
            <a:r>
              <a:rPr lang="en-US" sz="1600" i="1" dirty="0"/>
              <a:t>b</a:t>
            </a:r>
            <a:r>
              <a:rPr lang="en-US" sz="1600" dirty="0"/>
              <a:t> such reducers, one for each bucket for </a:t>
            </a:r>
            <a:r>
              <a:rPr lang="en-US" sz="1600" i="1" dirty="0"/>
              <a:t>B</a:t>
            </a:r>
            <a:r>
              <a:rPr lang="en-US" sz="1600" dirty="0"/>
              <a:t>).</a:t>
            </a:r>
          </a:p>
          <a:p>
            <a:pPr>
              <a:lnSpc>
                <a:spcPct val="150000"/>
              </a:lnSpc>
            </a:pPr>
            <a:endParaRPr lang="en-US" sz="1600" dirty="0"/>
          </a:p>
        </p:txBody>
      </p:sp>
      <p:sp>
        <p:nvSpPr>
          <p:cNvPr id="4" name="Slide Number Placeholder 3">
            <a:extLst>
              <a:ext uri="{FF2B5EF4-FFF2-40B4-BE49-F238E27FC236}">
                <a16:creationId xmlns:a16="http://schemas.microsoft.com/office/drawing/2014/main" id="{10AAAE42-B96A-A5AE-1B93-247DE541B140}"/>
              </a:ext>
            </a:extLst>
          </p:cNvPr>
          <p:cNvSpPr>
            <a:spLocks noGrp="1"/>
          </p:cNvSpPr>
          <p:nvPr>
            <p:ph type="sldNum" sz="quarter" idx="12"/>
          </p:nvPr>
        </p:nvSpPr>
        <p:spPr/>
        <p:txBody>
          <a:bodyPr/>
          <a:lstStyle/>
          <a:p>
            <a:fld id="{BBA2409C-9313-42BD-B852-D36E47DA4A25}" type="slidenum">
              <a:rPr lang="en-US" smtClean="0"/>
              <a:t>11</a:t>
            </a:fld>
            <a:endParaRPr lang="en-US"/>
          </a:p>
        </p:txBody>
      </p:sp>
    </p:spTree>
    <p:extLst>
      <p:ext uri="{BB962C8B-B14F-4D97-AF65-F5344CB8AC3E}">
        <p14:creationId xmlns:p14="http://schemas.microsoft.com/office/powerpoint/2010/main" val="4293105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66BF2A2-7E51-C8CA-F8CA-B15DF52F746A}"/>
              </a:ext>
            </a:extLst>
          </p:cNvPr>
          <p:cNvSpPr/>
          <p:nvPr/>
        </p:nvSpPr>
        <p:spPr>
          <a:xfrm>
            <a:off x="-1" y="2770"/>
            <a:ext cx="12192000" cy="13081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31753-01E3-0A77-6DFD-5E7800E80FE2}"/>
              </a:ext>
            </a:extLst>
          </p:cNvPr>
          <p:cNvSpPr>
            <a:spLocks noGrp="1"/>
          </p:cNvSpPr>
          <p:nvPr>
            <p:ph type="title"/>
          </p:nvPr>
        </p:nvSpPr>
        <p:spPr>
          <a:xfrm>
            <a:off x="543612" y="365125"/>
            <a:ext cx="10810188" cy="1325563"/>
          </a:xfrm>
        </p:spPr>
        <p:txBody>
          <a:bodyPr/>
          <a:lstStyle/>
          <a:p>
            <a:r>
              <a:rPr lang="en-US" sz="4400" dirty="0"/>
              <a:t>2.5.3 Multiway Joins (and Their Efficiency)</a:t>
            </a:r>
          </a:p>
        </p:txBody>
      </p:sp>
      <p:sp>
        <p:nvSpPr>
          <p:cNvPr id="3" name="Content Placeholder 2">
            <a:extLst>
              <a:ext uri="{FF2B5EF4-FFF2-40B4-BE49-F238E27FC236}">
                <a16:creationId xmlns:a16="http://schemas.microsoft.com/office/drawing/2014/main" id="{98D16EA9-4C80-2DA4-8826-A93F9EA35FDA}"/>
              </a:ext>
            </a:extLst>
          </p:cNvPr>
          <p:cNvSpPr>
            <a:spLocks noGrp="1"/>
          </p:cNvSpPr>
          <p:nvPr>
            <p:ph idx="1"/>
          </p:nvPr>
        </p:nvSpPr>
        <p:spPr>
          <a:xfrm>
            <a:off x="543612" y="1825625"/>
            <a:ext cx="11104776" cy="4351338"/>
          </a:xfrm>
        </p:spPr>
        <p:txBody>
          <a:bodyPr>
            <a:normAutofit/>
          </a:bodyPr>
          <a:lstStyle/>
          <a:p>
            <a:pPr marL="0" indent="0">
              <a:lnSpc>
                <a:spcPct val="150000"/>
              </a:lnSpc>
              <a:buNone/>
            </a:pPr>
            <a:r>
              <a:rPr lang="en-US" sz="1600" b="1" dirty="0"/>
              <a:t>Example: Joining Three Relations - </a:t>
            </a:r>
            <a:r>
              <a:rPr lang="en-US" sz="1600" dirty="0"/>
              <a:t>Trade-Offs and Efficiency</a:t>
            </a:r>
          </a:p>
          <a:p>
            <a:pPr lvl="1">
              <a:lnSpc>
                <a:spcPct val="150000"/>
              </a:lnSpc>
              <a:buFont typeface="Wingdings" panose="05000000000000000000" pitchFamily="2" charset="2"/>
              <a:buChar char="Ø"/>
            </a:pPr>
            <a:r>
              <a:rPr lang="en-US" sz="1600" dirty="0"/>
              <a:t>By using this strategy, we avoid performing multiple sequential MapReduce jobs, which would increase communication costs. </a:t>
            </a:r>
          </a:p>
          <a:p>
            <a:pPr lvl="1">
              <a:lnSpc>
                <a:spcPct val="150000"/>
              </a:lnSpc>
              <a:buFont typeface="Wingdings" panose="05000000000000000000" pitchFamily="2" charset="2"/>
              <a:buChar char="Ø"/>
            </a:pPr>
            <a:r>
              <a:rPr lang="en-US" sz="1600" dirty="0"/>
              <a:t>Instead, the tuples are distributed more intelligently using the hashing mechanism, potentially reducing overall communication costs in a single MapReduce job.</a:t>
            </a:r>
          </a:p>
          <a:p>
            <a:pPr lvl="1">
              <a:lnSpc>
                <a:spcPct val="150000"/>
              </a:lnSpc>
              <a:buFont typeface="Wingdings" panose="05000000000000000000" pitchFamily="2" charset="2"/>
              <a:buChar char="Ø"/>
            </a:pPr>
            <a:r>
              <a:rPr lang="en-US" sz="1600" dirty="0"/>
              <a:t>However, since some tuples are sent to multiple reducers, this approach involves duplicate communication for tuples of 𝑅 and 𝑇, as they are sent to more than one reducer to ensure all possible matches are considered.</a:t>
            </a:r>
          </a:p>
          <a:p>
            <a:pPr lvl="1">
              <a:lnSpc>
                <a:spcPct val="150000"/>
              </a:lnSpc>
              <a:buFont typeface="Wingdings" panose="05000000000000000000" pitchFamily="2" charset="2"/>
              <a:buChar char="Ø"/>
            </a:pPr>
            <a:r>
              <a:rPr lang="en-US" sz="1600" dirty="0"/>
              <a:t>This is often still more efficient than performing multiple two-way joins in separate steps.</a:t>
            </a:r>
          </a:p>
        </p:txBody>
      </p:sp>
      <p:sp>
        <p:nvSpPr>
          <p:cNvPr id="4" name="Slide Number Placeholder 3">
            <a:extLst>
              <a:ext uri="{FF2B5EF4-FFF2-40B4-BE49-F238E27FC236}">
                <a16:creationId xmlns:a16="http://schemas.microsoft.com/office/drawing/2014/main" id="{202B2727-4B90-9758-74DE-9D2002E7C9CE}"/>
              </a:ext>
            </a:extLst>
          </p:cNvPr>
          <p:cNvSpPr>
            <a:spLocks noGrp="1"/>
          </p:cNvSpPr>
          <p:nvPr>
            <p:ph type="sldNum" sz="quarter" idx="12"/>
          </p:nvPr>
        </p:nvSpPr>
        <p:spPr/>
        <p:txBody>
          <a:bodyPr/>
          <a:lstStyle/>
          <a:p>
            <a:fld id="{BBA2409C-9313-42BD-B852-D36E47DA4A25}" type="slidenum">
              <a:rPr lang="en-US" smtClean="0"/>
              <a:t>12</a:t>
            </a:fld>
            <a:endParaRPr lang="en-US"/>
          </a:p>
        </p:txBody>
      </p:sp>
    </p:spTree>
    <p:extLst>
      <p:ext uri="{BB962C8B-B14F-4D97-AF65-F5344CB8AC3E}">
        <p14:creationId xmlns:p14="http://schemas.microsoft.com/office/powerpoint/2010/main" val="589509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7FA13DC-CE97-1C39-D40E-23B5DE089AE4}"/>
              </a:ext>
            </a:extLst>
          </p:cNvPr>
          <p:cNvSpPr/>
          <p:nvPr/>
        </p:nvSpPr>
        <p:spPr>
          <a:xfrm>
            <a:off x="-1" y="2770"/>
            <a:ext cx="12192000" cy="13081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8D16EA9-4C80-2DA4-8826-A93F9EA35FDA}"/>
              </a:ext>
            </a:extLst>
          </p:cNvPr>
          <p:cNvSpPr>
            <a:spLocks noGrp="1"/>
          </p:cNvSpPr>
          <p:nvPr>
            <p:ph idx="1"/>
          </p:nvPr>
        </p:nvSpPr>
        <p:spPr>
          <a:xfrm>
            <a:off x="472911" y="2321678"/>
            <a:ext cx="11246176" cy="4034672"/>
          </a:xfrm>
        </p:spPr>
        <p:txBody>
          <a:bodyPr>
            <a:normAutofit/>
          </a:bodyPr>
          <a:lstStyle/>
          <a:p>
            <a:pPr>
              <a:lnSpc>
                <a:spcPct val="110000"/>
              </a:lnSpc>
              <a:buFont typeface="Wingdings" panose="05000000000000000000" pitchFamily="2" charset="2"/>
              <a:buChar char="Ø"/>
            </a:pPr>
            <a:r>
              <a:rPr lang="en-US" sz="1600" dirty="0"/>
              <a:t>Setting:</a:t>
            </a:r>
          </a:p>
          <a:p>
            <a:pPr lvl="1">
              <a:lnSpc>
                <a:spcPct val="110000"/>
              </a:lnSpc>
              <a:buFont typeface="Courier New" panose="02070309020205020404" pitchFamily="49" charset="0"/>
              <a:buChar char="o"/>
            </a:pPr>
            <a:r>
              <a:rPr lang="en-US" sz="1600" dirty="0"/>
              <a:t>We are performing a join on three relations: </a:t>
            </a:r>
            <a:r>
              <a:rPr lang="en-US" sz="1600" i="1" dirty="0"/>
              <a:t>R(A, B), S(B, C),</a:t>
            </a:r>
            <a:r>
              <a:rPr lang="en-US" sz="1600" dirty="0"/>
              <a:t> and </a:t>
            </a:r>
            <a:r>
              <a:rPr lang="en-US" sz="1600" i="1" dirty="0"/>
              <a:t>T(C, D)</a:t>
            </a:r>
            <a:r>
              <a:rPr lang="en-US" sz="1600" dirty="0"/>
              <a:t>.</a:t>
            </a:r>
          </a:p>
          <a:p>
            <a:pPr lvl="1">
              <a:lnSpc>
                <a:spcPct val="110000"/>
              </a:lnSpc>
              <a:buFont typeface="Courier New" panose="02070309020205020404" pitchFamily="49" charset="0"/>
              <a:buChar char="o"/>
            </a:pPr>
            <a:r>
              <a:rPr lang="en-US" sz="1600" dirty="0"/>
              <a:t>We assume:</a:t>
            </a:r>
          </a:p>
          <a:p>
            <a:pPr marL="1200150" lvl="2" indent="-285750">
              <a:lnSpc>
                <a:spcPct val="110000"/>
              </a:lnSpc>
            </a:pPr>
            <a:r>
              <a:rPr lang="en-US" sz="1600" dirty="0"/>
              <a:t>Relation </a:t>
            </a:r>
            <a:r>
              <a:rPr lang="en-US" sz="1600" i="1" dirty="0"/>
              <a:t>R</a:t>
            </a:r>
            <a:r>
              <a:rPr lang="en-US" sz="1600" dirty="0"/>
              <a:t> has size </a:t>
            </a:r>
            <a:r>
              <a:rPr lang="en-US" sz="1600" i="1" dirty="0"/>
              <a:t>r</a:t>
            </a:r>
            <a:r>
              <a:rPr lang="en-US" sz="1600" dirty="0"/>
              <a:t>,</a:t>
            </a:r>
          </a:p>
          <a:p>
            <a:pPr marL="1200150" lvl="2" indent="-285750">
              <a:lnSpc>
                <a:spcPct val="110000"/>
              </a:lnSpc>
            </a:pPr>
            <a:r>
              <a:rPr lang="en-US" sz="1600" dirty="0"/>
              <a:t>Relation </a:t>
            </a:r>
            <a:r>
              <a:rPr lang="en-US" sz="1600" i="1" dirty="0"/>
              <a:t>S</a:t>
            </a:r>
            <a:r>
              <a:rPr lang="en-US" sz="1600" dirty="0"/>
              <a:t> has size </a:t>
            </a:r>
            <a:r>
              <a:rPr lang="en-US" sz="1600" i="1" dirty="0"/>
              <a:t>s</a:t>
            </a:r>
            <a:r>
              <a:rPr lang="en-US" sz="1600" dirty="0"/>
              <a:t>,</a:t>
            </a:r>
          </a:p>
          <a:p>
            <a:pPr marL="1200150" lvl="2" indent="-285750">
              <a:lnSpc>
                <a:spcPct val="110000"/>
              </a:lnSpc>
            </a:pPr>
            <a:r>
              <a:rPr lang="en-US" sz="1600" dirty="0"/>
              <a:t>Relation </a:t>
            </a:r>
            <a:r>
              <a:rPr lang="en-US" sz="1600" i="1" dirty="0"/>
              <a:t>T</a:t>
            </a:r>
            <a:r>
              <a:rPr lang="en-US" sz="1600" dirty="0"/>
              <a:t> has size </a:t>
            </a:r>
            <a:r>
              <a:rPr lang="en-US" sz="1600" i="1" dirty="0"/>
              <a:t>t</a:t>
            </a:r>
            <a:r>
              <a:rPr lang="en-US" sz="1600" dirty="0"/>
              <a:t>.</a:t>
            </a:r>
          </a:p>
          <a:p>
            <a:pPr lvl="1">
              <a:lnSpc>
                <a:spcPct val="110000"/>
              </a:lnSpc>
              <a:buFont typeface="Courier New" panose="02070309020205020404" pitchFamily="49" charset="0"/>
              <a:buChar char="o"/>
            </a:pPr>
            <a:r>
              <a:rPr lang="en-US" sz="1600" dirty="0"/>
              <a:t>The goal is to distribute the work among </a:t>
            </a:r>
            <a:r>
              <a:rPr lang="en-US" sz="1600" i="1" dirty="0"/>
              <a:t>k</a:t>
            </a:r>
            <a:r>
              <a:rPr lang="en-US" sz="1600" dirty="0"/>
              <a:t> reducers (in this case, </a:t>
            </a:r>
            <a:r>
              <a:rPr lang="en-US" sz="1600" i="1" dirty="0"/>
              <a:t>b=4</a:t>
            </a:r>
            <a:r>
              <a:rPr lang="en-US" sz="1600" dirty="0"/>
              <a:t> buckets for </a:t>
            </a:r>
            <a:r>
              <a:rPr lang="en-US" sz="1600" i="1" dirty="0"/>
              <a:t>B</a:t>
            </a:r>
            <a:r>
              <a:rPr lang="en-US" sz="1600" dirty="0"/>
              <a:t>-values and </a:t>
            </a:r>
            <a:r>
              <a:rPr lang="en-US" sz="1600" i="1" dirty="0"/>
              <a:t>c=4c </a:t>
            </a:r>
            <a:r>
              <a:rPr lang="en-US" sz="1600" dirty="0"/>
              <a:t>buckets for </a:t>
            </a:r>
            <a:r>
              <a:rPr lang="en-US" sz="1600" i="1" dirty="0"/>
              <a:t>C</a:t>
            </a:r>
            <a:r>
              <a:rPr lang="en-US" sz="1600" dirty="0"/>
              <a:t>-values, so </a:t>
            </a:r>
            <a:r>
              <a:rPr lang="en-US" sz="1600" i="1" dirty="0"/>
              <a:t>k = b × c = 16</a:t>
            </a:r>
            <a:r>
              <a:rPr lang="en-US" sz="1600" dirty="0"/>
              <a:t>).</a:t>
            </a:r>
          </a:p>
          <a:p>
            <a:pPr>
              <a:lnSpc>
                <a:spcPct val="110000"/>
              </a:lnSpc>
              <a:buFont typeface="Wingdings" panose="05000000000000000000" pitchFamily="2" charset="2"/>
              <a:buChar char="Ø"/>
            </a:pPr>
            <a:r>
              <a:rPr lang="en-US" sz="1600" dirty="0"/>
              <a:t>Process:</a:t>
            </a:r>
          </a:p>
          <a:p>
            <a:pPr lvl="1">
              <a:lnSpc>
                <a:spcPct val="110000"/>
              </a:lnSpc>
              <a:buFont typeface="+mj-lt"/>
              <a:buAutoNum type="arabicPeriod"/>
            </a:pPr>
            <a:r>
              <a:rPr lang="en-US" sz="1600" u="sng" dirty="0"/>
              <a:t>Hashing the tuples:</a:t>
            </a:r>
          </a:p>
          <a:p>
            <a:pPr marL="914400" lvl="2" indent="0">
              <a:lnSpc>
                <a:spcPct val="110000"/>
              </a:lnSpc>
              <a:buNone/>
            </a:pPr>
            <a:r>
              <a:rPr lang="en-US" sz="1600" dirty="0"/>
              <a:t>The three tuples 𝑆(𝑣,𝑤), 𝑅(𝑢,𝑣), and 𝑇(𝑤,𝑥) all meet at exactly one reducer — the one responsible for key (2,1), where they can be joined.</a:t>
            </a:r>
          </a:p>
        </p:txBody>
      </p:sp>
      <p:sp>
        <p:nvSpPr>
          <p:cNvPr id="9" name="Title 1">
            <a:extLst>
              <a:ext uri="{FF2B5EF4-FFF2-40B4-BE49-F238E27FC236}">
                <a16:creationId xmlns:a16="http://schemas.microsoft.com/office/drawing/2014/main" id="{B219F1E6-F284-0E4D-C4D6-C39359B668B6}"/>
              </a:ext>
            </a:extLst>
          </p:cNvPr>
          <p:cNvSpPr>
            <a:spLocks noGrp="1"/>
          </p:cNvSpPr>
          <p:nvPr>
            <p:ph type="title"/>
          </p:nvPr>
        </p:nvSpPr>
        <p:spPr>
          <a:xfrm>
            <a:off x="623739" y="258116"/>
            <a:ext cx="10730061" cy="1203913"/>
          </a:xfrm>
        </p:spPr>
        <p:txBody>
          <a:bodyPr>
            <a:normAutofit/>
          </a:bodyPr>
          <a:lstStyle/>
          <a:p>
            <a:r>
              <a:rPr lang="en-US" sz="4400" dirty="0"/>
              <a:t>2.5.3 Multiway Joins (and Their Efficiency)</a:t>
            </a:r>
            <a:br>
              <a:rPr lang="en-US" sz="4400" dirty="0"/>
            </a:br>
            <a:r>
              <a:rPr lang="en-US" sz="2200" dirty="0"/>
              <a:t>Example 2.15: </a:t>
            </a:r>
            <a:endParaRPr lang="en-US" sz="4400" dirty="0"/>
          </a:p>
        </p:txBody>
      </p:sp>
      <p:sp>
        <p:nvSpPr>
          <p:cNvPr id="10" name="Rectangle 9">
            <a:extLst>
              <a:ext uri="{FF2B5EF4-FFF2-40B4-BE49-F238E27FC236}">
                <a16:creationId xmlns:a16="http://schemas.microsoft.com/office/drawing/2014/main" id="{D229F408-A938-93E9-C46D-B35A3C180C0F}"/>
              </a:ext>
            </a:extLst>
          </p:cNvPr>
          <p:cNvSpPr/>
          <p:nvPr/>
        </p:nvSpPr>
        <p:spPr>
          <a:xfrm>
            <a:off x="472911" y="1336086"/>
            <a:ext cx="11246177" cy="89351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a:solidFill>
                  <a:schemeClr val="bg1"/>
                </a:solidFill>
              </a:rPr>
              <a:t>This example illustrates how </a:t>
            </a:r>
            <a:r>
              <a:rPr lang="en-US" sz="1400" b="1" dirty="0">
                <a:solidFill>
                  <a:schemeClr val="bg1"/>
                </a:solidFill>
              </a:rPr>
              <a:t>multiway joins</a:t>
            </a:r>
            <a:r>
              <a:rPr lang="en-US" sz="1400" dirty="0">
                <a:solidFill>
                  <a:schemeClr val="bg1"/>
                </a:solidFill>
              </a:rPr>
              <a:t> (joining multiple relations) can be optimized by </a:t>
            </a:r>
            <a:r>
              <a:rPr lang="en-US" sz="1400" b="1" dirty="0">
                <a:solidFill>
                  <a:schemeClr val="bg1"/>
                </a:solidFill>
              </a:rPr>
              <a:t>hashing</a:t>
            </a:r>
            <a:r>
              <a:rPr lang="en-US" sz="1400" dirty="0">
                <a:solidFill>
                  <a:schemeClr val="bg1"/>
                </a:solidFill>
              </a:rPr>
              <a:t> the key attributes and distributing them among reducers in a MapReduce framework. </a:t>
            </a:r>
          </a:p>
          <a:p>
            <a:pPr marL="285750" indent="-285750">
              <a:buFont typeface="Arial" panose="020B0604020202020204" pitchFamily="34" charset="0"/>
              <a:buChar char="•"/>
            </a:pPr>
            <a:r>
              <a:rPr lang="en-US" sz="1400" dirty="0">
                <a:solidFill>
                  <a:schemeClr val="bg1"/>
                </a:solidFill>
              </a:rPr>
              <a:t>The goal is to minimize the </a:t>
            </a:r>
            <a:r>
              <a:rPr lang="en-US" sz="1400" b="1" dirty="0">
                <a:solidFill>
                  <a:schemeClr val="bg1"/>
                </a:solidFill>
              </a:rPr>
              <a:t>communication cost</a:t>
            </a:r>
            <a:r>
              <a:rPr lang="en-US" sz="1400" dirty="0">
                <a:solidFill>
                  <a:schemeClr val="bg1"/>
                </a:solidFill>
              </a:rPr>
              <a:t> when moving data between tasks.</a:t>
            </a:r>
            <a:endParaRPr lang="en-US" sz="1400" u="sng" dirty="0">
              <a:solidFill>
                <a:schemeClr val="bg1"/>
              </a:solidFill>
            </a:endParaRPr>
          </a:p>
        </p:txBody>
      </p:sp>
      <p:pic>
        <p:nvPicPr>
          <p:cNvPr id="12" name="Picture 11">
            <a:extLst>
              <a:ext uri="{FF2B5EF4-FFF2-40B4-BE49-F238E27FC236}">
                <a16:creationId xmlns:a16="http://schemas.microsoft.com/office/drawing/2014/main" id="{0D3C4D2D-E192-EED6-5B05-F6D479F376C3}"/>
              </a:ext>
            </a:extLst>
          </p:cNvPr>
          <p:cNvPicPr>
            <a:picLocks noChangeAspect="1"/>
          </p:cNvPicPr>
          <p:nvPr/>
        </p:nvPicPr>
        <p:blipFill>
          <a:blip r:embed="rId2"/>
          <a:srcRect l="7151" t="4222" r="5155" b="5069"/>
          <a:stretch/>
        </p:blipFill>
        <p:spPr>
          <a:xfrm>
            <a:off x="8113742" y="1821566"/>
            <a:ext cx="3605344" cy="2441543"/>
          </a:xfrm>
          <a:prstGeom prst="rect">
            <a:avLst/>
          </a:prstGeom>
          <a:ln>
            <a:noFill/>
          </a:ln>
          <a:effectLst>
            <a:outerShdw blurRad="190500" algn="tl" rotWithShape="0">
              <a:srgbClr val="000000">
                <a:alpha val="70000"/>
              </a:srgbClr>
            </a:outerShdw>
          </a:effectLst>
        </p:spPr>
      </p:pic>
      <p:sp>
        <p:nvSpPr>
          <p:cNvPr id="13" name="Slide Number Placeholder 12">
            <a:extLst>
              <a:ext uri="{FF2B5EF4-FFF2-40B4-BE49-F238E27FC236}">
                <a16:creationId xmlns:a16="http://schemas.microsoft.com/office/drawing/2014/main" id="{95F4DA7D-3E77-8AC1-033A-1A5F49D449F8}"/>
              </a:ext>
            </a:extLst>
          </p:cNvPr>
          <p:cNvSpPr>
            <a:spLocks noGrp="1"/>
          </p:cNvSpPr>
          <p:nvPr>
            <p:ph type="sldNum" sz="quarter" idx="12"/>
          </p:nvPr>
        </p:nvSpPr>
        <p:spPr/>
        <p:txBody>
          <a:bodyPr/>
          <a:lstStyle/>
          <a:p>
            <a:fld id="{BBA2409C-9313-42BD-B852-D36E47DA4A25}" type="slidenum">
              <a:rPr lang="en-US" smtClean="0"/>
              <a:t>13</a:t>
            </a:fld>
            <a:endParaRPr lang="en-US"/>
          </a:p>
        </p:txBody>
      </p:sp>
    </p:spTree>
    <p:extLst>
      <p:ext uri="{BB962C8B-B14F-4D97-AF65-F5344CB8AC3E}">
        <p14:creationId xmlns:p14="http://schemas.microsoft.com/office/powerpoint/2010/main" val="1575985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D16EA9-4C80-2DA4-8826-A93F9EA35FDA}"/>
              </a:ext>
            </a:extLst>
          </p:cNvPr>
          <p:cNvSpPr>
            <a:spLocks noGrp="1"/>
          </p:cNvSpPr>
          <p:nvPr>
            <p:ph idx="1"/>
          </p:nvPr>
        </p:nvSpPr>
        <p:spPr>
          <a:xfrm>
            <a:off x="472911" y="2403835"/>
            <a:ext cx="11125204" cy="3836709"/>
          </a:xfrm>
        </p:spPr>
        <p:txBody>
          <a:bodyPr>
            <a:normAutofit lnSpcReduction="10000"/>
          </a:bodyPr>
          <a:lstStyle/>
          <a:p>
            <a:pPr marL="574675" marR="0" lvl="0" indent="-234950" algn="l" defTabSz="914400" rtl="0" eaLnBrk="1" fontAlgn="auto" latinLnBrk="0" hangingPunct="1">
              <a:lnSpc>
                <a:spcPct val="90000"/>
              </a:lnSpc>
              <a:spcBef>
                <a:spcPts val="1000"/>
              </a:spcBef>
              <a:spcAft>
                <a:spcPts val="0"/>
              </a:spcAft>
              <a:buClrTx/>
              <a:buSzTx/>
              <a:buFont typeface="+mj-lt"/>
              <a:buAutoNum type="arabicPeriod" startAt="2"/>
              <a:tabLst/>
              <a:defRPr/>
            </a:pPr>
            <a:r>
              <a:rPr kumimoji="0" lang="en-US" sz="1600" b="0" i="0" u="sng" strike="noStrike" kern="1200" cap="none" spc="0" normalizeH="0" baseline="0" noProof="0" dirty="0">
                <a:ln>
                  <a:noFill/>
                </a:ln>
                <a:solidFill>
                  <a:prstClr val="black"/>
                </a:solidFill>
                <a:effectLst/>
                <a:uLnTx/>
                <a:uFillTx/>
                <a:latin typeface="Aptos" panose="02110004020202020204"/>
                <a:ea typeface="+mn-ea"/>
                <a:cs typeface="+mn-cs"/>
              </a:rPr>
              <a:t>Communication Cost:</a:t>
            </a:r>
          </a:p>
          <a:p>
            <a:pPr marL="1082675" lvl="1" indent="-285750">
              <a:buFont typeface="Courier New" panose="02070309020205020404" pitchFamily="49" charset="0"/>
              <a:buChar char="o"/>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To minimize the cost of moving data between tasks, we need to compute the </a:t>
            </a:r>
            <a:r>
              <a:rPr kumimoji="0" lang="en-US" sz="1600" b="1" i="0" u="none" strike="noStrike" kern="1200" cap="none" spc="0" normalizeH="0" baseline="0" noProof="0" dirty="0">
                <a:ln>
                  <a:noFill/>
                </a:ln>
                <a:solidFill>
                  <a:prstClr val="black"/>
                </a:solidFill>
                <a:effectLst/>
                <a:uLnTx/>
                <a:uFillTx/>
                <a:latin typeface="Aptos" panose="02110004020202020204"/>
                <a:ea typeface="+mn-ea"/>
                <a:cs typeface="+mn-cs"/>
              </a:rPr>
              <a:t>total communication cost</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for distributing the tuples from the three relations to the reducers:</a:t>
            </a:r>
          </a:p>
          <a:p>
            <a:pPr marL="1539875" lvl="2" indent="-285750">
              <a:defRPr/>
            </a:pPr>
            <a:r>
              <a:rPr kumimoji="0" lang="en-US" sz="1600" b="1" i="0" strike="noStrike" kern="1200" cap="none" spc="0" normalizeH="0" baseline="0" noProof="0" dirty="0">
                <a:ln>
                  <a:noFill/>
                </a:ln>
                <a:solidFill>
                  <a:prstClr val="black"/>
                </a:solidFill>
                <a:effectLst/>
                <a:uLnTx/>
                <a:uFillTx/>
                <a:latin typeface="Aptos" panose="02110004020202020204"/>
                <a:ea typeface="+mn-ea"/>
                <a:cs typeface="+mn-cs"/>
              </a:rPr>
              <a:t>Cost for relation </a:t>
            </a:r>
            <a:r>
              <a:rPr kumimoji="0" lang="en-US" sz="1600" b="1" i="1" strike="noStrike" kern="1200" cap="none" spc="0" normalizeH="0" baseline="0" noProof="0" dirty="0">
                <a:ln>
                  <a:noFill/>
                </a:ln>
                <a:solidFill>
                  <a:prstClr val="black"/>
                </a:solidFill>
                <a:effectLst/>
                <a:uLnTx/>
                <a:uFillTx/>
                <a:latin typeface="Aptos" panose="02110004020202020204"/>
                <a:ea typeface="+mn-ea"/>
                <a:cs typeface="+mn-cs"/>
              </a:rPr>
              <a:t>S</a:t>
            </a:r>
            <a:r>
              <a:rPr kumimoji="0" lang="en-US" sz="1600" i="0" strike="noStrike" kern="1200" cap="none" spc="0" normalizeH="0" baseline="0" noProof="0" dirty="0">
                <a:ln>
                  <a:noFill/>
                </a:ln>
                <a:solidFill>
                  <a:prstClr val="black"/>
                </a:solidFill>
                <a:effectLst/>
                <a:uLnTx/>
                <a:uFillTx/>
                <a:latin typeface="Aptos" panose="02110004020202020204"/>
                <a:ea typeface="+mn-ea"/>
                <a:cs typeface="+mn-cs"/>
              </a:rPr>
              <a:t>: </a:t>
            </a:r>
          </a:p>
          <a:p>
            <a:pPr marL="1546225" lvl="2" indent="-169863">
              <a:buNone/>
              <a:defRPr/>
            </a:pPr>
            <a:r>
              <a:rPr lang="en-US" sz="1600" dirty="0">
                <a:solidFill>
                  <a:prstClr val="black"/>
                </a:solidFill>
                <a:latin typeface="Aptos" panose="02110004020202020204"/>
              </a:rPr>
              <a:t>	</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Each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S</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-tuple is sent to exactly one reducer based on both the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B</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and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C</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-values, so the communication cost is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s</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1539875" lvl="2" indent="-285750">
              <a:defRPr/>
            </a:pPr>
            <a:r>
              <a:rPr kumimoji="0" lang="en-US" sz="1600" b="1" i="0" strike="noStrike" kern="1200" cap="none" spc="0" normalizeH="0" baseline="0" noProof="0" dirty="0">
                <a:ln>
                  <a:noFill/>
                </a:ln>
                <a:solidFill>
                  <a:prstClr val="black"/>
                </a:solidFill>
                <a:effectLst/>
                <a:uLnTx/>
                <a:uFillTx/>
                <a:latin typeface="Aptos" panose="02110004020202020204"/>
                <a:ea typeface="+mn-ea"/>
                <a:cs typeface="+mn-cs"/>
              </a:rPr>
              <a:t>Cost for relation </a:t>
            </a:r>
            <a:r>
              <a:rPr kumimoji="0" lang="en-US" sz="1600" b="1" i="1" strike="noStrike" kern="1200" cap="none" spc="0" normalizeH="0" baseline="0" noProof="0" dirty="0">
                <a:ln>
                  <a:noFill/>
                </a:ln>
                <a:solidFill>
                  <a:prstClr val="black"/>
                </a:solidFill>
                <a:effectLst/>
                <a:uLnTx/>
                <a:uFillTx/>
                <a:latin typeface="Aptos" panose="02110004020202020204"/>
                <a:ea typeface="+mn-ea"/>
                <a:cs typeface="+mn-cs"/>
              </a:rPr>
              <a:t>R</a:t>
            </a:r>
            <a:r>
              <a:rPr kumimoji="0" lang="en-US" sz="1600" i="0" strike="noStrike" kern="1200" cap="none" spc="0" normalizeH="0" baseline="0" noProof="0" dirty="0">
                <a:ln>
                  <a:noFill/>
                </a:ln>
                <a:solidFill>
                  <a:prstClr val="black"/>
                </a:solidFill>
                <a:effectLst/>
                <a:uLnTx/>
                <a:uFillTx/>
                <a:latin typeface="Aptos" panose="02110004020202020204"/>
                <a:ea typeface="+mn-ea"/>
                <a:cs typeface="+mn-cs"/>
              </a:rPr>
              <a:t>: </a:t>
            </a:r>
          </a:p>
          <a:p>
            <a:pPr marL="1546225" lvl="2" indent="0">
              <a:buNone/>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Each RRR-tuple is sent to ccc reducers (because the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C</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-value is unknown, and there are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c</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possible values for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C</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Thus, the communication cost is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cr</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1539875" lvl="2" indent="-285750">
              <a:defRPr/>
            </a:pPr>
            <a:r>
              <a:rPr kumimoji="0" lang="en-US" sz="1600" b="1" i="0" strike="noStrike" kern="1200" cap="none" spc="0" normalizeH="0" baseline="0" noProof="0" dirty="0">
                <a:ln>
                  <a:noFill/>
                </a:ln>
                <a:solidFill>
                  <a:prstClr val="black"/>
                </a:solidFill>
                <a:effectLst/>
                <a:uLnTx/>
                <a:uFillTx/>
                <a:latin typeface="Aptos" panose="02110004020202020204"/>
                <a:ea typeface="+mn-ea"/>
                <a:cs typeface="+mn-cs"/>
              </a:rPr>
              <a:t>Cost for relation </a:t>
            </a:r>
            <a:r>
              <a:rPr kumimoji="0" lang="en-US" sz="1600" b="1" i="1" strike="noStrike" kern="1200" cap="none" spc="0" normalizeH="0" baseline="0" noProof="0" dirty="0">
                <a:ln>
                  <a:noFill/>
                </a:ln>
                <a:solidFill>
                  <a:prstClr val="black"/>
                </a:solidFill>
                <a:effectLst/>
                <a:uLnTx/>
                <a:uFillTx/>
                <a:latin typeface="Aptos" panose="02110004020202020204"/>
                <a:ea typeface="+mn-ea"/>
                <a:cs typeface="+mn-cs"/>
              </a:rPr>
              <a:t>T</a:t>
            </a:r>
            <a:r>
              <a:rPr kumimoji="0" lang="en-US" sz="1600" i="0" strike="noStrike" kern="1200" cap="none" spc="0" normalizeH="0" baseline="0" noProof="0" dirty="0">
                <a:ln>
                  <a:noFill/>
                </a:ln>
                <a:solidFill>
                  <a:prstClr val="black"/>
                </a:solidFill>
                <a:effectLst/>
                <a:uLnTx/>
                <a:uFillTx/>
                <a:latin typeface="Aptos" panose="02110004020202020204"/>
                <a:ea typeface="+mn-ea"/>
                <a:cs typeface="+mn-cs"/>
              </a:rPr>
              <a:t>:</a:t>
            </a:r>
          </a:p>
          <a:p>
            <a:pPr marL="1546225" lvl="2" indent="0">
              <a:buNone/>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Similarly, each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T</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-tuple is sent to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b</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reducers (because the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B</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-value is unknown, and there are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b</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possible values for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B</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Thus, the communication cost is </a:t>
            </a:r>
            <a:r>
              <a:rPr kumimoji="0" lang="en-US" sz="1600" b="0" i="1" u="none" strike="noStrike" kern="1200" cap="none" spc="0" normalizeH="0" baseline="0" noProof="0" dirty="0" err="1">
                <a:ln>
                  <a:noFill/>
                </a:ln>
                <a:solidFill>
                  <a:prstClr val="black"/>
                </a:solidFill>
                <a:effectLst/>
                <a:uLnTx/>
                <a:uFillTx/>
                <a:latin typeface="Aptos" panose="02110004020202020204"/>
                <a:ea typeface="+mn-ea"/>
                <a:cs typeface="+mn-cs"/>
              </a:rPr>
              <a:t>bt</a:t>
            </a:r>
            <a:r>
              <a:rPr kumimoji="0" lang="en-US" sz="1600" b="0" i="0" u="none" strike="noStrike" kern="1200" cap="none" spc="0" normalizeH="0" baseline="0" noProof="0" dirty="0" err="1">
                <a:ln>
                  <a:noFill/>
                </a:ln>
                <a:solidFill>
                  <a:prstClr val="black"/>
                </a:solidFill>
                <a:effectLst/>
                <a:uLnTx/>
                <a:uFillTx/>
                <a:latin typeface="Aptos" panose="02110004020202020204"/>
                <a:ea typeface="+mn-ea"/>
                <a:cs typeface="+mn-cs"/>
              </a:rPr>
              <a:t>.</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1254125" lvl="2" indent="0">
              <a:buNone/>
              <a:defRPr/>
            </a:pP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1084263" lvl="1" indent="-282575">
              <a:buFont typeface="Courier New" panose="02070309020205020404" pitchFamily="49" charset="0"/>
              <a:buChar char="o"/>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In addition, there is a fixed cost of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r + s + t</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for sending each tuple to a Map task, which does not depend on the values of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b</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and </a:t>
            </a:r>
            <a:r>
              <a:rPr kumimoji="0" lang="en-US" sz="1600" b="0" i="1" u="none" strike="noStrike" kern="1200" cap="none" spc="0" normalizeH="0" baseline="0" noProof="0" dirty="0">
                <a:ln>
                  <a:noFill/>
                </a:ln>
                <a:solidFill>
                  <a:prstClr val="black"/>
                </a:solidFill>
                <a:effectLst/>
                <a:uLnTx/>
                <a:uFillTx/>
                <a:latin typeface="Aptos" panose="02110004020202020204"/>
                <a:ea typeface="+mn-ea"/>
                <a:cs typeface="+mn-cs"/>
              </a:rPr>
              <a:t>c</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9" name="Slide Number Placeholder 8">
            <a:extLst>
              <a:ext uri="{FF2B5EF4-FFF2-40B4-BE49-F238E27FC236}">
                <a16:creationId xmlns:a16="http://schemas.microsoft.com/office/drawing/2014/main" id="{6889FB4A-D800-F335-DB61-EF0B3421BBF0}"/>
              </a:ext>
            </a:extLst>
          </p:cNvPr>
          <p:cNvSpPr>
            <a:spLocks noGrp="1"/>
          </p:cNvSpPr>
          <p:nvPr>
            <p:ph type="sldNum" sz="quarter" idx="12"/>
          </p:nvPr>
        </p:nvSpPr>
        <p:spPr/>
        <p:txBody>
          <a:bodyPr/>
          <a:lstStyle/>
          <a:p>
            <a:fld id="{BBA2409C-9313-42BD-B852-D36E47DA4A25}" type="slidenum">
              <a:rPr lang="en-US" smtClean="0"/>
              <a:t>14</a:t>
            </a:fld>
            <a:endParaRPr lang="en-US"/>
          </a:p>
        </p:txBody>
      </p:sp>
      <p:sp>
        <p:nvSpPr>
          <p:cNvPr id="12" name="Rectangle 11">
            <a:extLst>
              <a:ext uri="{FF2B5EF4-FFF2-40B4-BE49-F238E27FC236}">
                <a16:creationId xmlns:a16="http://schemas.microsoft.com/office/drawing/2014/main" id="{F90F41AC-EE31-125E-B1D3-EF4DBFE159A0}"/>
              </a:ext>
            </a:extLst>
          </p:cNvPr>
          <p:cNvSpPr/>
          <p:nvPr/>
        </p:nvSpPr>
        <p:spPr>
          <a:xfrm>
            <a:off x="-1" y="2770"/>
            <a:ext cx="12192000" cy="13081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472A5CC0-962B-17B2-3282-B9F8E8DB7A4B}"/>
              </a:ext>
            </a:extLst>
          </p:cNvPr>
          <p:cNvSpPr>
            <a:spLocks noGrp="1"/>
          </p:cNvSpPr>
          <p:nvPr>
            <p:ph type="title"/>
          </p:nvPr>
        </p:nvSpPr>
        <p:spPr>
          <a:xfrm>
            <a:off x="623739" y="258116"/>
            <a:ext cx="10730061" cy="1203913"/>
          </a:xfrm>
        </p:spPr>
        <p:txBody>
          <a:bodyPr>
            <a:normAutofit/>
          </a:bodyPr>
          <a:lstStyle/>
          <a:p>
            <a:r>
              <a:rPr lang="en-US" sz="4400" dirty="0"/>
              <a:t>2.5.3 Multiway Joins (and Their Efficiency)</a:t>
            </a:r>
            <a:br>
              <a:rPr lang="en-US" sz="4400" dirty="0"/>
            </a:br>
            <a:r>
              <a:rPr lang="en-US" sz="2200" dirty="0"/>
              <a:t>Example 2.15: </a:t>
            </a:r>
            <a:endParaRPr lang="en-US" sz="4400" dirty="0"/>
          </a:p>
        </p:txBody>
      </p:sp>
      <p:sp>
        <p:nvSpPr>
          <p:cNvPr id="14" name="Rectangle 13">
            <a:extLst>
              <a:ext uri="{FF2B5EF4-FFF2-40B4-BE49-F238E27FC236}">
                <a16:creationId xmlns:a16="http://schemas.microsoft.com/office/drawing/2014/main" id="{AD9BAE3F-FF97-7679-3047-D28B557C4720}"/>
              </a:ext>
            </a:extLst>
          </p:cNvPr>
          <p:cNvSpPr/>
          <p:nvPr/>
        </p:nvSpPr>
        <p:spPr>
          <a:xfrm>
            <a:off x="472911" y="1336086"/>
            <a:ext cx="11246177" cy="89351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a:solidFill>
                  <a:schemeClr val="bg1"/>
                </a:solidFill>
              </a:rPr>
              <a:t>This example illustrates how </a:t>
            </a:r>
            <a:r>
              <a:rPr lang="en-US" sz="1400" b="1" dirty="0">
                <a:solidFill>
                  <a:schemeClr val="bg1"/>
                </a:solidFill>
              </a:rPr>
              <a:t>multiway joins</a:t>
            </a:r>
            <a:r>
              <a:rPr lang="en-US" sz="1400" dirty="0">
                <a:solidFill>
                  <a:schemeClr val="bg1"/>
                </a:solidFill>
              </a:rPr>
              <a:t> (joining multiple relations) can be optimized by </a:t>
            </a:r>
            <a:r>
              <a:rPr lang="en-US" sz="1400" b="1" dirty="0">
                <a:solidFill>
                  <a:schemeClr val="bg1"/>
                </a:solidFill>
              </a:rPr>
              <a:t>hashing</a:t>
            </a:r>
            <a:r>
              <a:rPr lang="en-US" sz="1400" dirty="0">
                <a:solidFill>
                  <a:schemeClr val="bg1"/>
                </a:solidFill>
              </a:rPr>
              <a:t> the key attributes and distributing them among reducers in a MapReduce framework. </a:t>
            </a:r>
          </a:p>
          <a:p>
            <a:pPr marL="285750" indent="-285750">
              <a:buFont typeface="Arial" panose="020B0604020202020204" pitchFamily="34" charset="0"/>
              <a:buChar char="•"/>
            </a:pPr>
            <a:r>
              <a:rPr lang="en-US" sz="1400" dirty="0">
                <a:solidFill>
                  <a:schemeClr val="bg1"/>
                </a:solidFill>
              </a:rPr>
              <a:t>The goal is to minimize the </a:t>
            </a:r>
            <a:r>
              <a:rPr lang="en-US" sz="1400" b="1" dirty="0">
                <a:solidFill>
                  <a:schemeClr val="bg1"/>
                </a:solidFill>
              </a:rPr>
              <a:t>communication cost</a:t>
            </a:r>
            <a:r>
              <a:rPr lang="en-US" sz="1400" dirty="0">
                <a:solidFill>
                  <a:schemeClr val="bg1"/>
                </a:solidFill>
              </a:rPr>
              <a:t> when moving data between tasks.</a:t>
            </a:r>
            <a:endParaRPr lang="en-US" sz="1400" u="sng" dirty="0">
              <a:solidFill>
                <a:schemeClr val="bg1"/>
              </a:solidFill>
            </a:endParaRPr>
          </a:p>
        </p:txBody>
      </p:sp>
    </p:spTree>
    <p:extLst>
      <p:ext uri="{BB962C8B-B14F-4D97-AF65-F5344CB8AC3E}">
        <p14:creationId xmlns:p14="http://schemas.microsoft.com/office/powerpoint/2010/main" val="3858666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8D16EA9-4C80-2DA4-8826-A93F9EA35FDA}"/>
                  </a:ext>
                </a:extLst>
              </p:cNvPr>
              <p:cNvSpPr>
                <a:spLocks noGrp="1"/>
              </p:cNvSpPr>
              <p:nvPr>
                <p:ph idx="1"/>
              </p:nvPr>
            </p:nvSpPr>
            <p:spPr>
              <a:xfrm>
                <a:off x="143757" y="2260728"/>
                <a:ext cx="11904483" cy="4095622"/>
              </a:xfrm>
            </p:spPr>
            <p:txBody>
              <a:bodyPr>
                <a:noAutofit/>
              </a:bodyPr>
              <a:lstStyle/>
              <a:p>
                <a:pPr marL="574675" indent="-234950">
                  <a:buNone/>
                </a:pPr>
                <a:r>
                  <a:rPr lang="en-US" sz="1600" dirty="0"/>
                  <a:t>3. </a:t>
                </a:r>
                <a:r>
                  <a:rPr lang="en-US" sz="1600" u="sng" dirty="0"/>
                  <a:t>Optimization Using Lagrange Multipliers:</a:t>
                </a:r>
              </a:p>
              <a:p>
                <a:pPr marL="1027113" indent="-285750">
                  <a:buFont typeface="Courier New" panose="02070309020205020404" pitchFamily="49" charset="0"/>
                  <a:buChar char="o"/>
                </a:pPr>
                <a:r>
                  <a:rPr lang="en-US" sz="1600" dirty="0"/>
                  <a:t>We want to minimize the total communication cost </a:t>
                </a:r>
                <a:r>
                  <a:rPr lang="en-US" sz="1600" i="1" dirty="0"/>
                  <a:t>s + </a:t>
                </a:r>
                <a:r>
                  <a:rPr lang="en-US" sz="1600" i="1" dirty="0" err="1"/>
                  <a:t>cr</a:t>
                </a:r>
                <a:r>
                  <a:rPr lang="en-US" sz="1600" i="1" dirty="0"/>
                  <a:t> + </a:t>
                </a:r>
                <a:r>
                  <a:rPr lang="en-US" sz="1600" i="1" dirty="0" err="1"/>
                  <a:t>bt</a:t>
                </a:r>
                <a:r>
                  <a:rPr lang="en-US" sz="1600" dirty="0"/>
                  <a:t>, subject to the constraint </a:t>
                </a:r>
                <a:r>
                  <a:rPr lang="en-US" sz="1600" i="1" dirty="0" err="1"/>
                  <a:t>bc</a:t>
                </a:r>
                <a:r>
                  <a:rPr lang="en-US" sz="1600" i="1" dirty="0"/>
                  <a:t> = k</a:t>
                </a:r>
                <a:r>
                  <a:rPr lang="en-US" sz="1600" dirty="0"/>
                  <a:t> (i.e., the product of the number of buckets for </a:t>
                </a:r>
                <a:r>
                  <a:rPr lang="en-US" sz="1600" i="1" dirty="0"/>
                  <a:t>B</a:t>
                </a:r>
                <a:r>
                  <a:rPr lang="en-US" sz="1600" dirty="0"/>
                  <a:t>-values and </a:t>
                </a:r>
                <a:r>
                  <a:rPr lang="en-US" sz="1600" i="1" dirty="0"/>
                  <a:t>C</a:t>
                </a:r>
                <a:r>
                  <a:rPr lang="en-US" sz="1600" dirty="0"/>
                  <a:t>-values must equal the total number of reducers).</a:t>
                </a:r>
              </a:p>
              <a:p>
                <a:pPr marL="1027113" indent="-285750">
                  <a:buFont typeface="Courier New" panose="02070309020205020404" pitchFamily="49" charset="0"/>
                  <a:buChar char="o"/>
                </a:pPr>
                <a:r>
                  <a:rPr lang="en-US" sz="1600" dirty="0"/>
                  <a:t>We use </a:t>
                </a:r>
                <a:r>
                  <a:rPr lang="en-US" sz="1600" b="1" dirty="0"/>
                  <a:t>Lagrange multipliers</a:t>
                </a:r>
                <a:r>
                  <a:rPr lang="en-US" sz="1600" dirty="0"/>
                  <a:t> to solve this optimization problem:</a:t>
                </a:r>
              </a:p>
              <a:p>
                <a:pPr marL="1484313" lvl="1" indent="-285750"/>
                <a:r>
                  <a:rPr lang="en-US" sz="1600" dirty="0"/>
                  <a:t>Set up the function </a:t>
                </a:r>
                <a:r>
                  <a:rPr lang="en-US" sz="1600" i="1" dirty="0"/>
                  <a:t>s + </a:t>
                </a:r>
                <a:r>
                  <a:rPr lang="en-US" sz="1600" i="1" dirty="0" err="1"/>
                  <a:t>cr</a:t>
                </a:r>
                <a:r>
                  <a:rPr lang="en-US" sz="1600" i="1" dirty="0"/>
                  <a:t> + </a:t>
                </a:r>
                <a:r>
                  <a:rPr lang="en-US" sz="1600" i="1" dirty="0" err="1"/>
                  <a:t>bt</a:t>
                </a:r>
                <a:r>
                  <a:rPr lang="en-US" sz="1600" i="1" dirty="0"/>
                  <a:t> − </a:t>
                </a:r>
                <a:r>
                  <a:rPr lang="el-GR" sz="1600" i="1" dirty="0"/>
                  <a:t>λ(</a:t>
                </a:r>
                <a:r>
                  <a:rPr lang="en-US" sz="1600" i="1" dirty="0" err="1"/>
                  <a:t>bc</a:t>
                </a:r>
                <a:r>
                  <a:rPr lang="en-US" sz="1600" i="1" dirty="0"/>
                  <a:t> − k)</a:t>
                </a:r>
                <a:r>
                  <a:rPr lang="en-US" sz="1600" dirty="0"/>
                  <a:t> where </a:t>
                </a:r>
                <a:r>
                  <a:rPr lang="el-GR" sz="1600" i="1" dirty="0"/>
                  <a:t>λ</a:t>
                </a:r>
                <a:r>
                  <a:rPr lang="en-US" sz="1600" dirty="0"/>
                  <a:t> is the Lagrange multiplier.</a:t>
                </a:r>
              </a:p>
              <a:p>
                <a:pPr marL="1484313" lvl="1" indent="-285750"/>
                <a:r>
                  <a:rPr lang="en-US" sz="1600" dirty="0"/>
                  <a:t>Taking partial derivatives with respect to </a:t>
                </a:r>
                <a:r>
                  <a:rPr lang="en-US" sz="1600" i="1" dirty="0"/>
                  <a:t>b</a:t>
                </a:r>
                <a:r>
                  <a:rPr lang="en-US" sz="1600" dirty="0"/>
                  <a:t> and </a:t>
                </a:r>
                <a:r>
                  <a:rPr lang="en-US" sz="1600" i="1" dirty="0"/>
                  <a:t>c</a:t>
                </a:r>
                <a:r>
                  <a:rPr lang="en-US" sz="1600" dirty="0"/>
                  <a:t>, we solve the equations: </a:t>
                </a:r>
              </a:p>
              <a:p>
                <a:pPr marL="1198563" lvl="1" indent="0">
                  <a:buNone/>
                </a:pPr>
                <a:r>
                  <a:rPr lang="en-US" sz="1600" i="1" dirty="0"/>
                  <a:t>			r − </a:t>
                </a:r>
                <a:r>
                  <a:rPr lang="el-GR" sz="1600" i="1" dirty="0"/>
                  <a:t>λ</a:t>
                </a:r>
                <a:r>
                  <a:rPr lang="en-US" sz="1600" i="1" dirty="0"/>
                  <a:t>b = 0   </a:t>
                </a:r>
                <a:r>
                  <a:rPr lang="en-US" sz="1600" dirty="0"/>
                  <a:t>and   </a:t>
                </a:r>
                <a:r>
                  <a:rPr lang="en-US" sz="1600" i="1" dirty="0"/>
                  <a:t>t − </a:t>
                </a:r>
                <a:r>
                  <a:rPr lang="el-GR" sz="1600" i="1" dirty="0"/>
                  <a:t>λ</a:t>
                </a:r>
                <a:r>
                  <a:rPr lang="en-US" sz="1600" i="1" dirty="0"/>
                  <a:t>c = 0 </a:t>
                </a:r>
              </a:p>
              <a:p>
                <a:pPr marL="1198563" lvl="1" indent="0">
                  <a:buNone/>
                </a:pPr>
                <a:r>
                  <a:rPr lang="en-US" sz="1600" dirty="0"/>
                  <a:t>From these, we find that </a:t>
                </a:r>
              </a:p>
              <a:p>
                <a:pPr marL="1198563" lvl="1" indent="0">
                  <a:buNone/>
                </a:pPr>
                <a:r>
                  <a:rPr lang="en-US" sz="1600" b="0" dirty="0"/>
                  <a:t>			</a:t>
                </a:r>
                <a14:m>
                  <m:oMath xmlns:m="http://schemas.openxmlformats.org/officeDocument/2006/math">
                    <m:r>
                      <a:rPr lang="en-US" sz="1600" b="0" i="1" smtClean="0">
                        <a:latin typeface="Cambria Math" panose="02040503050406030204" pitchFamily="18" charset="0"/>
                      </a:rPr>
                      <m:t>𝑏</m:t>
                    </m:r>
                    <m:r>
                      <a:rPr lang="en-US" sz="1600" i="1" smtClean="0">
                        <a:latin typeface="Cambria Math" panose="02040503050406030204" pitchFamily="18" charset="0"/>
                      </a:rPr>
                      <m:t>=</m:t>
                    </m:r>
                    <m:f>
                      <m:fPr>
                        <m:ctrlPr>
                          <a:rPr lang="en-US" sz="1600" i="1" smtClean="0">
                            <a:latin typeface="Cambria Math" panose="02040503050406030204" pitchFamily="18" charset="0"/>
                          </a:rPr>
                        </m:ctrlPr>
                      </m:fPr>
                      <m:num>
                        <m:rad>
                          <m:radPr>
                            <m:degHide m:val="on"/>
                            <m:ctrlPr>
                              <a:rPr lang="en-US" sz="1600" i="1" smtClean="0">
                                <a:latin typeface="Cambria Math" panose="02040503050406030204" pitchFamily="18" charset="0"/>
                              </a:rPr>
                            </m:ctrlPr>
                          </m:radPr>
                          <m:deg/>
                          <m:e>
                            <m:r>
                              <a:rPr lang="en-US" sz="1600" b="0" i="1" smtClean="0">
                                <a:latin typeface="Cambria Math" panose="02040503050406030204" pitchFamily="18" charset="0"/>
                              </a:rPr>
                              <m:t>𝑘𝑟</m:t>
                            </m:r>
                            <m:r>
                              <a:rPr lang="en-US" sz="1600" b="0" i="1" smtClean="0">
                                <a:latin typeface="Cambria Math" panose="02040503050406030204" pitchFamily="18" charset="0"/>
                              </a:rPr>
                              <m:t>/</m:t>
                            </m:r>
                            <m:r>
                              <a:rPr lang="en-US" sz="1600" b="0" i="1" smtClean="0">
                                <a:latin typeface="Cambria Math" panose="02040503050406030204" pitchFamily="18" charset="0"/>
                              </a:rPr>
                              <m:t>𝑡</m:t>
                            </m:r>
                          </m:e>
                        </m:rad>
                      </m:num>
                      <m:den>
                        <m:r>
                          <a:rPr lang="en-US" sz="1600" b="0" i="1" smtClean="0">
                            <a:latin typeface="Cambria Math" panose="02040503050406030204" pitchFamily="18" charset="0"/>
                          </a:rPr>
                          <m:t>𝑡</m:t>
                        </m:r>
                      </m:den>
                    </m:f>
                  </m:oMath>
                </a14:m>
                <a:r>
                  <a:rPr lang="en-US" sz="1600" dirty="0"/>
                  <a:t>   and   </a:t>
                </a:r>
                <a14:m>
                  <m:oMath xmlns:m="http://schemas.openxmlformats.org/officeDocument/2006/math">
                    <m:r>
                      <m:rPr>
                        <m:sty m:val="p"/>
                      </m:rPr>
                      <a:rPr lang="en-US" sz="1600" b="0" i="0" smtClean="0">
                        <a:latin typeface="Cambria Math" panose="02040503050406030204" pitchFamily="18" charset="0"/>
                      </a:rPr>
                      <m:t>c</m:t>
                    </m:r>
                    <m:r>
                      <a:rPr lang="en-US" sz="1600" i="1">
                        <a:latin typeface="Cambria Math" panose="02040503050406030204" pitchFamily="18" charset="0"/>
                      </a:rPr>
                      <m:t>=</m:t>
                    </m:r>
                    <m:f>
                      <m:fPr>
                        <m:ctrlPr>
                          <a:rPr lang="en-US" sz="1600" i="1">
                            <a:latin typeface="Cambria Math" panose="02040503050406030204" pitchFamily="18" charset="0"/>
                          </a:rPr>
                        </m:ctrlPr>
                      </m:fPr>
                      <m:num>
                        <m:rad>
                          <m:radPr>
                            <m:degHide m:val="on"/>
                            <m:ctrlPr>
                              <a:rPr lang="en-US" sz="1600" i="1">
                                <a:latin typeface="Cambria Math" panose="02040503050406030204" pitchFamily="18" charset="0"/>
                              </a:rPr>
                            </m:ctrlPr>
                          </m:radPr>
                          <m:deg/>
                          <m:e>
                            <m:r>
                              <a:rPr lang="en-US" sz="1600" i="1">
                                <a:latin typeface="Cambria Math" panose="02040503050406030204" pitchFamily="18" charset="0"/>
                              </a:rPr>
                              <m:t>𝑘</m:t>
                            </m:r>
                            <m:r>
                              <a:rPr lang="en-US" sz="1600" b="0" i="1" smtClean="0">
                                <a:latin typeface="Cambria Math" panose="02040503050406030204" pitchFamily="18" charset="0"/>
                              </a:rPr>
                              <m:t>𝑡</m:t>
                            </m:r>
                            <m:r>
                              <a:rPr lang="en-US" sz="1600" i="1">
                                <a:latin typeface="Cambria Math" panose="02040503050406030204" pitchFamily="18" charset="0"/>
                              </a:rPr>
                              <m:t>/</m:t>
                            </m:r>
                            <m:r>
                              <a:rPr lang="en-US" sz="1600" b="0" i="1" smtClean="0">
                                <a:latin typeface="Cambria Math" panose="02040503050406030204" pitchFamily="18" charset="0"/>
                              </a:rPr>
                              <m:t>𝑟</m:t>
                            </m:r>
                          </m:e>
                        </m:rad>
                      </m:num>
                      <m:den>
                        <m:r>
                          <a:rPr lang="en-US" sz="1600" b="0" i="1" smtClean="0">
                            <a:latin typeface="Cambria Math" panose="02040503050406030204" pitchFamily="18" charset="0"/>
                          </a:rPr>
                          <m:t>𝑟</m:t>
                        </m:r>
                      </m:den>
                    </m:f>
                  </m:oMath>
                </a14:m>
                <a:r>
                  <a:rPr lang="en-US" sz="1600" dirty="0"/>
                  <a:t> </a:t>
                </a:r>
              </a:p>
              <a:p>
                <a:pPr marL="1484313" lvl="1" indent="-285750"/>
                <a:r>
                  <a:rPr lang="en-US" sz="1600" dirty="0"/>
                  <a:t>Total communication cost =</a:t>
                </a:r>
              </a:p>
              <a:p>
                <a:pPr marL="1027113" indent="-285750">
                  <a:buFont typeface="Courier New" panose="02070309020205020404" pitchFamily="49" charset="0"/>
                  <a:buChar char="o"/>
                </a:pPr>
                <a:r>
                  <a:rPr lang="en-US" sz="1600" dirty="0"/>
                  <a:t>By optimizing how tuples are distributed to reducers using bucketing and hashing, we can reduce the total communication cost of performing multiway joins. </a:t>
                </a:r>
              </a:p>
              <a:p>
                <a:pPr marL="1027113" indent="-285750">
                  <a:buFont typeface="Courier New" panose="02070309020205020404" pitchFamily="49" charset="0"/>
                  <a:buChar char="o"/>
                </a:pPr>
                <a:r>
                  <a:rPr lang="en-US" sz="1600" dirty="0"/>
                  <a:t>The optimal number of buckets for the 𝐵- and 𝐶-values depends on the sizes of the relations 𝑟, 𝑠, and 𝑡, as well as the total number of reducers 𝑘.</a:t>
                </a:r>
              </a:p>
            </p:txBody>
          </p:sp>
        </mc:Choice>
        <mc:Fallback>
          <p:sp>
            <p:nvSpPr>
              <p:cNvPr id="3" name="Content Placeholder 2">
                <a:extLst>
                  <a:ext uri="{FF2B5EF4-FFF2-40B4-BE49-F238E27FC236}">
                    <a16:creationId xmlns:a16="http://schemas.microsoft.com/office/drawing/2014/main" id="{98D16EA9-4C80-2DA4-8826-A93F9EA35FDA}"/>
                  </a:ext>
                </a:extLst>
              </p:cNvPr>
              <p:cNvSpPr>
                <a:spLocks noGrp="1" noRot="1" noChangeAspect="1" noMove="1" noResize="1" noEditPoints="1" noAdjustHandles="1" noChangeArrowheads="1" noChangeShapeType="1" noTextEdit="1"/>
              </p:cNvSpPr>
              <p:nvPr>
                <p:ph idx="1"/>
              </p:nvPr>
            </p:nvSpPr>
            <p:spPr>
              <a:xfrm>
                <a:off x="143757" y="2260728"/>
                <a:ext cx="11904483" cy="4095622"/>
              </a:xfrm>
              <a:blipFill>
                <a:blip r:embed="rId3"/>
                <a:stretch>
                  <a:fillRect t="-1042" r="-102" b="-4464"/>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A45F7470-B0DB-D8C1-FA70-501E8D3EB340}"/>
              </a:ext>
            </a:extLst>
          </p:cNvPr>
          <p:cNvPicPr>
            <a:picLocks noChangeAspect="1"/>
          </p:cNvPicPr>
          <p:nvPr/>
        </p:nvPicPr>
        <p:blipFill>
          <a:blip r:embed="rId4"/>
          <a:stretch>
            <a:fillRect/>
          </a:stretch>
        </p:blipFill>
        <p:spPr>
          <a:xfrm>
            <a:off x="4254977" y="5182550"/>
            <a:ext cx="1733792" cy="247685"/>
          </a:xfrm>
          <a:prstGeom prst="rect">
            <a:avLst/>
          </a:prstGeom>
        </p:spPr>
      </p:pic>
      <p:sp>
        <p:nvSpPr>
          <p:cNvPr id="10" name="Slide Number Placeholder 9">
            <a:extLst>
              <a:ext uri="{FF2B5EF4-FFF2-40B4-BE49-F238E27FC236}">
                <a16:creationId xmlns:a16="http://schemas.microsoft.com/office/drawing/2014/main" id="{EADF1725-7A9E-C1A7-74A6-6BF397493978}"/>
              </a:ext>
            </a:extLst>
          </p:cNvPr>
          <p:cNvSpPr>
            <a:spLocks noGrp="1"/>
          </p:cNvSpPr>
          <p:nvPr>
            <p:ph type="sldNum" sz="quarter" idx="12"/>
          </p:nvPr>
        </p:nvSpPr>
        <p:spPr/>
        <p:txBody>
          <a:bodyPr/>
          <a:lstStyle/>
          <a:p>
            <a:fld id="{BBA2409C-9313-42BD-B852-D36E47DA4A25}" type="slidenum">
              <a:rPr lang="en-US" smtClean="0"/>
              <a:t>15</a:t>
            </a:fld>
            <a:endParaRPr lang="en-US"/>
          </a:p>
        </p:txBody>
      </p:sp>
      <p:sp>
        <p:nvSpPr>
          <p:cNvPr id="13" name="Rectangle 12">
            <a:extLst>
              <a:ext uri="{FF2B5EF4-FFF2-40B4-BE49-F238E27FC236}">
                <a16:creationId xmlns:a16="http://schemas.microsoft.com/office/drawing/2014/main" id="{82900D8B-012D-D575-DE50-9E06849F28F2}"/>
              </a:ext>
            </a:extLst>
          </p:cNvPr>
          <p:cNvSpPr/>
          <p:nvPr/>
        </p:nvSpPr>
        <p:spPr>
          <a:xfrm>
            <a:off x="-1" y="2770"/>
            <a:ext cx="12192000" cy="13081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C58587DA-AB2F-3B59-0E0A-24460B89EF19}"/>
              </a:ext>
            </a:extLst>
          </p:cNvPr>
          <p:cNvSpPr>
            <a:spLocks noGrp="1"/>
          </p:cNvSpPr>
          <p:nvPr>
            <p:ph type="title"/>
          </p:nvPr>
        </p:nvSpPr>
        <p:spPr>
          <a:xfrm>
            <a:off x="623739" y="258116"/>
            <a:ext cx="10730061" cy="1203913"/>
          </a:xfrm>
        </p:spPr>
        <p:txBody>
          <a:bodyPr>
            <a:normAutofit/>
          </a:bodyPr>
          <a:lstStyle/>
          <a:p>
            <a:r>
              <a:rPr lang="en-US" sz="4400" dirty="0"/>
              <a:t>2.5.3 Multiway Joins (and Their Efficiency)</a:t>
            </a:r>
            <a:br>
              <a:rPr lang="en-US" sz="4400" dirty="0"/>
            </a:br>
            <a:r>
              <a:rPr lang="en-US" sz="2200" dirty="0"/>
              <a:t>Example 2.15: </a:t>
            </a:r>
            <a:endParaRPr lang="en-US" sz="4400" dirty="0"/>
          </a:p>
        </p:txBody>
      </p:sp>
      <p:sp>
        <p:nvSpPr>
          <p:cNvPr id="15" name="Rectangle 14">
            <a:extLst>
              <a:ext uri="{FF2B5EF4-FFF2-40B4-BE49-F238E27FC236}">
                <a16:creationId xmlns:a16="http://schemas.microsoft.com/office/drawing/2014/main" id="{D7622D2D-E4ED-C2AD-C7B9-3F62F998E391}"/>
              </a:ext>
            </a:extLst>
          </p:cNvPr>
          <p:cNvSpPr/>
          <p:nvPr/>
        </p:nvSpPr>
        <p:spPr>
          <a:xfrm>
            <a:off x="472911" y="1336086"/>
            <a:ext cx="11246177" cy="89351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a:solidFill>
                  <a:schemeClr val="bg1"/>
                </a:solidFill>
              </a:rPr>
              <a:t>This example illustrates how </a:t>
            </a:r>
            <a:r>
              <a:rPr lang="en-US" sz="1400" b="1" dirty="0">
                <a:solidFill>
                  <a:schemeClr val="bg1"/>
                </a:solidFill>
              </a:rPr>
              <a:t>multiway joins</a:t>
            </a:r>
            <a:r>
              <a:rPr lang="en-US" sz="1400" dirty="0">
                <a:solidFill>
                  <a:schemeClr val="bg1"/>
                </a:solidFill>
              </a:rPr>
              <a:t> (joining multiple relations) can be optimized by </a:t>
            </a:r>
            <a:r>
              <a:rPr lang="en-US" sz="1400" b="1" dirty="0">
                <a:solidFill>
                  <a:schemeClr val="bg1"/>
                </a:solidFill>
              </a:rPr>
              <a:t>hashing</a:t>
            </a:r>
            <a:r>
              <a:rPr lang="en-US" sz="1400" dirty="0">
                <a:solidFill>
                  <a:schemeClr val="bg1"/>
                </a:solidFill>
              </a:rPr>
              <a:t> the key attributes and distributing them among reducers in a MapReduce framework. </a:t>
            </a:r>
          </a:p>
          <a:p>
            <a:pPr marL="285750" indent="-285750">
              <a:buFont typeface="Arial" panose="020B0604020202020204" pitchFamily="34" charset="0"/>
              <a:buChar char="•"/>
            </a:pPr>
            <a:r>
              <a:rPr lang="en-US" sz="1400" dirty="0">
                <a:solidFill>
                  <a:schemeClr val="bg1"/>
                </a:solidFill>
              </a:rPr>
              <a:t>The goal is to minimize the </a:t>
            </a:r>
            <a:r>
              <a:rPr lang="en-US" sz="1400" b="1" dirty="0">
                <a:solidFill>
                  <a:schemeClr val="bg1"/>
                </a:solidFill>
              </a:rPr>
              <a:t>communication cost</a:t>
            </a:r>
            <a:r>
              <a:rPr lang="en-US" sz="1400" dirty="0">
                <a:solidFill>
                  <a:schemeClr val="bg1"/>
                </a:solidFill>
              </a:rPr>
              <a:t> when moving data between tasks.</a:t>
            </a:r>
            <a:endParaRPr lang="en-US" sz="1400" u="sng" dirty="0">
              <a:solidFill>
                <a:schemeClr val="bg1"/>
              </a:solidFill>
            </a:endParaRPr>
          </a:p>
        </p:txBody>
      </p:sp>
    </p:spTree>
    <p:extLst>
      <p:ext uri="{BB962C8B-B14F-4D97-AF65-F5344CB8AC3E}">
        <p14:creationId xmlns:p14="http://schemas.microsoft.com/office/powerpoint/2010/main" val="2576398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17D1C45-BEA8-A16F-0208-E57A2A9FA77E}"/>
              </a:ext>
            </a:extLst>
          </p:cNvPr>
          <p:cNvSpPr/>
          <p:nvPr/>
        </p:nvSpPr>
        <p:spPr>
          <a:xfrm>
            <a:off x="-1" y="2770"/>
            <a:ext cx="12192000" cy="13081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31753-01E3-0A77-6DFD-5E7800E80FE2}"/>
              </a:ext>
            </a:extLst>
          </p:cNvPr>
          <p:cNvSpPr>
            <a:spLocks noGrp="1"/>
          </p:cNvSpPr>
          <p:nvPr>
            <p:ph type="title"/>
          </p:nvPr>
        </p:nvSpPr>
        <p:spPr/>
        <p:txBody>
          <a:bodyPr/>
          <a:lstStyle/>
          <a:p>
            <a:r>
              <a:rPr lang="en-US" sz="4400" dirty="0"/>
              <a:t>Star Joins</a:t>
            </a:r>
          </a:p>
        </p:txBody>
      </p:sp>
      <p:sp>
        <p:nvSpPr>
          <p:cNvPr id="3" name="Content Placeholder 2">
            <a:extLst>
              <a:ext uri="{FF2B5EF4-FFF2-40B4-BE49-F238E27FC236}">
                <a16:creationId xmlns:a16="http://schemas.microsoft.com/office/drawing/2014/main" id="{98D16EA9-4C80-2DA4-8826-A93F9EA35FDA}"/>
              </a:ext>
            </a:extLst>
          </p:cNvPr>
          <p:cNvSpPr>
            <a:spLocks noGrp="1"/>
          </p:cNvSpPr>
          <p:nvPr>
            <p:ph idx="1"/>
          </p:nvPr>
        </p:nvSpPr>
        <p:spPr>
          <a:xfrm>
            <a:off x="838200" y="1690688"/>
            <a:ext cx="10515600" cy="4486275"/>
          </a:xfrm>
        </p:spPr>
        <p:txBody>
          <a:bodyPr>
            <a:normAutofit/>
          </a:bodyPr>
          <a:lstStyle/>
          <a:p>
            <a:pPr>
              <a:lnSpc>
                <a:spcPct val="150000"/>
              </a:lnSpc>
              <a:buFont typeface="Wingdings" panose="05000000000000000000" pitchFamily="2" charset="2"/>
              <a:buChar char="Ø"/>
            </a:pPr>
            <a:r>
              <a:rPr lang="en-US" sz="1600" dirty="0"/>
              <a:t>A star join is a common structure in data mining, particularly in the context of commercial data, where it facilitates efficient querying and analysis. </a:t>
            </a:r>
          </a:p>
          <a:p>
            <a:pPr>
              <a:lnSpc>
                <a:spcPct val="150000"/>
              </a:lnSpc>
              <a:buFont typeface="Wingdings" panose="05000000000000000000" pitchFamily="2" charset="2"/>
              <a:buChar char="Ø"/>
            </a:pPr>
            <a:r>
              <a:rPr lang="en-US" sz="1600" dirty="0"/>
              <a:t>Star joins optimize the performance of analytical queries in data warehousing by leveraging the structure of fact and dimension tables. </a:t>
            </a:r>
          </a:p>
          <a:p>
            <a:pPr>
              <a:lnSpc>
                <a:spcPct val="150000"/>
              </a:lnSpc>
              <a:buFont typeface="Wingdings" panose="05000000000000000000" pitchFamily="2" charset="2"/>
              <a:buChar char="Ø"/>
            </a:pPr>
            <a:r>
              <a:rPr lang="en-US" sz="1600" dirty="0"/>
              <a:t>By utilizing multiway joins and effective data distribution strategies, star joins can significantly reduce communication costs, leading to faster query execution and more efficient data analysis. </a:t>
            </a:r>
          </a:p>
          <a:p>
            <a:pPr>
              <a:lnSpc>
                <a:spcPct val="150000"/>
              </a:lnSpc>
              <a:buFont typeface="Wingdings" panose="05000000000000000000" pitchFamily="2" charset="2"/>
              <a:buChar char="Ø"/>
            </a:pPr>
            <a:r>
              <a:rPr lang="en-US" sz="1600" dirty="0"/>
              <a:t>This structure is particularly valuable when dealing with large datasets, where minimizing the movement of data can greatly enhance performance.</a:t>
            </a:r>
            <a:endParaRPr lang="en-US" sz="1800" dirty="0"/>
          </a:p>
        </p:txBody>
      </p:sp>
      <p:sp>
        <p:nvSpPr>
          <p:cNvPr id="4" name="Slide Number Placeholder 3">
            <a:extLst>
              <a:ext uri="{FF2B5EF4-FFF2-40B4-BE49-F238E27FC236}">
                <a16:creationId xmlns:a16="http://schemas.microsoft.com/office/drawing/2014/main" id="{FB96F1B4-8E35-80B3-0B8D-A1790EA16918}"/>
              </a:ext>
            </a:extLst>
          </p:cNvPr>
          <p:cNvSpPr>
            <a:spLocks noGrp="1"/>
          </p:cNvSpPr>
          <p:nvPr>
            <p:ph type="sldNum" sz="quarter" idx="12"/>
          </p:nvPr>
        </p:nvSpPr>
        <p:spPr/>
        <p:txBody>
          <a:bodyPr/>
          <a:lstStyle/>
          <a:p>
            <a:fld id="{BBA2409C-9313-42BD-B852-D36E47DA4A25}" type="slidenum">
              <a:rPr lang="en-US" smtClean="0"/>
              <a:t>16</a:t>
            </a:fld>
            <a:endParaRPr lang="en-US"/>
          </a:p>
        </p:txBody>
      </p:sp>
    </p:spTree>
    <p:extLst>
      <p:ext uri="{BB962C8B-B14F-4D97-AF65-F5344CB8AC3E}">
        <p14:creationId xmlns:p14="http://schemas.microsoft.com/office/powerpoint/2010/main" val="2935666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7CEFEC-F263-138F-F418-8FB420054BD4}"/>
              </a:ext>
            </a:extLst>
          </p:cNvPr>
          <p:cNvSpPr>
            <a:spLocks noGrp="1"/>
          </p:cNvSpPr>
          <p:nvPr>
            <p:ph idx="1"/>
          </p:nvPr>
        </p:nvSpPr>
        <p:spPr>
          <a:xfrm>
            <a:off x="2531882" y="2958044"/>
            <a:ext cx="7128235" cy="941911"/>
          </a:xfrm>
        </p:spPr>
        <p:txBody>
          <a:bodyPr>
            <a:normAutofit/>
          </a:bodyPr>
          <a:lstStyle/>
          <a:p>
            <a:pPr marL="0" indent="0">
              <a:buNone/>
            </a:pPr>
            <a:r>
              <a:rPr lang="en-US" sz="5400" dirty="0"/>
              <a:t>Thank you for Listening.</a:t>
            </a:r>
          </a:p>
        </p:txBody>
      </p:sp>
      <p:sp>
        <p:nvSpPr>
          <p:cNvPr id="2" name="Slide Number Placeholder 1">
            <a:extLst>
              <a:ext uri="{FF2B5EF4-FFF2-40B4-BE49-F238E27FC236}">
                <a16:creationId xmlns:a16="http://schemas.microsoft.com/office/drawing/2014/main" id="{C548360D-D6AF-60E5-BAD3-641B67BFB738}"/>
              </a:ext>
            </a:extLst>
          </p:cNvPr>
          <p:cNvSpPr>
            <a:spLocks noGrp="1"/>
          </p:cNvSpPr>
          <p:nvPr>
            <p:ph type="sldNum" sz="quarter" idx="12"/>
          </p:nvPr>
        </p:nvSpPr>
        <p:spPr/>
        <p:txBody>
          <a:bodyPr/>
          <a:lstStyle/>
          <a:p>
            <a:fld id="{BBA2409C-9313-42BD-B852-D36E47DA4A25}" type="slidenum">
              <a:rPr lang="en-US" smtClean="0"/>
              <a:t>17</a:t>
            </a:fld>
            <a:endParaRPr lang="en-US"/>
          </a:p>
        </p:txBody>
      </p:sp>
      <p:sp>
        <p:nvSpPr>
          <p:cNvPr id="4" name="Rectangle 3">
            <a:extLst>
              <a:ext uri="{FF2B5EF4-FFF2-40B4-BE49-F238E27FC236}">
                <a16:creationId xmlns:a16="http://schemas.microsoft.com/office/drawing/2014/main" id="{1F5FEA84-A040-BCD1-6F3D-D35F393D8C22}"/>
              </a:ext>
            </a:extLst>
          </p:cNvPr>
          <p:cNvSpPr/>
          <p:nvPr/>
        </p:nvSpPr>
        <p:spPr>
          <a:xfrm>
            <a:off x="-1" y="2770"/>
            <a:ext cx="12192000" cy="13081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07779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11133</TotalTime>
  <Words>2778</Words>
  <Application>Microsoft Office PowerPoint</Application>
  <PresentationFormat>Widescreen</PresentationFormat>
  <Paragraphs>183</Paragraphs>
  <Slides>17</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Aptos Display</vt:lpstr>
      <vt:lpstr>Arial</vt:lpstr>
      <vt:lpstr>Cambria Math</vt:lpstr>
      <vt:lpstr>Courier New</vt:lpstr>
      <vt:lpstr>Wingdings</vt:lpstr>
      <vt:lpstr>Office Theme</vt:lpstr>
      <vt:lpstr>Mining of Massive Datasets</vt:lpstr>
      <vt:lpstr>Content</vt:lpstr>
      <vt:lpstr>2.5 Communication-Cost Model Overview</vt:lpstr>
      <vt:lpstr>2.5.1 Communication Cost for Task Networks</vt:lpstr>
      <vt:lpstr>2.5.1 Communication Cost for Task Networks</vt:lpstr>
      <vt:lpstr>2.5.1 Communication Cost for Task Networks Example </vt:lpstr>
      <vt:lpstr>2.5.1 Communication Cost for Task Networks Example –cont. </vt:lpstr>
      <vt:lpstr>2.5.2  Wall-Clock Time</vt:lpstr>
      <vt:lpstr>2.5.3 Multiway Joins (and Their Efficiency)</vt:lpstr>
      <vt:lpstr>2.5.3 Multiway Joins (and Their Efficiency)</vt:lpstr>
      <vt:lpstr>2.5.3 Multiway Joins (and Their Efficiency)</vt:lpstr>
      <vt:lpstr>2.5.3 Multiway Joins (and Their Efficiency)</vt:lpstr>
      <vt:lpstr>2.5.3 Multiway Joins (and Their Efficiency) Example 2.15: </vt:lpstr>
      <vt:lpstr>2.5.3 Multiway Joins (and Their Efficiency) Example 2.15: </vt:lpstr>
      <vt:lpstr>2.5.3 Multiway Joins (and Their Efficiency) Example 2.15: </vt:lpstr>
      <vt:lpstr>Star Joins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IYORTSUUN NGUMIMI KAREN</dc:creator>
  <cp:lastModifiedBy>IYORTSUUN NGUMIMI KAREN</cp:lastModifiedBy>
  <cp:revision>68</cp:revision>
  <dcterms:created xsi:type="dcterms:W3CDTF">2024-09-19T06:25:55Z</dcterms:created>
  <dcterms:modified xsi:type="dcterms:W3CDTF">2024-09-27T02:09:59Z</dcterms:modified>
</cp:coreProperties>
</file>