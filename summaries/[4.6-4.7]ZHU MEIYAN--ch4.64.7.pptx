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handoutMasterIdLst>
    <p:handoutMasterId r:id="rId28"/>
  </p:handoutMasterIdLst>
  <p:sldIdLst>
    <p:sldId id="256" r:id="rId2"/>
    <p:sldId id="371" r:id="rId3"/>
    <p:sldId id="389" r:id="rId4"/>
    <p:sldId id="390" r:id="rId5"/>
    <p:sldId id="394" r:id="rId6"/>
    <p:sldId id="408" r:id="rId7"/>
    <p:sldId id="395" r:id="rId8"/>
    <p:sldId id="396" r:id="rId9"/>
    <p:sldId id="397" r:id="rId10"/>
    <p:sldId id="414" r:id="rId11"/>
    <p:sldId id="398" r:id="rId12"/>
    <p:sldId id="409" r:id="rId13"/>
    <p:sldId id="399" r:id="rId14"/>
    <p:sldId id="413" r:id="rId15"/>
    <p:sldId id="400" r:id="rId16"/>
    <p:sldId id="412" r:id="rId17"/>
    <p:sldId id="402" r:id="rId18"/>
    <p:sldId id="403" r:id="rId19"/>
    <p:sldId id="404" r:id="rId20"/>
    <p:sldId id="410" r:id="rId21"/>
    <p:sldId id="411" r:id="rId22"/>
    <p:sldId id="405" r:id="rId23"/>
    <p:sldId id="406" r:id="rId24"/>
    <p:sldId id="407" r:id="rId25"/>
    <p:sldId id="391" r:id="rId2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8">
          <p15:clr>
            <a:srgbClr val="A4A3A4"/>
          </p15:clr>
        </p15:guide>
        <p15:guide id="2" pos="1134">
          <p15:clr>
            <a:srgbClr val="A4A3A4"/>
          </p15:clr>
        </p15:guide>
        <p15:guide id="3" pos="4989">
          <p15:clr>
            <a:srgbClr val="A4A3A4"/>
          </p15:clr>
        </p15:guide>
        <p15:guide id="4"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8479"/>
    <a:srgbClr val="96ADE3"/>
    <a:srgbClr val="FDD9DD"/>
    <a:srgbClr val="FAF5C6"/>
    <a:srgbClr val="FDCCD5"/>
    <a:srgbClr val="7E5432"/>
    <a:srgbClr val="FEE978"/>
    <a:srgbClr val="B09178"/>
    <a:srgbClr val="FFCCCC"/>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23" autoAdjust="0"/>
    <p:restoredTop sz="95065" autoAdjust="0"/>
  </p:normalViewPr>
  <p:slideViewPr>
    <p:cSldViewPr snapToGrid="0" showGuides="1">
      <p:cViewPr varScale="1">
        <p:scale>
          <a:sx n="119" d="100"/>
          <a:sy n="119" d="100"/>
        </p:scale>
        <p:origin x="571" y="96"/>
      </p:cViewPr>
      <p:guideLst>
        <p:guide orient="horz" pos="2028"/>
        <p:guide pos="1134"/>
        <p:guide pos="4989"/>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3187"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B9392A-C105-4710-8001-B3A67B0597E4}" type="datetimeFigureOut">
              <a:rPr lang="zh-CN" altLang="en-US" smtClean="0"/>
              <a:t>2024/10/14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E52076-D047-429E-A09B-4DB35F59F1D9}"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1567A1-7AD5-42DF-97CC-D5DA309A0336}" type="datetimeFigureOut">
              <a:rPr lang="zh-CN" altLang="en-US" smtClean="0"/>
              <a:t>2024/10/14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3CA0C9-23AA-4729-8F4B-1E84998652C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1B32FD01-6AD2-47DB-A639-46771605062F}" type="datetimeFigureOut">
              <a:rPr lang="zh-CN" altLang="en-US" smtClean="0"/>
              <a:t>2024/10/14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22ABEB3-3FA0-4F7C-8D69-FBAD2A60C7F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1B32FD01-6AD2-47DB-A639-46771605062F}" type="datetimeFigureOut">
              <a:rPr lang="zh-CN" altLang="en-US" smtClean="0"/>
              <a:t>2024/10/14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22ABEB3-3FA0-4F7C-8D69-FBAD2A60C7F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B32FD01-6AD2-47DB-A639-46771605062F}" type="datetimeFigureOut">
              <a:rPr lang="zh-CN" altLang="en-US" smtClean="0"/>
              <a:t>2024/10/14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22ABEB3-3FA0-4F7C-8D69-FBAD2A60C7F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32FD01-6AD2-47DB-A639-46771605062F}" type="datetimeFigureOut">
              <a:rPr lang="zh-CN" altLang="en-US" smtClean="0"/>
              <a:t>2024/10/14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22ABEB3-3FA0-4F7C-8D69-FBAD2A60C7F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1B32FD01-6AD2-47DB-A639-46771605062F}" type="datetimeFigureOut">
              <a:rPr lang="zh-CN" altLang="en-US" smtClean="0"/>
              <a:t>2024/10/14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22ABEB3-3FA0-4F7C-8D69-FBAD2A60C7F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1B32FD01-6AD2-47DB-A639-46771605062F}" type="datetimeFigureOut">
              <a:rPr lang="zh-CN" altLang="en-US" smtClean="0"/>
              <a:t>2024/10/14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22ABEB3-3FA0-4F7C-8D69-FBAD2A60C7FD}"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B32FD01-6AD2-47DB-A639-46771605062F}" type="datetimeFigureOut">
              <a:rPr lang="zh-CN" altLang="en-US" smtClean="0"/>
              <a:t>2024/10/14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22ABEB3-3FA0-4F7C-8D69-FBAD2A60C7FD}"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B32FD01-6AD2-47DB-A639-46771605062F}" type="datetimeFigureOut">
              <a:rPr lang="zh-CN" altLang="en-US" smtClean="0"/>
              <a:t>2024/10/14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22ABEB3-3FA0-4F7C-8D69-FBAD2A60C7FD}"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B32FD01-6AD2-47DB-A639-46771605062F}" type="datetimeFigureOut">
              <a:rPr lang="zh-CN" altLang="en-US" smtClean="0"/>
              <a:t>2024/10/14</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F22ABEB3-3FA0-4F7C-8D69-FBAD2A60C7F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326BB14-DD74-5D9A-7C10-2FBB41C4E604}"/>
              </a:ext>
            </a:extLst>
          </p:cNvPr>
          <p:cNvSpPr/>
          <p:nvPr/>
        </p:nvSpPr>
        <p:spPr>
          <a:xfrm>
            <a:off x="428222" y="777575"/>
            <a:ext cx="8287555" cy="3491970"/>
          </a:xfrm>
          <a:prstGeom prst="rect">
            <a:avLst/>
          </a:prstGeom>
          <a:solidFill>
            <a:srgbClr val="FAF5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文本框 12"/>
          <p:cNvSpPr txBox="1"/>
          <p:nvPr/>
        </p:nvSpPr>
        <p:spPr>
          <a:xfrm>
            <a:off x="902801" y="1278479"/>
            <a:ext cx="7324309" cy="1107996"/>
          </a:xfrm>
          <a:prstGeom prst="rect">
            <a:avLst/>
          </a:prstGeom>
          <a:noFill/>
        </p:spPr>
        <p:txBody>
          <a:bodyPr wrap="square" rtlCol="0">
            <a:spAutoFit/>
          </a:bodyPr>
          <a:lstStyle/>
          <a:p>
            <a:pPr algn="ctr"/>
            <a:r>
              <a:rPr lang="en-US" altLang="zh-CN" sz="6600" b="1" dirty="0">
                <a:solidFill>
                  <a:srgbClr val="96ADE3"/>
                </a:solidFill>
                <a:latin typeface="Segoe UI Black" panose="020B0A02040204020203" pitchFamily="34" charset="0"/>
                <a:ea typeface="Segoe UI Black" panose="020B0A02040204020203" pitchFamily="34" charset="0"/>
              </a:rPr>
              <a:t>Chapter 4.6 &amp; 4.7 </a:t>
            </a:r>
            <a:endParaRPr lang="zh-CN" altLang="en-US" sz="6600" b="1" dirty="0">
              <a:solidFill>
                <a:srgbClr val="96ADE3"/>
              </a:solidFill>
              <a:latin typeface="Segoe UI Black" panose="020B0A02040204020203" pitchFamily="34" charset="0"/>
              <a:ea typeface="+mj-ea"/>
            </a:endParaRPr>
          </a:p>
        </p:txBody>
      </p:sp>
      <p:pic>
        <p:nvPicPr>
          <p:cNvPr id="4" name="图片 3">
            <a:extLst>
              <a:ext uri="{FF2B5EF4-FFF2-40B4-BE49-F238E27FC236}">
                <a16:creationId xmlns:a16="http://schemas.microsoft.com/office/drawing/2014/main" id="{15183EDF-14C3-D465-9948-90A1D4498F2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9925" y="2523560"/>
            <a:ext cx="1313328" cy="1292575"/>
          </a:xfrm>
          <a:prstGeom prst="rect">
            <a:avLst/>
          </a:prstGeom>
        </p:spPr>
      </p:pic>
      <p:sp>
        <p:nvSpPr>
          <p:cNvPr id="11" name="文本框 10">
            <a:extLst>
              <a:ext uri="{FF2B5EF4-FFF2-40B4-BE49-F238E27FC236}">
                <a16:creationId xmlns:a16="http://schemas.microsoft.com/office/drawing/2014/main" id="{D0F2CEAA-03D2-BF53-DE02-61DFAC7366CB}"/>
              </a:ext>
            </a:extLst>
          </p:cNvPr>
          <p:cNvSpPr txBox="1"/>
          <p:nvPr/>
        </p:nvSpPr>
        <p:spPr>
          <a:xfrm>
            <a:off x="4471036" y="2681679"/>
            <a:ext cx="3756074" cy="129266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E28479"/>
                </a:solidFill>
                <a:effectLst/>
                <a:uLnTx/>
                <a:uFillTx/>
                <a:latin typeface="Britannic Bold" panose="020B0903060703020204" pitchFamily="34" charset="0"/>
                <a:ea typeface="Segoe UI Black" panose="020B0A02040204020203" pitchFamily="34" charset="0"/>
              </a:rPr>
              <a:t>Name: </a:t>
            </a:r>
            <a:r>
              <a:rPr kumimoji="0" lang="en-US" altLang="zh-CN" sz="2000" b="0" i="0" u="none" strike="noStrike" kern="1200" cap="none" spc="0" normalizeH="0" baseline="0" noProof="0" dirty="0">
                <a:ln>
                  <a:noFill/>
                </a:ln>
                <a:solidFill>
                  <a:srgbClr val="96ADE3"/>
                </a:solidFill>
                <a:effectLst/>
                <a:uLnTx/>
                <a:uFillTx/>
                <a:latin typeface="Britannic Bold" panose="020B0903060703020204" pitchFamily="34" charset="0"/>
                <a:ea typeface="Segoe UI Black" panose="020B0A02040204020203" pitchFamily="34" charset="0"/>
              </a:rPr>
              <a:t>ZHU MEIYAN</a:t>
            </a:r>
          </a:p>
          <a:p>
            <a:pPr marL="0" marR="0" lvl="0" indent="0" algn="ctr" defTabSz="457200" rtl="0" eaLnBrk="1" fontAlgn="auto" latinLnBrk="0" hangingPunct="1">
              <a:lnSpc>
                <a:spcPct val="100000"/>
              </a:lnSpc>
              <a:spcBef>
                <a:spcPts val="0"/>
              </a:spcBef>
              <a:spcAft>
                <a:spcPts val="0"/>
              </a:spcAft>
              <a:buClrTx/>
              <a:buSzTx/>
              <a:buFontTx/>
              <a:buNone/>
              <a:defRPr/>
            </a:pPr>
            <a:r>
              <a:rPr lang="en-US" altLang="zh-CN" sz="2000" dirty="0">
                <a:solidFill>
                  <a:srgbClr val="E28479"/>
                </a:solidFill>
                <a:latin typeface="Britannic Bold" panose="020B0903060703020204" pitchFamily="34" charset="0"/>
                <a:ea typeface="Segoe UI Black" panose="020B0A02040204020203" pitchFamily="34" charset="0"/>
              </a:rPr>
              <a:t>Major: </a:t>
            </a:r>
            <a:r>
              <a:rPr lang="en-US" altLang="zh-CN" sz="2000" dirty="0">
                <a:solidFill>
                  <a:srgbClr val="96ADE3"/>
                </a:solidFill>
                <a:latin typeface="Britannic Bold" panose="020B0903060703020204" pitchFamily="34" charset="0"/>
                <a:ea typeface="Segoe UI Black" panose="020B0A02040204020203" pitchFamily="34" charset="0"/>
              </a:rPr>
              <a:t>Clothing &amp;</a:t>
            </a:r>
            <a:r>
              <a:rPr lang="zh-CN" altLang="en-US" sz="2000" dirty="0">
                <a:solidFill>
                  <a:srgbClr val="96ADE3"/>
                </a:solidFill>
                <a:latin typeface="Britannic Bold" panose="020B0903060703020204" pitchFamily="34" charset="0"/>
                <a:ea typeface="Segoe UI Black" panose="020B0A02040204020203" pitchFamily="34" charset="0"/>
              </a:rPr>
              <a:t> </a:t>
            </a:r>
            <a:r>
              <a:rPr lang="en-US" altLang="zh-CN" sz="2000" dirty="0">
                <a:solidFill>
                  <a:srgbClr val="96ADE3"/>
                </a:solidFill>
                <a:latin typeface="Britannic Bold" panose="020B0903060703020204" pitchFamily="34" charset="0"/>
                <a:ea typeface="Segoe UI Black" panose="020B0A02040204020203" pitchFamily="34" charset="0"/>
              </a:rPr>
              <a:t>Textiles</a:t>
            </a:r>
          </a:p>
          <a:p>
            <a:pPr marL="0" marR="0" lvl="0" indent="0" algn="ctr" defTabSz="457200" rtl="0" eaLnBrk="1" fontAlgn="auto" latinLnBrk="0" hangingPunct="1">
              <a:lnSpc>
                <a:spcPct val="100000"/>
              </a:lnSpc>
              <a:spcBef>
                <a:spcPts val="0"/>
              </a:spcBef>
              <a:spcAft>
                <a:spcPts val="0"/>
              </a:spcAft>
              <a:buClrTx/>
              <a:buSzTx/>
              <a:buFontTx/>
              <a:buNone/>
              <a:defRPr/>
            </a:pPr>
            <a:r>
              <a:rPr lang="en-US" altLang="zh-CN" sz="2000" dirty="0">
                <a:solidFill>
                  <a:srgbClr val="96ADE3"/>
                </a:solidFill>
                <a:latin typeface="Britannic Bold" panose="020B0903060703020204" pitchFamily="34" charset="0"/>
                <a:ea typeface="Segoe UI Black" panose="020B0A02040204020203" pitchFamily="34" charset="0"/>
              </a:rPr>
              <a:t>2024.10.14</a:t>
            </a:r>
          </a:p>
          <a:p>
            <a:endParaRPr lang="ko-KR" altLang="en-US" dirty="0"/>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sp>
        <p:nvSpPr>
          <p:cNvPr id="3" name="文本框 20">
            <a:extLst>
              <a:ext uri="{FF2B5EF4-FFF2-40B4-BE49-F238E27FC236}">
                <a16:creationId xmlns:a16="http://schemas.microsoft.com/office/drawing/2014/main" id="{C56655E8-905F-A944-E570-8939C2C37FA6}"/>
              </a:ext>
            </a:extLst>
          </p:cNvPr>
          <p:cNvSpPr txBox="1"/>
          <p:nvPr/>
        </p:nvSpPr>
        <p:spPr>
          <a:xfrm>
            <a:off x="456300" y="810898"/>
            <a:ext cx="8231389" cy="707886"/>
          </a:xfrm>
          <a:prstGeom prst="rect">
            <a:avLst/>
          </a:prstGeom>
          <a:noFill/>
        </p:spPr>
        <p:txBody>
          <a:bodyPr wrap="square" rtlCol="0">
            <a:spAutoFit/>
          </a:bodyPr>
          <a:lstStyle/>
          <a:p>
            <a:pPr algn="ctr"/>
            <a:r>
              <a:rPr lang="en-US" altLang="zh-CN" sz="4000" dirty="0">
                <a:solidFill>
                  <a:srgbClr val="96ADE3"/>
                </a:solidFill>
                <a:latin typeface="Segoe UI Black" panose="020B0A02040204020203" pitchFamily="34" charset="0"/>
                <a:ea typeface="Segoe UI Black" panose="020B0A02040204020203" pitchFamily="34" charset="0"/>
              </a:rPr>
              <a:t>4.6 Counting Ones in a Window</a:t>
            </a:r>
            <a:endParaRPr lang="zh-CN" altLang="en-US" sz="4000" dirty="0">
              <a:solidFill>
                <a:srgbClr val="96ADE3"/>
              </a:solidFill>
              <a:latin typeface="Segoe UI Black" panose="020B0A02040204020203" pitchFamily="34" charset="0"/>
            </a:endParaRPr>
          </a:p>
        </p:txBody>
      </p:sp>
      <p:sp>
        <p:nvSpPr>
          <p:cNvPr id="5" name="TextBox 3">
            <a:extLst>
              <a:ext uri="{FF2B5EF4-FFF2-40B4-BE49-F238E27FC236}">
                <a16:creationId xmlns:a16="http://schemas.microsoft.com/office/drawing/2014/main" id="{730707A3-5669-FC59-3D3B-4FEDEEB94661}"/>
              </a:ext>
            </a:extLst>
          </p:cNvPr>
          <p:cNvSpPr txBox="1"/>
          <p:nvPr/>
        </p:nvSpPr>
        <p:spPr>
          <a:xfrm>
            <a:off x="739508" y="2428772"/>
            <a:ext cx="7664984" cy="1631216"/>
          </a:xfrm>
          <a:prstGeom prst="rect">
            <a:avLst/>
          </a:prstGeom>
          <a:noFill/>
        </p:spPr>
        <p:txBody>
          <a:bodyPr wrap="square" rtlCol="0">
            <a:spAutoFit/>
          </a:bodyPr>
          <a:lstStyle/>
          <a:p>
            <a:pPr algn="just"/>
            <a:r>
              <a:rPr lang="en-US" altLang="ko-KR" sz="2000" dirty="0"/>
              <a:t>To count the exact number of 1s in the last k bits, you need to store all N bits. Any representation using fewer bits than N  won’t work. </a:t>
            </a:r>
          </a:p>
          <a:p>
            <a:pPr algn="just"/>
            <a:r>
              <a:rPr lang="en-US" altLang="ko-KR" sz="2000" dirty="0"/>
              <a:t>If one bit in the last k bits has the same representation as another in the two different bit strings w and x, it results in a contradiction.</a:t>
            </a:r>
          </a:p>
          <a:p>
            <a:r>
              <a:rPr lang="en-US" altLang="ko-KR" sz="2000" dirty="0"/>
              <a:t>Essentially, minimum number of bits required to count precisely.</a:t>
            </a:r>
          </a:p>
        </p:txBody>
      </p:sp>
      <p:sp>
        <p:nvSpPr>
          <p:cNvPr id="6" name="文本框 20">
            <a:extLst>
              <a:ext uri="{FF2B5EF4-FFF2-40B4-BE49-F238E27FC236}">
                <a16:creationId xmlns:a16="http://schemas.microsoft.com/office/drawing/2014/main" id="{5C4E377E-16F8-EE46-1C9D-0E109093543E}"/>
              </a:ext>
            </a:extLst>
          </p:cNvPr>
          <p:cNvSpPr txBox="1"/>
          <p:nvPr/>
        </p:nvSpPr>
        <p:spPr>
          <a:xfrm>
            <a:off x="456300" y="1576757"/>
            <a:ext cx="8231389" cy="584775"/>
          </a:xfrm>
          <a:prstGeom prst="rect">
            <a:avLst/>
          </a:prstGeom>
          <a:noFill/>
        </p:spPr>
        <p:txBody>
          <a:bodyPr wrap="square" rtlCol="0">
            <a:spAutoFit/>
          </a:bodyPr>
          <a:lstStyle/>
          <a:p>
            <a:pPr algn="ctr"/>
            <a:r>
              <a:rPr lang="en-US" altLang="zh-CN" sz="3200" dirty="0">
                <a:solidFill>
                  <a:srgbClr val="96ADE3"/>
                </a:solidFill>
                <a:latin typeface="Segoe UI Black" panose="020B0A02040204020203" pitchFamily="34" charset="0"/>
                <a:ea typeface="Segoe UI Black" panose="020B0A02040204020203" pitchFamily="34" charset="0"/>
              </a:rPr>
              <a:t>4.6.1 The Cost of Exact Counts</a:t>
            </a:r>
            <a:endParaRPr lang="zh-CN" altLang="en-US" sz="3200" dirty="0">
              <a:solidFill>
                <a:srgbClr val="96ADE3"/>
              </a:solidFill>
              <a:latin typeface="Segoe UI Black" panose="020B0A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sp>
        <p:nvSpPr>
          <p:cNvPr id="5" name="TextBox 3">
            <a:extLst>
              <a:ext uri="{FF2B5EF4-FFF2-40B4-BE49-F238E27FC236}">
                <a16:creationId xmlns:a16="http://schemas.microsoft.com/office/drawing/2014/main" id="{0CF5E9E8-D2BC-4B6F-2EE0-8FC3DD1DF997}"/>
              </a:ext>
            </a:extLst>
          </p:cNvPr>
          <p:cNvSpPr txBox="1"/>
          <p:nvPr/>
        </p:nvSpPr>
        <p:spPr>
          <a:xfrm>
            <a:off x="429280" y="832812"/>
            <a:ext cx="8285440" cy="3477875"/>
          </a:xfrm>
          <a:prstGeom prst="rect">
            <a:avLst/>
          </a:prstGeom>
          <a:noFill/>
        </p:spPr>
        <p:txBody>
          <a:bodyPr wrap="square" rtlCol="0">
            <a:spAutoFit/>
          </a:bodyPr>
          <a:lstStyle/>
          <a:p>
            <a:r>
              <a:rPr lang="en-US" altLang="ko-KR" sz="2000" b="1" dirty="0">
                <a:solidFill>
                  <a:srgbClr val="96ADE3"/>
                </a:solidFill>
                <a:latin typeface="Britannic Bold" panose="020B0903060703020204" pitchFamily="34" charset="0"/>
                <a:ea typeface="Cambria" panose="02040503050406030204" pitchFamily="18" charset="0"/>
              </a:rPr>
              <a:t>Example 4.10 </a:t>
            </a:r>
            <a:r>
              <a:rPr lang="en-US" altLang="ko-KR" sz="2000" dirty="0">
                <a:ea typeface="Cambria" panose="02040503050406030204" pitchFamily="18" charset="0"/>
              </a:rPr>
              <a:t>shows how different bit strings can differ when querying about the last bit positions:</a:t>
            </a:r>
          </a:p>
          <a:p>
            <a:pPr marL="342900" indent="-342900">
              <a:buFont typeface="Arial" panose="020B0604020202020204" pitchFamily="34" charset="0"/>
              <a:buChar char="•"/>
            </a:pPr>
            <a:r>
              <a:rPr lang="en-US" altLang="ko-KR" sz="2000" b="0" i="0" dirty="0">
                <a:solidFill>
                  <a:schemeClr val="accent2">
                    <a:lumMod val="75000"/>
                  </a:schemeClr>
                </a:solidFill>
                <a:effectLst/>
                <a:ea typeface="Cambria" panose="02040503050406030204" pitchFamily="18" charset="0"/>
              </a:rPr>
              <a:t>For w=0101 and x=1010, k=1 because they first disagree at position 1.</a:t>
            </a:r>
          </a:p>
          <a:p>
            <a:pPr marL="342900" indent="-342900">
              <a:buFont typeface="Arial" panose="020B0604020202020204" pitchFamily="34" charset="0"/>
              <a:buChar char="•"/>
            </a:pPr>
            <a:r>
              <a:rPr lang="en-US" altLang="ko-KR" sz="2000" b="0" i="0" dirty="0">
                <a:solidFill>
                  <a:schemeClr val="accent2">
                    <a:lumMod val="75000"/>
                  </a:schemeClr>
                </a:solidFill>
                <a:effectLst/>
                <a:ea typeface="Cambria" panose="02040503050406030204" pitchFamily="18" charset="0"/>
              </a:rPr>
              <a:t>For w=1001 and x=0101, k=3 as they first disagree at the third position from the right.</a:t>
            </a:r>
          </a:p>
          <a:p>
            <a:pPr marL="342900" indent="-342900">
              <a:buFont typeface="Arial" panose="020B0604020202020204" pitchFamily="34" charset="0"/>
              <a:buChar char="•"/>
            </a:pPr>
            <a:endParaRPr lang="en-US" altLang="ko-KR" sz="2000" b="0" i="0" dirty="0">
              <a:solidFill>
                <a:schemeClr val="accent2">
                  <a:lumMod val="75000"/>
                </a:schemeClr>
              </a:solidFill>
              <a:effectLst/>
              <a:ea typeface="Cambria" panose="02040503050406030204" pitchFamily="18" charset="0"/>
            </a:endParaRPr>
          </a:p>
          <a:p>
            <a:r>
              <a:rPr lang="en-US" altLang="ko-KR" sz="2000" b="0" i="0" dirty="0">
                <a:effectLst/>
                <a:ea typeface="Cambria" panose="02040503050406030204" pitchFamily="18" charset="0"/>
              </a:rPr>
              <a:t>The explanation emphasizes that to accurately count the exact number of 1's in a window of bits, you need to use all N bits. Using fewer than N bits can result in incorrect answers due to ambiguity, as different bit strings can produce the same representation. This example demonstrates the need for N bits to avoid errors in queries about the window contents.</a:t>
            </a:r>
            <a:endParaRPr lang="en-US" altLang="ko-KR" sz="2000" b="0" i="0" dirty="0">
              <a:solidFill>
                <a:srgbClr val="C00000"/>
              </a:solidFill>
              <a:effectLst/>
            </a:endParaRPr>
          </a:p>
        </p:txBody>
      </p:sp>
    </p:spTree>
    <p:extLst>
      <p:ext uri="{BB962C8B-B14F-4D97-AF65-F5344CB8AC3E}">
        <p14:creationId xmlns:p14="http://schemas.microsoft.com/office/powerpoint/2010/main" val="1689201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sp>
        <p:nvSpPr>
          <p:cNvPr id="3" name="文本框 20">
            <a:extLst>
              <a:ext uri="{FF2B5EF4-FFF2-40B4-BE49-F238E27FC236}">
                <a16:creationId xmlns:a16="http://schemas.microsoft.com/office/drawing/2014/main" id="{C56655E8-905F-A944-E570-8939C2C37FA6}"/>
              </a:ext>
            </a:extLst>
          </p:cNvPr>
          <p:cNvSpPr txBox="1"/>
          <p:nvPr/>
        </p:nvSpPr>
        <p:spPr>
          <a:xfrm>
            <a:off x="456301" y="669225"/>
            <a:ext cx="8231389" cy="1077218"/>
          </a:xfrm>
          <a:prstGeom prst="rect">
            <a:avLst/>
          </a:prstGeom>
          <a:noFill/>
        </p:spPr>
        <p:txBody>
          <a:bodyPr wrap="square" rtlCol="0">
            <a:spAutoFit/>
          </a:bodyPr>
          <a:lstStyle/>
          <a:p>
            <a:pPr algn="ctr"/>
            <a:r>
              <a:rPr lang="en-US" altLang="zh-CN" sz="3200" dirty="0">
                <a:solidFill>
                  <a:srgbClr val="96ADE3"/>
                </a:solidFill>
                <a:latin typeface="Segoe UI Black" panose="020B0A02040204020203" pitchFamily="34" charset="0"/>
                <a:ea typeface="Segoe UI Black" panose="020B0A02040204020203" pitchFamily="34" charset="0"/>
              </a:rPr>
              <a:t>4.6.2 </a:t>
            </a:r>
            <a:r>
              <a:rPr lang="en-US" altLang="ko-KR" sz="3200" dirty="0">
                <a:solidFill>
                  <a:srgbClr val="96ADE3"/>
                </a:solidFill>
                <a:latin typeface="Segoe UI Black" panose="020B0A02040204020203" pitchFamily="34" charset="0"/>
                <a:ea typeface="Segoe UI Black" panose="020B0A02040204020203" pitchFamily="34" charset="0"/>
              </a:rPr>
              <a:t>The Datar-</a:t>
            </a:r>
            <a:r>
              <a:rPr lang="en-US" altLang="ko-KR" sz="3200" dirty="0" err="1">
                <a:solidFill>
                  <a:srgbClr val="96ADE3"/>
                </a:solidFill>
                <a:latin typeface="Segoe UI Black" panose="020B0A02040204020203" pitchFamily="34" charset="0"/>
                <a:ea typeface="Segoe UI Black" panose="020B0A02040204020203" pitchFamily="34" charset="0"/>
              </a:rPr>
              <a:t>Gionis</a:t>
            </a:r>
            <a:r>
              <a:rPr lang="en-US" altLang="ko-KR" sz="3200" dirty="0">
                <a:solidFill>
                  <a:srgbClr val="96ADE3"/>
                </a:solidFill>
                <a:latin typeface="Segoe UI Black" panose="020B0A02040204020203" pitchFamily="34" charset="0"/>
                <a:ea typeface="Segoe UI Black" panose="020B0A02040204020203" pitchFamily="34" charset="0"/>
              </a:rPr>
              <a:t>-Indyk-Motwani Algorithm</a:t>
            </a:r>
            <a:endParaRPr lang="zh-CN" altLang="en-US" sz="3200" dirty="0">
              <a:solidFill>
                <a:srgbClr val="96ADE3"/>
              </a:solidFill>
              <a:latin typeface="Segoe UI Black" panose="020B0A02040204020203" pitchFamily="34" charset="0"/>
            </a:endParaRPr>
          </a:p>
        </p:txBody>
      </p:sp>
      <p:sp>
        <p:nvSpPr>
          <p:cNvPr id="4" name="TextBox 3">
            <a:extLst>
              <a:ext uri="{FF2B5EF4-FFF2-40B4-BE49-F238E27FC236}">
                <a16:creationId xmlns:a16="http://schemas.microsoft.com/office/drawing/2014/main" id="{3BB0B1CB-8FAA-90FF-1391-10F01C7F9535}"/>
              </a:ext>
            </a:extLst>
          </p:cNvPr>
          <p:cNvSpPr txBox="1"/>
          <p:nvPr/>
        </p:nvSpPr>
        <p:spPr>
          <a:xfrm>
            <a:off x="587006" y="1953140"/>
            <a:ext cx="7969981" cy="2246769"/>
          </a:xfrm>
          <a:prstGeom prst="rect">
            <a:avLst/>
          </a:prstGeom>
          <a:noFill/>
        </p:spPr>
        <p:txBody>
          <a:bodyPr wrap="square" rtlCol="0">
            <a:spAutoFit/>
          </a:bodyPr>
          <a:lstStyle/>
          <a:p>
            <a:pPr algn="just"/>
            <a:r>
              <a:rPr lang="en-US" altLang="ko-KR" sz="2000" dirty="0"/>
              <a:t>The DGIM Algorithm is designed to estimate the number of 1’s in a sliding window of N bits. This version of the algorithm uses O(log² N) bits to represent the window and provides an estimation with an error margin of up to 50%. </a:t>
            </a:r>
          </a:p>
          <a:p>
            <a:pPr algn="just"/>
            <a:endParaRPr lang="en-US" altLang="ko-KR" sz="2000" dirty="0"/>
          </a:p>
          <a:p>
            <a:pPr algn="just"/>
            <a:r>
              <a:rPr lang="en-US" altLang="ko-KR" sz="2000" dirty="0"/>
              <a:t>Later improvements limit the error to any fraction ϵ&gt;0 while still using O(log² N) bits, though the constant factor increases as ϵ decreases.</a:t>
            </a:r>
          </a:p>
        </p:txBody>
      </p:sp>
    </p:spTree>
    <p:extLst>
      <p:ext uri="{BB962C8B-B14F-4D97-AF65-F5344CB8AC3E}">
        <p14:creationId xmlns:p14="http://schemas.microsoft.com/office/powerpoint/2010/main" val="1016862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21B474-C97E-649F-D5C6-3B159BDF5A82}"/>
              </a:ext>
            </a:extLst>
          </p:cNvPr>
          <p:cNvSpPr txBox="1"/>
          <p:nvPr/>
        </p:nvSpPr>
        <p:spPr>
          <a:xfrm>
            <a:off x="342252" y="525036"/>
            <a:ext cx="8459495" cy="4093428"/>
          </a:xfrm>
          <a:prstGeom prst="rect">
            <a:avLst/>
          </a:prstGeom>
          <a:noFill/>
        </p:spPr>
        <p:txBody>
          <a:bodyPr wrap="square">
            <a:spAutoFit/>
          </a:bodyPr>
          <a:lstStyle/>
          <a:p>
            <a:pPr marL="342900" indent="-342900" algn="just">
              <a:buFont typeface="Arial" panose="020B0604020202020204" pitchFamily="34" charset="0"/>
              <a:buChar char="•"/>
            </a:pPr>
            <a:r>
              <a:rPr lang="en-US" altLang="ko-KR" sz="2000" b="1" i="0" dirty="0">
                <a:solidFill>
                  <a:srgbClr val="E28479"/>
                </a:solidFill>
                <a:effectLst/>
                <a:latin typeface="Britannic Bold" panose="020B0903060703020204" pitchFamily="34" charset="0"/>
                <a:ea typeface="Cambria" panose="02040503050406030204" pitchFamily="18" charset="0"/>
              </a:rPr>
              <a:t>Timestamp Representation</a:t>
            </a:r>
            <a:r>
              <a:rPr lang="en-US" altLang="ko-KR" sz="2000" b="0" i="0" dirty="0">
                <a:solidFill>
                  <a:srgbClr val="E28479"/>
                </a:solidFill>
                <a:effectLst/>
                <a:latin typeface="Britannic Bold" panose="020B0903060703020204" pitchFamily="34" charset="0"/>
                <a:ea typeface="Cambria" panose="02040503050406030204" pitchFamily="18" charset="0"/>
              </a:rPr>
              <a:t>:</a:t>
            </a:r>
          </a:p>
          <a:p>
            <a:pPr algn="just"/>
            <a:r>
              <a:rPr lang="en-US" altLang="ko-KR" sz="2000" b="0" i="0" dirty="0">
                <a:effectLst/>
                <a:ea typeface="Cambria" panose="02040503050406030204" pitchFamily="18" charset="0"/>
              </a:rPr>
              <a:t>We store timestamps modulo N, meaning they reset once they reach N. This way, we only need </a:t>
            </a:r>
            <a:r>
              <a:rPr kumimoji="0" lang="en-US" altLang="ko-KR" sz="2000" b="0" i="0" u="none" strike="noStrike" kern="1200" cap="none" spc="0" normalizeH="0" baseline="0" noProof="0" dirty="0">
                <a:ln>
                  <a:noFill/>
                </a:ln>
                <a:effectLst/>
                <a:uLnTx/>
                <a:uFillTx/>
                <a:ea typeface="微软雅黑 Light"/>
                <a:cs typeface="+mn-cs"/>
              </a:rPr>
              <a:t> </a:t>
            </a:r>
            <a:r>
              <a:rPr kumimoji="0" lang="en-US" altLang="ko-KR" sz="2000" b="0" i="0" u="none" strike="noStrike" kern="1200" cap="none" spc="0" normalizeH="0" baseline="0" noProof="0" dirty="0" err="1">
                <a:ln>
                  <a:noFill/>
                </a:ln>
                <a:effectLst/>
                <a:uLnTx/>
                <a:uFillTx/>
                <a:ea typeface="微软雅黑 Light"/>
                <a:cs typeface="+mn-cs"/>
              </a:rPr>
              <a:t>log₂N</a:t>
            </a:r>
            <a:r>
              <a:rPr kumimoji="0" lang="en-US" altLang="ko-KR" sz="2000" b="0" i="0" u="none" strike="noStrike" kern="1200" cap="none" spc="0" normalizeH="0" baseline="0" noProof="0" dirty="0">
                <a:ln>
                  <a:noFill/>
                </a:ln>
                <a:effectLst/>
                <a:uLnTx/>
                <a:uFillTx/>
                <a:ea typeface="微软雅黑 Light"/>
                <a:cs typeface="+mn-cs"/>
              </a:rPr>
              <a:t> </a:t>
            </a:r>
            <a:r>
              <a:rPr lang="en-US" altLang="ko-KR" sz="2000" b="0" i="0" dirty="0">
                <a:effectLst/>
                <a:ea typeface="Cambria" panose="02040503050406030204" pitchFamily="18" charset="0"/>
              </a:rPr>
              <a:t>bits to represent a timestamp.</a:t>
            </a:r>
          </a:p>
          <a:p>
            <a:pPr algn="just"/>
            <a:endParaRPr lang="en-US" altLang="ko-KR" sz="2000" b="0" i="0" dirty="0">
              <a:effectLst/>
              <a:latin typeface="Cambria" panose="02040503050406030204" pitchFamily="18" charset="0"/>
              <a:ea typeface="Cambria" panose="02040503050406030204" pitchFamily="18" charset="0"/>
            </a:endParaRPr>
          </a:p>
          <a:p>
            <a:pPr marL="285750" indent="-285750" algn="l">
              <a:buFont typeface="Arial" panose="020B0604020202020204" pitchFamily="34" charset="0"/>
              <a:buChar char="•"/>
            </a:pPr>
            <a:r>
              <a:rPr lang="en-US" altLang="ko-KR" sz="2000" b="1" i="0" dirty="0">
                <a:solidFill>
                  <a:srgbClr val="E28479"/>
                </a:solidFill>
                <a:effectLst/>
                <a:latin typeface="Britannic Bold" panose="020B0903060703020204" pitchFamily="34" charset="0"/>
              </a:rPr>
              <a:t>Buckets</a:t>
            </a:r>
            <a:r>
              <a:rPr lang="en-US" altLang="ko-KR" sz="2000" b="0" i="0" dirty="0">
                <a:solidFill>
                  <a:srgbClr val="E28479"/>
                </a:solidFill>
                <a:effectLst/>
                <a:latin typeface="Britannic Bold" panose="020B0903060703020204" pitchFamily="34" charset="0"/>
              </a:rPr>
              <a:t>:</a:t>
            </a:r>
          </a:p>
          <a:p>
            <a:pPr algn="l"/>
            <a:r>
              <a:rPr lang="en-US" altLang="ko-KR" sz="2000" b="0" i="0" dirty="0">
                <a:effectLst/>
                <a:ea typeface="Cambria" panose="02040503050406030204" pitchFamily="18" charset="0"/>
              </a:rPr>
              <a:t>We divide the window into buckets. Each bucket consists of:</a:t>
            </a:r>
          </a:p>
          <a:p>
            <a:pPr algn="l"/>
            <a:r>
              <a:rPr lang="en-US" altLang="ko-KR" sz="2000" b="0" i="0" dirty="0">
                <a:effectLst/>
                <a:ea typeface="Cambria" panose="02040503050406030204" pitchFamily="18" charset="0"/>
              </a:rPr>
              <a:t>--The timestamp of the most recent end (right end).</a:t>
            </a:r>
          </a:p>
          <a:p>
            <a:pPr algn="l"/>
            <a:r>
              <a:rPr lang="en-US" altLang="ko-KR" sz="2000" b="0" i="0" dirty="0">
                <a:effectLst/>
                <a:ea typeface="Cambria" panose="02040503050406030204" pitchFamily="18" charset="0"/>
              </a:rPr>
              <a:t>--The number of 1s in the bucket, which is always a power of 2.</a:t>
            </a:r>
          </a:p>
          <a:p>
            <a:pPr algn="l"/>
            <a:endParaRPr lang="en-US" altLang="ko-KR" sz="2000" dirty="0">
              <a:latin typeface="Cambria" panose="02040503050406030204" pitchFamily="18" charset="0"/>
              <a:ea typeface="Cambria" panose="02040503050406030204" pitchFamily="18" charset="0"/>
            </a:endParaRPr>
          </a:p>
          <a:p>
            <a:pPr marL="285750" indent="-285750" algn="l">
              <a:buFont typeface="Arial" panose="020B0604020202020204" pitchFamily="34" charset="0"/>
              <a:buChar char="•"/>
            </a:pPr>
            <a:r>
              <a:rPr lang="en-US" altLang="ko-KR" sz="2000" b="1" i="0" dirty="0">
                <a:solidFill>
                  <a:srgbClr val="E28479"/>
                </a:solidFill>
                <a:effectLst/>
                <a:latin typeface="Britannic Bold" panose="020B0903060703020204" pitchFamily="34" charset="0"/>
              </a:rPr>
              <a:t>Bucket Representation</a:t>
            </a:r>
            <a:r>
              <a:rPr lang="en-US" altLang="ko-KR" sz="2000" b="0" i="0" dirty="0">
                <a:solidFill>
                  <a:srgbClr val="E28479"/>
                </a:solidFill>
                <a:effectLst/>
                <a:latin typeface="Britannic Bold" panose="020B0903060703020204" pitchFamily="34" charset="0"/>
              </a:rPr>
              <a:t>:</a:t>
            </a:r>
          </a:p>
          <a:p>
            <a:pPr algn="l"/>
            <a:r>
              <a:rPr lang="en-US" altLang="ko-KR" sz="2000" b="0" i="0" dirty="0">
                <a:effectLst/>
                <a:ea typeface="Cambria" panose="02040503050406030204" pitchFamily="18" charset="0"/>
              </a:rPr>
              <a:t>Each bucket requires:</a:t>
            </a:r>
          </a:p>
          <a:p>
            <a:pPr marL="228600" indent="-228600">
              <a:buFont typeface="+mj-lt"/>
              <a:buAutoNum type="arabicPeriod"/>
            </a:pPr>
            <a:r>
              <a:rPr lang="en-US" altLang="ko-KR" sz="2000" dirty="0" err="1">
                <a:ea typeface="Cambria" panose="02040503050406030204" pitchFamily="18" charset="0"/>
              </a:rPr>
              <a:t>log₂</a:t>
            </a:r>
            <a:r>
              <a:rPr lang="en-US" altLang="ko-KR" sz="2000" i="1" dirty="0" err="1">
                <a:ea typeface="Cambria" panose="02040503050406030204" pitchFamily="18" charset="0"/>
              </a:rPr>
              <a:t>N</a:t>
            </a:r>
            <a:r>
              <a:rPr lang="en-US" altLang="ko-KR" sz="2000" i="1" dirty="0">
                <a:ea typeface="Cambria" panose="02040503050406030204" pitchFamily="18" charset="0"/>
              </a:rPr>
              <a:t> </a:t>
            </a:r>
            <a:r>
              <a:rPr lang="en-US" altLang="ko-KR" sz="2000" b="0" i="0" dirty="0">
                <a:effectLst/>
                <a:ea typeface="Cambria" panose="02040503050406030204" pitchFamily="18" charset="0"/>
              </a:rPr>
              <a:t>bits for the timestamp.</a:t>
            </a:r>
          </a:p>
          <a:p>
            <a:pPr marL="228600" indent="-228600">
              <a:buFont typeface="+mj-lt"/>
              <a:buAutoNum type="arabicPeriod"/>
            </a:pPr>
            <a:r>
              <a:rPr lang="en-US" altLang="ko-KR" sz="2000" dirty="0" err="1">
                <a:ea typeface="Cambria" panose="02040503050406030204" pitchFamily="18" charset="0"/>
              </a:rPr>
              <a:t>log₂log₂</a:t>
            </a:r>
            <a:r>
              <a:rPr lang="en-US" altLang="ko-KR" sz="2000" i="1" dirty="0" err="1">
                <a:ea typeface="Cambria" panose="02040503050406030204" pitchFamily="18" charset="0"/>
              </a:rPr>
              <a:t>N</a:t>
            </a:r>
            <a:r>
              <a:rPr lang="en-US" altLang="ko-KR" sz="2000" i="1" dirty="0">
                <a:ea typeface="Cambria" panose="02040503050406030204" pitchFamily="18" charset="0"/>
              </a:rPr>
              <a:t> </a:t>
            </a:r>
            <a:r>
              <a:rPr lang="en-US" altLang="ko-KR" sz="2000" b="0" i="0" dirty="0">
                <a:effectLst/>
                <a:ea typeface="Cambria" panose="02040503050406030204" pitchFamily="18" charset="0"/>
              </a:rPr>
              <a:t>bits to represent the number of 1s because they are powers of 2.</a:t>
            </a:r>
          </a:p>
        </p:txBody>
      </p:sp>
    </p:spTree>
    <p:extLst>
      <p:ext uri="{BB962C8B-B14F-4D97-AF65-F5344CB8AC3E}">
        <p14:creationId xmlns:p14="http://schemas.microsoft.com/office/powerpoint/2010/main" val="2942552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21B474-C97E-649F-D5C6-3B159BDF5A82}"/>
              </a:ext>
            </a:extLst>
          </p:cNvPr>
          <p:cNvSpPr txBox="1"/>
          <p:nvPr/>
        </p:nvSpPr>
        <p:spPr>
          <a:xfrm>
            <a:off x="678762" y="796251"/>
            <a:ext cx="5531009" cy="2246769"/>
          </a:xfrm>
          <a:prstGeom prst="rect">
            <a:avLst/>
          </a:prstGeom>
          <a:noFill/>
        </p:spPr>
        <p:txBody>
          <a:bodyPr wrap="square">
            <a:spAutoFit/>
          </a:bodyPr>
          <a:lstStyle/>
          <a:p>
            <a:pPr marL="342900" indent="-342900" algn="l">
              <a:buFont typeface="Arial" panose="020B0604020202020204" pitchFamily="34" charset="0"/>
              <a:buChar char="•"/>
            </a:pPr>
            <a:r>
              <a:rPr lang="en-US" altLang="ko-KR" sz="2000" b="1" i="0" dirty="0">
                <a:solidFill>
                  <a:srgbClr val="E28479"/>
                </a:solidFill>
                <a:effectLst/>
                <a:latin typeface="Britannic Bold" panose="020B0903060703020204" pitchFamily="34" charset="0"/>
                <a:ea typeface="Cambria" panose="02040503050406030204" pitchFamily="18" charset="0"/>
              </a:rPr>
              <a:t>Rules for Buckets</a:t>
            </a:r>
            <a:r>
              <a:rPr lang="en-US" altLang="ko-KR" sz="2000" b="0" i="0" dirty="0">
                <a:solidFill>
                  <a:srgbClr val="E28479"/>
                </a:solidFill>
                <a:effectLst/>
                <a:latin typeface="Britannic Bold" panose="020B0903060703020204" pitchFamily="34" charset="0"/>
                <a:ea typeface="Cambria" panose="02040503050406030204" pitchFamily="18" charset="0"/>
              </a:rPr>
              <a:t>:</a:t>
            </a:r>
          </a:p>
          <a:p>
            <a:pPr marL="285750" indent="-285750">
              <a:buFont typeface="+mj-lt"/>
              <a:buAutoNum type="arabicPeriod"/>
            </a:pPr>
            <a:r>
              <a:rPr lang="en-US" altLang="ko-KR" sz="2000" b="0" i="0" dirty="0">
                <a:effectLst/>
                <a:ea typeface="Cambria" panose="02040503050406030204" pitchFamily="18" charset="0"/>
              </a:rPr>
              <a:t>The right end of a bucket always has a 1.</a:t>
            </a:r>
          </a:p>
          <a:p>
            <a:pPr marL="285750" indent="-285750">
              <a:buFont typeface="+mj-lt"/>
              <a:buAutoNum type="arabicPeriod"/>
            </a:pPr>
            <a:r>
              <a:rPr lang="en-US" altLang="ko-KR" sz="2000" b="0" i="0" dirty="0">
                <a:effectLst/>
                <a:ea typeface="Cambria" panose="02040503050406030204" pitchFamily="18" charset="0"/>
              </a:rPr>
              <a:t>Every position with a 1 is part of a bucket.</a:t>
            </a:r>
          </a:p>
          <a:p>
            <a:pPr marL="285750" indent="-285750">
              <a:buFont typeface="+mj-lt"/>
              <a:buAutoNum type="arabicPeriod"/>
            </a:pPr>
            <a:r>
              <a:rPr lang="en-US" altLang="ko-KR" sz="2000" b="0" i="0" dirty="0">
                <a:effectLst/>
                <a:ea typeface="Cambria" panose="02040503050406030204" pitchFamily="18" charset="0"/>
              </a:rPr>
              <a:t>No position appears in more than one bucket.</a:t>
            </a:r>
          </a:p>
          <a:p>
            <a:pPr marL="285750" indent="-285750" algn="just">
              <a:buFont typeface="+mj-lt"/>
              <a:buAutoNum type="arabicPeriod"/>
            </a:pPr>
            <a:r>
              <a:rPr lang="en-US" altLang="ko-KR" sz="2000" b="0" i="0" dirty="0">
                <a:effectLst/>
                <a:ea typeface="Cambria" panose="02040503050406030204" pitchFamily="18" charset="0"/>
              </a:rPr>
              <a:t>There are one or two buckets for each size.</a:t>
            </a:r>
          </a:p>
          <a:p>
            <a:pPr marL="285750" indent="-285750">
              <a:buFont typeface="+mj-lt"/>
              <a:buAutoNum type="arabicPeriod"/>
            </a:pPr>
            <a:r>
              <a:rPr lang="en-US" altLang="ko-KR" sz="2000" b="0" i="0" dirty="0">
                <a:effectLst/>
                <a:ea typeface="Cambria" panose="02040503050406030204" pitchFamily="18" charset="0"/>
              </a:rPr>
              <a:t>Sizes are always powers of 2.</a:t>
            </a:r>
          </a:p>
          <a:p>
            <a:pPr marL="285750" indent="-285750">
              <a:buFont typeface="+mj-lt"/>
              <a:buAutoNum type="arabicPeriod"/>
            </a:pPr>
            <a:r>
              <a:rPr lang="en-US" altLang="ko-KR" sz="2000" b="0" i="0" dirty="0">
                <a:effectLst/>
                <a:ea typeface="Cambria" panose="02040503050406030204" pitchFamily="18" charset="0"/>
              </a:rPr>
              <a:t>Buckets merge when they share the same size.</a:t>
            </a:r>
          </a:p>
        </p:txBody>
      </p:sp>
      <p:sp>
        <p:nvSpPr>
          <p:cNvPr id="2" name="文本框 1">
            <a:extLst>
              <a:ext uri="{FF2B5EF4-FFF2-40B4-BE49-F238E27FC236}">
                <a16:creationId xmlns:a16="http://schemas.microsoft.com/office/drawing/2014/main" id="{5C39C14F-3820-D92A-FE4F-530DDDAB63D8}"/>
              </a:ext>
            </a:extLst>
          </p:cNvPr>
          <p:cNvSpPr txBox="1"/>
          <p:nvPr/>
        </p:nvSpPr>
        <p:spPr>
          <a:xfrm>
            <a:off x="678762" y="3411415"/>
            <a:ext cx="7786469" cy="707886"/>
          </a:xfrm>
          <a:prstGeom prst="rect">
            <a:avLst/>
          </a:prstGeom>
          <a:noFill/>
        </p:spPr>
        <p:txBody>
          <a:bodyPr wrap="square" rtlCol="0">
            <a:spAutoFit/>
          </a:bodyPr>
          <a:lstStyle/>
          <a:p>
            <a:pPr algn="just"/>
            <a:r>
              <a:rPr lang="en-US" altLang="ko-KR" sz="2000" dirty="0">
                <a:ea typeface="Cambria" panose="02040503050406030204" pitchFamily="18" charset="0"/>
              </a:rPr>
              <a:t>This approach ensures that we can efficiently represent and manage data streams using a compact structure while maintaining accuracy.</a:t>
            </a:r>
            <a:endParaRPr lang="ko-KR" altLang="en-US" sz="2000" dirty="0"/>
          </a:p>
        </p:txBody>
      </p:sp>
      <p:pic>
        <p:nvPicPr>
          <p:cNvPr id="7" name="图片 6">
            <a:extLst>
              <a:ext uri="{FF2B5EF4-FFF2-40B4-BE49-F238E27FC236}">
                <a16:creationId xmlns:a16="http://schemas.microsoft.com/office/drawing/2014/main" id="{3C787486-33ED-D351-E86C-4B89624902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56300" y="1024199"/>
            <a:ext cx="1660422" cy="1660422"/>
          </a:xfrm>
          <a:prstGeom prst="rect">
            <a:avLst/>
          </a:prstGeom>
        </p:spPr>
      </p:pic>
    </p:spTree>
    <p:extLst>
      <p:ext uri="{BB962C8B-B14F-4D97-AF65-F5344CB8AC3E}">
        <p14:creationId xmlns:p14="http://schemas.microsoft.com/office/powerpoint/2010/main" val="1858338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98E8CF91-CA68-A189-724B-84520AC9B4A2}"/>
              </a:ext>
            </a:extLst>
          </p:cNvPr>
          <p:cNvPicPr>
            <a:picLocks noChangeAspect="1"/>
          </p:cNvPicPr>
          <p:nvPr/>
        </p:nvPicPr>
        <p:blipFill>
          <a:blip r:embed="rId2"/>
          <a:stretch>
            <a:fillRect/>
          </a:stretch>
        </p:blipFill>
        <p:spPr>
          <a:xfrm>
            <a:off x="2353775" y="275302"/>
            <a:ext cx="4436449" cy="1296159"/>
          </a:xfrm>
          <a:prstGeom prst="rect">
            <a:avLst/>
          </a:prstGeom>
        </p:spPr>
      </p:pic>
      <p:sp>
        <p:nvSpPr>
          <p:cNvPr id="3" name="TextBox 2">
            <a:extLst>
              <a:ext uri="{FF2B5EF4-FFF2-40B4-BE49-F238E27FC236}">
                <a16:creationId xmlns:a16="http://schemas.microsoft.com/office/drawing/2014/main" id="{5E4C88F2-CF28-55CE-8145-6DCC1506A03B}"/>
              </a:ext>
            </a:extLst>
          </p:cNvPr>
          <p:cNvSpPr txBox="1"/>
          <p:nvPr/>
        </p:nvSpPr>
        <p:spPr>
          <a:xfrm>
            <a:off x="399605" y="1712138"/>
            <a:ext cx="8344788" cy="3139321"/>
          </a:xfrm>
          <a:prstGeom prst="rect">
            <a:avLst/>
          </a:prstGeom>
          <a:noFill/>
        </p:spPr>
        <p:txBody>
          <a:bodyPr wrap="square">
            <a:spAutoFit/>
          </a:bodyPr>
          <a:lstStyle/>
          <a:p>
            <a:pPr algn="just"/>
            <a:r>
              <a:rPr lang="en-US" altLang="ko-KR" b="1" dirty="0">
                <a:solidFill>
                  <a:srgbClr val="96ADE3"/>
                </a:solidFill>
                <a:latin typeface="Britannic Bold" panose="020B0903060703020204" pitchFamily="34" charset="0"/>
              </a:rPr>
              <a:t>Example 4.11 </a:t>
            </a:r>
            <a:r>
              <a:rPr lang="en-US" altLang="ko-KR" dirty="0"/>
              <a:t>shows how a bit stream can be divided into buckets according to the DGIM rules. </a:t>
            </a:r>
            <a:endParaRPr lang="en-US" altLang="ko-KR" b="1" dirty="0"/>
          </a:p>
          <a:p>
            <a:pPr marL="285750" indent="-285750" algn="just">
              <a:buFont typeface="Wingdings" panose="05000000000000000000" pitchFamily="2" charset="2"/>
              <a:buChar char="l"/>
            </a:pPr>
            <a:r>
              <a:rPr lang="en-US" altLang="ko-KR" b="1" dirty="0">
                <a:solidFill>
                  <a:srgbClr val="E28479"/>
                </a:solidFill>
                <a:latin typeface="Britannic Bold" panose="020B0903060703020204" pitchFamily="34" charset="0"/>
              </a:rPr>
              <a:t>Bucket Sizes: </a:t>
            </a:r>
          </a:p>
          <a:p>
            <a:pPr algn="just"/>
            <a:r>
              <a:rPr lang="en-US" altLang="ko-KR" dirty="0"/>
              <a:t>At the most recent end, there are two buckets of size 1. Moving left, there’s one bucket of size 2 (covering four positions but containing two 1’s), followed by two buckets of size 4, and potentially a bucket of size 8 further left.</a:t>
            </a:r>
          </a:p>
          <a:p>
            <a:pPr marL="285750" indent="-285750" algn="just">
              <a:buFont typeface="Wingdings" panose="05000000000000000000" pitchFamily="2" charset="2"/>
              <a:buChar char="l"/>
            </a:pPr>
            <a:r>
              <a:rPr lang="en-US" altLang="ko-KR" b="1" dirty="0">
                <a:solidFill>
                  <a:srgbClr val="E28479"/>
                </a:solidFill>
                <a:latin typeface="Britannic Bold" panose="020B0903060703020204" pitchFamily="34" charset="0"/>
              </a:rPr>
              <a:t>Bucket Characteristics: </a:t>
            </a:r>
          </a:p>
          <a:p>
            <a:pPr marL="342900" indent="-342900" algn="just">
              <a:buFont typeface="+mj-ea"/>
              <a:buAutoNum type="circleNumDbPlain"/>
            </a:pPr>
            <a:r>
              <a:rPr lang="en-US" altLang="ko-KR" dirty="0"/>
              <a:t>Some 0’s can lie between buckets.</a:t>
            </a:r>
          </a:p>
          <a:p>
            <a:pPr marL="342900" indent="-342900" algn="just">
              <a:buFont typeface="+mj-ea"/>
              <a:buAutoNum type="circleNumDbPlain"/>
            </a:pPr>
            <a:r>
              <a:rPr lang="en-US" altLang="ko-KR" dirty="0"/>
              <a:t>Buckets do not overlap.</a:t>
            </a:r>
          </a:p>
          <a:p>
            <a:pPr marL="342900" indent="-342900" algn="just">
              <a:buFont typeface="+mj-ea"/>
              <a:buAutoNum type="circleNumDbPlain"/>
            </a:pPr>
            <a:r>
              <a:rPr lang="en-US" altLang="ko-KR" dirty="0"/>
              <a:t>There are one or two buckets of each size up to the largest size.</a:t>
            </a:r>
          </a:p>
          <a:p>
            <a:pPr marL="342900" indent="-342900" algn="just">
              <a:buFont typeface="+mj-ea"/>
              <a:buAutoNum type="circleNumDbPlain"/>
            </a:pPr>
            <a:r>
              <a:rPr lang="en-US" altLang="ko-KR" dirty="0"/>
              <a:t>Bucket sizes increase as you move left.</a:t>
            </a:r>
            <a:endParaRPr lang="en-US" altLang="ko-KR" dirty="0">
              <a:ea typeface="Cambria" panose="02040503050406030204" pitchFamily="18" charset="0"/>
            </a:endParaRPr>
          </a:p>
        </p:txBody>
      </p:sp>
    </p:spTree>
    <p:extLst>
      <p:ext uri="{BB962C8B-B14F-4D97-AF65-F5344CB8AC3E}">
        <p14:creationId xmlns:p14="http://schemas.microsoft.com/office/powerpoint/2010/main" val="4252332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21B474-C97E-649F-D5C6-3B159BDF5A82}"/>
              </a:ext>
            </a:extLst>
          </p:cNvPr>
          <p:cNvSpPr txBox="1"/>
          <p:nvPr/>
        </p:nvSpPr>
        <p:spPr>
          <a:xfrm>
            <a:off x="795048" y="1880595"/>
            <a:ext cx="7553901" cy="2585323"/>
          </a:xfrm>
          <a:prstGeom prst="rect">
            <a:avLst/>
          </a:prstGeom>
          <a:noFill/>
        </p:spPr>
        <p:txBody>
          <a:bodyPr wrap="square">
            <a:spAutoFit/>
          </a:bodyPr>
          <a:lstStyle/>
          <a:p>
            <a:pPr marR="0" lvl="0" algn="just" defTabSz="457200" rtl="0" eaLnBrk="1" fontAlgn="auto" latinLnBrk="0" hangingPunct="1">
              <a:lnSpc>
                <a:spcPct val="100000"/>
              </a:lnSpc>
              <a:spcBef>
                <a:spcPts val="0"/>
              </a:spcBef>
              <a:spcAft>
                <a:spcPts val="0"/>
              </a:spcAft>
              <a:buClrTx/>
              <a:buSzTx/>
              <a:tabLst/>
              <a:defRPr/>
            </a:pPr>
            <a:r>
              <a:rPr lang="en-US" altLang="ko-KR" b="0" i="0" dirty="0">
                <a:effectLst/>
                <a:ea typeface="Cambria" panose="02040503050406030204" pitchFamily="18" charset="0"/>
              </a:rPr>
              <a:t>This part explains the storage requirements for the DGIM (Datar-</a:t>
            </a:r>
            <a:r>
              <a:rPr lang="en-US" altLang="ko-KR" b="0" i="0" dirty="0" err="1">
                <a:effectLst/>
                <a:ea typeface="Cambria" panose="02040503050406030204" pitchFamily="18" charset="0"/>
              </a:rPr>
              <a:t>Gionis</a:t>
            </a:r>
            <a:r>
              <a:rPr lang="en-US" altLang="ko-KR" b="0" i="0" dirty="0">
                <a:effectLst/>
                <a:ea typeface="Cambria" panose="02040503050406030204" pitchFamily="18" charset="0"/>
              </a:rPr>
              <a:t>-Indyk-Motwani) algorithm. </a:t>
            </a:r>
          </a:p>
          <a:p>
            <a:pPr marR="0" lvl="0" algn="just" defTabSz="457200" rtl="0" eaLnBrk="1" fontAlgn="auto" latinLnBrk="0" hangingPunct="1">
              <a:lnSpc>
                <a:spcPct val="100000"/>
              </a:lnSpc>
              <a:spcBef>
                <a:spcPts val="0"/>
              </a:spcBef>
              <a:spcAft>
                <a:spcPts val="0"/>
              </a:spcAft>
              <a:buClrTx/>
              <a:buSzTx/>
              <a:tabLst/>
              <a:defRPr/>
            </a:pPr>
            <a:r>
              <a:rPr lang="en-US" altLang="ko-KR" b="0" i="0" dirty="0">
                <a:effectLst/>
                <a:ea typeface="Cambria" panose="02040503050406030204" pitchFamily="18" charset="0"/>
              </a:rPr>
              <a:t>It outlines that each bucket in the algorithm can be represented by O(</a:t>
            </a:r>
            <a:r>
              <a:rPr lang="en-US" altLang="ko-KR" b="0" i="0" dirty="0" err="1">
                <a:effectLst/>
                <a:ea typeface="Cambria" panose="02040503050406030204" pitchFamily="18" charset="0"/>
              </a:rPr>
              <a:t>log⁡</a:t>
            </a:r>
            <a:r>
              <a:rPr lang="en-US" altLang="ko-KR" b="0" i="1" dirty="0" err="1">
                <a:effectLst/>
                <a:ea typeface="Cambria" panose="02040503050406030204" pitchFamily="18" charset="0"/>
              </a:rPr>
              <a:t>N</a:t>
            </a:r>
            <a:r>
              <a:rPr lang="en-US" altLang="ko-KR" b="0" i="0" dirty="0">
                <a:effectLst/>
                <a:ea typeface="Cambria" panose="02040503050406030204" pitchFamily="18" charset="0"/>
              </a:rPr>
              <a:t>) </a:t>
            </a:r>
            <a:r>
              <a:rPr lang="en-US" altLang="ko-KR" b="0" i="0" dirty="0" err="1">
                <a:effectLst/>
                <a:ea typeface="Cambria" panose="02040503050406030204" pitchFamily="18" charset="0"/>
              </a:rPr>
              <a:t>bits.Given</a:t>
            </a:r>
            <a:r>
              <a:rPr lang="en-US" altLang="ko-KR" b="0" i="0" dirty="0">
                <a:effectLst/>
                <a:ea typeface="Cambria" panose="02040503050406030204" pitchFamily="18" charset="0"/>
              </a:rPr>
              <a:t> a window of length </a:t>
            </a:r>
            <a:r>
              <a:rPr lang="en-US" altLang="ko-KR" b="0" i="1" dirty="0">
                <a:effectLst/>
                <a:ea typeface="Cambria" panose="02040503050406030204" pitchFamily="18" charset="0"/>
              </a:rPr>
              <a:t>N</a:t>
            </a:r>
            <a:r>
              <a:rPr lang="en-US" altLang="ko-KR" b="0" i="0" dirty="0">
                <a:effectLst/>
                <a:ea typeface="Cambria" panose="02040503050406030204" pitchFamily="18" charset="0"/>
              </a:rPr>
              <a:t>, there are no more than </a:t>
            </a:r>
            <a:r>
              <a:rPr lang="en-US" altLang="ko-KR" b="0" i="1" dirty="0">
                <a:effectLst/>
                <a:ea typeface="Cambria" panose="02040503050406030204" pitchFamily="18" charset="0"/>
              </a:rPr>
              <a:t>N</a:t>
            </a:r>
            <a:r>
              <a:rPr lang="en-US" altLang="ko-KR" b="0" i="0" dirty="0">
                <a:effectLst/>
                <a:ea typeface="Cambria" panose="02040503050406030204" pitchFamily="18" charset="0"/>
              </a:rPr>
              <a:t> 1's. The largest bucket   </a:t>
            </a:r>
          </a:p>
          <a:p>
            <a:pPr marR="0" lvl="0" algn="just" defTabSz="457200" rtl="0" eaLnBrk="1" fontAlgn="auto" latinLnBrk="0" hangingPunct="1">
              <a:lnSpc>
                <a:spcPct val="100000"/>
              </a:lnSpc>
              <a:spcBef>
                <a:spcPts val="0"/>
              </a:spcBef>
              <a:spcAft>
                <a:spcPts val="0"/>
              </a:spcAft>
              <a:buClrTx/>
              <a:buSzTx/>
              <a:tabLst/>
              <a:defRPr/>
            </a:pPr>
            <a:r>
              <a:rPr lang="en-US" altLang="ko-KR" b="0" i="0" dirty="0">
                <a:effectLst/>
                <a:ea typeface="Cambria" panose="02040503050406030204" pitchFamily="18" charset="0"/>
              </a:rPr>
              <a:t>size is 2ᶨ, and j cannot exceed log⁡₂</a:t>
            </a:r>
            <a:r>
              <a:rPr lang="en-US" altLang="ko-KR" b="0" i="1" dirty="0">
                <a:effectLst/>
                <a:ea typeface="Cambria" panose="02040503050406030204" pitchFamily="18" charset="0"/>
              </a:rPr>
              <a:t>N</a:t>
            </a:r>
            <a:r>
              <a:rPr lang="en-US" altLang="ko-KR" b="0" i="0" dirty="0">
                <a:effectLst/>
                <a:ea typeface="Cambria" panose="02040503050406030204" pitchFamily="18" charset="0"/>
              </a:rPr>
              <a:t>. This ensures there are at most two buckets of all sizes from log⁡₂</a:t>
            </a:r>
            <a:r>
              <a:rPr lang="en-US" altLang="ko-KR" b="0" i="1" dirty="0">
                <a:effectLst/>
                <a:ea typeface="Cambria" panose="02040503050406030204" pitchFamily="18" charset="0"/>
              </a:rPr>
              <a:t>N</a:t>
            </a:r>
            <a:r>
              <a:rPr lang="en-US" altLang="ko-KR" b="0" i="0" dirty="0">
                <a:effectLst/>
                <a:ea typeface="Cambria" panose="02040503050406030204" pitchFamily="18" charset="0"/>
              </a:rPr>
              <a:t> down to 1, and no buckets of larger sizes. Therefore, </a:t>
            </a:r>
            <a:r>
              <a:rPr lang="en-US" altLang="ko-KR" b="0" i="0" dirty="0" err="1">
                <a:effectLst/>
                <a:ea typeface="Cambria" panose="02040503050406030204" pitchFamily="18" charset="0"/>
              </a:rPr>
              <a:t>thereare</a:t>
            </a:r>
            <a:r>
              <a:rPr lang="en-US" altLang="ko-KR" b="0" i="0" dirty="0">
                <a:effectLst/>
                <a:ea typeface="Cambria" panose="02040503050406030204" pitchFamily="18" charset="0"/>
              </a:rPr>
              <a:t> O(</a:t>
            </a:r>
            <a:r>
              <a:rPr lang="en-US" altLang="ko-KR" b="0" i="0" dirty="0" err="1">
                <a:effectLst/>
                <a:ea typeface="Cambria" panose="02040503050406030204" pitchFamily="18" charset="0"/>
              </a:rPr>
              <a:t>log⁡</a:t>
            </a:r>
            <a:r>
              <a:rPr lang="en-US" altLang="ko-KR" b="0" i="1" dirty="0" err="1">
                <a:effectLst/>
                <a:ea typeface="Cambria" panose="02040503050406030204" pitchFamily="18" charset="0"/>
              </a:rPr>
              <a:t>N</a:t>
            </a:r>
            <a:r>
              <a:rPr lang="en-US" altLang="ko-KR" b="0" i="0" dirty="0">
                <a:effectLst/>
                <a:ea typeface="Cambria" panose="02040503050406030204" pitchFamily="18" charset="0"/>
              </a:rPr>
              <a:t>) buckets in total. Since each bucket can be represented in O(</a:t>
            </a:r>
            <a:r>
              <a:rPr lang="en-US" altLang="ko-KR" b="0" i="0" dirty="0" err="1">
                <a:effectLst/>
                <a:ea typeface="Cambria" panose="02040503050406030204" pitchFamily="18" charset="0"/>
              </a:rPr>
              <a:t>log⁡</a:t>
            </a:r>
            <a:r>
              <a:rPr lang="en-US" altLang="ko-KR" b="0" i="1" dirty="0" err="1">
                <a:effectLst/>
                <a:ea typeface="Cambria" panose="02040503050406030204" pitchFamily="18" charset="0"/>
              </a:rPr>
              <a:t>N</a:t>
            </a:r>
            <a:r>
              <a:rPr lang="en-US" altLang="ko-KR" b="0" i="0" dirty="0">
                <a:effectLst/>
                <a:ea typeface="Cambria" panose="02040503050406030204" pitchFamily="18" charset="0"/>
              </a:rPr>
              <a:t>)    bits, the total space required for all the buckets representing a window of size </a:t>
            </a:r>
            <a:r>
              <a:rPr lang="en-US" altLang="ko-KR" b="0" i="1" dirty="0">
                <a:effectLst/>
                <a:ea typeface="Cambria" panose="02040503050406030204" pitchFamily="18" charset="0"/>
              </a:rPr>
              <a:t>N </a:t>
            </a:r>
            <a:r>
              <a:rPr lang="en-US" altLang="ko-KR" b="0" i="0" dirty="0">
                <a:effectLst/>
                <a:ea typeface="Cambria" panose="02040503050406030204" pitchFamily="18" charset="0"/>
              </a:rPr>
              <a:t>is O(log⁡²</a:t>
            </a:r>
            <a:r>
              <a:rPr lang="en-US" altLang="ko-KR" b="0" i="1" dirty="0">
                <a:effectLst/>
                <a:ea typeface="Cambria" panose="02040503050406030204" pitchFamily="18" charset="0"/>
              </a:rPr>
              <a:t>N</a:t>
            </a:r>
            <a:r>
              <a:rPr lang="en-US" altLang="ko-KR" b="0" i="0" dirty="0">
                <a:effectLst/>
                <a:ea typeface="Cambria" panose="02040503050406030204" pitchFamily="18" charset="0"/>
              </a:rPr>
              <a:t>).</a:t>
            </a:r>
            <a:endParaRPr kumimoji="0" lang="en-US" altLang="ko-KR" b="0" i="0" u="none" strike="noStrike" kern="1200" cap="none" spc="0" normalizeH="0" baseline="0" noProof="0" dirty="0">
              <a:ln>
                <a:noFill/>
              </a:ln>
              <a:effectLst/>
              <a:uLnTx/>
              <a:uFillTx/>
              <a:ea typeface="Cambria" panose="02040503050406030204" pitchFamily="18" charset="0"/>
            </a:endParaRPr>
          </a:p>
        </p:txBody>
      </p:sp>
      <p:sp>
        <p:nvSpPr>
          <p:cNvPr id="2" name="文本框 20">
            <a:extLst>
              <a:ext uri="{FF2B5EF4-FFF2-40B4-BE49-F238E27FC236}">
                <a16:creationId xmlns:a16="http://schemas.microsoft.com/office/drawing/2014/main" id="{5AAA9E89-E89D-F26E-317A-258A2A800ECE}"/>
              </a:ext>
            </a:extLst>
          </p:cNvPr>
          <p:cNvSpPr txBox="1"/>
          <p:nvPr/>
        </p:nvSpPr>
        <p:spPr>
          <a:xfrm>
            <a:off x="456303" y="484926"/>
            <a:ext cx="8231389" cy="1077218"/>
          </a:xfrm>
          <a:prstGeom prst="rect">
            <a:avLst/>
          </a:prstGeom>
          <a:noFill/>
        </p:spPr>
        <p:txBody>
          <a:bodyPr wrap="square" rtlCol="0">
            <a:spAutoFit/>
          </a:bodyPr>
          <a:lstStyle/>
          <a:p>
            <a:pPr algn="ctr"/>
            <a:r>
              <a:rPr lang="en-US" altLang="zh-CN" sz="3200" dirty="0">
                <a:solidFill>
                  <a:srgbClr val="96ADE3"/>
                </a:solidFill>
                <a:latin typeface="Segoe UI Black" panose="020B0A02040204020203" pitchFamily="34" charset="0"/>
                <a:ea typeface="Segoe UI Black" panose="020B0A02040204020203" pitchFamily="34" charset="0"/>
              </a:rPr>
              <a:t>4.6.3 Storage Requirements for the DGIM Algorithm</a:t>
            </a:r>
            <a:endParaRPr lang="zh-CN" altLang="en-US" sz="3200" dirty="0">
              <a:solidFill>
                <a:srgbClr val="96ADE3"/>
              </a:solidFill>
              <a:latin typeface="Segoe UI Black" panose="020B0A02040204020203" pitchFamily="34" charset="0"/>
            </a:endParaRPr>
          </a:p>
        </p:txBody>
      </p:sp>
    </p:spTree>
    <p:extLst>
      <p:ext uri="{BB962C8B-B14F-4D97-AF65-F5344CB8AC3E}">
        <p14:creationId xmlns:p14="http://schemas.microsoft.com/office/powerpoint/2010/main" val="2099081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sp>
        <p:nvSpPr>
          <p:cNvPr id="2" name="文本框 20">
            <a:extLst>
              <a:ext uri="{FF2B5EF4-FFF2-40B4-BE49-F238E27FC236}">
                <a16:creationId xmlns:a16="http://schemas.microsoft.com/office/drawing/2014/main" id="{B752A886-4518-9BD8-2A46-E64F160F4111}"/>
              </a:ext>
            </a:extLst>
          </p:cNvPr>
          <p:cNvSpPr txBox="1"/>
          <p:nvPr/>
        </p:nvSpPr>
        <p:spPr>
          <a:xfrm>
            <a:off x="456305" y="294111"/>
            <a:ext cx="8231389" cy="461665"/>
          </a:xfrm>
          <a:prstGeom prst="rect">
            <a:avLst/>
          </a:prstGeom>
          <a:noFill/>
        </p:spPr>
        <p:txBody>
          <a:bodyPr wrap="square" rtlCol="0">
            <a:spAutoFit/>
          </a:bodyPr>
          <a:lstStyle/>
          <a:p>
            <a:pPr algn="ctr"/>
            <a:r>
              <a:rPr lang="en-US" altLang="zh-CN" sz="2400" dirty="0">
                <a:solidFill>
                  <a:srgbClr val="96ADE3"/>
                </a:solidFill>
                <a:latin typeface="Segoe UI Black" panose="020B0A02040204020203" pitchFamily="34" charset="0"/>
                <a:ea typeface="Segoe UI Black" panose="020B0A02040204020203" pitchFamily="34" charset="0"/>
              </a:rPr>
              <a:t>4.6.4 Query Answering in the DGIM Algorithm</a:t>
            </a:r>
            <a:endParaRPr lang="zh-CN" altLang="en-US" sz="2400" dirty="0">
              <a:solidFill>
                <a:srgbClr val="96ADE3"/>
              </a:solidFill>
              <a:latin typeface="Segoe UI Black" panose="020B0A02040204020203" pitchFamily="34" charset="0"/>
            </a:endParaRPr>
          </a:p>
        </p:txBody>
      </p:sp>
      <p:sp>
        <p:nvSpPr>
          <p:cNvPr id="3" name="文本框 2">
            <a:extLst>
              <a:ext uri="{FF2B5EF4-FFF2-40B4-BE49-F238E27FC236}">
                <a16:creationId xmlns:a16="http://schemas.microsoft.com/office/drawing/2014/main" id="{6E7DC507-73E7-AA59-31B2-F115710FF77F}"/>
              </a:ext>
            </a:extLst>
          </p:cNvPr>
          <p:cNvSpPr txBox="1"/>
          <p:nvPr/>
        </p:nvSpPr>
        <p:spPr>
          <a:xfrm>
            <a:off x="456304" y="901520"/>
            <a:ext cx="8231389" cy="1200329"/>
          </a:xfrm>
          <a:prstGeom prst="rect">
            <a:avLst/>
          </a:prstGeom>
          <a:noFill/>
        </p:spPr>
        <p:txBody>
          <a:bodyPr wrap="square" rtlCol="0">
            <a:spAutoFit/>
          </a:bodyPr>
          <a:lstStyle/>
          <a:p>
            <a:pPr algn="just"/>
            <a:r>
              <a:rPr lang="en-US" altLang="ko-KR" b="0" i="0" dirty="0">
                <a:effectLst/>
              </a:rPr>
              <a:t>a method to estimate the number of 1's in the last k bits of a window, where 1≤k≤N.</a:t>
            </a:r>
          </a:p>
          <a:p>
            <a:pPr algn="just"/>
            <a:r>
              <a:rPr lang="en-US" altLang="ko-KR" b="0" i="0" dirty="0">
                <a:effectLst/>
              </a:rPr>
              <a:t> The process involves finding the bucket b with the earliest timestamp that includes some of the k most recent bits. The count of 1's is then estimated by summing the sizes of all the buckets more recent than bucket b, plus half the size of bucket b itself.</a:t>
            </a:r>
            <a:endParaRPr lang="ko-KR" altLang="en-US" dirty="0"/>
          </a:p>
        </p:txBody>
      </p:sp>
      <p:sp>
        <p:nvSpPr>
          <p:cNvPr id="4" name="文本框 3">
            <a:extLst>
              <a:ext uri="{FF2B5EF4-FFF2-40B4-BE49-F238E27FC236}">
                <a16:creationId xmlns:a16="http://schemas.microsoft.com/office/drawing/2014/main" id="{B1D7447E-6A59-5FB4-D5AC-200F2550DD0A}"/>
              </a:ext>
            </a:extLst>
          </p:cNvPr>
          <p:cNvSpPr txBox="1"/>
          <p:nvPr/>
        </p:nvSpPr>
        <p:spPr>
          <a:xfrm>
            <a:off x="387971" y="2247593"/>
            <a:ext cx="8368054" cy="2585323"/>
          </a:xfrm>
          <a:prstGeom prst="rect">
            <a:avLst/>
          </a:prstGeom>
          <a:noFill/>
        </p:spPr>
        <p:txBody>
          <a:bodyPr wrap="square" rtlCol="0">
            <a:spAutoFit/>
          </a:bodyPr>
          <a:lstStyle/>
          <a:p>
            <a:r>
              <a:rPr lang="en-US" altLang="ko-KR" b="1" i="0" dirty="0">
                <a:solidFill>
                  <a:srgbClr val="96ADE3"/>
                </a:solidFill>
                <a:effectLst/>
                <a:latin typeface="Britannic Bold" panose="020B0903060703020204" pitchFamily="34" charset="0"/>
              </a:rPr>
              <a:t>Example 4.12</a:t>
            </a:r>
            <a:r>
              <a:rPr lang="en-US" altLang="ko-KR" b="0" i="0" dirty="0">
                <a:solidFill>
                  <a:srgbClr val="96ADE3"/>
                </a:solidFill>
                <a:effectLst/>
                <a:latin typeface="Britannic Bold" panose="020B0903060703020204" pitchFamily="34" charset="0"/>
              </a:rPr>
              <a:t> </a:t>
            </a:r>
            <a:r>
              <a:rPr lang="en-US" altLang="ko-KR" b="0" i="0" dirty="0">
                <a:effectLst/>
              </a:rPr>
              <a:t>explains how to estimate the number of 1’s in the last 10 bits of a stream using the DGIM algorithm.</a:t>
            </a:r>
          </a:p>
          <a:p>
            <a:endParaRPr lang="en-US" altLang="ko-KR" dirty="0"/>
          </a:p>
          <a:p>
            <a:r>
              <a:rPr lang="en-US" altLang="ko-KR" b="1" i="0" dirty="0">
                <a:effectLst/>
              </a:rPr>
              <a:t>Stream</a:t>
            </a:r>
            <a:r>
              <a:rPr lang="en-US" altLang="ko-KR" b="0" i="0" dirty="0">
                <a:effectLst/>
              </a:rPr>
              <a:t>: 0110010110</a:t>
            </a:r>
          </a:p>
          <a:p>
            <a:r>
              <a:rPr lang="en-US" altLang="ko-KR" b="1" i="0" dirty="0">
                <a:effectLst/>
              </a:rPr>
              <a:t>Timestamp </a:t>
            </a:r>
            <a:r>
              <a:rPr lang="en-US" altLang="ko-KR" b="0" i="0" dirty="0">
                <a:effectLst/>
              </a:rPr>
              <a:t>t: Current time</a:t>
            </a:r>
          </a:p>
          <a:p>
            <a:pPr algn="l">
              <a:buFont typeface="Arial" panose="020B0604020202020204" pitchFamily="34" charset="0"/>
              <a:buChar char="•"/>
            </a:pPr>
            <a:r>
              <a:rPr lang="en-US" altLang="ko-KR" b="1" i="0" dirty="0">
                <a:effectLst/>
              </a:rPr>
              <a:t>Buckets in Range</a:t>
            </a:r>
            <a:r>
              <a:rPr lang="en-US" altLang="ko-KR" b="0" i="0" dirty="0">
                <a:effectLst/>
              </a:rPr>
              <a:t>:</a:t>
            </a:r>
          </a:p>
          <a:p>
            <a:pPr marL="742950" lvl="1" indent="-285750" algn="l">
              <a:buFont typeface="Arial" panose="020B0604020202020204" pitchFamily="34" charset="0"/>
              <a:buChar char="•"/>
            </a:pPr>
            <a:r>
              <a:rPr lang="en-US" altLang="ko-KR" b="0" i="0" dirty="0">
                <a:effectLst/>
              </a:rPr>
              <a:t>Buckets with 1's (timestamps t−1 and t−2) are fully included.</a:t>
            </a:r>
          </a:p>
          <a:p>
            <a:pPr marL="742950" lvl="1" indent="-285750" algn="l">
              <a:buFont typeface="Arial" panose="020B0604020202020204" pitchFamily="34" charset="0"/>
              <a:buChar char="•"/>
            </a:pPr>
            <a:r>
              <a:rPr lang="en-US" altLang="ko-KR" b="0" i="0" dirty="0">
                <a:effectLst/>
              </a:rPr>
              <a:t>Bucket of size 2 (timestamp t−4) is fully included.</a:t>
            </a:r>
          </a:p>
          <a:p>
            <a:pPr marL="742950" lvl="1" indent="-285750" algn="l">
              <a:buFont typeface="Arial" panose="020B0604020202020204" pitchFamily="34" charset="0"/>
              <a:buChar char="•"/>
            </a:pPr>
            <a:r>
              <a:rPr lang="en-US" altLang="ko-KR" b="0" i="0" dirty="0">
                <a:effectLst/>
              </a:rPr>
              <a:t>Bucket of size 4 (timestamp t−8) is partially included.</a:t>
            </a:r>
          </a:p>
        </p:txBody>
      </p:sp>
    </p:spTree>
    <p:extLst>
      <p:ext uri="{BB962C8B-B14F-4D97-AF65-F5344CB8AC3E}">
        <p14:creationId xmlns:p14="http://schemas.microsoft.com/office/powerpoint/2010/main" val="531433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1D7447E-6A59-5FB4-D5AC-200F2550DD0A}"/>
              </a:ext>
            </a:extLst>
          </p:cNvPr>
          <p:cNvSpPr txBox="1"/>
          <p:nvPr/>
        </p:nvSpPr>
        <p:spPr>
          <a:xfrm>
            <a:off x="387973" y="171093"/>
            <a:ext cx="8368054" cy="4801314"/>
          </a:xfrm>
          <a:prstGeom prst="rect">
            <a:avLst/>
          </a:prstGeom>
          <a:noFill/>
        </p:spPr>
        <p:txBody>
          <a:bodyPr wrap="square" rtlCol="0">
            <a:spAutoFit/>
          </a:bodyPr>
          <a:lstStyle/>
          <a:p>
            <a:pPr algn="l"/>
            <a:r>
              <a:rPr lang="en-US" altLang="ko-KR" b="1" i="0" dirty="0">
                <a:effectLst/>
                <a:ea typeface="+mj-ea"/>
              </a:rPr>
              <a:t>Estimate</a:t>
            </a:r>
            <a:r>
              <a:rPr lang="en-US" altLang="ko-KR" b="0" i="0" dirty="0">
                <a:effectLst/>
                <a:ea typeface="+mj-ea"/>
              </a:rPr>
              <a:t>:</a:t>
            </a:r>
          </a:p>
          <a:p>
            <a:pPr marL="285750" indent="-285750">
              <a:buFont typeface="Arial" panose="020B0604020202020204" pitchFamily="34" charset="0"/>
              <a:buChar char="•"/>
            </a:pPr>
            <a:r>
              <a:rPr lang="en-US" altLang="ko-KR" b="0" i="0" dirty="0">
                <a:effectLst/>
                <a:ea typeface="+mj-ea"/>
              </a:rPr>
              <a:t>Two buckets of size 1</a:t>
            </a:r>
          </a:p>
          <a:p>
            <a:pPr marL="285750" indent="-285750">
              <a:buFont typeface="Arial" panose="020B0604020202020204" pitchFamily="34" charset="0"/>
              <a:buChar char="•"/>
            </a:pPr>
            <a:r>
              <a:rPr lang="en-US" altLang="ko-KR" b="0" i="0" dirty="0">
                <a:effectLst/>
                <a:ea typeface="+mj-ea"/>
              </a:rPr>
              <a:t>One bucket of size 2</a:t>
            </a:r>
          </a:p>
          <a:p>
            <a:pPr marL="285750" indent="-285750">
              <a:buFont typeface="Arial" panose="020B0604020202020204" pitchFamily="34" charset="0"/>
              <a:buChar char="•"/>
            </a:pPr>
            <a:r>
              <a:rPr lang="en-US" altLang="ko-KR" b="0" i="0" dirty="0">
                <a:effectLst/>
                <a:ea typeface="+mj-ea"/>
              </a:rPr>
              <a:t>Half a bucket of size 4</a:t>
            </a:r>
          </a:p>
          <a:p>
            <a:pPr marL="285750" indent="-285750">
              <a:buFont typeface="Arial" panose="020B0604020202020204" pitchFamily="34" charset="0"/>
              <a:buChar char="•"/>
            </a:pPr>
            <a:r>
              <a:rPr lang="en-US" altLang="ko-KR" b="0" i="0" dirty="0">
                <a:effectLst/>
                <a:ea typeface="+mj-ea"/>
              </a:rPr>
              <a:t>Total estimate: 6 (correct answer is 5)</a:t>
            </a:r>
          </a:p>
          <a:p>
            <a:pPr marL="285750" indent="-285750">
              <a:buFont typeface="Arial" panose="020B0604020202020204" pitchFamily="34" charset="0"/>
              <a:buChar char="•"/>
            </a:pPr>
            <a:endParaRPr lang="en-US" altLang="ko-KR" dirty="0">
              <a:ea typeface="+mj-ea"/>
            </a:endParaRPr>
          </a:p>
          <a:p>
            <a:r>
              <a:rPr lang="en-US" altLang="ko-KR" b="1" i="0" dirty="0">
                <a:solidFill>
                  <a:srgbClr val="E28479"/>
                </a:solidFill>
                <a:effectLst/>
                <a:latin typeface="Britannic Bold" panose="020B0903060703020204" pitchFamily="34" charset="0"/>
              </a:rPr>
              <a:t>Error Analysis</a:t>
            </a:r>
          </a:p>
          <a:p>
            <a:pPr algn="l">
              <a:buFont typeface="+mj-lt"/>
              <a:buAutoNum type="arabicPeriod"/>
            </a:pPr>
            <a:r>
              <a:rPr lang="en-US" altLang="ko-KR" b="1" i="0" dirty="0">
                <a:effectLst/>
              </a:rPr>
              <a:t>Estimate &lt; Correct Answer (c)</a:t>
            </a:r>
            <a:r>
              <a:rPr lang="en-US" altLang="ko-KR" b="0" i="0" dirty="0">
                <a:effectLst/>
              </a:rPr>
              <a:t>:</a:t>
            </a:r>
          </a:p>
          <a:p>
            <a:pPr marL="285750" indent="-285750" algn="l">
              <a:buFont typeface="Arial" panose="020B0604020202020204" pitchFamily="34" charset="0"/>
              <a:buChar char="•"/>
            </a:pPr>
            <a:r>
              <a:rPr lang="en-US" altLang="ko-KR" b="0" i="0" dirty="0">
                <a:effectLst/>
              </a:rPr>
              <a:t>Worst case: All 1's in bucket b are within the query range.</a:t>
            </a:r>
          </a:p>
          <a:p>
            <a:pPr marL="285750" indent="-285750" algn="l">
              <a:buFont typeface="Arial" panose="020B0604020202020204" pitchFamily="34" charset="0"/>
              <a:buChar char="•"/>
            </a:pPr>
            <a:r>
              <a:rPr lang="en-US" altLang="ko-KR" b="0" i="0" dirty="0">
                <a:effectLst/>
              </a:rPr>
              <a:t>Missing half of bucket b: 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ᶨ⁻¹ </a:t>
            </a:r>
            <a:r>
              <a:rPr lang="en-US" altLang="ko-KR" b="0" i="0" dirty="0">
                <a:effectLst/>
              </a:rPr>
              <a:t>1’s.</a:t>
            </a:r>
          </a:p>
          <a:p>
            <a:pPr marL="285750" indent="-285750" algn="l">
              <a:buFont typeface="Arial" panose="020B0604020202020204" pitchFamily="34" charset="0"/>
              <a:buChar char="•"/>
            </a:pPr>
            <a:r>
              <a:rPr lang="en-US" altLang="ko-KR" b="0" i="0" dirty="0">
                <a:effectLst/>
              </a:rPr>
              <a:t>c≥2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ᶨ</a:t>
            </a:r>
            <a:r>
              <a:rPr lang="en-US" altLang="ko-KR" b="0" i="0" dirty="0">
                <a:effectLst/>
              </a:rPr>
              <a:t>: Estimate is at least 50% of c.</a:t>
            </a:r>
          </a:p>
          <a:p>
            <a:pPr algn="l">
              <a:buFont typeface="+mj-lt"/>
              <a:buAutoNum type="arabicPeriod"/>
            </a:pPr>
            <a:r>
              <a:rPr lang="en-US" altLang="ko-KR" b="1" i="0" dirty="0">
                <a:effectLst/>
              </a:rPr>
              <a:t>Estimate &gt; Correct Answer (c)</a:t>
            </a:r>
            <a:r>
              <a:rPr lang="en-US" altLang="ko-KR" b="0" i="0" dirty="0">
                <a:effectLst/>
              </a:rPr>
              <a:t>:</a:t>
            </a:r>
          </a:p>
          <a:p>
            <a:pPr marL="285750" indent="-285750" algn="l">
              <a:buFont typeface="Arial" panose="020B0604020202020204" pitchFamily="34" charset="0"/>
              <a:buChar char="•"/>
            </a:pPr>
            <a:r>
              <a:rPr lang="en-US" altLang="ko-KR" b="0" i="0" dirty="0">
                <a:effectLst/>
              </a:rPr>
              <a:t>Worst case: Only the rightmost bit of bucket b is in range.</a:t>
            </a:r>
          </a:p>
          <a:p>
            <a:pPr marL="285750" indent="-285750" algn="l">
              <a:buFont typeface="Arial" panose="020B0604020202020204" pitchFamily="34" charset="0"/>
              <a:buChar char="•"/>
            </a:pPr>
            <a:r>
              <a:rPr lang="en-US" altLang="ko-KR" b="0" i="0" dirty="0">
                <a:effectLst/>
              </a:rPr>
              <a:t>c=1+2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ᶨ⁻¹</a:t>
            </a:r>
            <a:r>
              <a:rPr lang="en-US" altLang="ko-KR" b="0" i="0" dirty="0">
                <a:effectLst/>
              </a:rPr>
              <a:t>+2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ᶨ⁻²</a:t>
            </a:r>
            <a:r>
              <a:rPr lang="en-US" altLang="ko-KR" b="0" i="0" dirty="0">
                <a:effectLst/>
              </a:rPr>
              <a:t>+...+1=2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ᶨ</a:t>
            </a:r>
            <a:endParaRPr lang="en-US" altLang="ko-KR" b="0" i="0" dirty="0">
              <a:effectLst/>
            </a:endParaRPr>
          </a:p>
          <a:p>
            <a:pPr marL="285750" indent="-285750" algn="l">
              <a:buFont typeface="Arial" panose="020B0604020202020204" pitchFamily="34" charset="0"/>
              <a:buChar char="•"/>
            </a:pPr>
            <a:r>
              <a:rPr lang="en-US" altLang="ko-KR" b="0" i="0" dirty="0">
                <a:effectLst/>
              </a:rPr>
              <a:t>Estimate: 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ᶨ⁻¹</a:t>
            </a:r>
            <a:r>
              <a:rPr lang="en-US" altLang="ko-KR" b="0" i="0" dirty="0">
                <a:effectLst/>
              </a:rPr>
              <a:t>+2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ᶨ⁻¹</a:t>
            </a:r>
            <a:r>
              <a:rPr lang="en-US" altLang="ko-KR" b="0" i="0" dirty="0">
                <a:effectLst/>
              </a:rPr>
              <a:t>+2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ᶨ⁻²</a:t>
            </a:r>
            <a:r>
              <a:rPr lang="en-US" altLang="ko-KR" b="0" i="0" dirty="0">
                <a:effectLst/>
              </a:rPr>
              <a:t>+...+1=2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ᶨ</a:t>
            </a:r>
            <a:r>
              <a:rPr lang="en-US" altLang="ko-KR" b="0" i="0" dirty="0">
                <a:effectLst/>
              </a:rPr>
              <a:t>+2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ᶨ⁻¹</a:t>
            </a:r>
            <a:r>
              <a:rPr lang="en-US" altLang="ko-KR" b="0" i="0" dirty="0">
                <a:effectLst/>
              </a:rPr>
              <a:t>−1</a:t>
            </a:r>
          </a:p>
          <a:p>
            <a:pPr marL="285750" indent="-285750" algn="l">
              <a:buFont typeface="Arial" panose="020B0604020202020204" pitchFamily="34" charset="0"/>
              <a:buChar char="•"/>
            </a:pPr>
            <a:r>
              <a:rPr lang="en-US" altLang="ko-KR" b="0" i="0" dirty="0">
                <a:effectLst/>
              </a:rPr>
              <a:t>Estimate is no more than 50% greater than c.</a:t>
            </a:r>
          </a:p>
          <a:p>
            <a:endParaRPr lang="en-US" altLang="ko-KR" b="0" i="0" dirty="0">
              <a:effectLst/>
              <a:ea typeface="+mj-ea"/>
            </a:endParaRPr>
          </a:p>
        </p:txBody>
      </p:sp>
      <p:pic>
        <p:nvPicPr>
          <p:cNvPr id="6" name="图片 5">
            <a:extLst>
              <a:ext uri="{FF2B5EF4-FFF2-40B4-BE49-F238E27FC236}">
                <a16:creationId xmlns:a16="http://schemas.microsoft.com/office/drawing/2014/main" id="{672468A6-C497-4EF6-2B32-AF610C269B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46452" y="470407"/>
            <a:ext cx="1660422" cy="1660422"/>
          </a:xfrm>
          <a:prstGeom prst="rect">
            <a:avLst/>
          </a:prstGeom>
        </p:spPr>
      </p:pic>
    </p:spTree>
    <p:extLst>
      <p:ext uri="{BB962C8B-B14F-4D97-AF65-F5344CB8AC3E}">
        <p14:creationId xmlns:p14="http://schemas.microsoft.com/office/powerpoint/2010/main" val="1920159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21B474-C97E-649F-D5C6-3B159BDF5A82}"/>
              </a:ext>
            </a:extLst>
          </p:cNvPr>
          <p:cNvSpPr txBox="1"/>
          <p:nvPr/>
        </p:nvSpPr>
        <p:spPr>
          <a:xfrm>
            <a:off x="403150" y="989992"/>
            <a:ext cx="8337698" cy="3693319"/>
          </a:xfrm>
          <a:prstGeom prst="rect">
            <a:avLst/>
          </a:prstGeom>
          <a:noFill/>
        </p:spPr>
        <p:txBody>
          <a:bodyPr wrap="square">
            <a:spAutoFit/>
          </a:bodyPr>
          <a:lstStyle/>
          <a:p>
            <a:pPr marR="0" lvl="0" algn="just" defTabSz="457200" rtl="0" eaLnBrk="1" fontAlgn="auto" latinLnBrk="0" hangingPunct="1">
              <a:lnSpc>
                <a:spcPct val="100000"/>
              </a:lnSpc>
              <a:spcBef>
                <a:spcPts val="0"/>
              </a:spcBef>
              <a:spcAft>
                <a:spcPts val="0"/>
              </a:spcAft>
              <a:buClrTx/>
              <a:buSzTx/>
              <a:tabLst/>
              <a:defRPr/>
            </a:pPr>
            <a:r>
              <a:rPr lang="en-US" altLang="ko-KR" dirty="0"/>
              <a:t>This part </a:t>
            </a:r>
            <a:r>
              <a:rPr lang="en-US" altLang="ko-KR" i="0" dirty="0">
                <a:effectLst/>
              </a:rPr>
              <a:t>outlines the process of maintaining the DGIM (Datar-</a:t>
            </a:r>
            <a:r>
              <a:rPr lang="en-US" altLang="ko-KR" i="0" dirty="0" err="1">
                <a:effectLst/>
              </a:rPr>
              <a:t>Gionis</a:t>
            </a:r>
            <a:r>
              <a:rPr lang="en-US" altLang="ko-KR" i="0" dirty="0">
                <a:effectLst/>
              </a:rPr>
              <a:t>-Indyk-Motwani) algorithm conditions for a window of length N represented by buckets.</a:t>
            </a:r>
          </a:p>
          <a:p>
            <a:pPr marR="0" lvl="0" algn="just" defTabSz="457200" rtl="0" eaLnBrk="1" fontAlgn="auto" latinLnBrk="0" hangingPunct="1">
              <a:lnSpc>
                <a:spcPct val="100000"/>
              </a:lnSpc>
              <a:spcBef>
                <a:spcPts val="0"/>
              </a:spcBef>
              <a:spcAft>
                <a:spcPts val="0"/>
              </a:spcAft>
              <a:buClrTx/>
              <a:buSzTx/>
              <a:tabLst/>
              <a:defRPr/>
            </a:pPr>
            <a:endParaRPr kumimoji="0" lang="en-US" altLang="ko-KR" u="none" strike="noStrike" kern="1200" cap="none" spc="0" normalizeH="0" baseline="0" noProof="0" dirty="0">
              <a:ln>
                <a:noFill/>
              </a:ln>
              <a:uLnTx/>
              <a:uFillTx/>
              <a:ea typeface="微软雅黑 Light"/>
              <a:cs typeface="+mn-cs"/>
            </a:endParaRPr>
          </a:p>
          <a:p>
            <a:pPr algn="l"/>
            <a:r>
              <a:rPr lang="en-US" altLang="ko-KR" i="0" dirty="0">
                <a:solidFill>
                  <a:srgbClr val="E28479"/>
                </a:solidFill>
                <a:effectLst/>
                <a:latin typeface="Britannic Bold" panose="020B0903060703020204" pitchFamily="34" charset="0"/>
              </a:rPr>
              <a:t>Maintaining DGIM Conditions:</a:t>
            </a:r>
          </a:p>
          <a:p>
            <a:pPr algn="l">
              <a:buFont typeface="+mj-lt"/>
              <a:buAutoNum type="arabicPeriod"/>
            </a:pPr>
            <a:r>
              <a:rPr lang="en-US" altLang="ko-KR" i="0" dirty="0">
                <a:effectLst/>
              </a:rPr>
              <a:t>Bucket Expiry: Check the leftmost bucket. If its timestamp reaches the current timestamp minus N, drop that bucket.</a:t>
            </a:r>
          </a:p>
          <a:p>
            <a:pPr algn="l">
              <a:buFont typeface="+mj-lt"/>
              <a:buAutoNum type="arabicPeriod"/>
            </a:pPr>
            <a:r>
              <a:rPr lang="en-US" altLang="ko-KR" i="0" dirty="0">
                <a:effectLst/>
              </a:rPr>
              <a:t>New Bit Handling:</a:t>
            </a:r>
          </a:p>
          <a:p>
            <a:pPr marL="285750" indent="-285750" algn="l">
              <a:buFont typeface="Arial" panose="020B0604020202020204" pitchFamily="34" charset="0"/>
              <a:buChar char="•"/>
            </a:pPr>
            <a:r>
              <a:rPr lang="en-US" altLang="ko-KR" i="0" dirty="0">
                <a:effectLst/>
              </a:rPr>
              <a:t>If the new bit is 0, no changes are needed.</a:t>
            </a:r>
          </a:p>
          <a:p>
            <a:pPr marL="285750" indent="-285750" algn="l">
              <a:buFont typeface="Arial" panose="020B0604020202020204" pitchFamily="34" charset="0"/>
              <a:buChar char="•"/>
            </a:pPr>
            <a:r>
              <a:rPr lang="en-US" altLang="ko-KR" i="0" dirty="0">
                <a:effectLst/>
              </a:rPr>
              <a:t>If the new bit is 1, perform these steps:</a:t>
            </a:r>
          </a:p>
          <a:p>
            <a:pPr marL="285750" indent="-285750" algn="l">
              <a:buFont typeface="Arial" panose="020B0604020202020204" pitchFamily="34" charset="0"/>
              <a:buChar char="•"/>
            </a:pPr>
            <a:r>
              <a:rPr lang="en-US" altLang="ko-KR" i="0" dirty="0">
                <a:effectLst/>
              </a:rPr>
              <a:t>Create a new bucket with the current timestamp and size 1.</a:t>
            </a:r>
          </a:p>
          <a:p>
            <a:pPr marL="285750" indent="-285750" algn="l">
              <a:buFont typeface="Arial" panose="020B0604020202020204" pitchFamily="34" charset="0"/>
              <a:buChar char="•"/>
            </a:pPr>
            <a:r>
              <a:rPr lang="en-US" altLang="ko-KR" i="0" dirty="0">
                <a:effectLst/>
              </a:rPr>
              <a:t>If there are three buckets of size 1, combine the leftmost two into one bucket of size 2, using the timestamp of the rightmost of the two.</a:t>
            </a:r>
          </a:p>
          <a:p>
            <a:pPr marR="0" lvl="0" algn="just" defTabSz="457200" rtl="0" eaLnBrk="1" fontAlgn="auto" latinLnBrk="0" hangingPunct="1">
              <a:lnSpc>
                <a:spcPct val="100000"/>
              </a:lnSpc>
              <a:spcBef>
                <a:spcPts val="0"/>
              </a:spcBef>
              <a:spcAft>
                <a:spcPts val="0"/>
              </a:spcAft>
              <a:buClrTx/>
              <a:buSzTx/>
              <a:tabLst/>
              <a:defRPr/>
            </a:pPr>
            <a:endParaRPr kumimoji="0" lang="en-US" altLang="ko-KR" i="0" u="none" strike="noStrike" kern="1200" cap="none" spc="0" normalizeH="0" baseline="0" noProof="0" dirty="0">
              <a:ln>
                <a:noFill/>
              </a:ln>
              <a:effectLst/>
              <a:uLnTx/>
              <a:uFillTx/>
              <a:ea typeface="微软雅黑 Light"/>
              <a:cs typeface="+mn-cs"/>
            </a:endParaRPr>
          </a:p>
        </p:txBody>
      </p:sp>
      <p:sp>
        <p:nvSpPr>
          <p:cNvPr id="2" name="文本框 20">
            <a:extLst>
              <a:ext uri="{FF2B5EF4-FFF2-40B4-BE49-F238E27FC236}">
                <a16:creationId xmlns:a16="http://schemas.microsoft.com/office/drawing/2014/main" id="{B9C4E89A-1519-03F8-19F7-054E8DE06025}"/>
              </a:ext>
            </a:extLst>
          </p:cNvPr>
          <p:cNvSpPr txBox="1"/>
          <p:nvPr/>
        </p:nvSpPr>
        <p:spPr>
          <a:xfrm>
            <a:off x="456305" y="271477"/>
            <a:ext cx="8231389" cy="584775"/>
          </a:xfrm>
          <a:prstGeom prst="rect">
            <a:avLst/>
          </a:prstGeom>
          <a:noFill/>
        </p:spPr>
        <p:txBody>
          <a:bodyPr wrap="square" rtlCol="0">
            <a:spAutoFit/>
          </a:bodyPr>
          <a:lstStyle/>
          <a:p>
            <a:pPr algn="ctr"/>
            <a:r>
              <a:rPr lang="en-US" altLang="zh-CN" sz="3200" dirty="0">
                <a:solidFill>
                  <a:srgbClr val="96ADE3"/>
                </a:solidFill>
                <a:latin typeface="Segoe UI Black" panose="020B0A02040204020203" pitchFamily="34" charset="0"/>
                <a:ea typeface="Segoe UI Black" panose="020B0A02040204020203" pitchFamily="34" charset="0"/>
              </a:rPr>
              <a:t>4.6.5 Maintaining the DGIM Conditions</a:t>
            </a:r>
            <a:endParaRPr lang="zh-CN" altLang="en-US" sz="3200" dirty="0">
              <a:solidFill>
                <a:srgbClr val="96ADE3"/>
              </a:solidFill>
              <a:latin typeface="Segoe UI Black" panose="020B0A02040204020203" pitchFamily="34" charset="0"/>
            </a:endParaRPr>
          </a:p>
        </p:txBody>
      </p:sp>
    </p:spTree>
    <p:extLst>
      <p:ext uri="{BB962C8B-B14F-4D97-AF65-F5344CB8AC3E}">
        <p14:creationId xmlns:p14="http://schemas.microsoft.com/office/powerpoint/2010/main" val="4091111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1B0636F-CA78-FA15-E4E2-CA4A8F2BE3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901" y="222841"/>
            <a:ext cx="6346743" cy="1529586"/>
          </a:xfrm>
          <a:prstGeom prst="rect">
            <a:avLst/>
          </a:prstGeom>
        </p:spPr>
      </p:pic>
      <p:sp>
        <p:nvSpPr>
          <p:cNvPr id="5" name="文本框 4">
            <a:extLst>
              <a:ext uri="{FF2B5EF4-FFF2-40B4-BE49-F238E27FC236}">
                <a16:creationId xmlns:a16="http://schemas.microsoft.com/office/drawing/2014/main" id="{F2AB3296-FB73-D23B-CE78-7874066AE280}"/>
              </a:ext>
            </a:extLst>
          </p:cNvPr>
          <p:cNvSpPr txBox="1"/>
          <p:nvPr/>
        </p:nvSpPr>
        <p:spPr>
          <a:xfrm>
            <a:off x="238257" y="1952663"/>
            <a:ext cx="8667483" cy="2862322"/>
          </a:xfrm>
          <a:prstGeom prst="rect">
            <a:avLst/>
          </a:prstGeom>
          <a:noFill/>
        </p:spPr>
        <p:txBody>
          <a:bodyPr wrap="square" rtlCol="0">
            <a:spAutoFit/>
          </a:bodyPr>
          <a:lstStyle/>
          <a:p>
            <a:pPr algn="just"/>
            <a:r>
              <a:rPr lang="en-US" altLang="ko-KR" i="0" dirty="0">
                <a:solidFill>
                  <a:srgbClr val="96ADE3"/>
                </a:solidFill>
                <a:effectLst/>
                <a:latin typeface="Britannic Bold" panose="020B0903060703020204" pitchFamily="34" charset="0"/>
              </a:rPr>
              <a:t>Example 4.13 </a:t>
            </a:r>
            <a:r>
              <a:rPr lang="en-US" altLang="ko-KR" i="0" dirty="0">
                <a:effectLst/>
              </a:rPr>
              <a:t>describes how to update buckets when a new '1' arrives in the stream.</a:t>
            </a:r>
          </a:p>
          <a:p>
            <a:pPr algn="just">
              <a:buFont typeface="Arial" panose="020B0604020202020204" pitchFamily="34" charset="0"/>
              <a:buChar char="•"/>
            </a:pPr>
            <a:r>
              <a:rPr lang="en-US" altLang="ko-KR" i="0" dirty="0">
                <a:effectLst/>
              </a:rPr>
              <a:t>Initial Buckets: Start with the buckets from a previous figure.</a:t>
            </a:r>
          </a:p>
          <a:p>
            <a:pPr algn="just">
              <a:buFont typeface="Arial" panose="020B0604020202020204" pitchFamily="34" charset="0"/>
              <a:buChar char="•"/>
            </a:pPr>
            <a:r>
              <a:rPr lang="en-US" altLang="ko-KR" i="0" dirty="0">
                <a:effectLst/>
              </a:rPr>
              <a:t>New '1' Arrival: When a new '1' enters, create a new bucket of size 1 with the current timestamp.</a:t>
            </a:r>
          </a:p>
          <a:p>
            <a:pPr algn="just">
              <a:buFont typeface="Arial" panose="020B0604020202020204" pitchFamily="34" charset="0"/>
              <a:buChar char="•"/>
            </a:pPr>
            <a:r>
              <a:rPr lang="en-US" altLang="ko-KR" i="0" dirty="0">
                <a:effectLst/>
              </a:rPr>
              <a:t>Bucket Combination: If there are three buckets of size 1, combine the leftmost two into a single bucket of size 2.</a:t>
            </a:r>
          </a:p>
          <a:p>
            <a:pPr algn="just">
              <a:buFont typeface="Arial" panose="020B0604020202020204" pitchFamily="34" charset="0"/>
              <a:buChar char="•"/>
            </a:pPr>
            <a:r>
              <a:rPr lang="en-US" altLang="ko-KR" i="0" dirty="0">
                <a:effectLst/>
              </a:rPr>
              <a:t>Final Buckets: The updated sequence shows the modified buckets after the new '1' arrives, with annotations indicating bucket sizes.</a:t>
            </a:r>
          </a:p>
          <a:p>
            <a:pPr algn="just"/>
            <a:r>
              <a:rPr lang="en-US" altLang="ko-KR" i="0" dirty="0">
                <a:effectLst/>
              </a:rPr>
              <a:t>The example demonstrates how the DGIM algorithm maintains approximate counts of 1s in a sliding window.</a:t>
            </a:r>
          </a:p>
        </p:txBody>
      </p:sp>
      <p:pic>
        <p:nvPicPr>
          <p:cNvPr id="6" name="图片 5">
            <a:extLst>
              <a:ext uri="{FF2B5EF4-FFF2-40B4-BE49-F238E27FC236}">
                <a16:creationId xmlns:a16="http://schemas.microsoft.com/office/drawing/2014/main" id="{AF6D68C8-3D76-720F-AF79-67FA23394E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95873" y="411299"/>
            <a:ext cx="1152669" cy="1152669"/>
          </a:xfrm>
          <a:prstGeom prst="rect">
            <a:avLst/>
          </a:prstGeom>
        </p:spPr>
      </p:pic>
    </p:spTree>
    <p:extLst>
      <p:ext uri="{BB962C8B-B14F-4D97-AF65-F5344CB8AC3E}">
        <p14:creationId xmlns:p14="http://schemas.microsoft.com/office/powerpoint/2010/main" val="1038243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21B474-C97E-649F-D5C6-3B159BDF5A82}"/>
              </a:ext>
            </a:extLst>
          </p:cNvPr>
          <p:cNvSpPr txBox="1"/>
          <p:nvPr/>
        </p:nvSpPr>
        <p:spPr>
          <a:xfrm>
            <a:off x="386439" y="1070412"/>
            <a:ext cx="8301255" cy="3416320"/>
          </a:xfrm>
          <a:prstGeom prst="rect">
            <a:avLst/>
          </a:prstGeom>
          <a:noFill/>
        </p:spPr>
        <p:txBody>
          <a:bodyPr wrap="square">
            <a:spAutoFit/>
          </a:bodyPr>
          <a:lstStyle/>
          <a:p>
            <a:pPr algn="l"/>
            <a:r>
              <a:rPr lang="en-US" altLang="ko-KR" b="0" i="0" dirty="0">
                <a:effectLst/>
              </a:rPr>
              <a:t>It explains a method for reducing error in representing numbers using buckets of exponentially growing sizes (1, 2, 4, ...). Instead of allowing only one or two of each size bucket, the method permits either r−1 or r of each size, for some integer r&gt;2. This relaxation      applies to both the smallest buckets and the largest size present, allowing any number   from 1 to r of these buckets.</a:t>
            </a:r>
          </a:p>
          <a:p>
            <a:pPr algn="l"/>
            <a:r>
              <a:rPr lang="en-US" altLang="ko-KR" b="0" i="0" dirty="0">
                <a:effectLst/>
              </a:rPr>
              <a:t>The process of combining buckets follows a rule similar to previous sections. If there are r+1 buckets of size 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ᶨ</a:t>
            </a:r>
            <a:r>
              <a:rPr lang="en-US" altLang="ko-KR" b="0" i="0" dirty="0">
                <a:effectLst/>
              </a:rPr>
              <a:t>, the leftmost two are merged into a bucket of size 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ᶨ</a:t>
            </a:r>
            <a:r>
              <a:rPr lang="en-US" altLang="ko-KR" b="0" i="0" dirty="0">
                <a:effectLst/>
              </a:rPr>
              <a:t>+1. This merging continues for larger sizes as needed.</a:t>
            </a:r>
          </a:p>
          <a:p>
            <a:pPr algn="l"/>
            <a:endParaRPr lang="en-US" altLang="ko-KR" b="0" i="0" dirty="0">
              <a:effectLst/>
            </a:endParaRPr>
          </a:p>
          <a:p>
            <a:pPr algn="just"/>
            <a:r>
              <a:rPr lang="en-US" altLang="ko-KR" b="0" i="0" dirty="0">
                <a:effectLst/>
              </a:rPr>
              <a:t>This method results in a stronger error bound by having more buckets of smaller sizes.   The largest relative error happens when only one bucket from the leftmost bucket b is  within the query range, leading to an overestimation of the true count.</a:t>
            </a:r>
          </a:p>
        </p:txBody>
      </p:sp>
      <p:sp>
        <p:nvSpPr>
          <p:cNvPr id="2" name="文本框 20">
            <a:extLst>
              <a:ext uri="{FF2B5EF4-FFF2-40B4-BE49-F238E27FC236}">
                <a16:creationId xmlns:a16="http://schemas.microsoft.com/office/drawing/2014/main" id="{2342BFF8-3BFC-C69D-0B31-A3A55C844B72}"/>
              </a:ext>
            </a:extLst>
          </p:cNvPr>
          <p:cNvSpPr txBox="1"/>
          <p:nvPr/>
        </p:nvSpPr>
        <p:spPr>
          <a:xfrm>
            <a:off x="456305" y="265037"/>
            <a:ext cx="8231389" cy="646331"/>
          </a:xfrm>
          <a:prstGeom prst="rect">
            <a:avLst/>
          </a:prstGeom>
          <a:noFill/>
        </p:spPr>
        <p:txBody>
          <a:bodyPr wrap="square" rtlCol="0">
            <a:spAutoFit/>
          </a:bodyPr>
          <a:lstStyle/>
          <a:p>
            <a:pPr algn="ctr"/>
            <a:r>
              <a:rPr lang="en-US" altLang="zh-CN" sz="3600" dirty="0">
                <a:solidFill>
                  <a:srgbClr val="96ADE3"/>
                </a:solidFill>
                <a:latin typeface="Segoe UI Black" panose="020B0A02040204020203" pitchFamily="34" charset="0"/>
                <a:ea typeface="Segoe UI Black" panose="020B0A02040204020203" pitchFamily="34" charset="0"/>
              </a:rPr>
              <a:t>4.6.6 Reducing the Error</a:t>
            </a:r>
            <a:endParaRPr lang="zh-CN" altLang="en-US" sz="3600" dirty="0">
              <a:solidFill>
                <a:srgbClr val="96ADE3"/>
              </a:solidFill>
              <a:latin typeface="Segoe UI Black" panose="020B0A02040204020203" pitchFamily="34" charset="0"/>
            </a:endParaRPr>
          </a:p>
        </p:txBody>
      </p:sp>
    </p:spTree>
    <p:extLst>
      <p:ext uri="{BB962C8B-B14F-4D97-AF65-F5344CB8AC3E}">
        <p14:creationId xmlns:p14="http://schemas.microsoft.com/office/powerpoint/2010/main" val="232057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21B474-C97E-649F-D5C6-3B159BDF5A82}"/>
              </a:ext>
            </a:extLst>
          </p:cNvPr>
          <p:cNvSpPr txBox="1"/>
          <p:nvPr/>
        </p:nvSpPr>
        <p:spPr>
          <a:xfrm>
            <a:off x="305909" y="379336"/>
            <a:ext cx="8632029" cy="230832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b="0" i="0" dirty="0">
                <a:effectLst/>
              </a:rPr>
              <a:t>When 1's arrive in the stream, bucket sizes form consecutive binary integers, similar to the binary addition process. Two buckets of size 2</a:t>
            </a:r>
            <a:r>
              <a:rPr lang="en-US" altLang="ko-KR" b="0" i="0" dirty="0">
                <a:effectLst/>
                <a:ea typeface="Calibri Light" panose="020F0302020204030204" pitchFamily="34" charset="0"/>
                <a:cs typeface="Calibri Light" panose="020F0302020204030204" pitchFamily="34" charset="0"/>
              </a:rPr>
              <a:t>ᶨ</a:t>
            </a:r>
            <a:r>
              <a:rPr lang="en-US" altLang="ko-KR" b="0" i="0" dirty="0">
                <a:effectLst/>
              </a:rPr>
              <a:t> are represented as "1" in position j, and one bucket of size 2</a:t>
            </a:r>
            <a:r>
              <a:rPr lang="en-US" altLang="ko-KR" b="0" i="0" dirty="0">
                <a:effectLst/>
                <a:ea typeface="Calibri Light" panose="020F0302020204030204" pitchFamily="34" charset="0"/>
                <a:cs typeface="Calibri Light" panose="020F0302020204030204" pitchFamily="34" charset="0"/>
              </a:rPr>
              <a:t>ᶨ</a:t>
            </a:r>
            <a:r>
              <a:rPr lang="en-US" altLang="ko-KR" b="0" i="0" dirty="0">
                <a:effectLst/>
              </a:rPr>
              <a:t> is represented as "0" in that position.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ko-KR" sz="1800" u="none" strike="noStrike" kern="1200" cap="none" spc="0" normalizeH="0" baseline="0" noProof="0" dirty="0">
              <a:ln>
                <a:noFill/>
              </a:ln>
              <a:uLnTx/>
              <a:uFillTx/>
              <a:ea typeface="微软雅黑 Light"/>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dirty="0">
                <a:ea typeface="微软雅黑 Light"/>
              </a:rPr>
              <a:t>C</a:t>
            </a:r>
            <a:r>
              <a:rPr kumimoji="0" lang="en-US" altLang="ko-KR" sz="1800" b="0" i="0" u="none" strike="noStrike" kern="1200" cap="none" spc="0" normalizeH="0" baseline="0" noProof="0" dirty="0" err="1">
                <a:ln>
                  <a:noFill/>
                </a:ln>
                <a:effectLst/>
                <a:uLnTx/>
                <a:uFillTx/>
                <a:ea typeface="微软雅黑 Light"/>
                <a:cs typeface="+mn-cs"/>
              </a:rPr>
              <a:t>ompares</a:t>
            </a:r>
            <a:r>
              <a:rPr kumimoji="0" lang="en-US" altLang="ko-KR" sz="1800" b="0" i="0" u="none" strike="noStrike" kern="1200" cap="none" spc="0" normalizeH="0" baseline="0" noProof="0" dirty="0">
                <a:ln>
                  <a:noFill/>
                </a:ln>
                <a:effectLst/>
                <a:uLnTx/>
                <a:uFillTx/>
                <a:ea typeface="微软雅黑 Light"/>
                <a:cs typeface="+mn-cs"/>
              </a:rPr>
              <a:t> the long sequences of bucket combinations to the long rippling of carries in binary integers.</a:t>
            </a:r>
            <a:r>
              <a:rPr lang="en-US" altLang="ko-KR" b="0" i="0" dirty="0">
                <a:effectLst/>
              </a:rPr>
              <a:t> This mathematical formula is provided to describe the overestimate and the fractional error in the bucket distribution:</a:t>
            </a:r>
            <a:endParaRPr kumimoji="0" lang="en-US" altLang="ko-KR" sz="1800" b="0" i="0" u="none" strike="noStrike" kern="1200" cap="none" spc="0" normalizeH="0" baseline="0" noProof="0" dirty="0">
              <a:ln>
                <a:noFill/>
              </a:ln>
              <a:effectLst/>
              <a:uLnTx/>
              <a:uFillTx/>
              <a:ea typeface="微软雅黑 Light"/>
              <a:cs typeface="+mn-cs"/>
            </a:endParaRPr>
          </a:p>
        </p:txBody>
      </p:sp>
      <p:pic>
        <p:nvPicPr>
          <p:cNvPr id="4" name="图片 3">
            <a:extLst>
              <a:ext uri="{FF2B5EF4-FFF2-40B4-BE49-F238E27FC236}">
                <a16:creationId xmlns:a16="http://schemas.microsoft.com/office/drawing/2014/main" id="{DB7BEBB9-6441-8B6C-4B15-F980633EDAED}"/>
              </a:ext>
            </a:extLst>
          </p:cNvPr>
          <p:cNvPicPr>
            <a:picLocks noChangeAspect="1"/>
          </p:cNvPicPr>
          <p:nvPr/>
        </p:nvPicPr>
        <p:blipFill rotWithShape="1">
          <a:blip r:embed="rId2">
            <a:extLst>
              <a:ext uri="{28A0092B-C50C-407E-A947-70E740481C1C}">
                <a14:useLocalDpi xmlns:a14="http://schemas.microsoft.com/office/drawing/2010/main" val="0"/>
              </a:ext>
            </a:extLst>
          </a:blip>
          <a:srcRect t="1" b="18140"/>
          <a:stretch/>
        </p:blipFill>
        <p:spPr>
          <a:xfrm>
            <a:off x="1794268" y="2784252"/>
            <a:ext cx="5555461" cy="274481"/>
          </a:xfrm>
          <a:prstGeom prst="rect">
            <a:avLst/>
          </a:prstGeom>
        </p:spPr>
      </p:pic>
      <p:sp>
        <p:nvSpPr>
          <p:cNvPr id="6" name="文本框 5">
            <a:extLst>
              <a:ext uri="{FF2B5EF4-FFF2-40B4-BE49-F238E27FC236}">
                <a16:creationId xmlns:a16="http://schemas.microsoft.com/office/drawing/2014/main" id="{CB352559-1AD5-7812-71B7-F47C4F2134E0}"/>
              </a:ext>
            </a:extLst>
          </p:cNvPr>
          <p:cNvSpPr txBox="1"/>
          <p:nvPr/>
        </p:nvSpPr>
        <p:spPr>
          <a:xfrm>
            <a:off x="305909" y="3221992"/>
            <a:ext cx="8416344" cy="369332"/>
          </a:xfrm>
          <a:prstGeom prst="rect">
            <a:avLst/>
          </a:prstGeom>
          <a:noFill/>
        </p:spPr>
        <p:txBody>
          <a:bodyPr wrap="square" rtlCol="0">
            <a:spAutoFit/>
          </a:bodyPr>
          <a:lstStyle/>
          <a:p>
            <a:r>
              <a:rPr lang="en-US" altLang="ko-KR" b="0" i="0" dirty="0">
                <a:effectLst/>
              </a:rPr>
              <a:t>The overestimate is 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ᶨ</a:t>
            </a:r>
            <a:r>
              <a:rPr lang="en-US" altLang="ko-KR" b="0" i="0" dirty="0">
                <a:effectLst/>
              </a:rPr>
              <a:t>−1−1, and the fractional error is:</a:t>
            </a:r>
            <a:endParaRPr lang="ko-KR" altLang="en-US" dirty="0"/>
          </a:p>
        </p:txBody>
      </p:sp>
      <p:pic>
        <p:nvPicPr>
          <p:cNvPr id="8" name="图片 7">
            <a:extLst>
              <a:ext uri="{FF2B5EF4-FFF2-40B4-BE49-F238E27FC236}">
                <a16:creationId xmlns:a16="http://schemas.microsoft.com/office/drawing/2014/main" id="{751C8052-E0FC-F235-DD26-BFE3FEE6B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6723" y="3646348"/>
            <a:ext cx="2034716" cy="815411"/>
          </a:xfrm>
          <a:prstGeom prst="rect">
            <a:avLst/>
          </a:prstGeom>
        </p:spPr>
      </p:pic>
      <p:sp>
        <p:nvSpPr>
          <p:cNvPr id="9" name="文本框 8">
            <a:extLst>
              <a:ext uri="{FF2B5EF4-FFF2-40B4-BE49-F238E27FC236}">
                <a16:creationId xmlns:a16="http://schemas.microsoft.com/office/drawing/2014/main" id="{0F7725E6-385B-68E2-44C1-7BABB977F226}"/>
              </a:ext>
            </a:extLst>
          </p:cNvPr>
          <p:cNvSpPr txBox="1"/>
          <p:nvPr/>
        </p:nvSpPr>
        <p:spPr>
          <a:xfrm>
            <a:off x="305909" y="4516784"/>
            <a:ext cx="8416344" cy="369332"/>
          </a:xfrm>
          <a:prstGeom prst="rect">
            <a:avLst/>
          </a:prstGeom>
          <a:noFill/>
        </p:spPr>
        <p:txBody>
          <a:bodyPr wrap="square" rtlCol="0">
            <a:spAutoFit/>
          </a:bodyPr>
          <a:lstStyle/>
          <a:p>
            <a:r>
              <a:rPr lang="en-US" altLang="ko-KR" b="0" i="0" dirty="0">
                <a:effectLst/>
              </a:rPr>
              <a:t>By selecting r large enough, the error can be limited to any desired fraction ϵ&gt;0.</a:t>
            </a:r>
            <a:endParaRPr lang="ko-KR" altLang="en-US" dirty="0"/>
          </a:p>
        </p:txBody>
      </p:sp>
    </p:spTree>
    <p:extLst>
      <p:ext uri="{BB962C8B-B14F-4D97-AF65-F5344CB8AC3E}">
        <p14:creationId xmlns:p14="http://schemas.microsoft.com/office/powerpoint/2010/main" val="2307993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21B474-C97E-649F-D5C6-3B159BDF5A82}"/>
              </a:ext>
            </a:extLst>
          </p:cNvPr>
          <p:cNvSpPr txBox="1"/>
          <p:nvPr/>
        </p:nvSpPr>
        <p:spPr>
          <a:xfrm>
            <a:off x="403150" y="919157"/>
            <a:ext cx="8367364" cy="3693319"/>
          </a:xfrm>
          <a:prstGeom prst="rect">
            <a:avLst/>
          </a:prstGeom>
          <a:noFill/>
        </p:spPr>
        <p:txBody>
          <a:bodyPr wrap="square">
            <a:spAutoFit/>
          </a:bodyPr>
          <a:lstStyle/>
          <a:p>
            <a:pPr algn="l"/>
            <a:r>
              <a:rPr lang="en-US" altLang="ko-KR" b="1" i="0" dirty="0">
                <a:solidFill>
                  <a:srgbClr val="E28479"/>
                </a:solidFill>
                <a:effectLst/>
                <a:latin typeface="Britannic Bold" panose="020B0903060703020204" pitchFamily="34" charset="0"/>
              </a:rPr>
              <a:t>Counting Integers</a:t>
            </a:r>
            <a:r>
              <a:rPr lang="en-US" altLang="ko-KR" b="0" i="0" dirty="0">
                <a:solidFill>
                  <a:srgbClr val="E28479"/>
                </a:solidFill>
                <a:effectLst/>
                <a:latin typeface="Britannic Bold" panose="020B0903060703020204" pitchFamily="34" charset="0"/>
              </a:rPr>
              <a:t>:</a:t>
            </a:r>
          </a:p>
          <a:p>
            <a:pPr marL="285750" indent="-285750">
              <a:buFont typeface="+mj-lt"/>
              <a:buAutoNum type="arabicPeriod"/>
            </a:pPr>
            <a:r>
              <a:rPr lang="en-US" altLang="ko-KR" b="0" i="0" dirty="0">
                <a:effectLst/>
              </a:rPr>
              <a:t>The goal is to estimate the sum of the last k integers in a stream (where 1≤k≤N).</a:t>
            </a:r>
          </a:p>
          <a:p>
            <a:pPr marL="285750" indent="-285750">
              <a:buFont typeface="+mj-lt"/>
              <a:buAutoNum type="arabicPeriod"/>
            </a:pPr>
            <a:r>
              <a:rPr lang="en-US" altLang="ko-KR" b="0" i="0" dirty="0">
                <a:effectLst/>
              </a:rPr>
              <a:t>Extending DGIM to both positive and negative integers is challenging due to potential large errors.</a:t>
            </a:r>
          </a:p>
          <a:p>
            <a:pPr algn="l"/>
            <a:endParaRPr lang="en-US" altLang="ko-KR" dirty="0"/>
          </a:p>
          <a:p>
            <a:pPr algn="l"/>
            <a:r>
              <a:rPr lang="en-US" altLang="ko-KR" b="1" i="0" dirty="0">
                <a:solidFill>
                  <a:srgbClr val="E28479"/>
                </a:solidFill>
                <a:effectLst/>
                <a:latin typeface="Britannic Bold" panose="020B0903060703020204" pitchFamily="34" charset="0"/>
              </a:rPr>
              <a:t>Challenges with Mixed Integers</a:t>
            </a:r>
            <a:r>
              <a:rPr lang="en-US" altLang="ko-KR" b="0" i="0" dirty="0">
                <a:solidFill>
                  <a:srgbClr val="E28479"/>
                </a:solidFill>
                <a:effectLst/>
                <a:latin typeface="Britannic Bold" panose="020B0903060703020204" pitchFamily="34" charset="0"/>
              </a:rPr>
              <a:t>:</a:t>
            </a:r>
          </a:p>
          <a:p>
            <a:pPr marL="285750" indent="-285750">
              <a:buFont typeface="+mj-lt"/>
              <a:buAutoNum type="arabicPeriod"/>
            </a:pPr>
            <a:r>
              <a:rPr lang="en-US" altLang="ko-KR" b="0" i="0" dirty="0">
                <a:effectLst/>
              </a:rPr>
              <a:t>A stream with both large positive and negative integers can have a sum close to zero.</a:t>
            </a:r>
          </a:p>
          <a:p>
            <a:pPr marL="285750" indent="-285750">
              <a:buFont typeface="+mj-lt"/>
              <a:buAutoNum type="arabicPeriod"/>
            </a:pPr>
            <a:r>
              <a:rPr lang="en-US" altLang="ko-KR" b="0" i="0" dirty="0">
                <a:effectLst/>
              </a:rPr>
              <a:t>Any imprecision in estimating these large integers causes a significant error.</a:t>
            </a:r>
          </a:p>
          <a:p>
            <a:pPr marL="285750" indent="-285750">
              <a:buFont typeface="+mj-lt"/>
              <a:buAutoNum type="arabicPeriod"/>
            </a:pPr>
            <a:r>
              <a:rPr lang="en-US" altLang="ko-KR" b="0" i="0" dirty="0">
                <a:effectLst/>
              </a:rPr>
              <a:t>Using buckets to represent the sum of integers rather than the count of 1’s could lead to meaningless estimates. For example, a bucket might contain large negative integers in one half and equally large positive integers in the other, summing to zero. This sum makes it hard to estimate accurately.</a:t>
            </a:r>
          </a:p>
          <a:p>
            <a:endParaRPr lang="en-US" altLang="ko-KR" b="0" i="0" dirty="0">
              <a:effectLst/>
            </a:endParaRPr>
          </a:p>
        </p:txBody>
      </p:sp>
      <p:sp>
        <p:nvSpPr>
          <p:cNvPr id="2" name="文本框 20">
            <a:extLst>
              <a:ext uri="{FF2B5EF4-FFF2-40B4-BE49-F238E27FC236}">
                <a16:creationId xmlns:a16="http://schemas.microsoft.com/office/drawing/2014/main" id="{4B6252CF-9CD8-F754-7304-CF89863F104D}"/>
              </a:ext>
            </a:extLst>
          </p:cNvPr>
          <p:cNvSpPr txBox="1"/>
          <p:nvPr/>
        </p:nvSpPr>
        <p:spPr>
          <a:xfrm>
            <a:off x="456305" y="194204"/>
            <a:ext cx="8231389" cy="523220"/>
          </a:xfrm>
          <a:prstGeom prst="rect">
            <a:avLst/>
          </a:prstGeom>
          <a:noFill/>
        </p:spPr>
        <p:txBody>
          <a:bodyPr wrap="square" rtlCol="0">
            <a:spAutoFit/>
          </a:bodyPr>
          <a:lstStyle/>
          <a:p>
            <a:pPr algn="ctr"/>
            <a:r>
              <a:rPr lang="en-US" altLang="zh-CN" sz="2800" dirty="0">
                <a:solidFill>
                  <a:srgbClr val="96ADE3"/>
                </a:solidFill>
                <a:latin typeface="Segoe UI Black" panose="020B0A02040204020203" pitchFamily="34" charset="0"/>
                <a:ea typeface="Segoe UI Black" panose="020B0A02040204020203" pitchFamily="34" charset="0"/>
              </a:rPr>
              <a:t>4.6.7 Extensions to the Counting of Ones</a:t>
            </a:r>
            <a:endParaRPr lang="zh-CN" altLang="en-US" sz="2800" dirty="0">
              <a:solidFill>
                <a:srgbClr val="96ADE3"/>
              </a:solidFill>
              <a:latin typeface="Segoe UI Black" panose="020B0A02040204020203" pitchFamily="34" charset="0"/>
            </a:endParaRPr>
          </a:p>
        </p:txBody>
      </p:sp>
    </p:spTree>
    <p:extLst>
      <p:ext uri="{BB962C8B-B14F-4D97-AF65-F5344CB8AC3E}">
        <p14:creationId xmlns:p14="http://schemas.microsoft.com/office/powerpoint/2010/main" val="3137598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5C6"/>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21B474-C97E-649F-D5C6-3B159BDF5A82}"/>
              </a:ext>
            </a:extLst>
          </p:cNvPr>
          <p:cNvSpPr txBox="1"/>
          <p:nvPr/>
        </p:nvSpPr>
        <p:spPr>
          <a:xfrm>
            <a:off x="494569" y="603625"/>
            <a:ext cx="8154861" cy="3970318"/>
          </a:xfrm>
          <a:prstGeom prst="rect">
            <a:avLst/>
          </a:prstGeom>
          <a:noFill/>
        </p:spPr>
        <p:txBody>
          <a:bodyPr wrap="square">
            <a:spAutoFit/>
          </a:bodyPr>
          <a:lstStyle/>
          <a:p>
            <a:pPr algn="l"/>
            <a:r>
              <a:rPr lang="en-US" altLang="ko-KR" b="1" i="0" dirty="0">
                <a:solidFill>
                  <a:srgbClr val="E28479"/>
                </a:solidFill>
                <a:effectLst/>
                <a:latin typeface="Britannic Bold" panose="020B0903060703020204" pitchFamily="34" charset="0"/>
              </a:rPr>
              <a:t>Handling Positive Integers</a:t>
            </a:r>
            <a:r>
              <a:rPr lang="en-US" altLang="ko-KR" b="0" i="0" dirty="0">
                <a:solidFill>
                  <a:srgbClr val="E28479"/>
                </a:solidFill>
                <a:effectLst/>
                <a:latin typeface="Britannic Bold" panose="020B0903060703020204" pitchFamily="34" charset="0"/>
              </a:rPr>
              <a:t>:</a:t>
            </a:r>
          </a:p>
          <a:p>
            <a:pPr marL="285750" indent="-285750">
              <a:buFont typeface="+mj-lt"/>
              <a:buAutoNum type="arabicPeriod"/>
            </a:pPr>
            <a:r>
              <a:rPr lang="en-US" altLang="ko-KR" b="0" i="0" dirty="0">
                <a:effectLst/>
              </a:rPr>
              <a:t>Streams consisting only of positive integers in the range 1 to 2</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ᵐ</a:t>
            </a:r>
            <a:r>
              <a:rPr lang="en-US" altLang="ko-KR" b="0" i="0" dirty="0">
                <a:effectLst/>
              </a:rPr>
              <a:t> can be managed by treating each bit of an integer as a separate stream.</a:t>
            </a:r>
          </a:p>
          <a:p>
            <a:pPr marL="285750" indent="-285750">
              <a:buFont typeface="+mj-lt"/>
              <a:buAutoNum type="arabicPeriod"/>
            </a:pPr>
            <a:r>
              <a:rPr lang="en-US" altLang="ko-KR" b="0" i="0" dirty="0">
                <a:effectLst/>
              </a:rPr>
              <a:t>The DGIM method can then count the 1’s in each bit.</a:t>
            </a:r>
          </a:p>
          <a:p>
            <a:pPr marL="285750" indent="-285750">
              <a:buFont typeface="+mj-lt"/>
              <a:buAutoNum type="arabicPeriod"/>
            </a:pPr>
            <a:r>
              <a:rPr lang="en-US" altLang="ko-KR" b="0" i="0" dirty="0">
                <a:effectLst/>
              </a:rPr>
              <a:t>If the count of the </a:t>
            </a:r>
            <a:r>
              <a:rPr lang="en-US" altLang="ko-KR" b="0" i="0" dirty="0" err="1">
                <a:effectLst/>
              </a:rPr>
              <a:t>ith</a:t>
            </a:r>
            <a:r>
              <a:rPr lang="en-US" altLang="ko-KR" b="0" i="0" dirty="0">
                <a:effectLst/>
              </a:rPr>
              <a:t> bit is c</a:t>
            </a:r>
            <a:r>
              <a:rPr lang="en-US" altLang="ko-KR" b="0" i="0" dirty="0">
                <a:effectLst/>
                <a:latin typeface="Calibri Light" panose="020F0302020204030204" pitchFamily="34" charset="0"/>
                <a:ea typeface="Calibri Light" panose="020F0302020204030204" pitchFamily="34" charset="0"/>
                <a:cs typeface="Calibri Light" panose="020F0302020204030204" pitchFamily="34" charset="0"/>
              </a:rPr>
              <a:t>ᵢ</a:t>
            </a:r>
            <a:r>
              <a:rPr lang="en-US" altLang="ko-KR" b="0" i="0" dirty="0">
                <a:effectLst/>
              </a:rPr>
              <a:t>, the estimated sum’s error is at most ϵ.</a:t>
            </a:r>
          </a:p>
          <a:p>
            <a:pPr marL="285750" indent="-285750">
              <a:buFont typeface="+mj-lt"/>
              <a:buAutoNum type="arabicPeriod"/>
            </a:pPr>
            <a:endParaRPr lang="en-US" altLang="ko-KR" dirty="0"/>
          </a:p>
          <a:p>
            <a:endParaRPr lang="en-US" altLang="ko-KR" dirty="0"/>
          </a:p>
          <a:p>
            <a:r>
              <a:rPr lang="en-US" altLang="ko-KR" dirty="0"/>
              <a:t>the sum of the integers is:</a:t>
            </a:r>
          </a:p>
          <a:p>
            <a:endParaRPr lang="en-US" altLang="ko-KR" dirty="0"/>
          </a:p>
          <a:p>
            <a:pPr lvl="1" algn="l"/>
            <a:endParaRPr lang="en-US" altLang="ko-KR" b="0" i="0" dirty="0">
              <a:effectLst/>
            </a:endParaRPr>
          </a:p>
          <a:p>
            <a:pPr algn="l"/>
            <a:r>
              <a:rPr lang="en-US" altLang="ko-KR" b="1" i="0" dirty="0">
                <a:solidFill>
                  <a:srgbClr val="E28479"/>
                </a:solidFill>
                <a:effectLst/>
                <a:latin typeface="Britannic Bold" panose="020B0903060703020204" pitchFamily="34" charset="0"/>
              </a:rPr>
              <a:t>Estimation Accuracy</a:t>
            </a:r>
            <a:r>
              <a:rPr lang="en-US" altLang="ko-KR" b="0" i="0" dirty="0">
                <a:solidFill>
                  <a:srgbClr val="E28479"/>
                </a:solidFill>
                <a:effectLst/>
                <a:latin typeface="Britannic Bold" panose="020B0903060703020204" pitchFamily="34" charset="0"/>
              </a:rPr>
              <a:t>:</a:t>
            </a:r>
          </a:p>
          <a:p>
            <a:pPr algn="just"/>
            <a:r>
              <a:rPr lang="en-US" altLang="ko-KR" b="0" i="0" dirty="0">
                <a:effectLst/>
              </a:rPr>
              <a:t>By estimating each bit's count with a fractional error no greater than ϵ, the true sum's error is bounded by ϵ. </a:t>
            </a:r>
            <a:r>
              <a:rPr kumimoji="0" lang="en-US" altLang="ko-KR" sz="1800" b="0" i="0" u="none" strike="noStrike" kern="1200" cap="none" spc="0" normalizeH="0" baseline="0" noProof="0" dirty="0">
                <a:ln>
                  <a:noFill/>
                </a:ln>
                <a:effectLst/>
                <a:uLnTx/>
                <a:uFillTx/>
                <a:ea typeface="微软雅黑 Light"/>
                <a:cs typeface="+mn-cs"/>
              </a:rPr>
              <a:t>The worst-case scenario occurs when all bit counts are either </a:t>
            </a:r>
            <a:r>
              <a:rPr lang="en-US" altLang="ko-KR" b="0" i="0" dirty="0">
                <a:effectLst/>
              </a:rPr>
              <a:t>overestimated or underestimated by the same fraction.</a:t>
            </a:r>
            <a:endParaRPr kumimoji="0" lang="en-US" altLang="ko-KR" sz="1800" b="0" i="0" u="none" strike="noStrike" kern="1200" cap="none" spc="0" normalizeH="0" baseline="0" noProof="0" dirty="0">
              <a:ln>
                <a:noFill/>
              </a:ln>
              <a:effectLst/>
              <a:uLnTx/>
              <a:uFillTx/>
              <a:ea typeface="微软雅黑 Light"/>
              <a:cs typeface="+mn-cs"/>
            </a:endParaRPr>
          </a:p>
        </p:txBody>
      </p:sp>
      <p:pic>
        <p:nvPicPr>
          <p:cNvPr id="4" name="图片 3">
            <a:extLst>
              <a:ext uri="{FF2B5EF4-FFF2-40B4-BE49-F238E27FC236}">
                <a16:creationId xmlns:a16="http://schemas.microsoft.com/office/drawing/2014/main" id="{6D2EF7D0-7A2E-42BB-78E4-D8B923C62A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6117" y="2281936"/>
            <a:ext cx="1325995" cy="914479"/>
          </a:xfrm>
          <a:prstGeom prst="rect">
            <a:avLst/>
          </a:prstGeom>
        </p:spPr>
      </p:pic>
    </p:spTree>
    <p:extLst>
      <p:ext uri="{BB962C8B-B14F-4D97-AF65-F5344CB8AC3E}">
        <p14:creationId xmlns:p14="http://schemas.microsoft.com/office/powerpoint/2010/main" val="1685770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D9DD"/>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21B474-C97E-649F-D5C6-3B159BDF5A82}"/>
              </a:ext>
            </a:extLst>
          </p:cNvPr>
          <p:cNvSpPr txBox="1"/>
          <p:nvPr/>
        </p:nvSpPr>
        <p:spPr>
          <a:xfrm>
            <a:off x="258553" y="2454827"/>
            <a:ext cx="8626895" cy="1569660"/>
          </a:xfrm>
          <a:prstGeom prst="rect">
            <a:avLst/>
          </a:prstGeom>
          <a:noFill/>
        </p:spPr>
        <p:txBody>
          <a:bodyPr wrap="square">
            <a:spAutoFit/>
          </a:bodyPr>
          <a:lstStyle/>
          <a:p>
            <a:pPr algn="just"/>
            <a:r>
              <a:rPr lang="en-US" altLang="ko-KR" sz="2400" b="0" i="0" dirty="0">
                <a:effectLst/>
              </a:rPr>
              <a:t>We want to track the "current" popularity of movies by evaluating recent ticket sales rather than historical sales. For instance, a movie that sold consistently in recent weeks is more popular than one that had a spike last week and nothing before.</a:t>
            </a:r>
          </a:p>
        </p:txBody>
      </p:sp>
      <p:sp>
        <p:nvSpPr>
          <p:cNvPr id="2" name="文本框 20">
            <a:extLst>
              <a:ext uri="{FF2B5EF4-FFF2-40B4-BE49-F238E27FC236}">
                <a16:creationId xmlns:a16="http://schemas.microsoft.com/office/drawing/2014/main" id="{4B6252CF-9CD8-F754-7304-CF89863F104D}"/>
              </a:ext>
            </a:extLst>
          </p:cNvPr>
          <p:cNvSpPr txBox="1"/>
          <p:nvPr/>
        </p:nvSpPr>
        <p:spPr>
          <a:xfrm>
            <a:off x="456305" y="588705"/>
            <a:ext cx="8231389"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96ADE3"/>
                </a:solidFill>
                <a:effectLst/>
                <a:uLnTx/>
                <a:uFillTx/>
                <a:latin typeface="Segoe UI Black" panose="020B0A02040204020203" pitchFamily="34" charset="0"/>
                <a:ea typeface="Segoe UI Black" panose="020B0A02040204020203" pitchFamily="34" charset="0"/>
                <a:cs typeface="+mn-cs"/>
              </a:rPr>
              <a:t>4.7 Decaying Windows</a:t>
            </a:r>
            <a:endParaRPr kumimoji="0" lang="zh-CN" altLang="en-US" sz="4000" b="0" i="0" u="none" strike="noStrike" kern="1200" cap="none" spc="0" normalizeH="0" baseline="0" noProof="0" dirty="0">
              <a:ln>
                <a:noFill/>
              </a:ln>
              <a:solidFill>
                <a:srgbClr val="96ADE3"/>
              </a:solidFill>
              <a:effectLst/>
              <a:uLnTx/>
              <a:uFillTx/>
              <a:latin typeface="Segoe UI Black" panose="020B0A02040204020203" pitchFamily="34" charset="0"/>
              <a:ea typeface="微软雅黑 Light"/>
              <a:cs typeface="+mn-cs"/>
            </a:endParaRPr>
          </a:p>
        </p:txBody>
      </p:sp>
      <p:sp>
        <p:nvSpPr>
          <p:cNvPr id="3" name="文本框 20">
            <a:extLst>
              <a:ext uri="{FF2B5EF4-FFF2-40B4-BE49-F238E27FC236}">
                <a16:creationId xmlns:a16="http://schemas.microsoft.com/office/drawing/2014/main" id="{BE342D8A-1691-61FB-FDF9-98E34E857A99}"/>
              </a:ext>
            </a:extLst>
          </p:cNvPr>
          <p:cNvSpPr txBox="1"/>
          <p:nvPr/>
        </p:nvSpPr>
        <p:spPr>
          <a:xfrm>
            <a:off x="456305" y="1552924"/>
            <a:ext cx="8231389"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96ADE3"/>
                </a:solidFill>
                <a:effectLst/>
                <a:uLnTx/>
                <a:uFillTx/>
                <a:latin typeface="Segoe UI Black" panose="020B0A02040204020203" pitchFamily="34" charset="0"/>
                <a:ea typeface="Segoe UI Black" panose="020B0A02040204020203" pitchFamily="34" charset="0"/>
                <a:cs typeface="+mn-cs"/>
              </a:rPr>
              <a:t>4.7.1 The Problem of Most-Common Elements</a:t>
            </a:r>
            <a:endParaRPr kumimoji="0" lang="zh-CN" altLang="en-US" sz="2800" b="0" i="0" u="none" strike="noStrike" kern="1200" cap="none" spc="0" normalizeH="0" baseline="0" noProof="0" dirty="0">
              <a:ln>
                <a:noFill/>
              </a:ln>
              <a:solidFill>
                <a:srgbClr val="96ADE3"/>
              </a:solidFill>
              <a:effectLst/>
              <a:uLnTx/>
              <a:uFillTx/>
              <a:latin typeface="Segoe UI Black" panose="020B0A02040204020203" pitchFamily="34" charset="0"/>
              <a:ea typeface="微软雅黑 Light"/>
              <a:cs typeface="+mn-cs"/>
            </a:endParaRPr>
          </a:p>
        </p:txBody>
      </p:sp>
    </p:spTree>
    <p:extLst>
      <p:ext uri="{BB962C8B-B14F-4D97-AF65-F5344CB8AC3E}">
        <p14:creationId xmlns:p14="http://schemas.microsoft.com/office/powerpoint/2010/main" val="2408890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D9DD"/>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21B474-C97E-649F-D5C6-3B159BDF5A82}"/>
              </a:ext>
            </a:extLst>
          </p:cNvPr>
          <p:cNvSpPr txBox="1"/>
          <p:nvPr/>
        </p:nvSpPr>
        <p:spPr>
          <a:xfrm>
            <a:off x="375440" y="309592"/>
            <a:ext cx="8393119" cy="4524315"/>
          </a:xfrm>
          <a:prstGeom prst="rect">
            <a:avLst/>
          </a:prstGeom>
          <a:noFill/>
        </p:spPr>
        <p:txBody>
          <a:bodyPr wrap="square">
            <a:spAutoFit/>
          </a:bodyPr>
          <a:lstStyle/>
          <a:p>
            <a:pPr algn="just"/>
            <a:r>
              <a:rPr lang="en-US" altLang="ko-KR" sz="2400" b="1" i="0" dirty="0">
                <a:solidFill>
                  <a:srgbClr val="E28479"/>
                </a:solidFill>
                <a:effectLst/>
                <a:latin typeface="Britannic Bold" panose="020B0903060703020204" pitchFamily="34" charset="0"/>
              </a:rPr>
              <a:t>Proposed Solution</a:t>
            </a:r>
            <a:r>
              <a:rPr lang="en-US" altLang="ko-KR" sz="2400" b="0" i="0" dirty="0">
                <a:solidFill>
                  <a:srgbClr val="E28479"/>
                </a:solidFill>
                <a:effectLst/>
                <a:latin typeface="Britannic Bold" panose="020B0903060703020204" pitchFamily="34" charset="0"/>
              </a:rPr>
              <a:t>:</a:t>
            </a:r>
          </a:p>
          <a:p>
            <a:pPr algn="just">
              <a:buFont typeface="Arial" panose="020B0604020202020204" pitchFamily="34" charset="0"/>
              <a:buChar char="•"/>
            </a:pPr>
            <a:r>
              <a:rPr lang="en-US" altLang="ko-KR" sz="2000" i="0" dirty="0">
                <a:effectLst/>
              </a:rPr>
              <a:t>Bit Stream Representation: Imagine a bit stream for each movie, where the </a:t>
            </a:r>
            <a:r>
              <a:rPr lang="en-US" altLang="ko-KR" sz="2000" i="0" dirty="0" err="1">
                <a:effectLst/>
              </a:rPr>
              <a:t>ith</a:t>
            </a:r>
            <a:r>
              <a:rPr lang="en-US" altLang="ko-KR" sz="2000" i="0" dirty="0">
                <a:effectLst/>
              </a:rPr>
              <a:t> bit is 1 if the </a:t>
            </a:r>
            <a:r>
              <a:rPr lang="en-US" altLang="ko-KR" sz="2000" i="0" dirty="0" err="1">
                <a:effectLst/>
              </a:rPr>
              <a:t>ith</a:t>
            </a:r>
            <a:r>
              <a:rPr lang="en-US" altLang="ko-KR" sz="2000" i="0" dirty="0">
                <a:effectLst/>
              </a:rPr>
              <a:t> ticket is for that movie, and 0 otherwise.</a:t>
            </a:r>
          </a:p>
          <a:p>
            <a:pPr algn="just">
              <a:buFont typeface="Arial" panose="020B0604020202020204" pitchFamily="34" charset="0"/>
              <a:buChar char="•"/>
            </a:pPr>
            <a:r>
              <a:rPr lang="en-US" altLang="ko-KR" sz="2000" i="0" dirty="0">
                <a:effectLst/>
              </a:rPr>
              <a:t>Window Size: Choose a window size N, which represents the number of most recent tickets considered for evaluating popularity.</a:t>
            </a:r>
          </a:p>
          <a:p>
            <a:pPr algn="just">
              <a:buFont typeface="Arial" panose="020B0604020202020204" pitchFamily="34" charset="0"/>
              <a:buChar char="•"/>
            </a:pPr>
            <a:r>
              <a:rPr lang="en-US" altLang="ko-KR" sz="2000" i="0" dirty="0">
                <a:effectLst/>
              </a:rPr>
              <a:t>Popularity Estimation: Use the method from Section 4.6 to estimate ticket counts for each movie within the window and rank them by these estimates.</a:t>
            </a:r>
          </a:p>
          <a:p>
            <a:pPr algn="just"/>
            <a:endParaRPr lang="en-US" altLang="ko-KR" sz="2000" b="1" dirty="0">
              <a:solidFill>
                <a:srgbClr val="E28479"/>
              </a:solidFill>
              <a:latin typeface="Britannic Bold" panose="020B0903060703020204" pitchFamily="34" charset="0"/>
            </a:endParaRPr>
          </a:p>
          <a:p>
            <a:pPr algn="just"/>
            <a:r>
              <a:rPr lang="en-US" altLang="ko-KR" sz="2400" b="1" i="0" dirty="0">
                <a:solidFill>
                  <a:srgbClr val="E28479"/>
                </a:solidFill>
                <a:effectLst/>
                <a:latin typeface="Britannic Bold" panose="020B0903060703020204" pitchFamily="34" charset="0"/>
              </a:rPr>
              <a:t>Challenges</a:t>
            </a:r>
            <a:r>
              <a:rPr lang="en-US" altLang="ko-KR" sz="2400" b="0" i="0" dirty="0">
                <a:solidFill>
                  <a:srgbClr val="E28479"/>
                </a:solidFill>
                <a:effectLst/>
                <a:latin typeface="Britannic Bold" panose="020B0903060703020204" pitchFamily="34" charset="0"/>
              </a:rPr>
              <a:t>:</a:t>
            </a:r>
          </a:p>
          <a:p>
            <a:pPr algn="just">
              <a:buFont typeface="Arial" panose="020B0604020202020204" pitchFamily="34" charset="0"/>
              <a:buChar char="•"/>
            </a:pPr>
            <a:r>
              <a:rPr lang="en-US" altLang="ko-KR" sz="2000" i="0" dirty="0">
                <a:effectLst/>
              </a:rPr>
              <a:t>Scalability: This method works for movies because there are only thousands of them. It would not scale for other domains with too many items, like products on Amazon or tweets by different Twitter users.</a:t>
            </a:r>
          </a:p>
          <a:p>
            <a:pPr algn="just">
              <a:buFont typeface="Arial" panose="020B0604020202020204" pitchFamily="34" charset="0"/>
              <a:buChar char="•"/>
            </a:pPr>
            <a:r>
              <a:rPr lang="en-US" altLang="ko-KR" sz="2000" i="0" dirty="0">
                <a:effectLst/>
              </a:rPr>
              <a:t>Approximation: The technique only provides approximate answers, not exact counts.</a:t>
            </a:r>
          </a:p>
        </p:txBody>
      </p:sp>
    </p:spTree>
    <p:extLst>
      <p:ext uri="{BB962C8B-B14F-4D97-AF65-F5344CB8AC3E}">
        <p14:creationId xmlns:p14="http://schemas.microsoft.com/office/powerpoint/2010/main" val="2523315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D9DD"/>
        </a:solidFill>
        <a:effectLst/>
      </p:bgPr>
    </p:bg>
    <p:spTree>
      <p:nvGrpSpPr>
        <p:cNvPr id="1" name=""/>
        <p:cNvGrpSpPr/>
        <p:nvPr/>
      </p:nvGrpSpPr>
      <p:grpSpPr>
        <a:xfrm>
          <a:off x="0" y="0"/>
          <a:ext cx="0" cy="0"/>
          <a:chOff x="0" y="0"/>
          <a:chExt cx="0" cy="0"/>
        </a:xfrm>
      </p:grpSpPr>
      <p:sp>
        <p:nvSpPr>
          <p:cNvPr id="2" name="文本框 20">
            <a:extLst>
              <a:ext uri="{FF2B5EF4-FFF2-40B4-BE49-F238E27FC236}">
                <a16:creationId xmlns:a16="http://schemas.microsoft.com/office/drawing/2014/main" id="{4B6252CF-9CD8-F754-7304-CF89863F104D}"/>
              </a:ext>
            </a:extLst>
          </p:cNvPr>
          <p:cNvSpPr txBox="1"/>
          <p:nvPr/>
        </p:nvSpPr>
        <p:spPr>
          <a:xfrm>
            <a:off x="456304" y="341631"/>
            <a:ext cx="8231389"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96ADE3"/>
                </a:solidFill>
                <a:effectLst/>
                <a:uLnTx/>
                <a:uFillTx/>
                <a:latin typeface="Segoe UI Black" panose="020B0A02040204020203" pitchFamily="34" charset="0"/>
                <a:ea typeface="Segoe UI Black" panose="020B0A02040204020203" pitchFamily="34" charset="0"/>
                <a:cs typeface="+mn-cs"/>
              </a:rPr>
              <a:t>4.7.2 Definition of the Decaying Window</a:t>
            </a:r>
            <a:endParaRPr kumimoji="0" lang="zh-CN" altLang="en-US" sz="2800" b="0" i="0" u="none" strike="noStrike" kern="1200" cap="none" spc="0" normalizeH="0" baseline="0" noProof="0" dirty="0">
              <a:ln>
                <a:noFill/>
              </a:ln>
              <a:solidFill>
                <a:srgbClr val="96ADE3"/>
              </a:solidFill>
              <a:effectLst/>
              <a:uLnTx/>
              <a:uFillTx/>
              <a:latin typeface="Segoe UI Black" panose="020B0A02040204020203" pitchFamily="34" charset="0"/>
              <a:ea typeface="微软雅黑 Light"/>
              <a:cs typeface="+mn-cs"/>
            </a:endParaRPr>
          </a:p>
        </p:txBody>
      </p:sp>
      <p:sp>
        <p:nvSpPr>
          <p:cNvPr id="3" name="文本框 2">
            <a:extLst>
              <a:ext uri="{FF2B5EF4-FFF2-40B4-BE49-F238E27FC236}">
                <a16:creationId xmlns:a16="http://schemas.microsoft.com/office/drawing/2014/main" id="{E5B35145-A889-5751-AABB-C902E57B88F7}"/>
              </a:ext>
            </a:extLst>
          </p:cNvPr>
          <p:cNvSpPr txBox="1"/>
          <p:nvPr/>
        </p:nvSpPr>
        <p:spPr>
          <a:xfrm>
            <a:off x="456304" y="1249251"/>
            <a:ext cx="8231389" cy="2308324"/>
          </a:xfrm>
          <a:prstGeom prst="rect">
            <a:avLst/>
          </a:prstGeom>
          <a:noFill/>
        </p:spPr>
        <p:txBody>
          <a:bodyPr wrap="square" rtlCol="0">
            <a:spAutoFit/>
          </a:bodyPr>
          <a:lstStyle/>
          <a:p>
            <a:r>
              <a:rPr lang="en-US" altLang="ko-KR" sz="1800" b="1" i="0" dirty="0">
                <a:solidFill>
                  <a:srgbClr val="E28479"/>
                </a:solidFill>
                <a:effectLst/>
                <a:latin typeface="Britannic Bold" panose="020B0903060703020204" pitchFamily="34" charset="0"/>
              </a:rPr>
              <a:t>Definition of the Decaying Window</a:t>
            </a:r>
          </a:p>
          <a:p>
            <a:r>
              <a:rPr lang="en-US" altLang="ko-KR" sz="1800" b="0" i="0" dirty="0">
                <a:effectLst/>
              </a:rPr>
              <a:t>Instead of simply counting the number of 1s in a window, it calculates a weighted sum where more recent 1s have higher weights. </a:t>
            </a:r>
          </a:p>
          <a:p>
            <a:pPr algn="just"/>
            <a:r>
              <a:rPr lang="en-US" altLang="ko-KR" sz="1800" b="0" i="0" dirty="0">
                <a:effectLst/>
              </a:rPr>
              <a:t>The stream elements are denoted as </a:t>
            </a:r>
            <a:r>
              <a:rPr lang="en-US" altLang="ko-KR" sz="1800" b="0" i="0" dirty="0" err="1">
                <a:effectLst/>
              </a:rPr>
              <a:t>a</a:t>
            </a:r>
            <a:r>
              <a:rPr lang="en-US" altLang="ko-KR" sz="1800" b="0" i="0" dirty="0" err="1">
                <a:effectLst/>
                <a:latin typeface="Calibri Light" panose="020F0302020204030204" pitchFamily="34" charset="0"/>
                <a:ea typeface="Calibri Light" panose="020F0302020204030204" pitchFamily="34" charset="0"/>
                <a:cs typeface="Calibri Light" panose="020F0302020204030204" pitchFamily="34" charset="0"/>
              </a:rPr>
              <a:t>₁</a:t>
            </a:r>
            <a:r>
              <a:rPr lang="en-US" altLang="ko-KR" sz="1800" b="0" i="0" dirty="0" err="1">
                <a:effectLst/>
              </a:rPr>
              <a:t>,a</a:t>
            </a:r>
            <a:r>
              <a:rPr lang="en-US" altLang="ko-KR" sz="1800" b="0" i="0" dirty="0">
                <a:effectLst/>
                <a:latin typeface="Calibri Light" panose="020F0302020204030204" pitchFamily="34" charset="0"/>
                <a:ea typeface="Calibri Light" panose="020F0302020204030204" pitchFamily="34" charset="0"/>
                <a:cs typeface="Calibri Light" panose="020F0302020204030204" pitchFamily="34" charset="0"/>
              </a:rPr>
              <a:t>₂</a:t>
            </a:r>
            <a:r>
              <a:rPr lang="en-US" altLang="ko-KR" sz="1800" b="0" i="0" dirty="0">
                <a:effectLst/>
              </a:rPr>
              <a:t>,...,a</a:t>
            </a:r>
            <a:r>
              <a:rPr lang="en-US" altLang="ko-KR" sz="1800" b="0" i="0" dirty="0">
                <a:effectLst/>
                <a:latin typeface="Calibri Light" panose="020F0302020204030204" pitchFamily="34" charset="0"/>
                <a:ea typeface="Calibri Light" panose="020F0302020204030204" pitchFamily="34" charset="0"/>
                <a:cs typeface="Calibri Light" panose="020F0302020204030204" pitchFamily="34" charset="0"/>
              </a:rPr>
              <a:t>ₜ</a:t>
            </a:r>
            <a:r>
              <a:rPr lang="en-US" altLang="ko-KR" sz="1800" b="0" i="0" dirty="0">
                <a:effectLst/>
              </a:rPr>
              <a:t>, where a</a:t>
            </a:r>
            <a:r>
              <a:rPr lang="en-US" altLang="ko-KR" sz="1800" b="0" i="0" dirty="0">
                <a:effectLst/>
                <a:latin typeface="Calibri Light" panose="020F0302020204030204" pitchFamily="34" charset="0"/>
                <a:ea typeface="Calibri Light" panose="020F0302020204030204" pitchFamily="34" charset="0"/>
                <a:cs typeface="Calibri Light" panose="020F0302020204030204" pitchFamily="34" charset="0"/>
              </a:rPr>
              <a:t>₁</a:t>
            </a:r>
            <a:r>
              <a:rPr lang="en-US" altLang="ko-KR" sz="1800" b="0" i="0" dirty="0">
                <a:effectLst/>
              </a:rPr>
              <a:t> is the first element and a</a:t>
            </a:r>
            <a:r>
              <a:rPr lang="en-US" altLang="ko-KR" sz="1800" b="0" i="0" dirty="0">
                <a:effectLst/>
                <a:latin typeface="Calibri Light" panose="020F0302020204030204" pitchFamily="34" charset="0"/>
                <a:ea typeface="Calibri Light" panose="020F0302020204030204" pitchFamily="34" charset="0"/>
                <a:cs typeface="Calibri Light" panose="020F0302020204030204" pitchFamily="34" charset="0"/>
              </a:rPr>
              <a:t>ₜ</a:t>
            </a:r>
            <a:r>
              <a:rPr lang="en-US" altLang="ko-KR" dirty="0">
                <a:latin typeface="Calibri Light" panose="020F0302020204030204" pitchFamily="34" charset="0"/>
                <a:ea typeface="Calibri Light" panose="020F0302020204030204" pitchFamily="34" charset="0"/>
                <a:cs typeface="Calibri Light" panose="020F0302020204030204" pitchFamily="34" charset="0"/>
              </a:rPr>
              <a:t> </a:t>
            </a:r>
            <a:r>
              <a:rPr lang="en-US" altLang="ko-KR" sz="1800" b="0" i="0" dirty="0">
                <a:effectLst/>
              </a:rPr>
              <a:t>is the most recent. A small constant c (e.g., 10</a:t>
            </a:r>
            <a:r>
              <a:rPr lang="en-US" altLang="ko-KR" sz="1800" b="0" i="0" dirty="0">
                <a:effectLst/>
                <a:latin typeface="Calibri Light" panose="020F0302020204030204" pitchFamily="34" charset="0"/>
                <a:ea typeface="Calibri Light" panose="020F0302020204030204" pitchFamily="34" charset="0"/>
                <a:cs typeface="Calibri Light" panose="020F0302020204030204" pitchFamily="34" charset="0"/>
              </a:rPr>
              <a:t>⁻⁶</a:t>
            </a:r>
            <a:r>
              <a:rPr lang="en-US" altLang="ko-KR" sz="1800" b="0" i="0" dirty="0">
                <a:effectLst/>
              </a:rPr>
              <a:t>or 10</a:t>
            </a:r>
            <a:r>
              <a:rPr lang="en-US" altLang="ko-KR" sz="1800" b="0" i="0" dirty="0">
                <a:effectLst/>
                <a:latin typeface="Calibri Light" panose="020F0302020204030204" pitchFamily="34" charset="0"/>
                <a:ea typeface="Calibri Light" panose="020F0302020204030204" pitchFamily="34" charset="0"/>
                <a:cs typeface="Calibri Light" panose="020F0302020204030204" pitchFamily="34" charset="0"/>
              </a:rPr>
              <a:t>⁻⁹</a:t>
            </a:r>
            <a:r>
              <a:rPr lang="en-US" altLang="ko-KR" sz="1800" b="0" i="0" dirty="0">
                <a:effectLst/>
              </a:rPr>
              <a:t>) is used for weighting, and </a:t>
            </a:r>
            <a:r>
              <a:rPr lang="en-US" altLang="ko-KR" sz="1800" b="0" i="0" dirty="0" err="1">
                <a:effectLst/>
              </a:rPr>
              <a:t>thedecaying</a:t>
            </a:r>
            <a:r>
              <a:rPr lang="en-US" altLang="ko-KR" sz="1800" b="0" i="0" dirty="0">
                <a:effectLst/>
              </a:rPr>
              <a:t> sum is defined as:</a:t>
            </a:r>
          </a:p>
          <a:p>
            <a:pPr algn="just"/>
            <a:endParaRPr lang="en-US" altLang="ko-KR" sz="1800" b="0" i="0" dirty="0">
              <a:effectLst/>
            </a:endParaRPr>
          </a:p>
          <a:p>
            <a:endParaRPr lang="ko-KR" altLang="en-US" dirty="0"/>
          </a:p>
        </p:txBody>
      </p:sp>
      <p:pic>
        <p:nvPicPr>
          <p:cNvPr id="6" name="图片 5">
            <a:extLst>
              <a:ext uri="{FF2B5EF4-FFF2-40B4-BE49-F238E27FC236}">
                <a16:creationId xmlns:a16="http://schemas.microsoft.com/office/drawing/2014/main" id="{9A6E6B70-61F5-E2C4-8FD3-C324484DDC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0526" y="2933068"/>
            <a:ext cx="2302940" cy="1008907"/>
          </a:xfrm>
          <a:prstGeom prst="rect">
            <a:avLst/>
          </a:prstGeom>
        </p:spPr>
      </p:pic>
      <p:sp>
        <p:nvSpPr>
          <p:cNvPr id="7" name="文本框 6">
            <a:extLst>
              <a:ext uri="{FF2B5EF4-FFF2-40B4-BE49-F238E27FC236}">
                <a16:creationId xmlns:a16="http://schemas.microsoft.com/office/drawing/2014/main" id="{6EC07D48-7CE8-97E7-5685-69D2D3399A6D}"/>
              </a:ext>
            </a:extLst>
          </p:cNvPr>
          <p:cNvSpPr txBox="1"/>
          <p:nvPr/>
        </p:nvSpPr>
        <p:spPr>
          <a:xfrm>
            <a:off x="385916" y="4207816"/>
            <a:ext cx="8372161" cy="369332"/>
          </a:xfrm>
          <a:prstGeom prst="rect">
            <a:avLst/>
          </a:prstGeom>
          <a:noFill/>
        </p:spPr>
        <p:txBody>
          <a:bodyPr wrap="square" rtlCol="0">
            <a:spAutoFit/>
          </a:bodyPr>
          <a:lstStyle/>
          <a:p>
            <a:r>
              <a:rPr lang="en-US" altLang="ko-KR" dirty="0"/>
              <a:t>This formula ensures that the weights of older elements decay exponentially over time.</a:t>
            </a:r>
            <a:endParaRPr lang="ko-KR" altLang="en-US" dirty="0"/>
          </a:p>
        </p:txBody>
      </p:sp>
    </p:spTree>
    <p:extLst>
      <p:ext uri="{BB962C8B-B14F-4D97-AF65-F5344CB8AC3E}">
        <p14:creationId xmlns:p14="http://schemas.microsoft.com/office/powerpoint/2010/main" val="3506933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D9DD"/>
        </a:solidFill>
        <a:effectLst/>
      </p:bgPr>
    </p:bg>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5B35145-A889-5751-AABB-C902E57B88F7}"/>
              </a:ext>
            </a:extLst>
          </p:cNvPr>
          <p:cNvSpPr txBox="1"/>
          <p:nvPr/>
        </p:nvSpPr>
        <p:spPr>
          <a:xfrm>
            <a:off x="546902" y="379335"/>
            <a:ext cx="8050191" cy="2308324"/>
          </a:xfrm>
          <a:prstGeom prst="rect">
            <a:avLst/>
          </a:prstGeom>
          <a:noFill/>
        </p:spPr>
        <p:txBody>
          <a:bodyPr wrap="square" rtlCol="0">
            <a:spAutoFit/>
          </a:bodyPr>
          <a:lstStyle/>
          <a:p>
            <a:r>
              <a:rPr lang="en-US" altLang="ko-KR" b="1" i="0" dirty="0">
                <a:solidFill>
                  <a:srgbClr val="E28479"/>
                </a:solidFill>
                <a:effectLst/>
                <a:latin typeface="Britannic Bold" panose="020B0903060703020204" pitchFamily="34" charset="0"/>
              </a:rPr>
              <a:t>Maximum Weight Window</a:t>
            </a:r>
          </a:p>
          <a:p>
            <a:r>
              <a:rPr lang="en-US" altLang="ko-KR" b="0" i="0" dirty="0">
                <a:effectLst/>
              </a:rPr>
              <a:t>The maximum weight window is achieved when the current position is just one element (1/c) from its previous position. In this case, the window's weight is 1. It means that after approximately 1/c elements, the weights of previous elements become negligible, ensuring efficient space usage.</a:t>
            </a:r>
          </a:p>
          <a:p>
            <a:endParaRPr lang="en-US" altLang="ko-KR" b="0" i="0" dirty="0">
              <a:effectLst/>
            </a:endParaRPr>
          </a:p>
          <a:p>
            <a:r>
              <a:rPr lang="en-US" altLang="ko-KR" dirty="0"/>
              <a:t>Figure 4.4 </a:t>
            </a:r>
            <a:r>
              <a:rPr lang="en-US" altLang="ko-KR" b="0" i="0" dirty="0">
                <a:effectLst/>
              </a:rPr>
              <a:t>compares a fixed-length window with an exponentially decaying window, highlighting how the decaying window provides more weight to recent elements.</a:t>
            </a:r>
          </a:p>
        </p:txBody>
      </p:sp>
      <p:pic>
        <p:nvPicPr>
          <p:cNvPr id="5" name="图片 4">
            <a:extLst>
              <a:ext uri="{FF2B5EF4-FFF2-40B4-BE49-F238E27FC236}">
                <a16:creationId xmlns:a16="http://schemas.microsoft.com/office/drawing/2014/main" id="{9DA139FF-1D29-59B2-729A-20DA469EB8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3227" y="2963905"/>
            <a:ext cx="4437539" cy="1556579"/>
          </a:xfrm>
          <a:prstGeom prst="rect">
            <a:avLst/>
          </a:prstGeom>
        </p:spPr>
      </p:pic>
      <p:sp>
        <p:nvSpPr>
          <p:cNvPr id="7" name="文本框 6">
            <a:extLst>
              <a:ext uri="{FF2B5EF4-FFF2-40B4-BE49-F238E27FC236}">
                <a16:creationId xmlns:a16="http://schemas.microsoft.com/office/drawing/2014/main" id="{6723A0DB-15A6-80FE-C9F2-CC7A9C3DD4B4}"/>
              </a:ext>
            </a:extLst>
          </p:cNvPr>
          <p:cNvSpPr txBox="1"/>
          <p:nvPr/>
        </p:nvSpPr>
        <p:spPr>
          <a:xfrm>
            <a:off x="4118013" y="4520484"/>
            <a:ext cx="907965" cy="307777"/>
          </a:xfrm>
          <a:prstGeom prst="rect">
            <a:avLst/>
          </a:prstGeom>
          <a:noFill/>
        </p:spPr>
        <p:txBody>
          <a:bodyPr wrap="square" rtlCol="0">
            <a:spAutoFit/>
          </a:bodyPr>
          <a:lstStyle/>
          <a:p>
            <a:r>
              <a:rPr lang="en-US" altLang="ko-KR" sz="1400" dirty="0"/>
              <a:t>Figure 4.4</a:t>
            </a:r>
            <a:endParaRPr lang="ko-KR" altLang="en-US" sz="1400" dirty="0"/>
          </a:p>
        </p:txBody>
      </p:sp>
    </p:spTree>
    <p:extLst>
      <p:ext uri="{BB962C8B-B14F-4D97-AF65-F5344CB8AC3E}">
        <p14:creationId xmlns:p14="http://schemas.microsoft.com/office/powerpoint/2010/main" val="1726545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D9DD"/>
        </a:solidFill>
        <a:effectLst/>
      </p:bgPr>
    </p:bg>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5B35145-A889-5751-AABB-C902E57B88F7}"/>
              </a:ext>
            </a:extLst>
          </p:cNvPr>
          <p:cNvSpPr txBox="1"/>
          <p:nvPr/>
        </p:nvSpPr>
        <p:spPr>
          <a:xfrm>
            <a:off x="479290" y="155704"/>
            <a:ext cx="8185419" cy="4832092"/>
          </a:xfrm>
          <a:prstGeom prst="rect">
            <a:avLst/>
          </a:prstGeom>
          <a:noFill/>
        </p:spPr>
        <p:txBody>
          <a:bodyPr wrap="square" rtlCol="0">
            <a:spAutoFit/>
          </a:bodyPr>
          <a:lstStyle/>
          <a:p>
            <a:r>
              <a:rPr lang="en-US" altLang="ko-KR" sz="1600" b="0" i="0" dirty="0">
                <a:effectLst/>
                <a:latin typeface="Ginto"/>
              </a:rPr>
              <a:t>In a sliding window of fixed length, each new element forces us to remove the oldest element, requiring us to keep track of all exact elements and their sum.</a:t>
            </a:r>
          </a:p>
          <a:p>
            <a:r>
              <a:rPr lang="en-US" altLang="ko-KR" sz="1600" b="0" i="0" dirty="0">
                <a:effectLst/>
                <a:latin typeface="Ginto"/>
              </a:rPr>
              <a:t>Using an exponentially decaying window simplifies this process, as there is no need to track which element leaves the window.</a:t>
            </a:r>
          </a:p>
          <a:p>
            <a:pPr algn="l"/>
            <a:endParaRPr lang="en-US" altLang="ko-KR" sz="1600" dirty="0">
              <a:latin typeface="Ginto"/>
            </a:endParaRPr>
          </a:p>
          <a:p>
            <a:pPr algn="l"/>
            <a:r>
              <a:rPr lang="en-US" altLang="ko-KR" b="1" i="0" dirty="0">
                <a:solidFill>
                  <a:srgbClr val="E28479"/>
                </a:solidFill>
                <a:effectLst/>
                <a:latin typeface="Britannic Bold" panose="020B0903060703020204" pitchFamily="34" charset="0"/>
              </a:rPr>
              <a:t>Adjustment Steps</a:t>
            </a:r>
            <a:r>
              <a:rPr lang="en-US" altLang="ko-KR" b="0" i="0" dirty="0">
                <a:solidFill>
                  <a:srgbClr val="E28479"/>
                </a:solidFill>
                <a:effectLst/>
                <a:latin typeface="Britannic Bold" panose="020B0903060703020204" pitchFamily="34" charset="0"/>
              </a:rPr>
              <a:t>:</a:t>
            </a:r>
          </a:p>
          <a:p>
            <a:pPr marL="285750" indent="-285750">
              <a:buFont typeface="+mj-lt"/>
              <a:buAutoNum type="arabicPeriod"/>
            </a:pPr>
            <a:r>
              <a:rPr lang="en-US" altLang="ko-KR" sz="1600" b="0" i="0" dirty="0">
                <a:effectLst/>
                <a:latin typeface="Ginto"/>
              </a:rPr>
              <a:t>When a new element a</a:t>
            </a:r>
            <a:r>
              <a:rPr lang="en-US" altLang="ko-KR" sz="1600" b="0" i="0" dirty="0">
                <a:effectLst/>
                <a:latin typeface="Calibri Light" panose="020F0302020204030204" pitchFamily="34" charset="0"/>
                <a:ea typeface="Calibri Light" panose="020F0302020204030204" pitchFamily="34" charset="0"/>
                <a:cs typeface="Calibri Light" panose="020F0302020204030204" pitchFamily="34" charset="0"/>
              </a:rPr>
              <a:t>ₜ</a:t>
            </a:r>
            <a:r>
              <a:rPr lang="en-US" altLang="ko-KR" sz="1600" b="0" i="0" dirty="0">
                <a:effectLst/>
                <a:latin typeface="Ginto"/>
              </a:rPr>
              <a:t>+1 arrives at the stream input, the sum is adjusted as follows:</a:t>
            </a:r>
          </a:p>
          <a:p>
            <a:pPr marL="228600" indent="-228600">
              <a:buFont typeface="+mj-lt"/>
              <a:buAutoNum type="arabicPeriod"/>
            </a:pPr>
            <a:r>
              <a:rPr lang="en-US" altLang="ko-KR" sz="1600" i="0" dirty="0">
                <a:effectLst/>
                <a:latin typeface="Ginto"/>
              </a:rPr>
              <a:t>Multiply Current Sum: Multiply the current sum by (1−c). This reflects that all previous elements have moved one position further away, so their weights decrease by this factor.</a:t>
            </a:r>
          </a:p>
          <a:p>
            <a:pPr marL="228600" indent="-228600">
              <a:buFont typeface="+mj-lt"/>
              <a:buAutoNum type="arabicPeriod"/>
            </a:pPr>
            <a:r>
              <a:rPr lang="en-US" altLang="ko-KR" sz="1600" i="0" dirty="0">
                <a:effectLst/>
                <a:latin typeface="Ginto"/>
              </a:rPr>
              <a:t>Add New Element: Add a</a:t>
            </a:r>
            <a:r>
              <a:rPr lang="en-US" altLang="ko-KR" sz="1600" i="0" dirty="0">
                <a:effectLst/>
                <a:latin typeface="Calibri Light" panose="020F0302020204030204" pitchFamily="34" charset="0"/>
                <a:ea typeface="Calibri Light" panose="020F0302020204030204" pitchFamily="34" charset="0"/>
                <a:cs typeface="Calibri Light" panose="020F0302020204030204" pitchFamily="34" charset="0"/>
              </a:rPr>
              <a:t>ₜ</a:t>
            </a:r>
            <a:r>
              <a:rPr lang="en-US" altLang="ko-KR" sz="1600" i="0" dirty="0">
                <a:effectLst/>
                <a:latin typeface="Ginto"/>
              </a:rPr>
              <a:t>+1. The weight of the new element is 1 since (1−c)0=1.</a:t>
            </a:r>
          </a:p>
          <a:p>
            <a:pPr algn="l"/>
            <a:endParaRPr lang="en-US" altLang="ko-KR" sz="1600" dirty="0">
              <a:latin typeface="Ginto"/>
            </a:endParaRPr>
          </a:p>
          <a:p>
            <a:pPr algn="l"/>
            <a:r>
              <a:rPr lang="en-US" altLang="ko-KR" i="0" dirty="0">
                <a:solidFill>
                  <a:srgbClr val="E28479"/>
                </a:solidFill>
                <a:effectLst/>
                <a:latin typeface="Britannic Bold" panose="020B0903060703020204" pitchFamily="34" charset="0"/>
              </a:rPr>
              <a:t>Why This Method Works:</a:t>
            </a:r>
          </a:p>
          <a:p>
            <a:pPr marL="285750" indent="-285750" algn="l">
              <a:buFont typeface="Arial" panose="020B0604020202020204" pitchFamily="34" charset="0"/>
              <a:buChar char="•"/>
            </a:pPr>
            <a:r>
              <a:rPr lang="en-US" altLang="ko-KR" sz="1600" i="0" dirty="0">
                <a:effectLst/>
                <a:latin typeface="Ginto"/>
              </a:rPr>
              <a:t>Each previous element’s weight decreases exponentially as it moves further from the current element.</a:t>
            </a:r>
          </a:p>
          <a:p>
            <a:pPr marL="285750" indent="-285750" algn="l">
              <a:buFont typeface="Arial" panose="020B0604020202020204" pitchFamily="34" charset="0"/>
              <a:buChar char="•"/>
            </a:pPr>
            <a:r>
              <a:rPr lang="en-US" altLang="ko-KR" sz="1600" i="0" dirty="0">
                <a:effectLst/>
                <a:latin typeface="Ginto"/>
              </a:rPr>
              <a:t>The new element’s contribution </a:t>
            </a:r>
            <a:r>
              <a:rPr lang="en-US" altLang="ko-KR" sz="1600" b="0" i="0" dirty="0">
                <a:effectLst/>
                <a:latin typeface="Ginto"/>
              </a:rPr>
              <a:t>is added correctly because its initial weight is 1.</a:t>
            </a:r>
          </a:p>
          <a:p>
            <a:endParaRPr lang="en-US" altLang="ko-KR" sz="1600" b="0" i="0" dirty="0">
              <a:effectLst/>
              <a:latin typeface="Ginto"/>
            </a:endParaRPr>
          </a:p>
          <a:p>
            <a:r>
              <a:rPr lang="en-US" altLang="ko-KR" sz="1600" b="0" i="0" dirty="0">
                <a:effectLst/>
                <a:latin typeface="Ginto"/>
              </a:rPr>
              <a:t>This method ensures efficient computation and storage by simplifying the way we handle incoming data while keeping accurate, up-to-date results.</a:t>
            </a:r>
          </a:p>
          <a:p>
            <a:endParaRPr lang="en-US" altLang="ko-KR" sz="1600" b="0" i="0" dirty="0">
              <a:effectLst/>
              <a:latin typeface="Ginto"/>
            </a:endParaRPr>
          </a:p>
        </p:txBody>
      </p:sp>
    </p:spTree>
    <p:extLst>
      <p:ext uri="{BB962C8B-B14F-4D97-AF65-F5344CB8AC3E}">
        <p14:creationId xmlns:p14="http://schemas.microsoft.com/office/powerpoint/2010/main" val="3237057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D9DD"/>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21B474-C97E-649F-D5C6-3B159BDF5A82}"/>
              </a:ext>
            </a:extLst>
          </p:cNvPr>
          <p:cNvSpPr txBox="1"/>
          <p:nvPr/>
        </p:nvSpPr>
        <p:spPr>
          <a:xfrm>
            <a:off x="488129" y="1743072"/>
            <a:ext cx="8167740" cy="2616101"/>
          </a:xfrm>
          <a:prstGeom prst="rect">
            <a:avLst/>
          </a:prstGeom>
          <a:noFill/>
        </p:spPr>
        <p:txBody>
          <a:bodyPr wrap="square">
            <a:spAutoFit/>
          </a:bodyPr>
          <a:lstStyle/>
          <a:p>
            <a:pPr algn="just"/>
            <a:r>
              <a:rPr lang="en-US" altLang="ko-KR" dirty="0"/>
              <a:t>This part is a detailed section on "Finding the Most Popular Elements" using the DGIM (Datar-</a:t>
            </a:r>
            <a:r>
              <a:rPr lang="en-US" altLang="ko-KR" dirty="0" err="1"/>
              <a:t>Gionis</a:t>
            </a:r>
            <a:r>
              <a:rPr lang="en-US" altLang="ko-KR" dirty="0"/>
              <a:t>-Indyk-Motwani) algorithm with an exponentially decaying window. The goal is to identify the most popular movies in a continuous stream of ticket sales.</a:t>
            </a:r>
          </a:p>
          <a:p>
            <a:pPr algn="just"/>
            <a:endParaRPr lang="en-US" altLang="ko-KR" dirty="0"/>
          </a:p>
          <a:p>
            <a:pPr algn="l"/>
            <a:r>
              <a:rPr lang="en-US" altLang="ko-KR" sz="2000" b="1" dirty="0">
                <a:solidFill>
                  <a:srgbClr val="E28479"/>
                </a:solidFill>
                <a:effectLst/>
                <a:latin typeface="Britannic Bold" panose="020B0903060703020204" pitchFamily="34" charset="0"/>
              </a:rPr>
              <a:t>Concept:</a:t>
            </a:r>
          </a:p>
          <a:p>
            <a:pPr algn="l">
              <a:buFont typeface="Arial" panose="020B0604020202020204" pitchFamily="34" charset="0"/>
              <a:buChar char="•"/>
            </a:pPr>
            <a:r>
              <a:rPr lang="en-US" altLang="ko-KR" dirty="0">
                <a:effectLst/>
              </a:rPr>
              <a:t>Each ticket sale is represented as a 1 for the sold movie and a 0 for others.</a:t>
            </a:r>
          </a:p>
          <a:p>
            <a:pPr algn="l">
              <a:buFont typeface="Arial" panose="020B0604020202020204" pitchFamily="34" charset="0"/>
              <a:buChar char="•"/>
            </a:pPr>
            <a:r>
              <a:rPr lang="en-US" altLang="ko-KR" dirty="0">
                <a:effectLst/>
              </a:rPr>
              <a:t>The decaying window approximates the last one billion ticket sales, using a constant c≈10</a:t>
            </a:r>
            <a:r>
              <a:rPr lang="en-US" altLang="ko-KR" dirty="0">
                <a:effectLst/>
                <a:ea typeface="Calibri Light" panose="020F0302020204030204" pitchFamily="34" charset="0"/>
                <a:cs typeface="Calibri Light" panose="020F0302020204030204" pitchFamily="34" charset="0"/>
              </a:rPr>
              <a:t>⁻⁹</a:t>
            </a:r>
            <a:r>
              <a:rPr lang="en-US" altLang="ko-KR" dirty="0">
                <a:effectLst/>
              </a:rPr>
              <a:t>.</a:t>
            </a:r>
          </a:p>
          <a:p>
            <a:pPr algn="just"/>
            <a:endParaRPr lang="en-US" altLang="ko-KR" dirty="0"/>
          </a:p>
        </p:txBody>
      </p:sp>
      <p:sp>
        <p:nvSpPr>
          <p:cNvPr id="2" name="文本框 20">
            <a:extLst>
              <a:ext uri="{FF2B5EF4-FFF2-40B4-BE49-F238E27FC236}">
                <a16:creationId xmlns:a16="http://schemas.microsoft.com/office/drawing/2014/main" id="{4B6252CF-9CD8-F754-7304-CF89863F104D}"/>
              </a:ext>
            </a:extLst>
          </p:cNvPr>
          <p:cNvSpPr txBox="1"/>
          <p:nvPr/>
        </p:nvSpPr>
        <p:spPr>
          <a:xfrm>
            <a:off x="456304" y="784327"/>
            <a:ext cx="8231389"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96ADE3"/>
                </a:solidFill>
                <a:effectLst/>
                <a:uLnTx/>
                <a:uFillTx/>
                <a:latin typeface="Segoe UI Black" panose="020B0A02040204020203" pitchFamily="34" charset="0"/>
                <a:ea typeface="Segoe UI Black" panose="020B0A02040204020203" pitchFamily="34" charset="0"/>
                <a:cs typeface="+mn-cs"/>
              </a:rPr>
              <a:t>4.7.3 Finding the Most Popular Elements</a:t>
            </a:r>
            <a:endParaRPr kumimoji="0" lang="zh-CN" altLang="en-US" sz="2800" b="0" i="0" u="none" strike="noStrike" kern="1200" cap="none" spc="0" normalizeH="0" baseline="0" noProof="0" dirty="0">
              <a:ln>
                <a:noFill/>
              </a:ln>
              <a:solidFill>
                <a:srgbClr val="96ADE3"/>
              </a:solidFill>
              <a:effectLst/>
              <a:uLnTx/>
              <a:uFillTx/>
              <a:latin typeface="Segoe UI Black" panose="020B0A02040204020203" pitchFamily="34" charset="0"/>
              <a:ea typeface="微软雅黑 Light"/>
              <a:cs typeface="+mn-cs"/>
            </a:endParaRPr>
          </a:p>
        </p:txBody>
      </p:sp>
    </p:spTree>
    <p:extLst>
      <p:ext uri="{BB962C8B-B14F-4D97-AF65-F5344CB8AC3E}">
        <p14:creationId xmlns:p14="http://schemas.microsoft.com/office/powerpoint/2010/main" val="419465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D9DD"/>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21B474-C97E-649F-D5C6-3B159BDF5A82}"/>
              </a:ext>
            </a:extLst>
          </p:cNvPr>
          <p:cNvSpPr txBox="1"/>
          <p:nvPr/>
        </p:nvSpPr>
        <p:spPr>
          <a:xfrm>
            <a:off x="559346" y="525036"/>
            <a:ext cx="8025307" cy="4093428"/>
          </a:xfrm>
          <a:prstGeom prst="rect">
            <a:avLst/>
          </a:prstGeom>
          <a:noFill/>
        </p:spPr>
        <p:txBody>
          <a:bodyPr wrap="square">
            <a:spAutoFit/>
          </a:bodyPr>
          <a:lstStyle/>
          <a:p>
            <a:pPr algn="just"/>
            <a:r>
              <a:rPr lang="en-US" altLang="ko-KR" sz="2400" b="1" i="0" dirty="0">
                <a:solidFill>
                  <a:srgbClr val="E28479"/>
                </a:solidFill>
                <a:effectLst/>
                <a:latin typeface="Britannic Bold" panose="020B0903060703020204" pitchFamily="34" charset="0"/>
              </a:rPr>
              <a:t>Steps in the Algorithm:</a:t>
            </a:r>
          </a:p>
          <a:p>
            <a:pPr algn="just">
              <a:buFont typeface="+mj-lt"/>
              <a:buAutoNum type="arabicPeriod"/>
            </a:pPr>
            <a:r>
              <a:rPr lang="en-US" altLang="ko-KR" sz="2000" i="0" dirty="0">
                <a:effectLst/>
              </a:rPr>
              <a:t>Multiply Scores: Each movie's score is multiplied by (1−c) to decay over time.</a:t>
            </a:r>
          </a:p>
          <a:p>
            <a:pPr algn="just">
              <a:buFont typeface="+mj-lt"/>
              <a:buAutoNum type="arabicPeriod"/>
            </a:pPr>
            <a:r>
              <a:rPr lang="en-US" altLang="ko-KR" sz="2000" i="0" dirty="0">
                <a:effectLst/>
              </a:rPr>
              <a:t>Update Score: If a new ticket is for a movie M, add 1 to its score. If there's no score for M, initialize it at 1.</a:t>
            </a:r>
          </a:p>
          <a:p>
            <a:pPr algn="just">
              <a:buFont typeface="+mj-lt"/>
              <a:buAutoNum type="arabicPeriod"/>
            </a:pPr>
            <a:r>
              <a:rPr lang="en-US" altLang="ko-KR" sz="2000" i="0" dirty="0">
                <a:effectLst/>
              </a:rPr>
              <a:t>Remove Low Scores: Drop scores below the threshold 1/2. This reduces storage by only keeping popular movies.</a:t>
            </a:r>
          </a:p>
          <a:p>
            <a:pPr algn="just">
              <a:buFont typeface="+mj-lt"/>
              <a:buAutoNum type="arabicPeriod"/>
            </a:pPr>
            <a:endParaRPr lang="en-US" altLang="ko-KR" sz="2000" dirty="0"/>
          </a:p>
          <a:p>
            <a:pPr algn="just"/>
            <a:r>
              <a:rPr lang="en-US" altLang="ko-KR" sz="2400" b="1" i="0" dirty="0">
                <a:solidFill>
                  <a:srgbClr val="E28479"/>
                </a:solidFill>
                <a:effectLst/>
                <a:latin typeface="Britannic Bold" panose="020B0903060703020204" pitchFamily="34" charset="0"/>
              </a:rPr>
              <a:t>Efficiency:</a:t>
            </a:r>
          </a:p>
          <a:p>
            <a:pPr algn="just">
              <a:buFont typeface="Arial" panose="020B0604020202020204" pitchFamily="34" charset="0"/>
              <a:buChar char="•"/>
            </a:pPr>
            <a:r>
              <a:rPr lang="en-US" altLang="ko-KR" sz="2000" i="0" dirty="0">
                <a:effectLst/>
              </a:rPr>
              <a:t>Maintains at most 2/c movies with scores of 1/2 or more.</a:t>
            </a:r>
          </a:p>
          <a:p>
            <a:pPr algn="just">
              <a:buFont typeface="Arial" panose="020B0604020202020204" pitchFamily="34" charset="0"/>
              <a:buChar char="•"/>
            </a:pPr>
            <a:r>
              <a:rPr lang="en-US" altLang="ko-KR" sz="2000" i="0" dirty="0">
                <a:effectLst/>
              </a:rPr>
              <a:t>Sum of all scores is 1/c.</a:t>
            </a:r>
          </a:p>
          <a:p>
            <a:pPr algn="just"/>
            <a:endParaRPr lang="en-US" altLang="ko-KR" sz="1600" i="0" dirty="0">
              <a:effectLst/>
            </a:endParaRPr>
          </a:p>
          <a:p>
            <a:pPr algn="just"/>
            <a:endParaRPr lang="en-US" altLang="ko-KR" sz="1600" b="0" i="0" dirty="0">
              <a:effectLst/>
            </a:endParaRPr>
          </a:p>
        </p:txBody>
      </p:sp>
    </p:spTree>
    <p:extLst>
      <p:ext uri="{BB962C8B-B14F-4D97-AF65-F5344CB8AC3E}">
        <p14:creationId xmlns:p14="http://schemas.microsoft.com/office/powerpoint/2010/main" val="3914848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D9DD"/>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21B474-C97E-649F-D5C6-3B159BDF5A82}"/>
              </a:ext>
            </a:extLst>
          </p:cNvPr>
          <p:cNvSpPr txBox="1"/>
          <p:nvPr/>
        </p:nvSpPr>
        <p:spPr>
          <a:xfrm>
            <a:off x="565403" y="371147"/>
            <a:ext cx="8013193" cy="4401205"/>
          </a:xfrm>
          <a:prstGeom prst="rect">
            <a:avLst/>
          </a:prstGeom>
          <a:noFill/>
        </p:spPr>
        <p:txBody>
          <a:bodyPr wrap="square">
            <a:spAutoFit/>
          </a:bodyPr>
          <a:lstStyle/>
          <a:p>
            <a:pPr algn="just"/>
            <a:r>
              <a:rPr lang="en-US" altLang="ko-KR" sz="2000" b="1" i="0" dirty="0">
                <a:solidFill>
                  <a:srgbClr val="E28479"/>
                </a:solidFill>
                <a:effectLst/>
                <a:latin typeface="Britannic Bold" panose="020B0903060703020204" pitchFamily="34" charset="0"/>
              </a:rPr>
              <a:t>Popularity Calculation:</a:t>
            </a:r>
          </a:p>
          <a:p>
            <a:pPr algn="just"/>
            <a:r>
              <a:rPr lang="en-US" altLang="ko-KR" sz="2000" i="0" dirty="0">
                <a:effectLst/>
              </a:rPr>
              <a:t>For each new ticket:</a:t>
            </a:r>
          </a:p>
          <a:p>
            <a:pPr marL="285750" indent="-285750" algn="just">
              <a:buFont typeface="Arial" panose="020B0604020202020204" pitchFamily="34" charset="0"/>
              <a:buChar char="•"/>
            </a:pPr>
            <a:r>
              <a:rPr lang="en-US" altLang="ko-KR" sz="2000" i="0" dirty="0">
                <a:effectLst/>
              </a:rPr>
              <a:t>Multiply the score of each tracked movie by (1−c), decaying the score.</a:t>
            </a:r>
          </a:p>
          <a:p>
            <a:pPr marL="285750" indent="-285750" algn="just">
              <a:buFont typeface="Arial" panose="020B0604020202020204" pitchFamily="34" charset="0"/>
              <a:buChar char="•"/>
            </a:pPr>
            <a:r>
              <a:rPr lang="en-US" altLang="ko-KR" sz="2000" i="0" dirty="0">
                <a:effectLst/>
              </a:rPr>
              <a:t>Add 1 to the score if the ticket is for that movie, or create a new score if it's the first ticket for that movie.</a:t>
            </a:r>
          </a:p>
          <a:p>
            <a:pPr marL="285750" indent="-285750" algn="just">
              <a:buFont typeface="Arial" panose="020B0604020202020204" pitchFamily="34" charset="0"/>
              <a:buChar char="•"/>
            </a:pPr>
            <a:r>
              <a:rPr lang="en-US" altLang="ko-KR" sz="2000" i="0" dirty="0">
                <a:effectLst/>
              </a:rPr>
              <a:t>Remove any movie whose score falls below the threshold 1/2, effectively discarding unpopular movies.</a:t>
            </a:r>
          </a:p>
          <a:p>
            <a:pPr algn="l"/>
            <a:endParaRPr lang="en-US" altLang="ko-KR" sz="2000" dirty="0">
              <a:solidFill>
                <a:srgbClr val="E28479"/>
              </a:solidFill>
              <a:latin typeface="Britannic Bold" panose="020B0903060703020204" pitchFamily="34" charset="0"/>
            </a:endParaRPr>
          </a:p>
          <a:p>
            <a:pPr algn="l"/>
            <a:r>
              <a:rPr lang="en-US" altLang="ko-KR" sz="2000" i="0" dirty="0">
                <a:solidFill>
                  <a:srgbClr val="E28479"/>
                </a:solidFill>
                <a:effectLst/>
                <a:latin typeface="Britannic Bold" panose="020B0903060703020204" pitchFamily="34" charset="0"/>
              </a:rPr>
              <a:t>Practical Application:</a:t>
            </a:r>
          </a:p>
          <a:p>
            <a:pPr algn="l">
              <a:buFont typeface="Arial" panose="020B0604020202020204" pitchFamily="34" charset="0"/>
              <a:buChar char="•"/>
            </a:pPr>
            <a:r>
              <a:rPr lang="en-US" altLang="ko-KR" sz="2000" b="0" i="0" dirty="0">
                <a:effectLst/>
              </a:rPr>
              <a:t>Despite the theoretical limit of 2/c, in practice, only a small number of movies need to be actively tracked due to the natural distribution of ticket sales.</a:t>
            </a:r>
          </a:p>
          <a:p>
            <a:pPr algn="l"/>
            <a:endParaRPr lang="en-US" altLang="ko-KR" sz="2000" b="0" i="0" dirty="0">
              <a:effectLst/>
            </a:endParaRPr>
          </a:p>
          <a:p>
            <a:pPr algn="l"/>
            <a:r>
              <a:rPr lang="en-US" altLang="ko-KR" sz="2000" b="0" i="0" dirty="0">
                <a:effectLst/>
              </a:rPr>
              <a:t>This method allows for efficient, </a:t>
            </a:r>
            <a:r>
              <a:rPr lang="en-US" altLang="ko-KR" sz="2000" b="0" i="0" dirty="0" err="1">
                <a:effectLst/>
              </a:rPr>
              <a:t>realtime</a:t>
            </a:r>
            <a:r>
              <a:rPr lang="en-US" altLang="ko-KR" sz="2000" b="0" i="0" dirty="0">
                <a:effectLst/>
              </a:rPr>
              <a:t> tracking of movie popularity while keeping storage requirements manageable.</a:t>
            </a:r>
          </a:p>
        </p:txBody>
      </p:sp>
    </p:spTree>
    <p:extLst>
      <p:ext uri="{BB962C8B-B14F-4D97-AF65-F5344CB8AC3E}">
        <p14:creationId xmlns:p14="http://schemas.microsoft.com/office/powerpoint/2010/main" val="1252267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D9DD"/>
        </a:solidFill>
        <a:effectLst/>
      </p:bgPr>
    </p:bg>
    <p:spTree>
      <p:nvGrpSpPr>
        <p:cNvPr id="1" name=""/>
        <p:cNvGrpSpPr/>
        <p:nvPr/>
      </p:nvGrpSpPr>
      <p:grpSpPr>
        <a:xfrm>
          <a:off x="0" y="0"/>
          <a:ext cx="0" cy="0"/>
          <a:chOff x="0" y="0"/>
          <a:chExt cx="0" cy="0"/>
        </a:xfrm>
      </p:grpSpPr>
      <p:sp>
        <p:nvSpPr>
          <p:cNvPr id="22" name="文本框 21"/>
          <p:cNvSpPr txBox="1"/>
          <p:nvPr/>
        </p:nvSpPr>
        <p:spPr>
          <a:xfrm>
            <a:off x="1944718" y="1509921"/>
            <a:ext cx="5254563" cy="212365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6600" b="0" i="0" u="none" strike="noStrike" kern="1200" cap="none" spc="0" normalizeH="0" baseline="0" noProof="0" dirty="0">
                <a:ln>
                  <a:noFill/>
                </a:ln>
                <a:solidFill>
                  <a:srgbClr val="96ADE3"/>
                </a:solidFill>
                <a:effectLst/>
                <a:uLnTx/>
                <a:uFillTx/>
                <a:latin typeface="Segoe UI Black" panose="020B0A02040204020203" pitchFamily="34" charset="0"/>
                <a:ea typeface="Segoe UI Black" panose="020B0A02040204020203" pitchFamily="34" charset="0"/>
              </a:rPr>
              <a:t>Thanks for listening!</a:t>
            </a:r>
            <a:endParaRPr kumimoji="0" lang="zh-CN" altLang="en-US" sz="6600" b="0" i="0" u="none" strike="noStrike" kern="1200" cap="none" spc="0" normalizeH="0" baseline="0" noProof="0" dirty="0">
              <a:ln>
                <a:noFill/>
              </a:ln>
              <a:solidFill>
                <a:srgbClr val="96ADE3"/>
              </a:solidFill>
              <a:effectLst/>
              <a:uLnTx/>
              <a:uFillTx/>
              <a:latin typeface="Segoe UI Black" panose="020B0A02040204020203" pitchFamily="34" charset="0"/>
              <a:ea typeface="+mj-ea"/>
            </a:endParaRPr>
          </a:p>
        </p:txBody>
      </p:sp>
      <p:pic>
        <p:nvPicPr>
          <p:cNvPr id="3" name="그림 2">
            <a:extLst>
              <a:ext uri="{FF2B5EF4-FFF2-40B4-BE49-F238E27FC236}">
                <a16:creationId xmlns:a16="http://schemas.microsoft.com/office/drawing/2014/main" id="{E0F3FA00-81C5-30CA-8237-E150C8BF33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2103" y="1771997"/>
            <a:ext cx="1632615" cy="1599504"/>
          </a:xfrm>
          <a:prstGeom prst="rect">
            <a:avLst/>
          </a:prstGeom>
        </p:spPr>
      </p:pic>
      <p:pic>
        <p:nvPicPr>
          <p:cNvPr id="4" name="图片 3">
            <a:extLst>
              <a:ext uri="{FF2B5EF4-FFF2-40B4-BE49-F238E27FC236}">
                <a16:creationId xmlns:a16="http://schemas.microsoft.com/office/drawing/2014/main" id="{F48F21D2-B8B8-FAE0-3E80-1A37111319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9281" y="1755441"/>
            <a:ext cx="1632615" cy="1632615"/>
          </a:xfrm>
          <a:prstGeom prst="rect">
            <a:avLst/>
          </a:prstGeom>
        </p:spPr>
      </p:pic>
    </p:spTree>
    <p:extLst>
      <p:ext uri="{BB962C8B-B14F-4D97-AF65-F5344CB8AC3E}">
        <p14:creationId xmlns:p14="http://schemas.microsoft.com/office/powerpoint/2010/main" val="3628028600"/>
      </p:ext>
    </p:extLst>
  </p:cSld>
  <p:clrMapOvr>
    <a:masterClrMapping/>
  </p:clrMapOvr>
</p:sld>
</file>

<file path=ppt/theme/theme1.xml><?xml version="1.0" encoding="utf-8"?>
<a:theme xmlns:a="http://schemas.openxmlformats.org/drawingml/2006/main" name="1">
  <a:themeElements>
    <a:clrScheme name="1莫兰迪配色">
      <a:dk1>
        <a:sysClr val="windowText" lastClr="000000"/>
      </a:dk1>
      <a:lt1>
        <a:sysClr val="window" lastClr="FFFFFF"/>
      </a:lt1>
      <a:dk2>
        <a:srgbClr val="44546A"/>
      </a:dk2>
      <a:lt2>
        <a:srgbClr val="E7E6E6"/>
      </a:lt2>
      <a:accent1>
        <a:srgbClr val="7E5432"/>
      </a:accent1>
      <a:accent2>
        <a:srgbClr val="E28479"/>
      </a:accent2>
      <a:accent3>
        <a:srgbClr val="9E9369"/>
      </a:accent3>
      <a:accent4>
        <a:srgbClr val="B09178"/>
      </a:accent4>
      <a:accent5>
        <a:srgbClr val="827A74"/>
      </a:accent5>
      <a:accent6>
        <a:srgbClr val="5A5B5A"/>
      </a:accent6>
      <a:hlink>
        <a:srgbClr val="000000"/>
      </a:hlink>
      <a:folHlink>
        <a:srgbClr val="954F72"/>
      </a:folHlink>
    </a:clrScheme>
    <a:fontScheme name="方正清刻本悦宋简体">
      <a:majorFont>
        <a:latin typeface="方正清刻本悦宋简体"/>
        <a:ea typeface="方正清刻本悦宋简体"/>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1莫兰迪配色">
    <a:dk1>
      <a:sysClr val="windowText" lastClr="000000"/>
    </a:dk1>
    <a:lt1>
      <a:sysClr val="window" lastClr="FFFFFF"/>
    </a:lt1>
    <a:dk2>
      <a:srgbClr val="44546A"/>
    </a:dk2>
    <a:lt2>
      <a:srgbClr val="E7E6E6"/>
    </a:lt2>
    <a:accent1>
      <a:srgbClr val="7E5432"/>
    </a:accent1>
    <a:accent2>
      <a:srgbClr val="E28479"/>
    </a:accent2>
    <a:accent3>
      <a:srgbClr val="9E9369"/>
    </a:accent3>
    <a:accent4>
      <a:srgbClr val="B09178"/>
    </a:accent4>
    <a:accent5>
      <a:srgbClr val="827A74"/>
    </a:accent5>
    <a:accent6>
      <a:srgbClr val="5A5B5A"/>
    </a:accent6>
    <a:hlink>
      <a:srgbClr val="000000"/>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1719</TotalTime>
  <Words>2732</Words>
  <Application>Microsoft Office PowerPoint</Application>
  <PresentationFormat>全屏显示(16:9)</PresentationFormat>
  <Paragraphs>182</Paragraphs>
  <Slides>25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25</vt:i4>
      </vt:variant>
    </vt:vector>
  </HeadingPairs>
  <TitlesOfParts>
    <vt:vector size="35" baseType="lpstr">
      <vt:lpstr>等线</vt:lpstr>
      <vt:lpstr>Ginto</vt:lpstr>
      <vt:lpstr>方正清刻本悦宋简体</vt:lpstr>
      <vt:lpstr>Arial</vt:lpstr>
      <vt:lpstr>Britannic Bold</vt:lpstr>
      <vt:lpstr>Calibri Light</vt:lpstr>
      <vt:lpstr>Cambria</vt:lpstr>
      <vt:lpstr>Segoe UI Black</vt:lpstr>
      <vt:lpstr>Wingdings</vt:lpstr>
      <vt:lpstr>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当图网www.99ppt.com</dc:title>
  <dc:creator>当图网www.99ppt.com</dc:creator>
  <cp:lastModifiedBy>미연 주</cp:lastModifiedBy>
  <cp:revision>495</cp:revision>
  <dcterms:created xsi:type="dcterms:W3CDTF">2018-06-01T01:11:00Z</dcterms:created>
  <dcterms:modified xsi:type="dcterms:W3CDTF">2024-10-14T04:40:01Z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