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013D4-ED14-4EC9-B9E8-65992847B5D8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675BB-3020-4EEC-8B4F-ED5A6BDE2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00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675BB-3020-4EEC-8B4F-ED5A6BDE2E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6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675BB-3020-4EEC-8B4F-ED5A6BDE2E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52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A515-8D63-7734-6E1F-1B340EE6E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A96A5-1DC3-2944-B9FA-3B62CF179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6E5BE-74BF-3B4F-4A0B-7D9D395A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1B0F-574A-4401-B5D2-69DB185ABCEC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9C5A-2BB0-FBF4-DE47-8D0172D0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1F22-15BB-5F9D-0F67-097B4127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7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5D15-76EA-F534-B53F-A1B64EFA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9EE51-4517-A237-CBED-4CB56676D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D6820-DC41-ACB7-4338-FD86B1193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92C1-F3FA-421C-A080-19D3D41E3112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5F66B-9DAB-2D6D-D1B0-9043C897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81761-62C3-67CF-B936-B42FFFC3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8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CB65-5928-19E4-62CF-C08581C4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D5039-7946-A05F-F533-B94741A15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302F-8411-C69E-75BA-E13F6A98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655C-7135-4FD6-B362-C095BA220D1B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CEFD5-208E-9B25-E4C8-2ED35780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69FD2-94EF-8CC2-C01E-09C6F7FD9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4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FD26-D7AB-C8B6-F90F-342E01CC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A404C-9A2D-E61C-C85F-B6FF5D08E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48B0F-B4F0-4654-C0A4-B96B00F31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D748A-B8F8-D25C-38D0-5DAFC034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46E55-BB73-4EF4-ABBA-23DF112D109D}" type="datetime1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D96BF-CEED-17F1-137B-E7116D77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16713-89E9-89E3-317A-80C523AB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0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4893-EAC8-26DE-6EE0-8E826D01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60C6C-FD1C-5A67-7AB5-412492F12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5A77B-F627-2132-5A92-F44B76D03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F4AA3-609C-BC6E-0D69-E7FC4752D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0B652-5F22-8B96-654A-CAE0F7DCE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DE682-784D-BC07-6827-38493C39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2C2E4-6B8D-4EC4-9141-1251E2B38B3C}" type="datetime1">
              <a:rPr lang="en-US" smtClean="0"/>
              <a:t>11/15/2024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0CFF5-17C8-0874-35C6-DDC5FFA8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78141-18D5-7324-542B-C4170923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0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8F85-74E2-4158-55FC-AC2BD793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16B44-4A80-8CC1-24B6-6E0B7E79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D880-084D-48C5-B785-159AEDF4AC93}" type="datetime1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6A955-BC70-A610-5826-864E6272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F2DD5-3DEA-3B95-1CB1-9C748A15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4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C3F01-BF42-C6CB-B749-19600723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642B-ACF7-4E18-B211-4998FCC3F92E}" type="datetime1">
              <a:rPr lang="en-US" smtClean="0"/>
              <a:t>11/15/2024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6CB64-46F8-C661-EB0F-D38353B0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72BB2-D36E-4C58-6B30-D821A89D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7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D8FF-7D30-91DA-BFB9-A821F789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ECD69-9B69-5612-9D1A-2E9E56262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EA822-1323-B7E0-DB6B-E31E19C16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C16DF-7F50-A3B8-B353-7015C862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4EF7-D4EF-457D-9358-C9AD294AEEBC}" type="datetime1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98FAF-A9D8-862C-0443-3514FEED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9F315-24C9-B686-C557-7EDA762B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9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1A76-86EE-E885-8ECB-4CE07AC9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7547D-CDB2-51AC-5BD7-7B88629E7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22A8A-46DA-ABE1-014F-C2B1DB384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9F8C8-DF72-1F79-BDC8-86863DC5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5E94-DE87-4B10-882E-28B62C270C50}" type="datetime1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6781A-2285-E4E8-1A23-E55C4531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1C997-7881-3C02-5C3E-CD6DD569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6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94B5-E5CF-1625-BEC0-7CA590AD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9E492-DEAC-1E2B-DA31-09A93537D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E53F4-4C48-3255-EFE1-56897557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22862-338A-4474-B4F3-0D28FF5D9374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D2F2D-9DB7-C835-C53B-BDA9389C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630D-8122-350D-0983-12F8F771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6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86692-4474-8494-9D18-7DA8913A2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28A9A-1236-9C8A-F005-3ED021B20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85E9F-FF1E-1246-7AC8-90F3554EF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7821-0507-4DD4-8179-6033D67A6A6E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5CFD-52D5-F6B2-ED37-0A8B9162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3DA08-3A55-A492-5A22-156D20AF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08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45537-FBC0-0EBB-0C86-FBDC559E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ACF32-7EB4-4208-2158-A984BDF6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ED7DB-9945-D8F2-E9E8-8F8F44AF9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4490D-562D-4341-BFB9-2BCBD818B275}" type="datetime1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DF53F-F6FC-BD36-3D45-330954FAA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B5E51-F402-E752-DFE5-39D4DAD13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2409C-9313-42BD-B852-D36E47DA4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6845C7-EDC6-DEEE-EA50-BF20B7CBBE71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C8D54-081A-89DD-C5A6-8D869568E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551" y="1624773"/>
            <a:ext cx="10444898" cy="1941348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Mining of Massive Datasets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16363-D05C-51EC-722B-A4718A85C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566121"/>
            <a:ext cx="9144000" cy="1015306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6.4 Limited-Pass Algorithms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6.5 Counting Frequent Items in a Stream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4509A62-AE36-CD73-175F-855EA55A73FA}"/>
              </a:ext>
            </a:extLst>
          </p:cNvPr>
          <p:cNvSpPr txBox="1">
            <a:spLocks/>
          </p:cNvSpPr>
          <p:nvPr/>
        </p:nvSpPr>
        <p:spPr>
          <a:xfrm>
            <a:off x="8606673" y="5443406"/>
            <a:ext cx="2711776" cy="905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Ngumimi Karen Iyortsuun</a:t>
            </a:r>
          </a:p>
          <a:p>
            <a:pPr algn="r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18/11/2024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C391919-A98C-D759-DC12-495E8F2F0589}"/>
              </a:ext>
            </a:extLst>
          </p:cNvPr>
          <p:cNvSpPr txBox="1">
            <a:spLocks/>
          </p:cNvSpPr>
          <p:nvPr/>
        </p:nvSpPr>
        <p:spPr>
          <a:xfrm>
            <a:off x="273376" y="798291"/>
            <a:ext cx="7161229" cy="512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Advanced Big Data Analysis (GR24254-1)</a:t>
            </a:r>
          </a:p>
        </p:txBody>
      </p:sp>
    </p:spTree>
    <p:extLst>
      <p:ext uri="{BB962C8B-B14F-4D97-AF65-F5344CB8AC3E}">
        <p14:creationId xmlns:p14="http://schemas.microsoft.com/office/powerpoint/2010/main" val="426027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C4C51A-2237-0D3E-1E57-B8ECE564D8E0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9FCF1-59D0-4899-25F5-1892C62D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FD41-0C14-BC0C-C59A-A1217096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204" y="1772238"/>
            <a:ext cx="10156596" cy="44494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6.4: Limited-Pass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6.4.1 The Simple, Randomized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6.4.2 Avoiding Errors in Sampling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6.4.3 The SON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6.4.4 SON Algorithm and MapReduce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6.4.5 Toivonen's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6.4.6 Why Toivonen’s Algorithm 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6.5: Counting Frequent Items in a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6.5.1 Sampling Methods for Streams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6.5.2 Frequent Itemsets in Decaying Windows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6.5.3 Hybrid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Challenges and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81BF3-E060-5EA8-31D4-FE305C58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37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6.4: Limited-Pass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641"/>
            <a:ext cx="10515600" cy="372599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Introduce algorithms designed to find frequent item sets in at most two passes over the dataset, which is crucial when the dataset exceeds the main memory capacity.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Motivation: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Minimize expensive disk I/O operations inherent in traditional multi-pass algorithms.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Traditional algorithms require multiple passes over the data, leading to significant disk I/O.</a:t>
            </a: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Limited-pass algorithms aim to reduce disk access by limiting passes to a maximum of two.</a:t>
            </a: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Trade-offs may exist between accuracy and efficiency.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58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6.4.1 The Simple, Randomized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641"/>
            <a:ext cx="10515600" cy="41666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Sampling for Efficiency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Randomly select a subset of baskets (the sample) and treat it as the entire dataset.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Adjust the support threshold proportionally to the sample size.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Execute a frequent itemset algorithm (e.g., A-Priori, PCY, Multistage, or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Multihash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 on the main-memory resident sample.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Advantages: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Significantly reduces disk I/O.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Disadvantages: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	Prone to false positives and false negatives.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16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6.4.2 Avoiding Errors in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041" y="2230862"/>
            <a:ext cx="10515600" cy="43080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Mitigating Sampling Errors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Eliminating False Positives: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After identifying patterns in the sample, go through the entire dataset to check if they are truly frequent.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Keep only the frequent patterns in both the sample and the whole dataset.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This removes all false positives, so you don’t claim a pattern is popular when it’s not.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Reducing False Negatives: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Set the threshold in the sample a little lower than usual, so more potential patterns are captured.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For example, if you originally looked for patterns that appeared in 10 carts (based on your adjusted threshold), you now check for patterns appearing in 9 carts instead.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Then, during the full-dataset check, you can verify if these patterns meet the actual threshold.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Memory Considerations: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Ensure sufficient main memory to count all frequent itemsets in a single pass during the verification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F915F8-E244-7797-C0FF-82AA24D60F3A}"/>
              </a:ext>
            </a:extLst>
          </p:cNvPr>
          <p:cNvSpPr/>
          <p:nvPr/>
        </p:nvSpPr>
        <p:spPr>
          <a:xfrm>
            <a:off x="8380429" y="521764"/>
            <a:ext cx="3538980" cy="2337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When we use a sample instead of the whole dataset, two mistakes can happen:</a:t>
            </a:r>
          </a:p>
          <a:p>
            <a:endParaRPr lang="en-US" sz="1400" dirty="0"/>
          </a:p>
          <a:p>
            <a:pPr marL="112713" lvl="1">
              <a:buFont typeface="+mj-lt"/>
              <a:buAutoNum type="arabicPeriod"/>
            </a:pPr>
            <a:r>
              <a:rPr lang="en-US" sz="1400" b="1" dirty="0"/>
              <a:t>False Negatives</a:t>
            </a:r>
            <a:r>
              <a:rPr lang="en-US" sz="1400" dirty="0"/>
              <a:t>: Some patterns (itemsets) that are actually popular in the full data might not show up as popular in the sample.</a:t>
            </a:r>
          </a:p>
          <a:p>
            <a:pPr lvl="1">
              <a:buFont typeface="+mj-lt"/>
              <a:buAutoNum type="arabicPeriod"/>
            </a:pPr>
            <a:endParaRPr lang="en-US" sz="1400" dirty="0"/>
          </a:p>
          <a:p>
            <a:pPr marL="112713" lvl="1">
              <a:buFont typeface="+mj-lt"/>
              <a:buAutoNum type="arabicPeriod"/>
            </a:pPr>
            <a:r>
              <a:rPr lang="en-US" sz="1400" b="1" dirty="0"/>
              <a:t>False Positives</a:t>
            </a:r>
            <a:r>
              <a:rPr lang="en-US" sz="1400" dirty="0"/>
              <a:t>: Some patterns that seem popular in the sample might not actually be popular in the full data.</a:t>
            </a:r>
          </a:p>
        </p:txBody>
      </p:sp>
    </p:spTree>
    <p:extLst>
      <p:ext uri="{BB962C8B-B14F-4D97-AF65-F5344CB8AC3E}">
        <p14:creationId xmlns:p14="http://schemas.microsoft.com/office/powerpoint/2010/main" val="31903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136526"/>
            <a:ext cx="10646790" cy="11743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6.4.3 The Algorithm of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Savasere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Omiecinski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and Navathe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(SON Algorithm)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678"/>
            <a:ext cx="10515600" cy="480767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What Problem Does It Solve?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This method ensures no false negatives (you don’t miss any real patterns) and no false positives (you don’t include fake patterns). 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It does this by making two full passes through the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A Two-Pass Approach for Accuracy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Pass 1: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Divide the dataset into chunks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Using the sampling algorithm, find frequent itemsets within each chunk using an adjusted support threshold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Combine frequent itemsets from all chunks to create a set of candidate itemsets.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Pass 2: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Count the occurrences of candidate itemsets in the whole dataset and identify those meeting the original support threshold (s).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Advantages: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 False Negatives: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If a pattern is frequent in the whole dataset, it will appear in at least one chunk. So, it won’t be missed.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 False Positives: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second pass filters out patterns that aren’t frequent in the full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518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6.4.4 SON Algorithm and MapReduce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3040"/>
            <a:ext cx="10515600" cy="41100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Scaling SON with Parallel Computing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SON Algorithm is well-suited for parallel processing frameworks like MapReduce. Each of the chunks can be processed in parallel, and the frequent itemsets from each chunk combined to form the candidates.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MapReduce Job 1: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Process chunks in parallel to identify candidate itemsets (potentially frequent patterns).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MapReduce Job 2: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Count occurrences of candidate itemsets across the distributed dataset.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two-pass structure ensures there are no false positives or negatives.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This MapReduce implementation ensures the algorithm is both scalable and accurate for large-scale datasets.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77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6.4.5 Toivonen's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45" y="2071327"/>
            <a:ext cx="10477107" cy="372599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Toivonen's Algorithm is a randomized approach for finding frequent itemsets in large datasets. </a:t>
            </a: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It is efficient but comes with a slight chance of failure, which necessitates repetition until success. </a:t>
            </a: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algorithm minimizes false negatives and false positives while balancing computational efficiency.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Randomness and the Negative Border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Uses a small sample to identify candidate frequent itemsets and constructs the "negative border".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Verifies the frequency of candidate itemsets and the negative border in the whole dataset.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Success Condition: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If no itemset in the negative border is frequent, the algorithm successfully identifies all frequent itemsets.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Failure Condition: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If an itemset in the negative border is frequent, the algorithm needs to be repeated.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997903-15A4-84A8-1526-937BF9FE5ED6}"/>
              </a:ext>
            </a:extLst>
          </p:cNvPr>
          <p:cNvSpPr/>
          <p:nvPr/>
        </p:nvSpPr>
        <p:spPr>
          <a:xfrm>
            <a:off x="8389856" y="494882"/>
            <a:ext cx="2743200" cy="15541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Negative Border: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Itemsets not frequent in the sample, but all their immediate subsets are frequent.</a:t>
            </a:r>
          </a:p>
        </p:txBody>
      </p:sp>
    </p:spTree>
    <p:extLst>
      <p:ext uri="{BB962C8B-B14F-4D97-AF65-F5344CB8AC3E}">
        <p14:creationId xmlns:p14="http://schemas.microsoft.com/office/powerpoint/2010/main" val="427696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/>
              <a:t>6.4.6 Why Toivonen’s Algorithm Works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641"/>
            <a:ext cx="10515600" cy="372599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Toivonen’s Algorithm works because if any itemset is frequent in the whole dataset, it must either:</a:t>
            </a:r>
          </a:p>
          <a:p>
            <a:pPr lvl="1"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Be included in the frequent itemsets from the sample, or</a:t>
            </a:r>
          </a:p>
          <a:p>
            <a:pPr lvl="1"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Be in the negative border, which will later be validated in the full dataset.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Hence, the algorithm ensures that no frequent itemsets are missed, proving that it never produces false negatives.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6.5: Counting Frequent Items in a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640"/>
            <a:ext cx="10515600" cy="42326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Explore techniques for finding frequent itemsets in continuous, unbounded data streams.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Challenges: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Stream elements are only available upon arrival.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Limited storage capacity for the entire stream.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Evolving nature of streams—frequent itemsets may change over time.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No defined end to a stream—itemsets can eventually exceed any fixed support threshold.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Data streams are continuous and potentially infinite, posing challenges for traditional frequent itemset mining algorithms.</a:t>
            </a: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Support threshold is often defined as a fraction of baskets, rather than a fixed count.</a:t>
            </a:r>
          </a:p>
          <a:p>
            <a:pPr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Need to adapt algorithms to handle limited memory and the evolving nature of streams.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135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6.5.1 Sampling Methods for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025" y="1838225"/>
            <a:ext cx="10561948" cy="42326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Basic Approach: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Periodically collect a sample of baskets from the stream →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Run a frequent itemset algorithm on the collected sample →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Update the set of frequent itemsets based on the analysis results.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Stream Sampling Methods:</a:t>
            </a:r>
          </a:p>
          <a:p>
            <a:pPr marL="800100" lvl="1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Continuous Analysis:</a:t>
            </a:r>
          </a:p>
          <a:p>
            <a:pPr lvl="2"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Process &amp; collect simultaneously OR </a:t>
            </a:r>
          </a:p>
          <a:p>
            <a:pPr lvl="2"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Collect new batches after each analysis</a:t>
            </a:r>
          </a:p>
          <a:p>
            <a:pPr marL="800100" lvl="1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Adaptive Monitoring:</a:t>
            </a:r>
          </a:p>
          <a:p>
            <a:pPr lvl="2"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Periodically run the frequent itemset algorithm on a new sample and incorporate new frequent itemsets.</a:t>
            </a:r>
          </a:p>
          <a:p>
            <a:pPr lvl="2"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Delete itemsets that become infrequent.</a:t>
            </a:r>
          </a:p>
          <a:p>
            <a:pPr lvl="2" algn="just">
              <a:lnSpc>
                <a:spcPct val="1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Monitor and add itemsets from the negative border.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844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6.5.2 Frequent Itemsets in Decaying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1913640"/>
            <a:ext cx="10646790" cy="42326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Prioritizing Recent Trends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Assign decaying weights to stream elements, emphasizing recent data.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Maintain scores for itemsets based on their weighted occurrences.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Itemsets with scores above a threshold are considered frequent.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Challenge: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Managing the number of itemsets being scored and initiating scores for new itemsets.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A-Priori Inspired Solution: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Start scoring an itemset only if all its immediate subsets are being scored.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13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588CB0-95F6-F275-A402-D1F8E60C5C69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1753-01E3-0A77-6DFD-5E7800E8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0" y="365125"/>
            <a:ext cx="1064679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6.5.3 Hybrid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6EA9-4C80-2DA4-8826-A93F9EA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1913640"/>
            <a:ext cx="10646790" cy="42326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Combining Sampling and Decaying Windows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Leverage both sampling and decaying windows to capture both long-term trends and recent changes.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Run a frequent itemset algorithm on an initial sample to generate an initial set of frequent itemsets and their scores.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Update scores using the decaying window model as new stream elements arrive.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Periodically run the frequent itemset algorithm on a new sample to introduce new potential frequent itemsets.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0318-C893-46F4-7725-6E334E8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499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CEFEC-F263-138F-F418-8FB420054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1882" y="2958044"/>
            <a:ext cx="7128235" cy="941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for Listening.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48360D-D6AF-60E5-BAD3-641B67BF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409C-9313-42BD-B852-D36E47DA4A25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5FEA84-A040-BCD1-6F3D-D35F393D8C22}"/>
              </a:ext>
            </a:extLst>
          </p:cNvPr>
          <p:cNvSpPr/>
          <p:nvPr/>
        </p:nvSpPr>
        <p:spPr>
          <a:xfrm>
            <a:off x="-1" y="2770"/>
            <a:ext cx="12192000" cy="13081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77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16461</TotalTime>
  <Words>1345</Words>
  <Application>Microsoft Office PowerPoint</Application>
  <PresentationFormat>Widescreen</PresentationFormat>
  <Paragraphs>147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Office Theme</vt:lpstr>
      <vt:lpstr>Mining of Massive Datasets</vt:lpstr>
      <vt:lpstr>Content</vt:lpstr>
      <vt:lpstr>6.4: Limited-Pass Algorithms</vt:lpstr>
      <vt:lpstr>6.4.1 The Simple, Randomized Algorithm</vt:lpstr>
      <vt:lpstr>6.4.2 Avoiding Errors in Sampling</vt:lpstr>
      <vt:lpstr>6.4.3 The Algorithm of Savasere, Omiecinski, and Navathe (SON Algorithm)</vt:lpstr>
      <vt:lpstr>6.4.4 SON Algorithm and MapReduce</vt:lpstr>
      <vt:lpstr>6.4.5 Toivonen's Algorithm</vt:lpstr>
      <vt:lpstr>6.4.6 Why Toivonen’s Algorithm Works</vt:lpstr>
      <vt:lpstr>6.5: Counting Frequent Items in a Stream</vt:lpstr>
      <vt:lpstr>6.5.1 Sampling Methods for Streams</vt:lpstr>
      <vt:lpstr>6.5.2 Frequent Itemsets in Decaying Windows</vt:lpstr>
      <vt:lpstr>6.5.3 Hybrid Methods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IYORTSUUN NGUMIMI KAREN</dc:creator>
  <cp:lastModifiedBy>IYORTSUUN NGUMIMI KAREN</cp:lastModifiedBy>
  <cp:revision>117</cp:revision>
  <dcterms:created xsi:type="dcterms:W3CDTF">2024-09-19T06:25:55Z</dcterms:created>
  <dcterms:modified xsi:type="dcterms:W3CDTF">2024-11-18T09:05:43Z</dcterms:modified>
</cp:coreProperties>
</file>