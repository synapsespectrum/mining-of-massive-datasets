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406" r:id="rId3"/>
    <p:sldId id="465" r:id="rId4"/>
    <p:sldId id="466" r:id="rId5"/>
    <p:sldId id="467" r:id="rId6"/>
    <p:sldId id="468" r:id="rId7"/>
    <p:sldId id="487" r:id="rId8"/>
    <p:sldId id="469" r:id="rId9"/>
    <p:sldId id="470" r:id="rId10"/>
    <p:sldId id="471" r:id="rId11"/>
    <p:sldId id="472" r:id="rId12"/>
    <p:sldId id="473" r:id="rId13"/>
    <p:sldId id="474" r:id="rId14"/>
    <p:sldId id="475" r:id="rId15"/>
    <p:sldId id="476" r:id="rId16"/>
    <p:sldId id="477" r:id="rId17"/>
    <p:sldId id="478" r:id="rId18"/>
    <p:sldId id="479" r:id="rId19"/>
    <p:sldId id="480" r:id="rId20"/>
    <p:sldId id="481" r:id="rId21"/>
    <p:sldId id="482" r:id="rId22"/>
    <p:sldId id="483" r:id="rId23"/>
    <p:sldId id="484" r:id="rId24"/>
    <p:sldId id="339" r:id="rId25"/>
  </p:sldIdLst>
  <p:sldSz cx="12192000" cy="6858000"/>
  <p:notesSz cx="12192000" cy="6858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04767"/>
    <a:srgbClr val="D6D7FF"/>
    <a:srgbClr val="FFC000"/>
    <a:srgbClr val="FFCC66"/>
    <a:srgbClr val="B3A2C7"/>
    <a:srgbClr val="57B79C"/>
    <a:srgbClr val="ECD554"/>
    <a:srgbClr val="7E776A"/>
    <a:srgbClr val="D996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E21B69-15D2-AF18-13EE-E0080E2EE17E}" v="207" dt="2024-08-02T01:52:39.48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6235" autoAdjust="0"/>
  </p:normalViewPr>
  <p:slideViewPr>
    <p:cSldViewPr>
      <p:cViewPr varScale="1">
        <p:scale>
          <a:sx n="111" d="100"/>
          <a:sy n="111" d="100"/>
        </p:scale>
        <p:origin x="594"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A843D13-C03F-42D3-B435-73E1D593F2FD}" type="datetimeFigureOut">
              <a:rPr lang="ko-KR" altLang="en-US" smtClean="0"/>
              <a:t>2024-09-21</a:t>
            </a:fld>
            <a:endParaRPr lang="ko-KR" altLang="en-US"/>
          </a:p>
        </p:txBody>
      </p:sp>
      <p:sp>
        <p:nvSpPr>
          <p:cNvPr id="4" name="슬라이드 이미지 개체 틀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718401D1-1C6B-45FA-95F9-498D6CAF4651}" type="slidenum">
              <a:rPr lang="ko-KR" altLang="en-US" smtClean="0"/>
              <a:t>‹#›</a:t>
            </a:fld>
            <a:endParaRPr lang="ko-KR" altLang="en-US"/>
          </a:p>
        </p:txBody>
      </p:sp>
    </p:spTree>
    <p:extLst>
      <p:ext uri="{BB962C8B-B14F-4D97-AF65-F5344CB8AC3E}">
        <p14:creationId xmlns:p14="http://schemas.microsoft.com/office/powerpoint/2010/main" val="143186670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a:t>
            </a:r>
          </a:p>
          <a:p>
            <a:endParaRPr lang="en-US" b="1" dirty="0"/>
          </a:p>
        </p:txBody>
      </p:sp>
      <p:sp>
        <p:nvSpPr>
          <p:cNvPr id="4" name="Slide Number Placeholder 3"/>
          <p:cNvSpPr>
            <a:spLocks noGrp="1"/>
          </p:cNvSpPr>
          <p:nvPr>
            <p:ph type="sldNum" sz="quarter" idx="5"/>
          </p:nvPr>
        </p:nvSpPr>
        <p:spPr/>
        <p:txBody>
          <a:bodyPr/>
          <a:lstStyle/>
          <a:p>
            <a:fld id="{2CEE789E-42EA-4A29-8544-92FCFB1233EF}" type="slidenum">
              <a:rPr lang="en-US" smtClean="0"/>
              <a:t>1</a:t>
            </a:fld>
            <a:endParaRPr lang="en-US"/>
          </a:p>
        </p:txBody>
      </p:sp>
    </p:spTree>
    <p:extLst>
      <p:ext uri="{BB962C8B-B14F-4D97-AF65-F5344CB8AC3E}">
        <p14:creationId xmlns:p14="http://schemas.microsoft.com/office/powerpoint/2010/main" val="4236384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r>
              <a:rPr lang="en-US" altLang="ko-KR"/>
              <a:t>2021-10-27</a:t>
            </a:r>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1">
                <a:solidFill>
                  <a:schemeClr val="bg1"/>
                </a:solidFill>
                <a:latin typeface="맑은 고딕"/>
                <a:cs typeface="맑은 고딕"/>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r>
              <a:rPr lang="en-US" altLang="ko-KR"/>
              <a:t>2021-10-27</a:t>
            </a:r>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1">
                <a:solidFill>
                  <a:schemeClr val="bg1"/>
                </a:solidFill>
                <a:latin typeface="맑은 고딕"/>
                <a:cs typeface="맑은 고딕"/>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r>
              <a:rPr lang="en-US" altLang="ko-KR"/>
              <a:t>2021-10-27</a:t>
            </a:r>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5260975"/>
          </a:xfrm>
          <a:custGeom>
            <a:avLst/>
            <a:gdLst/>
            <a:ahLst/>
            <a:cxnLst/>
            <a:rect l="l" t="t" r="r" b="b"/>
            <a:pathLst>
              <a:path w="12192000" h="5260975">
                <a:moveTo>
                  <a:pt x="0" y="5260848"/>
                </a:moveTo>
                <a:lnTo>
                  <a:pt x="12192000" y="5260848"/>
                </a:lnTo>
                <a:lnTo>
                  <a:pt x="12192000" y="0"/>
                </a:lnTo>
                <a:lnTo>
                  <a:pt x="0" y="0"/>
                </a:lnTo>
                <a:lnTo>
                  <a:pt x="0" y="5260848"/>
                </a:lnTo>
                <a:close/>
              </a:path>
            </a:pathLst>
          </a:custGeom>
          <a:solidFill>
            <a:srgbClr val="204767"/>
          </a:solidFill>
        </p:spPr>
        <p:txBody>
          <a:bodyPr wrap="square" lIns="0" tIns="0" rIns="0" bIns="0" rtlCol="0"/>
          <a:lstStyle/>
          <a:p>
            <a:endParaRPr/>
          </a:p>
        </p:txBody>
      </p:sp>
      <p:sp>
        <p:nvSpPr>
          <p:cNvPr id="17" name="bg object 17"/>
          <p:cNvSpPr/>
          <p:nvPr/>
        </p:nvSpPr>
        <p:spPr>
          <a:xfrm>
            <a:off x="0" y="3663695"/>
            <a:ext cx="12192000" cy="3194685"/>
          </a:xfrm>
          <a:custGeom>
            <a:avLst/>
            <a:gdLst/>
            <a:ahLst/>
            <a:cxnLst/>
            <a:rect l="l" t="t" r="r" b="b"/>
            <a:pathLst>
              <a:path w="12192000" h="3194684">
                <a:moveTo>
                  <a:pt x="12192000" y="1597152"/>
                </a:moveTo>
                <a:lnTo>
                  <a:pt x="10594848" y="1597152"/>
                </a:lnTo>
                <a:lnTo>
                  <a:pt x="0" y="1597152"/>
                </a:lnTo>
                <a:lnTo>
                  <a:pt x="0" y="3194304"/>
                </a:lnTo>
                <a:lnTo>
                  <a:pt x="12192000" y="3194304"/>
                </a:lnTo>
                <a:lnTo>
                  <a:pt x="12192000" y="1597152"/>
                </a:lnTo>
                <a:close/>
              </a:path>
              <a:path w="12192000" h="3194684">
                <a:moveTo>
                  <a:pt x="12192000" y="0"/>
                </a:moveTo>
                <a:lnTo>
                  <a:pt x="10594848" y="0"/>
                </a:lnTo>
                <a:lnTo>
                  <a:pt x="10594848" y="1597152"/>
                </a:lnTo>
                <a:lnTo>
                  <a:pt x="12192000" y="0"/>
                </a:lnTo>
                <a:close/>
              </a:path>
            </a:pathLst>
          </a:custGeom>
          <a:solidFill>
            <a:srgbClr val="FFFFFF"/>
          </a:solidFill>
        </p:spPr>
        <p:txBody>
          <a:bodyPr wrap="square" lIns="0" tIns="0" rIns="0" bIns="0" rtlCol="0"/>
          <a:lstStyle/>
          <a:p>
            <a:endParaRPr/>
          </a:p>
        </p:txBody>
      </p:sp>
      <p:sp>
        <p:nvSpPr>
          <p:cNvPr id="18" name="bg object 18"/>
          <p:cNvSpPr/>
          <p:nvPr/>
        </p:nvSpPr>
        <p:spPr>
          <a:xfrm>
            <a:off x="8997696" y="3663695"/>
            <a:ext cx="3194685" cy="3194685"/>
          </a:xfrm>
          <a:custGeom>
            <a:avLst/>
            <a:gdLst/>
            <a:ahLst/>
            <a:cxnLst/>
            <a:rect l="l" t="t" r="r" b="b"/>
            <a:pathLst>
              <a:path w="3194684" h="3194684">
                <a:moveTo>
                  <a:pt x="1597152" y="0"/>
                </a:moveTo>
                <a:lnTo>
                  <a:pt x="0" y="1597152"/>
                </a:lnTo>
                <a:lnTo>
                  <a:pt x="1597152" y="1597152"/>
                </a:lnTo>
                <a:lnTo>
                  <a:pt x="1597152" y="0"/>
                </a:lnTo>
                <a:close/>
              </a:path>
              <a:path w="3194684" h="3194684">
                <a:moveTo>
                  <a:pt x="3194304" y="1597152"/>
                </a:moveTo>
                <a:lnTo>
                  <a:pt x="1597152" y="1597152"/>
                </a:lnTo>
                <a:lnTo>
                  <a:pt x="1597152" y="3194304"/>
                </a:lnTo>
                <a:lnTo>
                  <a:pt x="3194304" y="1597152"/>
                </a:lnTo>
                <a:close/>
              </a:path>
            </a:pathLst>
          </a:custGeom>
          <a:solidFill>
            <a:srgbClr val="00AFE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350" b="1" i="1">
                <a:solidFill>
                  <a:schemeClr val="bg1"/>
                </a:solidFill>
                <a:latin typeface="맑은 고딕"/>
                <a:cs typeface="맑은 고딕"/>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r>
              <a:rPr lang="en-US" altLang="ko-KR"/>
              <a:t>2021-10-27</a:t>
            </a:r>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5260975"/>
          </a:xfrm>
          <a:custGeom>
            <a:avLst/>
            <a:gdLst/>
            <a:ahLst/>
            <a:cxnLst/>
            <a:rect l="l" t="t" r="r" b="b"/>
            <a:pathLst>
              <a:path w="12192000" h="5260975">
                <a:moveTo>
                  <a:pt x="0" y="5260848"/>
                </a:moveTo>
                <a:lnTo>
                  <a:pt x="12192000" y="5260848"/>
                </a:lnTo>
                <a:lnTo>
                  <a:pt x="12192000" y="0"/>
                </a:lnTo>
                <a:lnTo>
                  <a:pt x="0" y="0"/>
                </a:lnTo>
                <a:lnTo>
                  <a:pt x="0" y="5260848"/>
                </a:lnTo>
                <a:close/>
              </a:path>
            </a:pathLst>
          </a:custGeom>
          <a:solidFill>
            <a:srgbClr val="204767"/>
          </a:solidFill>
        </p:spPr>
        <p:txBody>
          <a:bodyPr wrap="square" lIns="0" tIns="0" rIns="0" bIns="0" rtlCol="0"/>
          <a:lstStyle/>
          <a:p>
            <a:endParaRPr/>
          </a:p>
        </p:txBody>
      </p:sp>
      <p:sp>
        <p:nvSpPr>
          <p:cNvPr id="17" name="bg object 17"/>
          <p:cNvSpPr/>
          <p:nvPr/>
        </p:nvSpPr>
        <p:spPr>
          <a:xfrm>
            <a:off x="0" y="3663695"/>
            <a:ext cx="12192000" cy="3194685"/>
          </a:xfrm>
          <a:custGeom>
            <a:avLst/>
            <a:gdLst/>
            <a:ahLst/>
            <a:cxnLst/>
            <a:rect l="l" t="t" r="r" b="b"/>
            <a:pathLst>
              <a:path w="12192000" h="3194684">
                <a:moveTo>
                  <a:pt x="12192000" y="1597152"/>
                </a:moveTo>
                <a:lnTo>
                  <a:pt x="10594848" y="1597152"/>
                </a:lnTo>
                <a:lnTo>
                  <a:pt x="0" y="1597152"/>
                </a:lnTo>
                <a:lnTo>
                  <a:pt x="0" y="3194304"/>
                </a:lnTo>
                <a:lnTo>
                  <a:pt x="12192000" y="3194304"/>
                </a:lnTo>
                <a:lnTo>
                  <a:pt x="12192000" y="1597152"/>
                </a:lnTo>
                <a:close/>
              </a:path>
              <a:path w="12192000" h="3194684">
                <a:moveTo>
                  <a:pt x="12192000" y="0"/>
                </a:moveTo>
                <a:lnTo>
                  <a:pt x="10594848" y="0"/>
                </a:lnTo>
                <a:lnTo>
                  <a:pt x="10594848" y="1597152"/>
                </a:lnTo>
                <a:lnTo>
                  <a:pt x="12192000" y="0"/>
                </a:lnTo>
                <a:close/>
              </a:path>
            </a:pathLst>
          </a:custGeom>
          <a:solidFill>
            <a:srgbClr val="FFFFFF"/>
          </a:solidFill>
        </p:spPr>
        <p:txBody>
          <a:bodyPr wrap="square" lIns="0" tIns="0" rIns="0" bIns="0" rtlCol="0"/>
          <a:lstStyle/>
          <a:p>
            <a:endParaRPr/>
          </a:p>
        </p:txBody>
      </p:sp>
      <p:sp>
        <p:nvSpPr>
          <p:cNvPr id="18" name="bg object 18"/>
          <p:cNvSpPr/>
          <p:nvPr/>
        </p:nvSpPr>
        <p:spPr>
          <a:xfrm>
            <a:off x="8997696" y="3663695"/>
            <a:ext cx="3194685" cy="3194685"/>
          </a:xfrm>
          <a:custGeom>
            <a:avLst/>
            <a:gdLst/>
            <a:ahLst/>
            <a:cxnLst/>
            <a:rect l="l" t="t" r="r" b="b"/>
            <a:pathLst>
              <a:path w="3194684" h="3194684">
                <a:moveTo>
                  <a:pt x="1597152" y="0"/>
                </a:moveTo>
                <a:lnTo>
                  <a:pt x="0" y="1597152"/>
                </a:lnTo>
                <a:lnTo>
                  <a:pt x="1597152" y="1597152"/>
                </a:lnTo>
                <a:lnTo>
                  <a:pt x="1597152" y="0"/>
                </a:lnTo>
                <a:close/>
              </a:path>
              <a:path w="3194684" h="3194684">
                <a:moveTo>
                  <a:pt x="3194304" y="1597152"/>
                </a:moveTo>
                <a:lnTo>
                  <a:pt x="1597152" y="1597152"/>
                </a:lnTo>
                <a:lnTo>
                  <a:pt x="1597152" y="3194304"/>
                </a:lnTo>
                <a:lnTo>
                  <a:pt x="3194304" y="1597152"/>
                </a:lnTo>
                <a:close/>
              </a:path>
            </a:pathLst>
          </a:custGeom>
          <a:solidFill>
            <a:srgbClr val="00AFEF"/>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r>
              <a:rPr lang="en-US" altLang="ko-KR"/>
              <a:t>2021-10-27</a:t>
            </a:r>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1996E4B-236B-4BAA-A92C-55C9903A7D09}"/>
              </a:ext>
            </a:extLst>
          </p:cNvPr>
          <p:cNvSpPr>
            <a:spLocks noGrp="1"/>
          </p:cNvSpPr>
          <p:nvPr>
            <p:ph type="ctrTitle"/>
          </p:nvPr>
        </p:nvSpPr>
        <p:spPr>
          <a:xfrm>
            <a:off x="1524000" y="1122363"/>
            <a:ext cx="9144000" cy="2387600"/>
          </a:xfrm>
        </p:spPr>
        <p:txBody>
          <a:bodyPr anchor="b"/>
          <a:lstStyle>
            <a:lvl1pPr algn="ctr">
              <a:defRPr sz="6000"/>
            </a:lvl1pPr>
          </a:lstStyle>
          <a:p>
            <a:r>
              <a:rPr lang="en-US" altLang="ko-KR"/>
              <a:t>Click to edit Master title style</a:t>
            </a:r>
            <a:endParaRPr lang="ko-KR" altLang="en-US"/>
          </a:p>
        </p:txBody>
      </p:sp>
      <p:sp>
        <p:nvSpPr>
          <p:cNvPr id="3" name="부제목 2">
            <a:extLst>
              <a:ext uri="{FF2B5EF4-FFF2-40B4-BE49-F238E27FC236}">
                <a16:creationId xmlns:a16="http://schemas.microsoft.com/office/drawing/2014/main" id="{4BB825D4-3A19-4878-8915-4C487E312F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a:t>Click to edit Master subtitle style</a:t>
            </a:r>
            <a:endParaRPr lang="ko-KR" altLang="en-US"/>
          </a:p>
        </p:txBody>
      </p:sp>
      <p:sp>
        <p:nvSpPr>
          <p:cNvPr id="4" name="날짜 개체 틀 3">
            <a:extLst>
              <a:ext uri="{FF2B5EF4-FFF2-40B4-BE49-F238E27FC236}">
                <a16:creationId xmlns:a16="http://schemas.microsoft.com/office/drawing/2014/main" id="{2C913D0E-698C-480A-80BC-D1A8DCA322E7}"/>
              </a:ext>
            </a:extLst>
          </p:cNvPr>
          <p:cNvSpPr>
            <a:spLocks noGrp="1"/>
          </p:cNvSpPr>
          <p:nvPr>
            <p:ph type="dt" sz="half" idx="10"/>
          </p:nvPr>
        </p:nvSpPr>
        <p:spPr/>
        <p:txBody>
          <a:bodyPr/>
          <a:lstStyle/>
          <a:p>
            <a:r>
              <a:rPr lang="en-US" altLang="ko-KR"/>
              <a:t>2021-10-27</a:t>
            </a:r>
            <a:endParaRPr lang="ko-KR" altLang="en-US"/>
          </a:p>
        </p:txBody>
      </p:sp>
      <p:sp>
        <p:nvSpPr>
          <p:cNvPr id="5" name="바닥글 개체 틀 4">
            <a:extLst>
              <a:ext uri="{FF2B5EF4-FFF2-40B4-BE49-F238E27FC236}">
                <a16:creationId xmlns:a16="http://schemas.microsoft.com/office/drawing/2014/main" id="{AAB06ED2-8DBD-41ED-8510-79792DFF1B0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9191164-B2AD-47FB-B26B-06CD8E0EF200}"/>
              </a:ext>
            </a:extLst>
          </p:cNvPr>
          <p:cNvSpPr>
            <a:spLocks noGrp="1"/>
          </p:cNvSpPr>
          <p:nvPr>
            <p:ph type="sldNum" sz="quarter" idx="12"/>
          </p:nvPr>
        </p:nvSpPr>
        <p:spPr/>
        <p:txBody>
          <a:bodyPr/>
          <a:lstStyle/>
          <a:p>
            <a:fld id="{60B2ABDE-784B-4C4C-A5EC-B8C1902A07D4}" type="slidenum">
              <a:rPr lang="ko-KR" altLang="en-US" smtClean="0"/>
              <a:t>‹#›</a:t>
            </a:fld>
            <a:endParaRPr lang="ko-KR" altLang="en-US"/>
          </a:p>
        </p:txBody>
      </p:sp>
    </p:spTree>
    <p:extLst>
      <p:ext uri="{BB962C8B-B14F-4D97-AF65-F5344CB8AC3E}">
        <p14:creationId xmlns:p14="http://schemas.microsoft.com/office/powerpoint/2010/main" val="4103012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D611E6A3-0CB6-4E36-82DD-D41FD0835048}" type="datetimeFigureOut">
              <a:rPr lang="en-GB" smtClean="0"/>
              <a:t>21/09/2024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C3B3F18-A767-4BC8-A331-25E3D7274BB2}" type="slidenum">
              <a:rPr lang="en-GB" smtClean="0"/>
              <a:t>‹#›</a:t>
            </a:fld>
            <a:endParaRPr lang="en-GB"/>
          </a:p>
        </p:txBody>
      </p:sp>
    </p:spTree>
    <p:extLst>
      <p:ext uri="{BB962C8B-B14F-4D97-AF65-F5344CB8AC3E}">
        <p14:creationId xmlns:p14="http://schemas.microsoft.com/office/powerpoint/2010/main" val="56622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611E6A3-0CB6-4E36-82DD-D41FD0835048}" type="datetimeFigureOut">
              <a:rPr lang="en-GB" smtClean="0"/>
              <a:t>21/09/2024</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CC3B3F18-A767-4BC8-A331-25E3D7274BB2}" type="slidenum">
              <a:rPr lang="en-GB" smtClean="0"/>
              <a:t>‹#›</a:t>
            </a:fld>
            <a:endParaRPr lang="en-GB"/>
          </a:p>
        </p:txBody>
      </p:sp>
    </p:spTree>
    <p:extLst>
      <p:ext uri="{BB962C8B-B14F-4D97-AF65-F5344CB8AC3E}">
        <p14:creationId xmlns:p14="http://schemas.microsoft.com/office/powerpoint/2010/main" val="584618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762000"/>
          </a:xfrm>
          <a:custGeom>
            <a:avLst/>
            <a:gdLst/>
            <a:ahLst/>
            <a:cxnLst/>
            <a:rect l="l" t="t" r="r" b="b"/>
            <a:pathLst>
              <a:path w="12192000" h="1080770">
                <a:moveTo>
                  <a:pt x="12192000" y="0"/>
                </a:moveTo>
                <a:lnTo>
                  <a:pt x="0" y="0"/>
                </a:lnTo>
                <a:lnTo>
                  <a:pt x="0" y="1080515"/>
                </a:lnTo>
                <a:lnTo>
                  <a:pt x="12192000" y="1080515"/>
                </a:lnTo>
                <a:lnTo>
                  <a:pt x="12192000" y="0"/>
                </a:lnTo>
                <a:close/>
              </a:path>
            </a:pathLst>
          </a:custGeom>
          <a:solidFill>
            <a:srgbClr val="204767"/>
          </a:solidFill>
        </p:spPr>
        <p:txBody>
          <a:bodyPr wrap="square" lIns="0" tIns="0" rIns="0" bIns="0" rtlCol="0"/>
          <a:lstStyle/>
          <a:p>
            <a:endParaRPr/>
          </a:p>
        </p:txBody>
      </p:sp>
      <p:sp>
        <p:nvSpPr>
          <p:cNvPr id="2" name="Holder 2"/>
          <p:cNvSpPr>
            <a:spLocks noGrp="1"/>
          </p:cNvSpPr>
          <p:nvPr>
            <p:ph type="title"/>
          </p:nvPr>
        </p:nvSpPr>
        <p:spPr>
          <a:xfrm>
            <a:off x="0" y="123237"/>
            <a:ext cx="12192000" cy="515526"/>
          </a:xfrm>
          <a:prstGeom prst="rect">
            <a:avLst/>
          </a:prstGeom>
        </p:spPr>
        <p:txBody>
          <a:bodyPr wrap="square" lIns="0" tIns="0" rIns="0" bIns="0">
            <a:spAutoFit/>
          </a:bodyPr>
          <a:lstStyle>
            <a:lvl1pPr>
              <a:defRPr sz="3350" b="1" i="1">
                <a:solidFill>
                  <a:schemeClr val="bg1"/>
                </a:solidFill>
                <a:latin typeface="맑은 고딕"/>
                <a:cs typeface="맑은 고딕"/>
              </a:defRPr>
            </a:lvl1pPr>
          </a:lstStyle>
          <a:p>
            <a:endParaRPr dirty="0"/>
          </a:p>
        </p:txBody>
      </p:sp>
      <p:sp>
        <p:nvSpPr>
          <p:cNvPr id="3" name="Holder 3"/>
          <p:cNvSpPr>
            <a:spLocks noGrp="1"/>
          </p:cNvSpPr>
          <p:nvPr>
            <p:ph type="body" idx="1"/>
          </p:nvPr>
        </p:nvSpPr>
        <p:spPr>
          <a:xfrm>
            <a:off x="476250" y="1599564"/>
            <a:ext cx="10006330" cy="223901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r>
              <a:rPr lang="en-US" altLang="ko-KR"/>
              <a:t>2021-10-27</a:t>
            </a:r>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hdr="0" ftr="0" dt="0"/>
  <p:txStyles>
    <p:titleStyle>
      <a:lvl1pPr algn="ctr">
        <a:defRPr sz="2800">
          <a:latin typeface="나눔스퀘어" panose="020B0600000101010101" pitchFamily="50" charset="-127"/>
          <a:ea typeface="나눔스퀘어" panose="020B0600000101010101" pitchFamily="50" charset="-127"/>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D62633BD-BDE9-4495-A72D-9BD857F15281}"/>
              </a:ext>
            </a:extLst>
          </p:cNvPr>
          <p:cNvSpPr/>
          <p:nvPr/>
        </p:nvSpPr>
        <p:spPr>
          <a:xfrm>
            <a:off x="-381" y="109560"/>
            <a:ext cx="12192000" cy="5260975"/>
          </a:xfrm>
          <a:custGeom>
            <a:avLst/>
            <a:gdLst/>
            <a:ahLst/>
            <a:cxnLst/>
            <a:rect l="l" t="t" r="r" b="b"/>
            <a:pathLst>
              <a:path w="12192000" h="5260975">
                <a:moveTo>
                  <a:pt x="0" y="5260848"/>
                </a:moveTo>
                <a:lnTo>
                  <a:pt x="12192000" y="5260848"/>
                </a:lnTo>
                <a:lnTo>
                  <a:pt x="12192000" y="0"/>
                </a:lnTo>
                <a:lnTo>
                  <a:pt x="0" y="0"/>
                </a:lnTo>
                <a:lnTo>
                  <a:pt x="0" y="5260848"/>
                </a:lnTo>
                <a:close/>
              </a:path>
            </a:pathLst>
          </a:custGeom>
          <a:solidFill>
            <a:srgbClr val="204767"/>
          </a:solidFill>
        </p:spPr>
        <p:txBody>
          <a:bodyPr wrap="square" lIns="0" tIns="0" rIns="0" bIns="0" rtlCol="0"/>
          <a:lstStyle/>
          <a:p>
            <a:endParaRPr dirty="0">
              <a:latin typeface="나눔스퀘어" panose="020B0600000101010101" pitchFamily="50" charset="-127"/>
              <a:ea typeface="나눔스퀘어" panose="020B0600000101010101" pitchFamily="50" charset="-127"/>
            </a:endParaRPr>
          </a:p>
        </p:txBody>
      </p:sp>
      <p:grpSp>
        <p:nvGrpSpPr>
          <p:cNvPr id="25" name="object 3">
            <a:extLst>
              <a:ext uri="{FF2B5EF4-FFF2-40B4-BE49-F238E27FC236}">
                <a16:creationId xmlns:a16="http://schemas.microsoft.com/office/drawing/2014/main" id="{D728939A-6D19-447F-A8A2-BDA2D84FE07D}"/>
              </a:ext>
            </a:extLst>
          </p:cNvPr>
          <p:cNvGrpSpPr/>
          <p:nvPr/>
        </p:nvGrpSpPr>
        <p:grpSpPr>
          <a:xfrm>
            <a:off x="0" y="3663696"/>
            <a:ext cx="12192000" cy="3194685"/>
            <a:chOff x="0" y="3663696"/>
            <a:chExt cx="12192000" cy="3194685"/>
          </a:xfrm>
        </p:grpSpPr>
        <p:sp>
          <p:nvSpPr>
            <p:cNvPr id="26" name="object 4">
              <a:extLst>
                <a:ext uri="{FF2B5EF4-FFF2-40B4-BE49-F238E27FC236}">
                  <a16:creationId xmlns:a16="http://schemas.microsoft.com/office/drawing/2014/main" id="{64648433-2D2C-43C1-B2F7-3036AC01B55E}"/>
                </a:ext>
              </a:extLst>
            </p:cNvPr>
            <p:cNvSpPr/>
            <p:nvPr/>
          </p:nvSpPr>
          <p:spPr>
            <a:xfrm>
              <a:off x="0" y="3663695"/>
              <a:ext cx="12192000" cy="3194685"/>
            </a:xfrm>
            <a:custGeom>
              <a:avLst/>
              <a:gdLst/>
              <a:ahLst/>
              <a:cxnLst/>
              <a:rect l="l" t="t" r="r" b="b"/>
              <a:pathLst>
                <a:path w="12192000" h="3194684">
                  <a:moveTo>
                    <a:pt x="12192000" y="1597152"/>
                  </a:moveTo>
                  <a:lnTo>
                    <a:pt x="10594848" y="1597152"/>
                  </a:lnTo>
                  <a:lnTo>
                    <a:pt x="0" y="1597152"/>
                  </a:lnTo>
                  <a:lnTo>
                    <a:pt x="0" y="3194304"/>
                  </a:lnTo>
                  <a:lnTo>
                    <a:pt x="12192000" y="3194304"/>
                  </a:lnTo>
                  <a:lnTo>
                    <a:pt x="12192000" y="1597152"/>
                  </a:lnTo>
                  <a:close/>
                </a:path>
                <a:path w="12192000" h="3194684">
                  <a:moveTo>
                    <a:pt x="12192000" y="0"/>
                  </a:moveTo>
                  <a:lnTo>
                    <a:pt x="10594848" y="0"/>
                  </a:lnTo>
                  <a:lnTo>
                    <a:pt x="10594848" y="1597152"/>
                  </a:lnTo>
                  <a:lnTo>
                    <a:pt x="12192000" y="0"/>
                  </a:lnTo>
                  <a:close/>
                </a:path>
              </a:pathLst>
            </a:custGeom>
            <a:solidFill>
              <a:srgbClr val="FFFFFF"/>
            </a:solidFill>
          </p:spPr>
          <p:txBody>
            <a:bodyPr wrap="square" lIns="0" tIns="0" rIns="0" bIns="0" rtlCol="0"/>
            <a:lstStyle/>
            <a:p>
              <a:endParaRPr dirty="0">
                <a:latin typeface="나눔스퀘어" panose="020B0600000101010101" pitchFamily="50" charset="-127"/>
                <a:ea typeface="나눔스퀘어" panose="020B0600000101010101" pitchFamily="50" charset="-127"/>
              </a:endParaRPr>
            </a:p>
          </p:txBody>
        </p:sp>
        <p:sp>
          <p:nvSpPr>
            <p:cNvPr id="27" name="object 5">
              <a:extLst>
                <a:ext uri="{FF2B5EF4-FFF2-40B4-BE49-F238E27FC236}">
                  <a16:creationId xmlns:a16="http://schemas.microsoft.com/office/drawing/2014/main" id="{984C1B9A-3B60-48F4-96F4-F37FDA3FE621}"/>
                </a:ext>
              </a:extLst>
            </p:cNvPr>
            <p:cNvSpPr/>
            <p:nvPr/>
          </p:nvSpPr>
          <p:spPr>
            <a:xfrm>
              <a:off x="8997696" y="3663695"/>
              <a:ext cx="3194685" cy="3194685"/>
            </a:xfrm>
            <a:custGeom>
              <a:avLst/>
              <a:gdLst/>
              <a:ahLst/>
              <a:cxnLst/>
              <a:rect l="l" t="t" r="r" b="b"/>
              <a:pathLst>
                <a:path w="3194684" h="3194684">
                  <a:moveTo>
                    <a:pt x="1597152" y="0"/>
                  </a:moveTo>
                  <a:lnTo>
                    <a:pt x="0" y="1597152"/>
                  </a:lnTo>
                  <a:lnTo>
                    <a:pt x="1597152" y="1597152"/>
                  </a:lnTo>
                  <a:lnTo>
                    <a:pt x="1597152" y="0"/>
                  </a:lnTo>
                  <a:close/>
                </a:path>
                <a:path w="3194684" h="3194684">
                  <a:moveTo>
                    <a:pt x="3194304" y="1597152"/>
                  </a:moveTo>
                  <a:lnTo>
                    <a:pt x="1597152" y="1597152"/>
                  </a:lnTo>
                  <a:lnTo>
                    <a:pt x="1597152" y="3194304"/>
                  </a:lnTo>
                  <a:lnTo>
                    <a:pt x="3194304" y="1597152"/>
                  </a:lnTo>
                  <a:close/>
                </a:path>
              </a:pathLst>
            </a:custGeom>
            <a:solidFill>
              <a:srgbClr val="00AFEF"/>
            </a:solidFill>
          </p:spPr>
          <p:txBody>
            <a:bodyPr wrap="square" lIns="0" tIns="0" rIns="0" bIns="0" rtlCol="0"/>
            <a:lstStyle/>
            <a:p>
              <a:endParaRPr dirty="0">
                <a:latin typeface="나눔스퀘어" panose="020B0600000101010101" pitchFamily="50" charset="-127"/>
                <a:ea typeface="나눔스퀘어" panose="020B0600000101010101" pitchFamily="50" charset="-127"/>
              </a:endParaRPr>
            </a:p>
          </p:txBody>
        </p:sp>
      </p:grpSp>
      <p:sp>
        <p:nvSpPr>
          <p:cNvPr id="20" name="object 8">
            <a:extLst>
              <a:ext uri="{FF2B5EF4-FFF2-40B4-BE49-F238E27FC236}">
                <a16:creationId xmlns:a16="http://schemas.microsoft.com/office/drawing/2014/main" id="{86682624-3897-4AFB-A79A-13131A7646F0}"/>
              </a:ext>
            </a:extLst>
          </p:cNvPr>
          <p:cNvSpPr/>
          <p:nvPr/>
        </p:nvSpPr>
        <p:spPr>
          <a:xfrm flipV="1">
            <a:off x="2134743" y="2663516"/>
            <a:ext cx="7921752" cy="45719"/>
          </a:xfrm>
          <a:custGeom>
            <a:avLst/>
            <a:gdLst/>
            <a:ahLst/>
            <a:cxnLst/>
            <a:rect l="l" t="t" r="r" b="b"/>
            <a:pathLst>
              <a:path w="7200265">
                <a:moveTo>
                  <a:pt x="7200010" y="0"/>
                </a:moveTo>
                <a:lnTo>
                  <a:pt x="0" y="0"/>
                </a:lnTo>
              </a:path>
            </a:pathLst>
          </a:custGeom>
          <a:ln w="12700">
            <a:solidFill>
              <a:srgbClr val="00AFEF"/>
            </a:solidFill>
          </a:ln>
        </p:spPr>
        <p:txBody>
          <a:bodyPr wrap="square" lIns="0" tIns="0" rIns="0" bIns="0" rtlCol="0"/>
          <a:lstStyle/>
          <a:p>
            <a:endParaRPr dirty="0">
              <a:latin typeface="나눔스퀘어" panose="020B0600000101010101" pitchFamily="50" charset="-127"/>
              <a:ea typeface="나눔스퀘어" panose="020B0600000101010101" pitchFamily="50" charset="-127"/>
            </a:endParaRPr>
          </a:p>
        </p:txBody>
      </p:sp>
      <p:grpSp>
        <p:nvGrpSpPr>
          <p:cNvPr id="13" name="그룹 21">
            <a:extLst>
              <a:ext uri="{FF2B5EF4-FFF2-40B4-BE49-F238E27FC236}">
                <a16:creationId xmlns:a16="http://schemas.microsoft.com/office/drawing/2014/main" id="{66560D5C-E35F-4596-B71A-BBD49DF0552B}"/>
              </a:ext>
            </a:extLst>
          </p:cNvPr>
          <p:cNvGrpSpPr/>
          <p:nvPr/>
        </p:nvGrpSpPr>
        <p:grpSpPr>
          <a:xfrm>
            <a:off x="7722254" y="5508075"/>
            <a:ext cx="2717146" cy="1197525"/>
            <a:chOff x="8305800" y="5904191"/>
            <a:chExt cx="2063631" cy="909502"/>
          </a:xfrm>
        </p:grpSpPr>
        <p:pic>
          <p:nvPicPr>
            <p:cNvPr id="14" name="그림 22">
              <a:extLst>
                <a:ext uri="{FF2B5EF4-FFF2-40B4-BE49-F238E27FC236}">
                  <a16:creationId xmlns:a16="http://schemas.microsoft.com/office/drawing/2014/main" id="{56D71213-ED20-405D-85EF-A8BD669F73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9929" y="5904191"/>
              <a:ext cx="909502" cy="909502"/>
            </a:xfrm>
            <a:prstGeom prst="rect">
              <a:avLst/>
            </a:prstGeom>
          </p:spPr>
        </p:pic>
        <p:pic>
          <p:nvPicPr>
            <p:cNvPr id="16" name="그림 23">
              <a:extLst>
                <a:ext uri="{FF2B5EF4-FFF2-40B4-BE49-F238E27FC236}">
                  <a16:creationId xmlns:a16="http://schemas.microsoft.com/office/drawing/2014/main" id="{9FAB6258-B18B-4F7A-BC86-D058A907FA7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05800" y="5904191"/>
              <a:ext cx="909502" cy="909502"/>
            </a:xfrm>
            <a:prstGeom prst="rect">
              <a:avLst/>
            </a:prstGeom>
          </p:spPr>
        </p:pic>
      </p:grpSp>
      <p:sp>
        <p:nvSpPr>
          <p:cNvPr id="6" name="Slide Number Placeholder 5">
            <a:extLst>
              <a:ext uri="{FF2B5EF4-FFF2-40B4-BE49-F238E27FC236}">
                <a16:creationId xmlns:a16="http://schemas.microsoft.com/office/drawing/2014/main" id="{A6785A25-D4D2-42EF-9ECB-61C4296F6863}"/>
              </a:ext>
            </a:extLst>
          </p:cNvPr>
          <p:cNvSpPr>
            <a:spLocks noGrp="1"/>
          </p:cNvSpPr>
          <p:nvPr>
            <p:ph type="sldNum" sz="quarter" idx="12"/>
          </p:nvPr>
        </p:nvSpPr>
        <p:spPr/>
        <p:txBody>
          <a:bodyPr/>
          <a:lstStyle/>
          <a:p>
            <a:fld id="{60B2ABDE-784B-4C4C-A5EC-B8C1902A07D4}" type="slidenum">
              <a:rPr lang="ko-KR" altLang="en-US" smtClean="0"/>
              <a:t>1</a:t>
            </a:fld>
            <a:endParaRPr lang="ko-KR" altLang="en-US"/>
          </a:p>
        </p:txBody>
      </p:sp>
      <p:sp>
        <p:nvSpPr>
          <p:cNvPr id="4" name="TextBox 3"/>
          <p:cNvSpPr txBox="1"/>
          <p:nvPr/>
        </p:nvSpPr>
        <p:spPr>
          <a:xfrm>
            <a:off x="190880" y="5537450"/>
            <a:ext cx="5066919" cy="1154162"/>
          </a:xfrm>
          <a:prstGeom prst="rect">
            <a:avLst/>
          </a:prstGeom>
          <a:noFill/>
        </p:spPr>
        <p:txBody>
          <a:bodyPr wrap="square" lIns="91440" tIns="45720" rIns="91440" bIns="45720" rtlCol="0" anchor="t">
            <a:spAutoFit/>
          </a:bodyPr>
          <a:lstStyle/>
          <a:p>
            <a:r>
              <a:rPr lang="en-US" altLang="ko-KR" sz="1700" dirty="0">
                <a:latin typeface="+mj-ea"/>
                <a:ea typeface="+mj-ea"/>
              </a:rPr>
              <a:t>Chonnam National University</a:t>
            </a:r>
          </a:p>
          <a:p>
            <a:r>
              <a:rPr lang="en-US" altLang="ko-KR" sz="1700" dirty="0">
                <a:latin typeface="+mj-ea"/>
                <a:ea typeface="+mj-ea"/>
              </a:rPr>
              <a:t>Dept of Artificial Intelligence Convergence</a:t>
            </a:r>
          </a:p>
          <a:p>
            <a:r>
              <a:rPr lang="en-US" altLang="ko-KR" sz="1700" dirty="0">
                <a:latin typeface="맑은 고딕"/>
                <a:ea typeface="맑은 고딕"/>
              </a:rPr>
              <a:t>Distributed Networks and Systems Laboratory</a:t>
            </a:r>
          </a:p>
          <a:p>
            <a:r>
              <a:rPr lang="en-US" altLang="ko-KR" sz="1700" dirty="0">
                <a:latin typeface="맑은 고딕"/>
                <a:ea typeface="맑은 고딕"/>
              </a:rPr>
              <a:t>Uğur </a:t>
            </a:r>
            <a:r>
              <a:rPr lang="en-US" altLang="ko-KR" sz="1600" dirty="0" err="1">
                <a:latin typeface="맑은 고딕"/>
                <a:ea typeface="맑은 고딕"/>
              </a:rPr>
              <a:t>Erçelik</a:t>
            </a:r>
            <a:r>
              <a:rPr lang="en-US" altLang="ko-KR" sz="1700" dirty="0">
                <a:latin typeface="맑은 고딕"/>
                <a:ea typeface="맑은 고딕"/>
              </a:rPr>
              <a:t>(248185)</a:t>
            </a:r>
            <a:endParaRPr lang="en-US" dirty="0"/>
          </a:p>
        </p:txBody>
      </p:sp>
      <p:sp>
        <p:nvSpPr>
          <p:cNvPr id="2" name="TextBox 1"/>
          <p:cNvSpPr txBox="1"/>
          <p:nvPr/>
        </p:nvSpPr>
        <p:spPr>
          <a:xfrm>
            <a:off x="265557" y="1722328"/>
            <a:ext cx="11658599" cy="954107"/>
          </a:xfrm>
          <a:prstGeom prst="rect">
            <a:avLst/>
          </a:prstGeom>
          <a:noFill/>
        </p:spPr>
        <p:txBody>
          <a:bodyPr wrap="square" lIns="91440" tIns="45720" rIns="91440" bIns="45720" rtlCol="0" anchor="t">
            <a:spAutoFit/>
          </a:bodyPr>
          <a:lstStyle/>
          <a:p>
            <a:pPr algn="ctr"/>
            <a:r>
              <a:rPr lang="en-US" sz="2800" dirty="0">
                <a:solidFill>
                  <a:srgbClr val="FFFFFF"/>
                </a:solidFill>
                <a:cs typeface="Calibri"/>
              </a:rPr>
              <a:t>CHAPTER 2. MAPREDUCE AND THE NEW SOFTWARE STACK</a:t>
            </a:r>
          </a:p>
          <a:p>
            <a:pPr algn="ctr"/>
            <a:r>
              <a:rPr lang="en-US" sz="2800" dirty="0">
                <a:solidFill>
                  <a:srgbClr val="FFFFFF"/>
                </a:solidFill>
                <a:cs typeface="Calibri"/>
              </a:rPr>
              <a:t>2.3 Algorithms Using MapReduce</a:t>
            </a:r>
          </a:p>
        </p:txBody>
      </p:sp>
      <p:sp>
        <p:nvSpPr>
          <p:cNvPr id="7" name="TextBox 6">
            <a:extLst>
              <a:ext uri="{FF2B5EF4-FFF2-40B4-BE49-F238E27FC236}">
                <a16:creationId xmlns:a16="http://schemas.microsoft.com/office/drawing/2014/main" id="{E44EF1BD-79DB-416B-3736-1007C04E2F92}"/>
              </a:ext>
            </a:extLst>
          </p:cNvPr>
          <p:cNvSpPr txBox="1"/>
          <p:nvPr/>
        </p:nvSpPr>
        <p:spPr>
          <a:xfrm>
            <a:off x="266319" y="7848600"/>
            <a:ext cx="8420481" cy="1477328"/>
          </a:xfrm>
          <a:prstGeom prst="rect">
            <a:avLst/>
          </a:prstGeom>
          <a:noFill/>
        </p:spPr>
        <p:txBody>
          <a:bodyPr wrap="square" rtlCol="0">
            <a:spAutoFit/>
          </a:bodyPr>
          <a:lstStyle/>
          <a:p>
            <a:r>
              <a:rPr lang="en-US" altLang="ko-KR" sz="1800" dirty="0" err="1">
                <a:solidFill>
                  <a:schemeClr val="bg1"/>
                </a:solidFill>
              </a:rPr>
              <a:t>SimVP</a:t>
            </a:r>
            <a:r>
              <a:rPr lang="en-US" altLang="ko-KR" sz="1800" dirty="0">
                <a:solidFill>
                  <a:schemeClr val="bg1"/>
                </a:solidFill>
              </a:rPr>
              <a:t>: Towards Simple yet Powerful Spatiotemporal Predictive Learning</a:t>
            </a:r>
          </a:p>
          <a:p>
            <a:r>
              <a:rPr lang="en-US" altLang="ko-KR" sz="1800" b="0" i="0" dirty="0">
                <a:solidFill>
                  <a:srgbClr val="FFFFFF"/>
                </a:solidFill>
                <a:effectLst/>
                <a:latin typeface="Arial" panose="020B0604020202020204" pitchFamily="34" charset="0"/>
              </a:rPr>
              <a:t>Tan, Cheng, et al. "</a:t>
            </a:r>
            <a:r>
              <a:rPr lang="en-US" altLang="ko-KR" sz="1800" b="0" i="0" dirty="0" err="1">
                <a:solidFill>
                  <a:srgbClr val="FFFFFF"/>
                </a:solidFill>
                <a:effectLst/>
                <a:latin typeface="Arial" panose="020B0604020202020204" pitchFamily="34" charset="0"/>
              </a:rPr>
              <a:t>Simvp</a:t>
            </a:r>
            <a:r>
              <a:rPr lang="en-US" altLang="ko-KR" sz="1800" b="0" i="0" dirty="0">
                <a:solidFill>
                  <a:srgbClr val="FFFFFF"/>
                </a:solidFill>
                <a:effectLst/>
                <a:latin typeface="Arial" panose="020B0604020202020204" pitchFamily="34" charset="0"/>
              </a:rPr>
              <a:t>: Towards simple yet powerful spatiotemporal predictive learning." </a:t>
            </a:r>
            <a:r>
              <a:rPr lang="en-US" altLang="ko-KR" sz="1800" b="0" i="1" dirty="0" err="1">
                <a:solidFill>
                  <a:srgbClr val="FFFFFF"/>
                </a:solidFill>
                <a:effectLst/>
                <a:latin typeface="Arial" panose="020B0604020202020204" pitchFamily="34" charset="0"/>
              </a:rPr>
              <a:t>arXiv</a:t>
            </a:r>
            <a:r>
              <a:rPr lang="en-US" altLang="ko-KR" sz="1800" b="0" i="1" dirty="0">
                <a:solidFill>
                  <a:srgbClr val="FFFFFF"/>
                </a:solidFill>
                <a:effectLst/>
                <a:latin typeface="Arial" panose="020B0604020202020204" pitchFamily="34" charset="0"/>
              </a:rPr>
              <a:t> preprint arXiv:2211.12509</a:t>
            </a:r>
            <a:r>
              <a:rPr lang="en-US" altLang="ko-KR" sz="1800" b="0" i="0" dirty="0">
                <a:solidFill>
                  <a:srgbClr val="FFFFFF"/>
                </a:solidFill>
                <a:effectLst/>
                <a:latin typeface="Arial" panose="020B0604020202020204" pitchFamily="34" charset="0"/>
              </a:rPr>
              <a:t> (2022).</a:t>
            </a:r>
            <a:endParaRPr lang="ko-KR" altLang="en-US" sz="1800" dirty="0">
              <a:solidFill>
                <a:srgbClr val="FFFFFF"/>
              </a:solidFill>
            </a:endParaRPr>
          </a:p>
          <a:p>
            <a:endParaRPr lang="ko-KR" altLang="en-US" sz="1800" dirty="0">
              <a:solidFill>
                <a:schemeClr val="bg1"/>
              </a:solidFill>
            </a:endParaRPr>
          </a:p>
          <a:p>
            <a:endParaRPr lang="ko-KR" altLang="en-US" dirty="0"/>
          </a:p>
        </p:txBody>
      </p:sp>
    </p:spTree>
    <p:extLst>
      <p:ext uri="{BB962C8B-B14F-4D97-AF65-F5344CB8AC3E}">
        <p14:creationId xmlns:p14="http://schemas.microsoft.com/office/powerpoint/2010/main" val="2209632901"/>
      </p:ext>
    </p:extLst>
  </p:cSld>
  <p:clrMapOvr>
    <a:masterClrMapping/>
  </p:clrMapOvr>
  <mc:AlternateContent xmlns:mc="http://schemas.openxmlformats.org/markup-compatibility/2006" xmlns:p14="http://schemas.microsoft.com/office/powerpoint/2010/main">
    <mc:Choice Requires="p14">
      <p:transition spd="slow" p14:dur="2000" advTm="24901"/>
    </mc:Choice>
    <mc:Fallback xmlns="">
      <p:transition spd="slow" advTm="2490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B89B294F-FB28-17A4-067B-31059A734866}"/>
              </a:ext>
            </a:extLst>
          </p:cNvPr>
          <p:cNvSpPr>
            <a:spLocks noGrp="1"/>
          </p:cNvSpPr>
          <p:nvPr>
            <p:ph type="sldNum" sz="quarter" idx="12"/>
          </p:nvPr>
        </p:nvSpPr>
        <p:spPr/>
        <p:txBody>
          <a:bodyPr/>
          <a:lstStyle/>
          <a:p>
            <a:fld id="{60B2ABDE-784B-4C4C-A5EC-B8C1902A07D4}" type="slidenum">
              <a:rPr lang="ko-KR" altLang="en-US" smtClean="0"/>
              <a:t>2</a:t>
            </a:fld>
            <a:endParaRPr lang="ko-KR" altLang="en-US"/>
          </a:p>
        </p:txBody>
      </p:sp>
      <p:sp>
        <p:nvSpPr>
          <p:cNvPr id="6" name="직사각형 5">
            <a:extLst>
              <a:ext uri="{FF2B5EF4-FFF2-40B4-BE49-F238E27FC236}">
                <a16:creationId xmlns:a16="http://schemas.microsoft.com/office/drawing/2014/main" id="{7279C6C7-2237-64D2-16D4-915589761395}"/>
              </a:ext>
            </a:extLst>
          </p:cNvPr>
          <p:cNvSpPr/>
          <p:nvPr/>
        </p:nvSpPr>
        <p:spPr>
          <a:xfrm>
            <a:off x="0" y="0"/>
            <a:ext cx="12192000" cy="76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0199C465-CEDA-71A2-B0E4-0DC7B59303A4}"/>
              </a:ext>
            </a:extLst>
          </p:cNvPr>
          <p:cNvSpPr/>
          <p:nvPr/>
        </p:nvSpPr>
        <p:spPr>
          <a:xfrm>
            <a:off x="0" y="0"/>
            <a:ext cx="2804160" cy="6858000"/>
          </a:xfrm>
          <a:prstGeom prst="rect">
            <a:avLst/>
          </a:prstGeom>
          <a:solidFill>
            <a:srgbClr val="2047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800" dirty="0"/>
              <a:t>Index</a:t>
            </a:r>
            <a:endParaRPr lang="ko-KR" altLang="en-US" sz="2800" dirty="0"/>
          </a:p>
        </p:txBody>
      </p:sp>
      <p:sp>
        <p:nvSpPr>
          <p:cNvPr id="8" name="TextBox 7">
            <a:extLst>
              <a:ext uri="{FF2B5EF4-FFF2-40B4-BE49-F238E27FC236}">
                <a16:creationId xmlns:a16="http://schemas.microsoft.com/office/drawing/2014/main" id="{C2CF7222-B0B6-D615-93E3-D24E39A9B5C9}"/>
              </a:ext>
            </a:extLst>
          </p:cNvPr>
          <p:cNvSpPr txBox="1"/>
          <p:nvPr/>
        </p:nvSpPr>
        <p:spPr>
          <a:xfrm>
            <a:off x="3717253" y="2305518"/>
            <a:ext cx="7595445" cy="954107"/>
          </a:xfrm>
          <a:prstGeom prst="rect">
            <a:avLst/>
          </a:prstGeom>
          <a:noFill/>
        </p:spPr>
        <p:txBody>
          <a:bodyPr wrap="square" lIns="91440" tIns="45720" rIns="91440" bIns="45720" rtlCol="0" anchor="t">
            <a:spAutoFit/>
          </a:bodyPr>
          <a:lstStyle/>
          <a:p>
            <a:pPr marL="342900" indent="-342900">
              <a:buFontTx/>
              <a:buAutoNum type="arabicPeriod"/>
            </a:pPr>
            <a:r>
              <a:rPr lang="en-US" altLang="ko-KR" sz="2800" dirty="0">
                <a:ea typeface="맑은 고딕"/>
                <a:cs typeface="Calibri"/>
              </a:rPr>
              <a:t>Data Mining Basics</a:t>
            </a:r>
          </a:p>
          <a:p>
            <a:pPr marL="342900" indent="-342900">
              <a:buFontTx/>
              <a:buAutoNum type="arabicPeriod"/>
            </a:pPr>
            <a:r>
              <a:rPr lang="en-US" altLang="ko-KR" sz="2800" dirty="0">
                <a:ea typeface="맑은 고딕"/>
                <a:cs typeface="Calibri"/>
              </a:rPr>
              <a:t>Map Reduce And </a:t>
            </a:r>
            <a:r>
              <a:rPr lang="en-US" altLang="ko-KR" sz="2800" dirty="0" err="1">
                <a:ea typeface="맑은 고딕"/>
                <a:cs typeface="Calibri"/>
              </a:rPr>
              <a:t>BigData</a:t>
            </a:r>
            <a:endParaRPr lang="en-US" altLang="ko-KR" sz="2800" dirty="0">
              <a:ea typeface="맑은 고딕"/>
              <a:cs typeface="Calibri"/>
            </a:endParaRPr>
          </a:p>
        </p:txBody>
      </p:sp>
    </p:spTree>
    <p:extLst>
      <p:ext uri="{BB962C8B-B14F-4D97-AF65-F5344CB8AC3E}">
        <p14:creationId xmlns:p14="http://schemas.microsoft.com/office/powerpoint/2010/main" val="2876143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1. </a:t>
            </a:r>
            <a:r>
              <a:rPr lang="en-US" altLang="ko-KR" sz="2800" dirty="0">
                <a:ea typeface="맑은 고딕"/>
                <a:cs typeface="Calibri"/>
              </a:rPr>
              <a:t>Data Mining Basics</a:t>
            </a:r>
          </a:p>
          <a:p>
            <a:endParaRPr lang="ko-KR" altLang="en-US" sz="2800" dirty="0">
              <a:ea typeface="맑은 고딕"/>
            </a:endParaRPr>
          </a:p>
        </p:txBody>
      </p:sp>
      <p:sp>
        <p:nvSpPr>
          <p:cNvPr id="2" name="Metin kutusu 1">
            <a:extLst>
              <a:ext uri="{FF2B5EF4-FFF2-40B4-BE49-F238E27FC236}">
                <a16:creationId xmlns:a16="http://schemas.microsoft.com/office/drawing/2014/main" id="{59653D56-6B46-D024-B4E4-EC018DF51397}"/>
              </a:ext>
            </a:extLst>
          </p:cNvPr>
          <p:cNvSpPr txBox="1"/>
          <p:nvPr/>
        </p:nvSpPr>
        <p:spPr>
          <a:xfrm>
            <a:off x="152400" y="990600"/>
            <a:ext cx="11734800" cy="1754326"/>
          </a:xfrm>
          <a:prstGeom prst="rect">
            <a:avLst/>
          </a:prstGeom>
          <a:noFill/>
        </p:spPr>
        <p:txBody>
          <a:bodyPr wrap="square" rtlCol="0">
            <a:spAutoFit/>
          </a:bodyPr>
          <a:lstStyle/>
          <a:p>
            <a:pPr marL="285750" indent="-285750">
              <a:buFont typeface="Wingdings" panose="05000000000000000000" pitchFamily="2" charset="2"/>
              <a:buChar char="§"/>
            </a:pPr>
            <a:r>
              <a:rPr lang="en-US" b="1" dirty="0"/>
              <a:t>What is Data Mining ?</a:t>
            </a:r>
          </a:p>
          <a:p>
            <a:endParaRPr lang="en-US" dirty="0"/>
          </a:p>
          <a:p>
            <a:pPr marL="285750" indent="-285750">
              <a:buFont typeface="Wingdings" panose="05000000000000000000" pitchFamily="2" charset="2"/>
              <a:buChar char="§"/>
            </a:pPr>
            <a:r>
              <a:rPr lang="en-US" b="0" i="0" dirty="0">
                <a:solidFill>
                  <a:srgbClr val="161616"/>
                </a:solidFill>
                <a:effectLst/>
                <a:latin typeface="IBM Plex Sans" panose="020F0502020204030204" pitchFamily="34" charset="0"/>
              </a:rPr>
              <a:t>Data mining is the use of machine learning and statistical analysis to uncover patterns and other valuable information from large data sets.</a:t>
            </a:r>
          </a:p>
          <a:p>
            <a:pPr marL="285750" indent="-285750">
              <a:buFont typeface="Wingdings" panose="05000000000000000000" pitchFamily="2" charset="2"/>
              <a:buChar char="§"/>
            </a:pPr>
            <a:r>
              <a:rPr lang="en-US" dirty="0">
                <a:solidFill>
                  <a:srgbClr val="040C28"/>
                </a:solidFill>
                <a:latin typeface="Google Sans"/>
              </a:rPr>
              <a:t>T</a:t>
            </a:r>
            <a:r>
              <a:rPr lang="en-US" b="0" i="0" dirty="0">
                <a:solidFill>
                  <a:srgbClr val="040C28"/>
                </a:solidFill>
                <a:effectLst/>
                <a:latin typeface="Google Sans"/>
              </a:rPr>
              <a:t>he process of sorting through large data sets to identify patterns and relationships that can help solve business problems through data analysis</a:t>
            </a:r>
            <a:endParaRPr lang="en-US" dirty="0"/>
          </a:p>
        </p:txBody>
      </p:sp>
      <p:pic>
        <p:nvPicPr>
          <p:cNvPr id="1028" name="Picture 4" descr="Data Mining Process Basics. As part of my learning process, I… | by Neal A.  Akyildirim | Medium">
            <a:extLst>
              <a:ext uri="{FF2B5EF4-FFF2-40B4-BE49-F238E27FC236}">
                <a16:creationId xmlns:a16="http://schemas.microsoft.com/office/drawing/2014/main" id="{56CE4540-1DF3-52BA-526B-22252246D1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32023" y="3048000"/>
            <a:ext cx="3527954" cy="3394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672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1. </a:t>
            </a:r>
            <a:r>
              <a:rPr lang="en-US" altLang="ko-KR" sz="2800" dirty="0">
                <a:ea typeface="맑은 고딕"/>
                <a:cs typeface="Calibri"/>
              </a:rPr>
              <a:t>Data Mining Basics</a:t>
            </a:r>
          </a:p>
          <a:p>
            <a:endParaRPr lang="ko-KR" altLang="en-US" sz="2800" dirty="0">
              <a:ea typeface="맑은 고딕"/>
            </a:endParaRPr>
          </a:p>
        </p:txBody>
      </p:sp>
      <p:sp>
        <p:nvSpPr>
          <p:cNvPr id="2" name="Metin kutusu 1">
            <a:extLst>
              <a:ext uri="{FF2B5EF4-FFF2-40B4-BE49-F238E27FC236}">
                <a16:creationId xmlns:a16="http://schemas.microsoft.com/office/drawing/2014/main" id="{59653D56-6B46-D024-B4E4-EC018DF51397}"/>
              </a:ext>
            </a:extLst>
          </p:cNvPr>
          <p:cNvSpPr txBox="1"/>
          <p:nvPr/>
        </p:nvSpPr>
        <p:spPr>
          <a:xfrm>
            <a:off x="76200" y="914400"/>
            <a:ext cx="11734800" cy="4247317"/>
          </a:xfrm>
          <a:prstGeom prst="rect">
            <a:avLst/>
          </a:prstGeom>
          <a:noFill/>
        </p:spPr>
        <p:txBody>
          <a:bodyPr wrap="square" rtlCol="0">
            <a:spAutoFit/>
          </a:bodyPr>
          <a:lstStyle/>
          <a:p>
            <a:pPr marL="285750" indent="-285750">
              <a:buFont typeface="Wingdings" panose="05000000000000000000" pitchFamily="2" charset="2"/>
              <a:buChar char="§"/>
            </a:pPr>
            <a:r>
              <a:rPr lang="en-US" b="1" dirty="0"/>
              <a:t>Bonferroni’s Principles</a:t>
            </a:r>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r>
              <a:rPr lang="en-US" b="1" dirty="0"/>
              <a:t>Bonferroni’s Principle</a:t>
            </a:r>
            <a:r>
              <a:rPr lang="en-US" dirty="0"/>
              <a:t> in data mining is a guideline that helps prevent drawing false conclusions from data by cautioning against overzealous searches for patterns. It suggests that if you search for too many patterns in a large dataset, you're likely to find some patterns purely by random chance, even if they aren't meaningful. Essentially, it warns against mistaking coincidences or random occurrences for significant results.</a:t>
            </a:r>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r>
              <a:rPr lang="en-US" b="1" dirty="0"/>
              <a:t>Key Aspects:</a:t>
            </a:r>
          </a:p>
          <a:p>
            <a:pPr marL="285750" indent="-285750">
              <a:buFont typeface="Wingdings" panose="05000000000000000000" pitchFamily="2" charset="2"/>
              <a:buChar char="§"/>
            </a:pPr>
            <a:r>
              <a:rPr lang="en-US" b="1" dirty="0"/>
              <a:t>Random Patterns</a:t>
            </a:r>
            <a:r>
              <a:rPr lang="en-US" dirty="0"/>
              <a:t>: In large datasets, even random data will occasionally show patterns that seem statistically significant, but they are just artifacts of chance.</a:t>
            </a:r>
          </a:p>
          <a:p>
            <a:pPr marL="285750" indent="-285750">
              <a:buFont typeface="Wingdings" panose="05000000000000000000" pitchFamily="2" charset="2"/>
              <a:buChar char="§"/>
            </a:pPr>
            <a:r>
              <a:rPr lang="en-US" b="1" dirty="0"/>
              <a:t>Statistical Artifact</a:t>
            </a:r>
            <a:r>
              <a:rPr lang="en-US" dirty="0"/>
              <a:t>: Bonferroni’s Principle helps recognize when an observed pattern is likely a statistical artifact (false positive), meaning it has no real-world relevance.</a:t>
            </a:r>
          </a:p>
          <a:p>
            <a:pPr marL="285750" indent="-285750">
              <a:buFont typeface="Wingdings" panose="05000000000000000000" pitchFamily="2" charset="2"/>
              <a:buChar char="§"/>
            </a:pPr>
            <a:r>
              <a:rPr lang="en-US" b="1" dirty="0"/>
              <a:t>Multiple Testing Problem</a:t>
            </a:r>
            <a:r>
              <a:rPr lang="en-US" dirty="0"/>
              <a:t>: The more hypotheses or patterns you test in your data, the higher the likelihood that some will falsely appear significant just by chance.</a:t>
            </a:r>
          </a:p>
          <a:p>
            <a:pPr marL="285750" indent="-285750">
              <a:buFont typeface="Wingdings" panose="05000000000000000000" pitchFamily="2" charset="2"/>
              <a:buChar char="§"/>
            </a:pPr>
            <a:endParaRPr lang="en-US" b="1" dirty="0"/>
          </a:p>
        </p:txBody>
      </p:sp>
    </p:spTree>
    <p:extLst>
      <p:ext uri="{BB962C8B-B14F-4D97-AF65-F5344CB8AC3E}">
        <p14:creationId xmlns:p14="http://schemas.microsoft.com/office/powerpoint/2010/main" val="1536000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1. </a:t>
            </a:r>
            <a:r>
              <a:rPr lang="en-US" altLang="ko-KR" sz="2800" dirty="0">
                <a:ea typeface="맑은 고딕"/>
                <a:cs typeface="Calibri"/>
              </a:rPr>
              <a:t>Data Mining Basics</a:t>
            </a:r>
          </a:p>
          <a:p>
            <a:endParaRPr lang="ko-KR" altLang="en-US" sz="2800" dirty="0">
              <a:ea typeface="맑은 고딕"/>
            </a:endParaRPr>
          </a:p>
        </p:txBody>
      </p:sp>
      <p:sp>
        <p:nvSpPr>
          <p:cNvPr id="2" name="Metin kutusu 1">
            <a:extLst>
              <a:ext uri="{FF2B5EF4-FFF2-40B4-BE49-F238E27FC236}">
                <a16:creationId xmlns:a16="http://schemas.microsoft.com/office/drawing/2014/main" id="{59653D56-6B46-D024-B4E4-EC018DF51397}"/>
              </a:ext>
            </a:extLst>
          </p:cNvPr>
          <p:cNvSpPr txBox="1"/>
          <p:nvPr/>
        </p:nvSpPr>
        <p:spPr>
          <a:xfrm>
            <a:off x="0" y="762000"/>
            <a:ext cx="11734800" cy="5355312"/>
          </a:xfrm>
          <a:prstGeom prst="rect">
            <a:avLst/>
          </a:prstGeom>
          <a:noFill/>
        </p:spPr>
        <p:txBody>
          <a:bodyPr wrap="square" rtlCol="0">
            <a:spAutoFit/>
          </a:bodyPr>
          <a:lstStyle/>
          <a:p>
            <a:pPr marL="285750" indent="-285750">
              <a:buFont typeface="Wingdings" panose="05000000000000000000" pitchFamily="2" charset="2"/>
              <a:buChar char="§"/>
            </a:pPr>
            <a:r>
              <a:rPr lang="en-US" b="1" dirty="0"/>
              <a:t>Modeling in Data Mining</a:t>
            </a:r>
          </a:p>
          <a:p>
            <a:pPr marL="285750" indent="-285750">
              <a:buFont typeface="Wingdings" panose="05000000000000000000" pitchFamily="2" charset="2"/>
              <a:buChar char="§"/>
            </a:pPr>
            <a:r>
              <a:rPr lang="en-US" dirty="0"/>
              <a:t>The goal of modeling is to extract valuable insights, make predictions, or support decision-making based on the data. There are different approaches to modeling in data mining, each suitable for specific types of problems or data structures.</a:t>
            </a:r>
          </a:p>
          <a:p>
            <a:endParaRPr lang="en-US" dirty="0"/>
          </a:p>
          <a:p>
            <a:pPr marL="285750" indent="-285750">
              <a:buFont typeface="Wingdings" panose="05000000000000000000" pitchFamily="2" charset="2"/>
              <a:buChar char="§"/>
            </a:pPr>
            <a:r>
              <a:rPr lang="en-US" b="1" dirty="0"/>
              <a:t>Statistical Modeling</a:t>
            </a:r>
          </a:p>
          <a:p>
            <a:pPr marL="285750" indent="-285750">
              <a:buFont typeface="Wingdings" panose="05000000000000000000" pitchFamily="2" charset="2"/>
              <a:buChar char="§"/>
            </a:pPr>
            <a:r>
              <a:rPr lang="en-US" dirty="0"/>
              <a:t>Statistical modeling is one of the oldest forms of modeling and involves using statistical techniques to summarize the underlying data distribution. It assumes that the data comes from a specific statistical distribution, such as normal (Gaussian), Poisson, or exponential distributions.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Machine Learning-Based Modeling</a:t>
            </a:r>
          </a:p>
          <a:p>
            <a:pPr marL="285750" indent="-285750">
              <a:buFont typeface="Wingdings" panose="05000000000000000000" pitchFamily="2" charset="2"/>
              <a:buChar char="§"/>
            </a:pPr>
            <a:r>
              <a:rPr lang="en-US" dirty="0"/>
              <a:t>Machine learning (ML) is a data-driven approach where models "learn" from data. ML models are often used in data mining to detect complex patterns and make predictions based on previously unseen data.</a:t>
            </a:r>
            <a:endParaRPr lang="en-US" b="1" dirty="0"/>
          </a:p>
          <a:p>
            <a:pPr marL="285750" indent="-285750">
              <a:buFont typeface="Wingdings" panose="05000000000000000000" pitchFamily="2" charset="2"/>
              <a:buChar char="§"/>
            </a:pPr>
            <a:r>
              <a:rPr lang="en-US" dirty="0"/>
              <a:t>Supervised and Unsupervised Learning types of ML Models</a:t>
            </a:r>
          </a:p>
          <a:p>
            <a:endParaRPr lang="en-US" dirty="0"/>
          </a:p>
          <a:p>
            <a:pPr marL="285750" indent="-285750">
              <a:buFont typeface="Wingdings" panose="05000000000000000000" pitchFamily="2" charset="2"/>
              <a:buChar char="§"/>
            </a:pPr>
            <a:r>
              <a:rPr lang="en-US" b="1" dirty="0"/>
              <a:t>Key Concepts in ML Modeling:</a:t>
            </a:r>
          </a:p>
          <a:p>
            <a:pPr marL="285750" indent="-285750">
              <a:buFont typeface="Wingdings" panose="05000000000000000000" pitchFamily="2" charset="2"/>
              <a:buChar char="§"/>
            </a:pPr>
            <a:r>
              <a:rPr lang="en-US" b="1" dirty="0"/>
              <a:t>Training and Testing</a:t>
            </a:r>
            <a:r>
              <a:rPr lang="en-US" dirty="0"/>
              <a:t>: Data is divided into training and testing sets. The model is trained on the training set and validated using the testing set to check its accuracy.</a:t>
            </a:r>
          </a:p>
          <a:p>
            <a:pPr marL="285750" indent="-285750">
              <a:buFont typeface="Wingdings" panose="05000000000000000000" pitchFamily="2" charset="2"/>
              <a:buChar char="§"/>
            </a:pPr>
            <a:r>
              <a:rPr lang="en-US" b="1" dirty="0"/>
              <a:t>Overfitting</a:t>
            </a:r>
            <a:r>
              <a:rPr lang="en-US" dirty="0"/>
              <a:t>: A common problem where the model performs well on training data but poorly on unseen data because it has become too complex.</a:t>
            </a:r>
          </a:p>
        </p:txBody>
      </p:sp>
    </p:spTree>
    <p:extLst>
      <p:ext uri="{BB962C8B-B14F-4D97-AF65-F5344CB8AC3E}">
        <p14:creationId xmlns:p14="http://schemas.microsoft.com/office/powerpoint/2010/main" val="3581324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1. </a:t>
            </a:r>
            <a:r>
              <a:rPr lang="en-US" altLang="ko-KR" sz="2800" dirty="0">
                <a:ea typeface="맑은 고딕"/>
                <a:cs typeface="Calibri"/>
              </a:rPr>
              <a:t>Data Mining Basics</a:t>
            </a:r>
          </a:p>
          <a:p>
            <a:endParaRPr lang="ko-KR" altLang="en-US" sz="2800" dirty="0">
              <a:ea typeface="맑은 고딕"/>
            </a:endParaRPr>
          </a:p>
        </p:txBody>
      </p:sp>
      <p:sp>
        <p:nvSpPr>
          <p:cNvPr id="2" name="Metin kutusu 1">
            <a:extLst>
              <a:ext uri="{FF2B5EF4-FFF2-40B4-BE49-F238E27FC236}">
                <a16:creationId xmlns:a16="http://schemas.microsoft.com/office/drawing/2014/main" id="{59653D56-6B46-D024-B4E4-EC018DF51397}"/>
              </a:ext>
            </a:extLst>
          </p:cNvPr>
          <p:cNvSpPr txBox="1"/>
          <p:nvPr/>
        </p:nvSpPr>
        <p:spPr>
          <a:xfrm>
            <a:off x="0" y="762000"/>
            <a:ext cx="11734800" cy="5324535"/>
          </a:xfrm>
          <a:prstGeom prst="rect">
            <a:avLst/>
          </a:prstGeom>
          <a:noFill/>
        </p:spPr>
        <p:txBody>
          <a:bodyPr wrap="square" rtlCol="0">
            <a:spAutoFit/>
          </a:bodyPr>
          <a:lstStyle/>
          <a:p>
            <a:pPr marL="285750" indent="-285750">
              <a:buFont typeface="Wingdings" panose="05000000000000000000" pitchFamily="2" charset="2"/>
              <a:buChar char="§"/>
            </a:pPr>
            <a:r>
              <a:rPr lang="en-US" sz="2000" b="1" dirty="0"/>
              <a:t>Computational Modeling</a:t>
            </a:r>
          </a:p>
          <a:p>
            <a:pPr marL="285750" indent="-285750">
              <a:buFont typeface="Wingdings" panose="05000000000000000000" pitchFamily="2" charset="2"/>
              <a:buChar char="§"/>
            </a:pPr>
            <a:r>
              <a:rPr lang="en-US" sz="2000" dirty="0"/>
              <a:t>A model is viewed as the answer to a computational query. The focus here is on designing algorithms that efficiently solve the problem rather than fitting statistical or machine learning models.</a:t>
            </a:r>
          </a:p>
          <a:p>
            <a:pPr marL="285750" indent="-285750">
              <a:buFont typeface="Wingdings" panose="05000000000000000000" pitchFamily="2" charset="2"/>
              <a:buChar char="§"/>
            </a:pPr>
            <a:r>
              <a:rPr lang="en-US" sz="2000" b="1" dirty="0"/>
              <a:t>Example</a:t>
            </a:r>
            <a:r>
              <a:rPr lang="en-US" sz="2000" dirty="0"/>
              <a:t>: A model could be an algorithm that counts the frequency of different words in a text document. The result is a summary of the text, such as the most frequently occurring words.</a:t>
            </a:r>
          </a:p>
          <a:p>
            <a:pPr marL="285750" indent="-285750">
              <a:buFont typeface="Wingdings" panose="05000000000000000000" pitchFamily="2" charset="2"/>
              <a:buChar char="§"/>
            </a:pPr>
            <a:r>
              <a:rPr lang="en-US" sz="2000" b="1" dirty="0"/>
              <a:t>Key Techniques:</a:t>
            </a:r>
          </a:p>
          <a:p>
            <a:pPr marL="285750" indent="-285750">
              <a:buFont typeface="Wingdings" panose="05000000000000000000" pitchFamily="2" charset="2"/>
              <a:buChar char="§"/>
            </a:pPr>
            <a:r>
              <a:rPr lang="en-US" sz="2000" b="1" dirty="0"/>
              <a:t>Locality-Sensitive Hashing (LSH)</a:t>
            </a:r>
            <a:r>
              <a:rPr lang="en-US" sz="2000" dirty="0"/>
              <a:t>: A method for efficiently finding similar items in large datasets.</a:t>
            </a:r>
          </a:p>
          <a:p>
            <a:pPr marL="285750" indent="-285750">
              <a:buFont typeface="Wingdings" panose="05000000000000000000" pitchFamily="2" charset="2"/>
              <a:buChar char="§"/>
            </a:pPr>
            <a:r>
              <a:rPr lang="en-US" sz="2000" b="1" dirty="0"/>
              <a:t>Stream Mining</a:t>
            </a:r>
            <a:r>
              <a:rPr lang="en-US" sz="2000" dirty="0"/>
              <a:t>: Algorithms designed to handle continuous streams of data, where the data is processed in real-time without storing the entire dataset.</a:t>
            </a:r>
          </a:p>
          <a:p>
            <a:pPr marL="285750" indent="-285750">
              <a:buFont typeface="Wingdings" panose="05000000000000000000" pitchFamily="2" charset="2"/>
              <a:buChar char="§"/>
            </a:pPr>
            <a:r>
              <a:rPr lang="en-US" sz="2000" b="1" dirty="0"/>
              <a:t>Hybrid Approaches</a:t>
            </a:r>
          </a:p>
          <a:p>
            <a:pPr marL="285750" indent="-285750">
              <a:buFont typeface="Wingdings" panose="05000000000000000000" pitchFamily="2" charset="2"/>
              <a:buChar char="§"/>
            </a:pPr>
            <a:r>
              <a:rPr lang="en-US" sz="2000" dirty="0"/>
              <a:t>Some models in data mining combine elements of both statistical and machine learning techniques. For example, a model might start with a statistical summary of the data (mean, variance) and then use machine learning techniques to make more sophisticated predictions or classifications.</a:t>
            </a:r>
          </a:p>
          <a:p>
            <a:pPr marL="285750" indent="-285750">
              <a:buFont typeface="Wingdings" panose="05000000000000000000" pitchFamily="2" charset="2"/>
              <a:buChar char="§"/>
            </a:pPr>
            <a:endParaRPr lang="en-US" sz="2000" dirty="0"/>
          </a:p>
          <a:p>
            <a:pPr marL="285750" indent="-285750">
              <a:buFont typeface="Wingdings" panose="05000000000000000000" pitchFamily="2" charset="2"/>
              <a:buChar char="§"/>
            </a:pPr>
            <a:r>
              <a:rPr lang="en-US" sz="2000" b="1" dirty="0"/>
              <a:t>Important Tools</a:t>
            </a:r>
            <a:r>
              <a:rPr lang="en-US" sz="2000" dirty="0"/>
              <a:t>:</a:t>
            </a:r>
          </a:p>
          <a:p>
            <a:pPr marL="285750" indent="-285750">
              <a:buFont typeface="Wingdings" panose="05000000000000000000" pitchFamily="2" charset="2"/>
              <a:buChar char="§"/>
            </a:pPr>
            <a:r>
              <a:rPr lang="en-US" sz="2000" b="1" dirty="0"/>
              <a:t>TF-IDF (Term Frequency-Inverse Document Frequency)</a:t>
            </a:r>
            <a:r>
              <a:rPr lang="en-US" sz="2000" dirty="0"/>
              <a:t>: Measures word importance in documents based on how frequently words appear in a specific document compared to the entire dataset.</a:t>
            </a:r>
          </a:p>
        </p:txBody>
      </p:sp>
    </p:spTree>
    <p:extLst>
      <p:ext uri="{BB962C8B-B14F-4D97-AF65-F5344CB8AC3E}">
        <p14:creationId xmlns:p14="http://schemas.microsoft.com/office/powerpoint/2010/main" val="3981712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1. </a:t>
            </a:r>
            <a:r>
              <a:rPr lang="en-US" altLang="ko-KR" sz="2800" dirty="0">
                <a:ea typeface="맑은 고딕"/>
                <a:cs typeface="Calibri"/>
              </a:rPr>
              <a:t>Data Mining Basics</a:t>
            </a:r>
          </a:p>
          <a:p>
            <a:endParaRPr lang="ko-KR" altLang="en-US" sz="2800" dirty="0">
              <a:ea typeface="맑은 고딕"/>
            </a:endParaRPr>
          </a:p>
        </p:txBody>
      </p:sp>
      <p:pic>
        <p:nvPicPr>
          <p:cNvPr id="4098" name="Picture 2" descr="Demystify TF-IDF in Indexing and Ranking | by Ted Mei | Medium">
            <a:extLst>
              <a:ext uri="{FF2B5EF4-FFF2-40B4-BE49-F238E27FC236}">
                <a16:creationId xmlns:a16="http://schemas.microsoft.com/office/drawing/2014/main" id="{97BFBB61-7D99-03FD-84BD-EA68F98F0E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717179"/>
            <a:ext cx="10287000" cy="3423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0606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2" name="Metin kutusu 1">
            <a:extLst>
              <a:ext uri="{FF2B5EF4-FFF2-40B4-BE49-F238E27FC236}">
                <a16:creationId xmlns:a16="http://schemas.microsoft.com/office/drawing/2014/main" id="{59653D56-6B46-D024-B4E4-EC018DF51397}"/>
              </a:ext>
            </a:extLst>
          </p:cNvPr>
          <p:cNvSpPr txBox="1"/>
          <p:nvPr/>
        </p:nvSpPr>
        <p:spPr>
          <a:xfrm>
            <a:off x="0" y="762000"/>
            <a:ext cx="12039600" cy="6647974"/>
          </a:xfrm>
          <a:prstGeom prst="rect">
            <a:avLst/>
          </a:prstGeom>
          <a:noFill/>
        </p:spPr>
        <p:txBody>
          <a:bodyPr wrap="square" rtlCol="0">
            <a:spAutoFit/>
          </a:bodyPr>
          <a:lstStyle/>
          <a:p>
            <a:pPr marL="285750" indent="-285750">
              <a:buFont typeface="Wingdings" panose="05000000000000000000" pitchFamily="2" charset="2"/>
              <a:buChar char="§"/>
            </a:pPr>
            <a:r>
              <a:rPr lang="en-US" b="1" dirty="0"/>
              <a:t>MapReduce</a:t>
            </a:r>
            <a:r>
              <a:rPr lang="en-US" dirty="0"/>
              <a:t> is a</a:t>
            </a:r>
            <a:r>
              <a:rPr lang="en-US" b="1" dirty="0"/>
              <a:t> </a:t>
            </a:r>
            <a:r>
              <a:rPr lang="en-US" dirty="0"/>
              <a:t>programming model and framework</a:t>
            </a:r>
            <a:r>
              <a:rPr lang="en-US" b="1" dirty="0"/>
              <a:t> f</a:t>
            </a:r>
            <a:r>
              <a:rPr lang="en-US" dirty="0"/>
              <a:t>or processing and generating large datasets with a distributed algorithm on a cluster of computers. It’s particularly useful for tasks that involve handling "big data," where datasets are too large to process on a single machine.</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Map Function</a:t>
            </a:r>
            <a:r>
              <a:rPr lang="en-US" dirty="0"/>
              <a:t>:</a:t>
            </a:r>
          </a:p>
          <a:p>
            <a:pPr marL="285750" indent="-285750">
              <a:buFont typeface="Wingdings" panose="05000000000000000000" pitchFamily="2" charset="2"/>
              <a:buChar char="§"/>
            </a:pPr>
            <a:r>
              <a:rPr lang="en-US" dirty="0"/>
              <a:t>The </a:t>
            </a:r>
            <a:r>
              <a:rPr lang="en-US" b="1" dirty="0"/>
              <a:t>Map</a:t>
            </a:r>
            <a:r>
              <a:rPr lang="en-US" dirty="0"/>
              <a:t> step takes a dataset, applies a function to each piece of data, and generates intermediate key-value pairs.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Shuffle and Sort</a:t>
            </a:r>
            <a:r>
              <a:rPr lang="en-US" dirty="0"/>
              <a:t>:</a:t>
            </a:r>
          </a:p>
          <a:p>
            <a:pPr marL="285750" indent="-285750">
              <a:buFont typeface="Wingdings" panose="05000000000000000000" pitchFamily="2" charset="2"/>
              <a:buChar char="§"/>
            </a:pPr>
            <a:r>
              <a:rPr lang="en-US" dirty="0"/>
              <a:t>After the map step, the system groups all key-value pairs by their keys. This process is called </a:t>
            </a:r>
            <a:r>
              <a:rPr lang="en-US" b="1" dirty="0"/>
              <a:t>shuffle</a:t>
            </a:r>
            <a:r>
              <a:rPr lang="en-US" dirty="0"/>
              <a:t> and </a:t>
            </a:r>
            <a:r>
              <a:rPr lang="en-US" b="1" dirty="0"/>
              <a:t>sort</a:t>
            </a:r>
            <a:r>
              <a:rPr lang="en-US" dirty="0"/>
              <a:t>. It ensures that all values associated with the same key are grouped together before the reduce phase.</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Reduce Function</a:t>
            </a:r>
            <a:r>
              <a:rPr lang="en-US" dirty="0"/>
              <a:t>:</a:t>
            </a:r>
          </a:p>
          <a:p>
            <a:pPr marL="285750" indent="-285750">
              <a:buFont typeface="Wingdings" panose="05000000000000000000" pitchFamily="2" charset="2"/>
              <a:buChar char="§"/>
            </a:pPr>
            <a:r>
              <a:rPr lang="en-US" dirty="0"/>
              <a:t>The </a:t>
            </a:r>
            <a:r>
              <a:rPr lang="en-US" b="1" dirty="0"/>
              <a:t>Reduce</a:t>
            </a:r>
            <a:r>
              <a:rPr lang="en-US" dirty="0"/>
              <a:t> step aggregates the results from the map step. It processes each key and its associated values to produce a final output.</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How MapReduce Works:</a:t>
            </a:r>
          </a:p>
          <a:p>
            <a:pPr marL="285750" indent="-285750">
              <a:buFont typeface="Wingdings" panose="05000000000000000000" pitchFamily="2" charset="2"/>
              <a:buChar char="§"/>
            </a:pPr>
            <a:r>
              <a:rPr lang="en-US" dirty="0"/>
              <a:t>The input data is split into chunks and distributed across different nodes in a distributed file system (like Hadoop Distributed File System or HDFS).</a:t>
            </a:r>
          </a:p>
          <a:p>
            <a:pPr marL="285750" indent="-285750">
              <a:buFont typeface="Wingdings" panose="05000000000000000000" pitchFamily="2" charset="2"/>
              <a:buChar char="§"/>
            </a:pPr>
            <a:r>
              <a:rPr lang="en-US" b="1" dirty="0"/>
              <a:t>Map tasks</a:t>
            </a:r>
            <a:r>
              <a:rPr lang="en-US" dirty="0"/>
              <a:t> are assigned to different worker nodes, where each node applies the Map function to its portion of the data.</a:t>
            </a:r>
          </a:p>
          <a:p>
            <a:pPr marL="285750" indent="-285750">
              <a:buFont typeface="Wingdings" panose="05000000000000000000" pitchFamily="2" charset="2"/>
              <a:buChar char="§"/>
            </a:pPr>
            <a:r>
              <a:rPr lang="en-US" dirty="0"/>
              <a:t>The results of the Map tasks are </a:t>
            </a:r>
            <a:r>
              <a:rPr lang="en-US" b="1" dirty="0"/>
              <a:t>shuffled and sorted</a:t>
            </a:r>
            <a:r>
              <a:rPr lang="en-US" dirty="0"/>
              <a:t> so that all related data is brought together for the same key.</a:t>
            </a:r>
          </a:p>
          <a:p>
            <a:pPr marL="285750" indent="-285750">
              <a:buFont typeface="Wingdings" panose="05000000000000000000" pitchFamily="2" charset="2"/>
              <a:buChar char="§"/>
            </a:pPr>
            <a:r>
              <a:rPr lang="en-US" b="1" dirty="0"/>
              <a:t>Reduce tasks</a:t>
            </a:r>
            <a:r>
              <a:rPr lang="en-US" dirty="0"/>
              <a:t> are then applied to aggregate the results into a final output, which is written back to the distributed file system</a:t>
            </a:r>
          </a:p>
          <a:p>
            <a:pPr marL="285750" indent="-285750">
              <a:buFont typeface="Wingdings" panose="05000000000000000000" pitchFamily="2" charset="2"/>
              <a:buChar char="§"/>
            </a:pPr>
            <a:endParaRPr lang="en-US" sz="1600" dirty="0"/>
          </a:p>
          <a:p>
            <a:pPr marL="285750" indent="-285750">
              <a:buFont typeface="Wingdings" panose="05000000000000000000" pitchFamily="2" charset="2"/>
              <a:buChar char="§"/>
            </a:pPr>
            <a:endParaRPr lang="en-US" sz="1600" dirty="0"/>
          </a:p>
          <a:p>
            <a:pPr marL="285750" indent="-285750">
              <a:buFont typeface="Wingdings" panose="05000000000000000000" pitchFamily="2" charset="2"/>
              <a:buChar char="§"/>
            </a:pPr>
            <a:endParaRPr lang="en-US" sz="1600" b="1" dirty="0"/>
          </a:p>
        </p:txBody>
      </p:sp>
    </p:spTree>
    <p:extLst>
      <p:ext uri="{BB962C8B-B14F-4D97-AF65-F5344CB8AC3E}">
        <p14:creationId xmlns:p14="http://schemas.microsoft.com/office/powerpoint/2010/main" val="2451264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2" name="Metin kutusu 1">
            <a:extLst>
              <a:ext uri="{FF2B5EF4-FFF2-40B4-BE49-F238E27FC236}">
                <a16:creationId xmlns:a16="http://schemas.microsoft.com/office/drawing/2014/main" id="{59653D56-6B46-D024-B4E4-EC018DF51397}"/>
              </a:ext>
            </a:extLst>
          </p:cNvPr>
          <p:cNvSpPr txBox="1"/>
          <p:nvPr/>
        </p:nvSpPr>
        <p:spPr>
          <a:xfrm>
            <a:off x="1438" y="857250"/>
            <a:ext cx="12039600" cy="2923877"/>
          </a:xfrm>
          <a:prstGeom prst="rect">
            <a:avLst/>
          </a:prstGeom>
          <a:noFill/>
        </p:spPr>
        <p:txBody>
          <a:bodyPr wrap="square" rtlCol="0">
            <a:spAutoFit/>
          </a:bodyPr>
          <a:lstStyle/>
          <a:p>
            <a:pPr marL="285750" indent="-285750">
              <a:buFont typeface="Wingdings" panose="05000000000000000000" pitchFamily="2" charset="2"/>
              <a:buChar char="§"/>
            </a:pPr>
            <a:r>
              <a:rPr lang="en-US" sz="2000" b="1" dirty="0"/>
              <a:t>MapReduce Workflow:</a:t>
            </a:r>
          </a:p>
          <a:p>
            <a:pPr marL="285750" indent="-285750">
              <a:buFont typeface="Wingdings" panose="05000000000000000000" pitchFamily="2" charset="2"/>
              <a:buChar char="§"/>
            </a:pPr>
            <a:r>
              <a:rPr lang="en-US" sz="2000" dirty="0"/>
              <a:t>In a typical MapReduce workflow, tasks are executed in multiple stages:</a:t>
            </a:r>
          </a:p>
          <a:p>
            <a:pPr marL="285750" indent="-285750">
              <a:buFont typeface="Wingdings" panose="05000000000000000000" pitchFamily="2" charset="2"/>
              <a:buChar char="§"/>
            </a:pPr>
            <a:r>
              <a:rPr lang="en-US" sz="2000" b="1" dirty="0"/>
              <a:t>Data Preprocessing</a:t>
            </a:r>
            <a:r>
              <a:rPr lang="en-US" sz="2000" dirty="0"/>
              <a:t>: The data might first be cleaned or transformed using an initial MapReduce job.</a:t>
            </a:r>
          </a:p>
          <a:p>
            <a:pPr marL="285750" indent="-285750">
              <a:buFont typeface="Wingdings" panose="05000000000000000000" pitchFamily="2" charset="2"/>
              <a:buChar char="§"/>
            </a:pPr>
            <a:r>
              <a:rPr lang="en-US" sz="2000" b="1" dirty="0"/>
              <a:t>Analysis or Processing</a:t>
            </a:r>
            <a:r>
              <a:rPr lang="en-US" sz="2000" dirty="0"/>
              <a:t>: Once the data is prepared, another MapReduce job might be applied to perform the main analysis, such as aggregating data or calculating metrics.</a:t>
            </a:r>
          </a:p>
          <a:p>
            <a:pPr marL="285750" indent="-285750">
              <a:buFont typeface="Wingdings" panose="05000000000000000000" pitchFamily="2" charset="2"/>
              <a:buChar char="§"/>
            </a:pPr>
            <a:r>
              <a:rPr lang="en-US" sz="2000" b="1" dirty="0"/>
              <a:t>Post-processing</a:t>
            </a:r>
            <a:r>
              <a:rPr lang="en-US" sz="2000" dirty="0"/>
              <a:t>: After analysis, additional jobs might be used to filter, sort, or format the output.</a:t>
            </a:r>
          </a:p>
          <a:p>
            <a:pPr marL="285750" indent="-285750">
              <a:buFont typeface="Wingdings" panose="05000000000000000000" pitchFamily="2" charset="2"/>
              <a:buChar char="§"/>
            </a:pPr>
            <a:endParaRPr lang="en-US" sz="1600" dirty="0"/>
          </a:p>
          <a:p>
            <a:pPr marL="285750" indent="-285750">
              <a:buFont typeface="Wingdings" panose="05000000000000000000" pitchFamily="2" charset="2"/>
              <a:buChar char="§"/>
            </a:pPr>
            <a:endParaRPr lang="en-US" sz="1600" dirty="0"/>
          </a:p>
          <a:p>
            <a:pPr marL="285750" indent="-285750">
              <a:buFont typeface="Wingdings" panose="05000000000000000000" pitchFamily="2" charset="2"/>
              <a:buChar char="§"/>
            </a:pPr>
            <a:endParaRPr lang="en-US" sz="1600" dirty="0"/>
          </a:p>
          <a:p>
            <a:pPr marL="285750" indent="-285750">
              <a:buFont typeface="Wingdings" panose="05000000000000000000" pitchFamily="2" charset="2"/>
              <a:buChar char="§"/>
            </a:pPr>
            <a:endParaRPr lang="en-US" sz="1600" b="1" dirty="0"/>
          </a:p>
        </p:txBody>
      </p:sp>
      <p:pic>
        <p:nvPicPr>
          <p:cNvPr id="4098" name="Picture 2" descr="MapReduce workflow. | Download Scientific Diagram">
            <a:extLst>
              <a:ext uri="{FF2B5EF4-FFF2-40B4-BE49-F238E27FC236}">
                <a16:creationId xmlns:a16="http://schemas.microsoft.com/office/drawing/2014/main" id="{7673F0DF-9687-B495-5937-34ABBAC52D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9387" y="3781127"/>
            <a:ext cx="6753225"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8103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4" name="Metin kutusu 3">
            <a:extLst>
              <a:ext uri="{FF2B5EF4-FFF2-40B4-BE49-F238E27FC236}">
                <a16:creationId xmlns:a16="http://schemas.microsoft.com/office/drawing/2014/main" id="{37206CB0-6E23-2E77-EC28-3A2E66B948A8}"/>
              </a:ext>
            </a:extLst>
          </p:cNvPr>
          <p:cNvSpPr txBox="1"/>
          <p:nvPr/>
        </p:nvSpPr>
        <p:spPr>
          <a:xfrm>
            <a:off x="0" y="762000"/>
            <a:ext cx="12115800" cy="5940088"/>
          </a:xfrm>
          <a:prstGeom prst="rect">
            <a:avLst/>
          </a:prstGeom>
          <a:noFill/>
        </p:spPr>
        <p:txBody>
          <a:bodyPr wrap="square" rtlCol="0">
            <a:spAutoFit/>
          </a:bodyPr>
          <a:lstStyle/>
          <a:p>
            <a:pPr marL="285750" indent="-285750">
              <a:buFont typeface="Wingdings" panose="05000000000000000000" pitchFamily="2" charset="2"/>
              <a:buChar char="§"/>
            </a:pPr>
            <a:r>
              <a:rPr lang="en-US" sz="2000" dirty="0"/>
              <a:t>Several algorithms can be effectively implemented using the </a:t>
            </a:r>
            <a:r>
              <a:rPr lang="en-US" sz="2000" b="1" dirty="0"/>
              <a:t>MapReduce</a:t>
            </a:r>
            <a:r>
              <a:rPr lang="en-US" sz="2000" dirty="0"/>
              <a:t> model to handle large-scale data.</a:t>
            </a:r>
          </a:p>
          <a:p>
            <a:pPr marL="285750" indent="-285750">
              <a:buFont typeface="Wingdings" panose="05000000000000000000" pitchFamily="2" charset="2"/>
              <a:buChar char="§"/>
            </a:pPr>
            <a:endParaRPr lang="en-US" sz="2000" dirty="0"/>
          </a:p>
          <a:p>
            <a:pPr marL="285750" indent="-285750">
              <a:buFont typeface="Wingdings" panose="05000000000000000000" pitchFamily="2" charset="2"/>
              <a:buChar char="§"/>
            </a:pPr>
            <a:r>
              <a:rPr lang="en-US" sz="2000" b="1" dirty="0"/>
              <a:t>Matrix-Vector Multiplication</a:t>
            </a:r>
          </a:p>
          <a:p>
            <a:pPr marL="285750" indent="-285750">
              <a:buFont typeface="Wingdings" panose="05000000000000000000" pitchFamily="2" charset="2"/>
              <a:buChar char="§"/>
            </a:pPr>
            <a:endParaRPr lang="en-US" sz="2000" b="1" dirty="0"/>
          </a:p>
          <a:p>
            <a:pPr marL="285750" indent="-285750">
              <a:buFont typeface="Wingdings" panose="05000000000000000000" pitchFamily="2" charset="2"/>
              <a:buChar char="§"/>
            </a:pPr>
            <a:r>
              <a:rPr lang="en-US" sz="2000" dirty="0"/>
              <a:t>This is a common operation in scientific computing, often used in algorithms like </a:t>
            </a:r>
            <a:r>
              <a:rPr lang="en-US" sz="2000" b="1" dirty="0"/>
              <a:t>PageRank</a:t>
            </a:r>
            <a:r>
              <a:rPr lang="en-US" sz="2000" dirty="0"/>
              <a:t> (Google's ranking algorithm for webpages). The goal is to multiply a matrix with a vector using MapReduce.</a:t>
            </a:r>
          </a:p>
          <a:p>
            <a:pPr marL="285750" indent="-285750">
              <a:buFont typeface="Wingdings" panose="05000000000000000000" pitchFamily="2" charset="2"/>
              <a:buChar char="§"/>
            </a:pPr>
            <a:endParaRPr lang="en-US" sz="2000" dirty="0"/>
          </a:p>
          <a:p>
            <a:pPr marL="285750" indent="-285750">
              <a:buFont typeface="Wingdings" panose="05000000000000000000" pitchFamily="2" charset="2"/>
              <a:buChar char="§"/>
            </a:pPr>
            <a:r>
              <a:rPr lang="en-US" sz="2000" dirty="0"/>
              <a:t>Given a matrix </a:t>
            </a:r>
            <a:r>
              <a:rPr lang="en-US" sz="2000" b="1" i="1" dirty="0"/>
              <a:t>M</a:t>
            </a:r>
            <a:r>
              <a:rPr lang="en-US" sz="2000" dirty="0"/>
              <a:t> of size </a:t>
            </a:r>
            <a:r>
              <a:rPr lang="en-US" sz="2000" b="1" i="1" dirty="0"/>
              <a:t>n × n </a:t>
            </a:r>
            <a:r>
              <a:rPr lang="en-US" sz="2000" dirty="0"/>
              <a:t>and a vector </a:t>
            </a:r>
            <a:r>
              <a:rPr lang="en-US" sz="2000" b="1" i="1" dirty="0"/>
              <a:t>v</a:t>
            </a:r>
            <a:r>
              <a:rPr lang="en-US" sz="2000" dirty="0"/>
              <a:t> of length </a:t>
            </a:r>
            <a:r>
              <a:rPr lang="en-US" sz="2000" b="1" i="1" dirty="0"/>
              <a:t>n</a:t>
            </a:r>
            <a:r>
              <a:rPr lang="en-US" sz="2000" dirty="0"/>
              <a:t>, the product </a:t>
            </a:r>
            <a:r>
              <a:rPr lang="en-US" sz="2000" b="1" i="1" dirty="0"/>
              <a:t>x = Mv</a:t>
            </a:r>
            <a:r>
              <a:rPr lang="en-US" sz="2000" i="1" dirty="0"/>
              <a:t> </a:t>
            </a:r>
            <a:r>
              <a:rPr lang="en-US" sz="2000" dirty="0"/>
              <a:t>is calculated, where </a:t>
            </a:r>
            <a:r>
              <a:rPr lang="en-US" sz="2000" b="1" i="1" dirty="0"/>
              <a:t>x[</a:t>
            </a:r>
            <a:r>
              <a:rPr lang="en-US" sz="2000" b="1" i="1" dirty="0" err="1"/>
              <a:t>i</a:t>
            </a:r>
            <a:r>
              <a:rPr lang="en-US" sz="2000" b="1" i="1" dirty="0"/>
              <a:t>] = Σ (M[</a:t>
            </a:r>
            <a:r>
              <a:rPr lang="en-US" sz="2000" b="1" i="1" dirty="0" err="1"/>
              <a:t>i</a:t>
            </a:r>
            <a:r>
              <a:rPr lang="en-US" sz="2000" b="1" i="1" dirty="0"/>
              <a:t>, j] * v[j])</a:t>
            </a:r>
          </a:p>
          <a:p>
            <a:pPr marL="285750" indent="-285750">
              <a:buFont typeface="Wingdings" panose="05000000000000000000" pitchFamily="2" charset="2"/>
              <a:buChar char="§"/>
            </a:pPr>
            <a:r>
              <a:rPr lang="en-US" sz="2000" b="1" dirty="0"/>
              <a:t>Map Function</a:t>
            </a:r>
          </a:p>
          <a:p>
            <a:pPr marL="285750" indent="-285750">
              <a:buFont typeface="Wingdings" panose="05000000000000000000" pitchFamily="2" charset="2"/>
              <a:buChar char="§"/>
            </a:pPr>
            <a:r>
              <a:rPr lang="en-US" sz="2000" b="1" dirty="0"/>
              <a:t>Input</a:t>
            </a:r>
            <a:r>
              <a:rPr lang="en-US" sz="2000" dirty="0"/>
              <a:t>: A matrix element </a:t>
            </a:r>
            <a:r>
              <a:rPr lang="en-US" sz="2000" b="1" i="1" dirty="0"/>
              <a:t>(</a:t>
            </a:r>
            <a:r>
              <a:rPr lang="en-US" sz="2000" b="1" i="1" dirty="0" err="1"/>
              <a:t>i</a:t>
            </a:r>
            <a:r>
              <a:rPr lang="en-US" sz="2000" b="1" i="1" dirty="0"/>
              <a:t>, j, M[</a:t>
            </a:r>
            <a:r>
              <a:rPr lang="en-US" sz="2000" b="1" i="1" dirty="0" err="1"/>
              <a:t>i,j</a:t>
            </a:r>
            <a:r>
              <a:rPr lang="en-US" sz="2000" b="1" i="1" dirty="0"/>
              <a:t>]) </a:t>
            </a:r>
            <a:r>
              <a:rPr lang="en-US" sz="2000" dirty="0"/>
              <a:t>and a vector element </a:t>
            </a:r>
            <a:r>
              <a:rPr lang="en-US" sz="2000" b="1" i="1" dirty="0"/>
              <a:t>v[j]</a:t>
            </a:r>
            <a:r>
              <a:rPr lang="en-US" sz="2000" dirty="0"/>
              <a:t>.</a:t>
            </a:r>
          </a:p>
          <a:p>
            <a:pPr marL="285750" indent="-285750">
              <a:buFont typeface="Wingdings" panose="05000000000000000000" pitchFamily="2" charset="2"/>
              <a:buChar char="§"/>
            </a:pPr>
            <a:r>
              <a:rPr lang="en-US" sz="2000" b="1" dirty="0"/>
              <a:t>Output</a:t>
            </a:r>
            <a:r>
              <a:rPr lang="en-US" sz="2000" dirty="0"/>
              <a:t>: Emit key-value pairs where the key is </a:t>
            </a:r>
            <a:r>
              <a:rPr lang="en-US" sz="2000" b="1" i="1" dirty="0" err="1"/>
              <a:t>i</a:t>
            </a:r>
            <a:r>
              <a:rPr lang="en-US" sz="2000" b="1" i="1" dirty="0"/>
              <a:t> </a:t>
            </a:r>
            <a:r>
              <a:rPr lang="en-US" sz="2000" dirty="0"/>
              <a:t>(the row index of the matrix) and the value is </a:t>
            </a:r>
            <a:r>
              <a:rPr lang="en-US" sz="2000" b="1" i="1" dirty="0"/>
              <a:t>M[</a:t>
            </a:r>
            <a:r>
              <a:rPr lang="en-US" sz="2000" b="1" i="1" dirty="0" err="1"/>
              <a:t>i,j</a:t>
            </a:r>
            <a:r>
              <a:rPr lang="en-US" sz="2000" b="1" i="1" dirty="0"/>
              <a:t>] * v[j]</a:t>
            </a:r>
            <a:r>
              <a:rPr lang="en-US" sz="2000" dirty="0"/>
              <a:t> (the product of the matrix element and the corresponding vector element).</a:t>
            </a:r>
          </a:p>
          <a:p>
            <a:pPr marL="285750" indent="-285750">
              <a:buFont typeface="Wingdings" panose="05000000000000000000" pitchFamily="2" charset="2"/>
              <a:buChar char="§"/>
            </a:pPr>
            <a:r>
              <a:rPr lang="en-US" sz="2000" dirty="0"/>
              <a:t>Example: If </a:t>
            </a:r>
            <a:r>
              <a:rPr lang="en-US" sz="2000" b="1" i="1" dirty="0"/>
              <a:t>M[</a:t>
            </a:r>
            <a:r>
              <a:rPr lang="en-US" sz="2000" b="1" i="1" dirty="0" err="1"/>
              <a:t>i,j</a:t>
            </a:r>
            <a:r>
              <a:rPr lang="en-US" sz="2000" b="1" i="1" dirty="0"/>
              <a:t>] = 2</a:t>
            </a:r>
            <a:r>
              <a:rPr lang="en-US" sz="2000" i="1" dirty="0"/>
              <a:t> </a:t>
            </a:r>
            <a:r>
              <a:rPr lang="en-US" sz="2000" dirty="0"/>
              <a:t>and </a:t>
            </a:r>
            <a:r>
              <a:rPr lang="en-US" sz="2000" b="1" i="1" dirty="0"/>
              <a:t>v[j] = 3</a:t>
            </a:r>
            <a:r>
              <a:rPr lang="en-US" sz="2000" dirty="0"/>
              <a:t>, the output would be </a:t>
            </a:r>
            <a:r>
              <a:rPr lang="en-US" sz="2000" b="1" i="1" dirty="0"/>
              <a:t>(</a:t>
            </a:r>
            <a:r>
              <a:rPr lang="en-US" sz="2000" b="1" i="1" dirty="0" err="1"/>
              <a:t>i</a:t>
            </a:r>
            <a:r>
              <a:rPr lang="en-US" sz="2000" b="1" i="1" dirty="0"/>
              <a:t>, 6).</a:t>
            </a:r>
          </a:p>
          <a:p>
            <a:pPr marL="285750" indent="-285750">
              <a:buFont typeface="Wingdings" panose="05000000000000000000" pitchFamily="2" charset="2"/>
              <a:buChar char="§"/>
            </a:pPr>
            <a:endParaRPr lang="en-US" sz="2000" b="1" i="1" dirty="0"/>
          </a:p>
          <a:p>
            <a:pPr marL="285750" indent="-285750">
              <a:buFont typeface="Wingdings" panose="05000000000000000000" pitchFamily="2" charset="2"/>
              <a:buChar char="§"/>
            </a:pPr>
            <a:r>
              <a:rPr lang="en-US" sz="2000" b="1" i="1" dirty="0"/>
              <a:t>Reduce Function:</a:t>
            </a:r>
          </a:p>
          <a:p>
            <a:pPr marL="285750" indent="-285750">
              <a:buFont typeface="Wingdings" panose="05000000000000000000" pitchFamily="2" charset="2"/>
              <a:buChar char="§"/>
            </a:pPr>
            <a:r>
              <a:rPr lang="en-US" sz="2000" b="1" i="1" dirty="0"/>
              <a:t>Input: </a:t>
            </a:r>
            <a:r>
              <a:rPr lang="en-US" sz="2000" dirty="0"/>
              <a:t>Key </a:t>
            </a:r>
            <a:r>
              <a:rPr lang="en-US" sz="2000" b="1" i="1" dirty="0" err="1"/>
              <a:t>i</a:t>
            </a:r>
            <a:r>
              <a:rPr lang="en-US" sz="2000" b="1" dirty="0"/>
              <a:t> </a:t>
            </a:r>
            <a:r>
              <a:rPr lang="en-US" sz="2000" dirty="0"/>
              <a:t>(row index) and a list of values (products of matrix elements and vector elements).</a:t>
            </a:r>
          </a:p>
          <a:p>
            <a:pPr marL="285750" indent="-285750">
              <a:buFont typeface="Wingdings" panose="05000000000000000000" pitchFamily="2" charset="2"/>
              <a:buChar char="§"/>
            </a:pPr>
            <a:r>
              <a:rPr lang="en-US" sz="2000" b="1" dirty="0"/>
              <a:t>Output: </a:t>
            </a:r>
            <a:r>
              <a:rPr lang="en-US" sz="2000" dirty="0"/>
              <a:t>Sum the values for each row </a:t>
            </a:r>
            <a:r>
              <a:rPr lang="en-US" sz="2000" b="1" i="1" dirty="0" err="1"/>
              <a:t>i</a:t>
            </a:r>
            <a:r>
              <a:rPr lang="en-US" sz="2000" dirty="0"/>
              <a:t> to compute the corresponding element of the result vector </a:t>
            </a:r>
            <a:r>
              <a:rPr lang="en-US" sz="2000" b="1" i="1" dirty="0"/>
              <a:t>x[</a:t>
            </a:r>
            <a:r>
              <a:rPr lang="en-US" sz="2000" b="1" i="1" dirty="0" err="1"/>
              <a:t>i</a:t>
            </a:r>
            <a:r>
              <a:rPr lang="en-US" sz="2000" b="1" i="1" dirty="0"/>
              <a:t>].</a:t>
            </a:r>
          </a:p>
          <a:p>
            <a:pPr marL="285750" indent="-285750">
              <a:buFont typeface="Wingdings" panose="05000000000000000000" pitchFamily="2" charset="2"/>
              <a:buChar char="§"/>
            </a:pPr>
            <a:r>
              <a:rPr lang="en-US" sz="2000" b="1" i="1" dirty="0"/>
              <a:t>Example: </a:t>
            </a:r>
            <a:r>
              <a:rPr lang="en-US" sz="2000" dirty="0"/>
              <a:t>For row</a:t>
            </a:r>
            <a:r>
              <a:rPr lang="en-US" sz="2000" b="1" i="1" dirty="0"/>
              <a:t> </a:t>
            </a:r>
            <a:r>
              <a:rPr lang="en-US" sz="2000" b="1" i="1" dirty="0" err="1"/>
              <a:t>i</a:t>
            </a:r>
            <a:r>
              <a:rPr lang="en-US" sz="2000" b="1" i="1" dirty="0"/>
              <a:t> = 1</a:t>
            </a:r>
            <a:r>
              <a:rPr lang="en-US" sz="2000" dirty="0"/>
              <a:t>, if the list of values is </a:t>
            </a:r>
            <a:r>
              <a:rPr lang="en-US" sz="2000" b="1" i="1" dirty="0"/>
              <a:t>[6, 8, 4], </a:t>
            </a:r>
            <a:r>
              <a:rPr lang="en-US" sz="2000" dirty="0"/>
              <a:t>the output would be </a:t>
            </a:r>
            <a:r>
              <a:rPr lang="en-US" sz="2000" b="1" i="1" dirty="0"/>
              <a:t>(1, 18).</a:t>
            </a:r>
          </a:p>
        </p:txBody>
      </p:sp>
    </p:spTree>
    <p:extLst>
      <p:ext uri="{BB962C8B-B14F-4D97-AF65-F5344CB8AC3E}">
        <p14:creationId xmlns:p14="http://schemas.microsoft.com/office/powerpoint/2010/main" val="1582037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4" name="Metin kutusu 3">
            <a:extLst>
              <a:ext uri="{FF2B5EF4-FFF2-40B4-BE49-F238E27FC236}">
                <a16:creationId xmlns:a16="http://schemas.microsoft.com/office/drawing/2014/main" id="{37206CB0-6E23-2E77-EC28-3A2E66B948A8}"/>
              </a:ext>
            </a:extLst>
          </p:cNvPr>
          <p:cNvSpPr txBox="1"/>
          <p:nvPr/>
        </p:nvSpPr>
        <p:spPr>
          <a:xfrm>
            <a:off x="73890" y="780473"/>
            <a:ext cx="8308109" cy="6186309"/>
          </a:xfrm>
          <a:prstGeom prst="rect">
            <a:avLst/>
          </a:prstGeom>
          <a:noFill/>
        </p:spPr>
        <p:txBody>
          <a:bodyPr wrap="square" rtlCol="0">
            <a:spAutoFit/>
          </a:bodyPr>
          <a:lstStyle/>
          <a:p>
            <a:pPr marL="285750" indent="-285750">
              <a:buFont typeface="Wingdings" panose="05000000000000000000" pitchFamily="2" charset="2"/>
              <a:buChar char="§"/>
            </a:pPr>
            <a:r>
              <a:rPr lang="en-US" dirty="0"/>
              <a:t>If the </a:t>
            </a:r>
            <a:r>
              <a:rPr lang="en-US" b="1" dirty="0"/>
              <a:t>vector v</a:t>
            </a:r>
            <a:r>
              <a:rPr lang="en-US" dirty="0"/>
              <a:t> cannot fit into the main memory during matrix-vector multiplication in </a:t>
            </a:r>
            <a:r>
              <a:rPr lang="en-US" b="1" dirty="0"/>
              <a:t>MapReduce</a:t>
            </a:r>
            <a:r>
              <a:rPr lang="en-US" dirty="0"/>
              <a:t>, we need to partition both the matrix and the vector to ensure that each chunk of the vector can be processed by a Map task without exceeding memory limits. </a:t>
            </a:r>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r>
              <a:rPr lang="en-US" b="1" dirty="0"/>
              <a:t>1.Partition the Matrix and the Vector</a:t>
            </a:r>
            <a:r>
              <a:rPr lang="en-US" dirty="0"/>
              <a:t>:</a:t>
            </a:r>
          </a:p>
          <a:p>
            <a:pPr marL="285750" indent="-285750">
              <a:buFont typeface="Wingdings" panose="05000000000000000000" pitchFamily="2" charset="2"/>
              <a:buChar char="§"/>
            </a:pPr>
            <a:r>
              <a:rPr lang="en-US" b="1" dirty="0"/>
              <a:t>Matrix Partitioning: </a:t>
            </a:r>
            <a:r>
              <a:rPr lang="en-US" dirty="0"/>
              <a:t>The matrix </a:t>
            </a:r>
            <a:r>
              <a:rPr lang="en-US" b="1" i="1" dirty="0"/>
              <a:t>M</a:t>
            </a:r>
            <a:r>
              <a:rPr lang="en-US" dirty="0"/>
              <a:t> is split into </a:t>
            </a:r>
            <a:r>
              <a:rPr lang="en-US" b="1" dirty="0"/>
              <a:t>vertical stripes</a:t>
            </a:r>
            <a:r>
              <a:rPr lang="en-US" dirty="0"/>
              <a:t>. For example, if the matrix has </a:t>
            </a:r>
            <a:r>
              <a:rPr lang="en-US" b="1" i="1" dirty="0"/>
              <a:t>n</a:t>
            </a:r>
            <a:r>
              <a:rPr lang="en-US" dirty="0"/>
              <a:t> columns, and the vector is too large to fit in memory, you can divide the matrix into</a:t>
            </a:r>
            <a:r>
              <a:rPr lang="en-US" b="1" i="1" dirty="0"/>
              <a:t> k </a:t>
            </a:r>
            <a:r>
              <a:rPr lang="en-US" dirty="0"/>
              <a:t>vertical stripes, where each stripe consists of a subset of the columns.</a:t>
            </a:r>
          </a:p>
          <a:p>
            <a:pPr marL="285750" indent="-285750">
              <a:buFont typeface="Wingdings" panose="05000000000000000000" pitchFamily="2" charset="2"/>
              <a:buChar char="§"/>
            </a:pPr>
            <a:r>
              <a:rPr lang="en-US" b="1" dirty="0"/>
              <a:t>Vector Partitioning</a:t>
            </a:r>
            <a:r>
              <a:rPr lang="en-US" dirty="0"/>
              <a:t>: The vector </a:t>
            </a:r>
            <a:r>
              <a:rPr lang="en-US" b="1" i="1" dirty="0"/>
              <a:t>v</a:t>
            </a:r>
            <a:r>
              <a:rPr lang="en-US" dirty="0"/>
              <a:t> is split into </a:t>
            </a:r>
            <a:r>
              <a:rPr lang="en-US" b="1" dirty="0"/>
              <a:t>horizontal stripes </a:t>
            </a:r>
            <a:r>
              <a:rPr lang="en-US" dirty="0"/>
              <a:t>that correspond to the stripes of the matrix. Each stripe of the vector contains the entries needed for one of the matrix stripes.</a:t>
            </a:r>
          </a:p>
          <a:p>
            <a:pPr marL="285750" indent="-285750">
              <a:buFont typeface="Wingdings" panose="05000000000000000000" pitchFamily="2" charset="2"/>
              <a:buChar char="§"/>
            </a:pPr>
            <a:r>
              <a:rPr lang="en-US" b="1" dirty="0"/>
              <a:t>2.Map Function</a:t>
            </a:r>
            <a:r>
              <a:rPr lang="en-US" dirty="0"/>
              <a:t>:</a:t>
            </a:r>
          </a:p>
          <a:p>
            <a:pPr marL="285750" indent="-285750">
              <a:buFont typeface="Wingdings" panose="05000000000000000000" pitchFamily="2" charset="2"/>
              <a:buChar char="§"/>
            </a:pPr>
            <a:r>
              <a:rPr lang="en-US" dirty="0"/>
              <a:t>Each Map task processes a </a:t>
            </a:r>
            <a:r>
              <a:rPr lang="en-US" b="1" dirty="0"/>
              <a:t>chunk (stripe) </a:t>
            </a:r>
            <a:r>
              <a:rPr lang="en-US" dirty="0"/>
              <a:t>of the matrix and the </a:t>
            </a:r>
            <a:r>
              <a:rPr lang="en-US" b="1" dirty="0"/>
              <a:t>corresponding stripe</a:t>
            </a:r>
            <a:r>
              <a:rPr lang="en-US" dirty="0"/>
              <a:t> of the vector.</a:t>
            </a:r>
          </a:p>
          <a:p>
            <a:pPr marL="285750" indent="-285750">
              <a:buFont typeface="Wingdings" panose="05000000000000000000" pitchFamily="2" charset="2"/>
              <a:buChar char="§"/>
            </a:pPr>
            <a:r>
              <a:rPr lang="en-US" dirty="0"/>
              <a:t>The Map function reads the appropriate stripe of </a:t>
            </a:r>
            <a:r>
              <a:rPr lang="en-US" b="1" i="1" dirty="0"/>
              <a:t>v</a:t>
            </a:r>
            <a:r>
              <a:rPr lang="en-US" dirty="0"/>
              <a:t> into memory.</a:t>
            </a:r>
          </a:p>
          <a:p>
            <a:pPr marL="285750" indent="-285750">
              <a:buFont typeface="Wingdings" panose="05000000000000000000" pitchFamily="2" charset="2"/>
              <a:buChar char="§"/>
            </a:pPr>
            <a:r>
              <a:rPr lang="en-US" dirty="0"/>
              <a:t>It computes partial products for the matrix elements and their corresponding vector elements, generating key-value pairs </a:t>
            </a:r>
            <a:r>
              <a:rPr lang="en-US" b="1" i="1" dirty="0"/>
              <a:t>(</a:t>
            </a:r>
            <a:r>
              <a:rPr lang="en-US" b="1" i="1" dirty="0" err="1"/>
              <a:t>i</a:t>
            </a:r>
            <a:r>
              <a:rPr lang="en-US" b="1" i="1" dirty="0"/>
              <a:t>, </a:t>
            </a:r>
            <a:r>
              <a:rPr lang="en-US" b="1" i="1" dirty="0" err="1"/>
              <a:t>partial_sum</a:t>
            </a:r>
            <a:r>
              <a:rPr lang="en-US" b="1" i="1" dirty="0"/>
              <a:t>)</a:t>
            </a:r>
            <a:r>
              <a:rPr lang="en-US" dirty="0"/>
              <a:t> for each row </a:t>
            </a:r>
            <a:r>
              <a:rPr lang="en-US" b="1" i="1" dirty="0" err="1"/>
              <a:t>i</a:t>
            </a:r>
            <a:r>
              <a:rPr lang="en-US" dirty="0"/>
              <a:t> of the matrix.</a:t>
            </a:r>
          </a:p>
          <a:p>
            <a:pPr marL="285750" indent="-285750">
              <a:buFont typeface="Wingdings" panose="05000000000000000000" pitchFamily="2" charset="2"/>
              <a:buChar char="§"/>
            </a:pPr>
            <a:r>
              <a:rPr lang="en-US" dirty="0" err="1"/>
              <a:t>Example:For</a:t>
            </a:r>
            <a:r>
              <a:rPr lang="en-US" dirty="0"/>
              <a:t> each element </a:t>
            </a:r>
            <a:r>
              <a:rPr lang="en-US" b="1" i="1" dirty="0"/>
              <a:t>M[</a:t>
            </a:r>
            <a:r>
              <a:rPr lang="en-US" b="1" i="1" dirty="0" err="1"/>
              <a:t>i</a:t>
            </a:r>
            <a:r>
              <a:rPr lang="en-US" b="1" i="1" dirty="0"/>
              <a:t>, j] </a:t>
            </a:r>
            <a:r>
              <a:rPr lang="en-US" dirty="0"/>
              <a:t>in the matrix stripe, the Map task multiplies it with the corresponding vector element </a:t>
            </a:r>
            <a:r>
              <a:rPr lang="en-US" b="1" i="1" dirty="0"/>
              <a:t>v[j]</a:t>
            </a:r>
            <a:r>
              <a:rPr lang="en-US" dirty="0"/>
              <a:t> from the vector stripe and produces an intermediate result </a:t>
            </a:r>
            <a:r>
              <a:rPr lang="en-US" b="1" i="1" dirty="0"/>
              <a:t>(</a:t>
            </a:r>
            <a:r>
              <a:rPr lang="en-US" b="1" i="1" dirty="0" err="1"/>
              <a:t>i</a:t>
            </a:r>
            <a:r>
              <a:rPr lang="en-US" b="1" i="1" dirty="0"/>
              <a:t>, M[</a:t>
            </a:r>
            <a:r>
              <a:rPr lang="en-US" b="1" i="1" dirty="0" err="1"/>
              <a:t>i,j</a:t>
            </a:r>
            <a:r>
              <a:rPr lang="en-US" b="1" i="1" dirty="0"/>
              <a:t>] * v[j]).</a:t>
            </a:r>
          </a:p>
          <a:p>
            <a:pPr marL="285750" indent="-285750">
              <a:buFont typeface="Wingdings" panose="05000000000000000000" pitchFamily="2" charset="2"/>
              <a:buChar char="§"/>
            </a:pPr>
            <a:endParaRPr lang="en-US" dirty="0"/>
          </a:p>
        </p:txBody>
      </p:sp>
      <p:pic>
        <p:nvPicPr>
          <p:cNvPr id="7" name="Resim 6">
            <a:extLst>
              <a:ext uri="{FF2B5EF4-FFF2-40B4-BE49-F238E27FC236}">
                <a16:creationId xmlns:a16="http://schemas.microsoft.com/office/drawing/2014/main" id="{335466BD-3392-488C-5C62-F1344728D6CE}"/>
              </a:ext>
            </a:extLst>
          </p:cNvPr>
          <p:cNvPicPr>
            <a:picLocks noChangeAspect="1"/>
          </p:cNvPicPr>
          <p:nvPr/>
        </p:nvPicPr>
        <p:blipFill>
          <a:blip r:embed="rId2"/>
          <a:stretch>
            <a:fillRect/>
          </a:stretch>
        </p:blipFill>
        <p:spPr>
          <a:xfrm>
            <a:off x="8356599" y="2362200"/>
            <a:ext cx="3657600" cy="2676899"/>
          </a:xfrm>
          <a:prstGeom prst="rect">
            <a:avLst/>
          </a:prstGeom>
        </p:spPr>
      </p:pic>
    </p:spTree>
    <p:extLst>
      <p:ext uri="{BB962C8B-B14F-4D97-AF65-F5344CB8AC3E}">
        <p14:creationId xmlns:p14="http://schemas.microsoft.com/office/powerpoint/2010/main" val="1022057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4" name="Metin kutusu 3">
            <a:extLst>
              <a:ext uri="{FF2B5EF4-FFF2-40B4-BE49-F238E27FC236}">
                <a16:creationId xmlns:a16="http://schemas.microsoft.com/office/drawing/2014/main" id="{37206CB0-6E23-2E77-EC28-3A2E66B948A8}"/>
              </a:ext>
            </a:extLst>
          </p:cNvPr>
          <p:cNvSpPr txBox="1"/>
          <p:nvPr/>
        </p:nvSpPr>
        <p:spPr>
          <a:xfrm>
            <a:off x="76200" y="762000"/>
            <a:ext cx="12115800" cy="5539978"/>
          </a:xfrm>
          <a:prstGeom prst="rect">
            <a:avLst/>
          </a:prstGeom>
          <a:noFill/>
        </p:spPr>
        <p:txBody>
          <a:bodyPr wrap="square" rtlCol="0">
            <a:spAutoFit/>
          </a:bodyPr>
          <a:lstStyle/>
          <a:p>
            <a:pPr marL="285750" indent="-285750">
              <a:buFont typeface="Wingdings" panose="05000000000000000000" pitchFamily="2" charset="2"/>
              <a:buChar char="§"/>
            </a:pPr>
            <a:r>
              <a:rPr lang="en-US" sz="2400" b="1" dirty="0"/>
              <a:t>3.Reduce Function:</a:t>
            </a:r>
          </a:p>
          <a:p>
            <a:pPr marL="285750" indent="-285750">
              <a:buFont typeface="Wingdings" panose="05000000000000000000" pitchFamily="2" charset="2"/>
              <a:buChar char="§"/>
            </a:pPr>
            <a:r>
              <a:rPr lang="en-US" sz="2400" dirty="0"/>
              <a:t>The Reduce function gathers all the partial sums for each row </a:t>
            </a:r>
            <a:r>
              <a:rPr lang="en-US" sz="2400" b="1" i="1" dirty="0" err="1"/>
              <a:t>i</a:t>
            </a:r>
            <a:r>
              <a:rPr lang="en-US" sz="2400" dirty="0"/>
              <a:t> from the different stripes and sums them up to produce the final result.</a:t>
            </a:r>
          </a:p>
          <a:p>
            <a:pPr marL="285750" indent="-285750">
              <a:buFont typeface="Wingdings" panose="05000000000000000000" pitchFamily="2" charset="2"/>
              <a:buChar char="§"/>
            </a:pPr>
            <a:r>
              <a:rPr lang="en-US" sz="2400" dirty="0"/>
              <a:t>For each row </a:t>
            </a:r>
            <a:r>
              <a:rPr lang="en-US" sz="2400" b="1" i="1" dirty="0" err="1"/>
              <a:t>i</a:t>
            </a:r>
            <a:r>
              <a:rPr lang="en-US" sz="2400" dirty="0"/>
              <a:t>, the Reduce function receives a list of partial sums (one from each Map task) and computes the total sum to produce the final result for </a:t>
            </a:r>
            <a:r>
              <a:rPr lang="en-US" sz="2400" b="1" i="1" dirty="0"/>
              <a:t>x[</a:t>
            </a:r>
            <a:r>
              <a:rPr lang="en-US" sz="2400" b="1" i="1" dirty="0" err="1"/>
              <a:t>i</a:t>
            </a:r>
            <a:r>
              <a:rPr lang="en-US" sz="2400" b="1" i="1" dirty="0"/>
              <a:t>].</a:t>
            </a:r>
          </a:p>
          <a:p>
            <a:pPr marL="285750" indent="-285750">
              <a:buFont typeface="Wingdings" panose="05000000000000000000" pitchFamily="2" charset="2"/>
              <a:buChar char="§"/>
            </a:pPr>
            <a:endParaRPr lang="en-US" sz="2400" b="1" i="1" dirty="0"/>
          </a:p>
          <a:p>
            <a:pPr marL="285750" indent="-285750">
              <a:buFont typeface="Wingdings" panose="05000000000000000000" pitchFamily="2" charset="2"/>
              <a:buChar char="§"/>
            </a:pPr>
            <a:r>
              <a:rPr lang="en-US" sz="2400" b="1" dirty="0"/>
              <a:t>Advantages of Partitioning:</a:t>
            </a:r>
          </a:p>
          <a:p>
            <a:endParaRPr lang="en-US" sz="2400" b="1" dirty="0"/>
          </a:p>
          <a:p>
            <a:pPr marL="285750" indent="-285750">
              <a:buFont typeface="Wingdings" panose="05000000000000000000" pitchFamily="2" charset="2"/>
              <a:buChar char="§"/>
            </a:pPr>
            <a:r>
              <a:rPr lang="en-US" sz="2400" b="1" dirty="0"/>
              <a:t>Memory Efficiency</a:t>
            </a:r>
            <a:r>
              <a:rPr lang="en-US" sz="2400" dirty="0"/>
              <a:t>: By breaking the vector into smaller chunks, each Map task only processes a portion of the vector that fits into memory.</a:t>
            </a:r>
          </a:p>
          <a:p>
            <a:pPr marL="285750" indent="-285750">
              <a:buFont typeface="Wingdings" panose="05000000000000000000" pitchFamily="2" charset="2"/>
              <a:buChar char="§"/>
            </a:pPr>
            <a:r>
              <a:rPr lang="en-US" sz="2400" b="1" dirty="0"/>
              <a:t>Parallelism</a:t>
            </a:r>
            <a:r>
              <a:rPr lang="en-US" sz="2400" dirty="0"/>
              <a:t>: The matrix and vector partitions are processed in parallel across different Map tasks, making the approach scalable to large matrices and vectors.</a:t>
            </a:r>
          </a:p>
          <a:p>
            <a:pPr marL="285750" indent="-285750">
              <a:buFont typeface="Wingdings" panose="05000000000000000000" pitchFamily="2" charset="2"/>
              <a:buChar char="§"/>
            </a:pPr>
            <a:r>
              <a:rPr lang="en-US" sz="2400" b="1" dirty="0"/>
              <a:t>Flexibility</a:t>
            </a:r>
            <a:r>
              <a:rPr lang="en-US" sz="2400" dirty="0"/>
              <a:t>: This approach works well for large-scale matrix-vector multiplications, especially when dealing with extremely large datasets (e.g., PageRank computations for web graphs).</a:t>
            </a:r>
          </a:p>
          <a:p>
            <a:pPr marL="285750" indent="-285750">
              <a:buFont typeface="Wingdings" panose="05000000000000000000" pitchFamily="2" charset="2"/>
              <a:buChar char="§"/>
            </a:pPr>
            <a:endParaRPr lang="en-US" b="1" i="1" dirty="0"/>
          </a:p>
        </p:txBody>
      </p:sp>
    </p:spTree>
    <p:extLst>
      <p:ext uri="{BB962C8B-B14F-4D97-AF65-F5344CB8AC3E}">
        <p14:creationId xmlns:p14="http://schemas.microsoft.com/office/powerpoint/2010/main" val="1005792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6" name="Metin kutusu 5">
            <a:extLst>
              <a:ext uri="{FF2B5EF4-FFF2-40B4-BE49-F238E27FC236}">
                <a16:creationId xmlns:a16="http://schemas.microsoft.com/office/drawing/2014/main" id="{2C69CF69-E01D-BF1A-29D0-D68B9B3572BA}"/>
              </a:ext>
            </a:extLst>
          </p:cNvPr>
          <p:cNvSpPr txBox="1"/>
          <p:nvPr/>
        </p:nvSpPr>
        <p:spPr>
          <a:xfrm>
            <a:off x="152400" y="914400"/>
            <a:ext cx="11734800" cy="5016758"/>
          </a:xfrm>
          <a:prstGeom prst="rect">
            <a:avLst/>
          </a:prstGeom>
          <a:noFill/>
        </p:spPr>
        <p:txBody>
          <a:bodyPr wrap="square" rtlCol="0">
            <a:spAutoFit/>
          </a:bodyPr>
          <a:lstStyle/>
          <a:p>
            <a:pPr marL="285750" indent="-285750">
              <a:buFont typeface="Wingdings" panose="05000000000000000000" pitchFamily="2" charset="2"/>
              <a:buChar char="§"/>
            </a:pPr>
            <a:r>
              <a:rPr lang="en-US" sz="2000" b="1" dirty="0"/>
              <a:t>Relational-Algebra Operations</a:t>
            </a:r>
          </a:p>
          <a:p>
            <a:pPr marL="285750" indent="-285750">
              <a:buFont typeface="Wingdings" panose="05000000000000000000" pitchFamily="2" charset="2"/>
              <a:buChar char="§"/>
            </a:pPr>
            <a:r>
              <a:rPr lang="en-US" sz="2000" dirty="0"/>
              <a:t>MapReduce can be used to perform traditional relational database operations like </a:t>
            </a:r>
            <a:r>
              <a:rPr lang="en-US" sz="2000" b="1" dirty="0"/>
              <a:t>Selection, Projection, Union, Intersection, Difference, and Join</a:t>
            </a:r>
            <a:r>
              <a:rPr lang="en-US" sz="2000" dirty="0"/>
              <a:t>. </a:t>
            </a:r>
          </a:p>
          <a:p>
            <a:pPr marL="285750" indent="-285750">
              <a:buFont typeface="Wingdings" panose="05000000000000000000" pitchFamily="2" charset="2"/>
              <a:buChar char="§"/>
            </a:pPr>
            <a:r>
              <a:rPr lang="en-US" sz="2000" dirty="0"/>
              <a:t>Natural Join: R ⊲⊳ S </a:t>
            </a:r>
          </a:p>
          <a:p>
            <a:pPr marL="285750" indent="-285750">
              <a:buFont typeface="Wingdings" panose="05000000000000000000" pitchFamily="2" charset="2"/>
              <a:buChar char="§"/>
            </a:pPr>
            <a:r>
              <a:rPr lang="en-US" sz="2000" dirty="0"/>
              <a:t>Given two relations </a:t>
            </a:r>
            <a:r>
              <a:rPr lang="en-US" sz="2000" b="1" i="1" dirty="0"/>
              <a:t>R(A,B)</a:t>
            </a:r>
            <a:r>
              <a:rPr lang="en-US" sz="2000" dirty="0"/>
              <a:t> and </a:t>
            </a:r>
            <a:r>
              <a:rPr lang="en-US" sz="2000" b="1" i="1" dirty="0"/>
              <a:t>S(B,C)</a:t>
            </a:r>
            <a:r>
              <a:rPr lang="en-US" sz="2000" dirty="0"/>
              <a:t>, the goal is to find tuples </a:t>
            </a:r>
            <a:r>
              <a:rPr lang="en-US" sz="2000" b="1" i="1" dirty="0"/>
              <a:t>(A, B, C) </a:t>
            </a:r>
            <a:r>
              <a:rPr lang="en-US" sz="2000" dirty="0"/>
              <a:t>where the </a:t>
            </a:r>
            <a:r>
              <a:rPr lang="en-US" sz="2000" b="1" i="1" dirty="0"/>
              <a:t>B</a:t>
            </a:r>
            <a:r>
              <a:rPr lang="en-US" sz="2000" dirty="0"/>
              <a:t> values in </a:t>
            </a:r>
            <a:r>
              <a:rPr lang="en-US" sz="2000" b="1" i="1" dirty="0"/>
              <a:t>R</a:t>
            </a:r>
            <a:r>
              <a:rPr lang="en-US" sz="2000" dirty="0"/>
              <a:t> and </a:t>
            </a:r>
            <a:r>
              <a:rPr lang="en-US" sz="2000" b="1" i="1" dirty="0"/>
              <a:t>S</a:t>
            </a:r>
            <a:r>
              <a:rPr lang="en-US" sz="2000" dirty="0"/>
              <a:t> match.</a:t>
            </a:r>
          </a:p>
          <a:p>
            <a:pPr marL="285750" indent="-285750">
              <a:buFont typeface="Wingdings" panose="05000000000000000000" pitchFamily="2" charset="2"/>
              <a:buChar char="§"/>
            </a:pPr>
            <a:endParaRPr lang="en-US" sz="2000" dirty="0"/>
          </a:p>
          <a:p>
            <a:pPr marL="285750" indent="-285750">
              <a:buFont typeface="Wingdings" panose="05000000000000000000" pitchFamily="2" charset="2"/>
              <a:buChar char="§"/>
            </a:pPr>
            <a:r>
              <a:rPr lang="en-US" sz="2000" b="1" dirty="0"/>
              <a:t>Map Function:</a:t>
            </a:r>
          </a:p>
          <a:p>
            <a:pPr marL="285750" indent="-285750">
              <a:buFont typeface="Wingdings" panose="05000000000000000000" pitchFamily="2" charset="2"/>
              <a:buChar char="§"/>
            </a:pPr>
            <a:r>
              <a:rPr lang="en-US" sz="2000" dirty="0"/>
              <a:t>Input: Tuples from relations R and S.</a:t>
            </a:r>
          </a:p>
          <a:p>
            <a:pPr marL="285750" indent="-285750">
              <a:buFont typeface="Wingdings" panose="05000000000000000000" pitchFamily="2" charset="2"/>
              <a:buChar char="§"/>
            </a:pPr>
            <a:r>
              <a:rPr lang="en-US" sz="2000" dirty="0"/>
              <a:t>Output: For each tuple in </a:t>
            </a:r>
            <a:r>
              <a:rPr lang="en-US" sz="2000" b="1" i="1" dirty="0"/>
              <a:t>R</a:t>
            </a:r>
            <a:r>
              <a:rPr lang="en-US" sz="2000" dirty="0"/>
              <a:t>, emit the key as </a:t>
            </a:r>
            <a:r>
              <a:rPr lang="en-US" sz="2000" b="1" i="1" dirty="0"/>
              <a:t>B</a:t>
            </a:r>
            <a:r>
              <a:rPr lang="en-US" sz="2000" dirty="0"/>
              <a:t> and the value as </a:t>
            </a:r>
            <a:r>
              <a:rPr lang="en-US" sz="2000" b="1" i="1" dirty="0"/>
              <a:t>(R, A). </a:t>
            </a:r>
            <a:r>
              <a:rPr lang="en-US" sz="2000" dirty="0"/>
              <a:t>For each tuple in </a:t>
            </a:r>
            <a:r>
              <a:rPr lang="en-US" sz="2000" b="1" i="1" dirty="0"/>
              <a:t>S</a:t>
            </a:r>
            <a:r>
              <a:rPr lang="en-US" sz="2000" dirty="0"/>
              <a:t>, emit the key as </a:t>
            </a:r>
            <a:r>
              <a:rPr lang="en-US" sz="2000" b="1" i="1" dirty="0"/>
              <a:t>B</a:t>
            </a:r>
            <a:r>
              <a:rPr lang="en-US" sz="2000" dirty="0"/>
              <a:t> and the value as </a:t>
            </a:r>
            <a:r>
              <a:rPr lang="en-US" sz="2000" b="1" i="1" dirty="0"/>
              <a:t>(S, C).</a:t>
            </a:r>
          </a:p>
          <a:p>
            <a:pPr marL="285750" indent="-285750">
              <a:buFont typeface="Wingdings" panose="05000000000000000000" pitchFamily="2" charset="2"/>
              <a:buChar char="§"/>
            </a:pPr>
            <a:r>
              <a:rPr lang="en-US" sz="2000" dirty="0"/>
              <a:t>Example: From </a:t>
            </a:r>
            <a:r>
              <a:rPr lang="en-US" sz="2000" b="1" i="1" dirty="0"/>
              <a:t>(A=1, B=2)</a:t>
            </a:r>
            <a:r>
              <a:rPr lang="en-US" sz="2000" dirty="0"/>
              <a:t> in </a:t>
            </a:r>
            <a:r>
              <a:rPr lang="en-US" sz="2000" b="1" i="1" dirty="0"/>
              <a:t>R</a:t>
            </a:r>
            <a:r>
              <a:rPr lang="en-US" sz="2000" dirty="0"/>
              <a:t>, emit </a:t>
            </a:r>
            <a:r>
              <a:rPr lang="en-US" sz="2000" b="1" i="1" dirty="0"/>
              <a:t>(2, (R, 1)</a:t>
            </a:r>
            <a:r>
              <a:rPr lang="en-US" sz="2000" dirty="0"/>
              <a:t>). From </a:t>
            </a:r>
            <a:r>
              <a:rPr lang="en-US" sz="2000" b="1" i="1" dirty="0"/>
              <a:t>(B=2, C=3) </a:t>
            </a:r>
            <a:r>
              <a:rPr lang="en-US" sz="2000" dirty="0"/>
              <a:t>in </a:t>
            </a:r>
            <a:r>
              <a:rPr lang="en-US" sz="2000" b="1" i="1" dirty="0"/>
              <a:t>S</a:t>
            </a:r>
            <a:r>
              <a:rPr lang="en-US" sz="2000" dirty="0"/>
              <a:t>, emit </a:t>
            </a:r>
            <a:r>
              <a:rPr lang="en-US" sz="2000" b="1" i="1" dirty="0"/>
              <a:t>(2, (S, 3)).</a:t>
            </a:r>
          </a:p>
          <a:p>
            <a:pPr marL="285750" indent="-285750">
              <a:buFont typeface="Wingdings" panose="05000000000000000000" pitchFamily="2" charset="2"/>
              <a:buChar char="§"/>
            </a:pPr>
            <a:endParaRPr lang="en-US" sz="2000" dirty="0"/>
          </a:p>
          <a:p>
            <a:pPr marL="285750" indent="-285750">
              <a:buFont typeface="Wingdings" panose="05000000000000000000" pitchFamily="2" charset="2"/>
              <a:buChar char="§"/>
            </a:pPr>
            <a:r>
              <a:rPr lang="en-US" sz="2000" b="1" dirty="0"/>
              <a:t>Reduce Function:</a:t>
            </a:r>
          </a:p>
          <a:p>
            <a:pPr marL="285750" indent="-285750">
              <a:buFont typeface="Wingdings" panose="05000000000000000000" pitchFamily="2" charset="2"/>
              <a:buChar char="§"/>
            </a:pPr>
            <a:r>
              <a:rPr lang="en-US" sz="2000" dirty="0"/>
              <a:t>Input: Key </a:t>
            </a:r>
            <a:r>
              <a:rPr lang="en-US" sz="2000" b="1" i="1" dirty="0"/>
              <a:t>B</a:t>
            </a:r>
            <a:r>
              <a:rPr lang="en-US" sz="2000" dirty="0"/>
              <a:t> and a list of values from </a:t>
            </a:r>
            <a:r>
              <a:rPr lang="en-US" sz="2000" b="1" i="1" dirty="0"/>
              <a:t>R</a:t>
            </a:r>
            <a:r>
              <a:rPr lang="en-US" sz="2000" dirty="0"/>
              <a:t> and </a:t>
            </a:r>
            <a:r>
              <a:rPr lang="en-US" sz="2000" b="1" i="1" dirty="0"/>
              <a:t>S.</a:t>
            </a:r>
          </a:p>
          <a:p>
            <a:pPr marL="285750" indent="-285750">
              <a:buFont typeface="Wingdings" panose="05000000000000000000" pitchFamily="2" charset="2"/>
              <a:buChar char="§"/>
            </a:pPr>
            <a:r>
              <a:rPr lang="en-US" sz="2000" dirty="0"/>
              <a:t>Output: For each pair of values </a:t>
            </a:r>
            <a:r>
              <a:rPr lang="en-US" sz="2000" b="1" i="1" dirty="0"/>
              <a:t>(R, A) </a:t>
            </a:r>
            <a:r>
              <a:rPr lang="en-US" sz="2000" dirty="0"/>
              <a:t>and </a:t>
            </a:r>
            <a:r>
              <a:rPr lang="en-US" sz="2000" b="1" i="1" dirty="0"/>
              <a:t>(S, C) </a:t>
            </a:r>
            <a:r>
              <a:rPr lang="en-US" sz="2000" dirty="0"/>
              <a:t>with the same key </a:t>
            </a:r>
            <a:r>
              <a:rPr lang="en-US" sz="2000" b="1" i="1" dirty="0"/>
              <a:t>B</a:t>
            </a:r>
            <a:r>
              <a:rPr lang="en-US" sz="2000" dirty="0"/>
              <a:t>, emit the tuple </a:t>
            </a:r>
            <a:r>
              <a:rPr lang="en-US" sz="2000" b="1" i="1" dirty="0"/>
              <a:t>(A, B, C).</a:t>
            </a:r>
          </a:p>
          <a:p>
            <a:pPr marL="285750" indent="-285750">
              <a:buFont typeface="Wingdings" panose="05000000000000000000" pitchFamily="2" charset="2"/>
              <a:buChar char="§"/>
            </a:pPr>
            <a:r>
              <a:rPr lang="en-US" sz="2000" dirty="0"/>
              <a:t>Example: For key </a:t>
            </a:r>
            <a:r>
              <a:rPr lang="en-US" sz="2000" b="1" i="1" dirty="0"/>
              <a:t>B=2</a:t>
            </a:r>
            <a:r>
              <a:rPr lang="en-US" sz="2000" dirty="0"/>
              <a:t>, with values </a:t>
            </a:r>
            <a:r>
              <a:rPr lang="en-US" sz="2000" b="1" i="1" dirty="0"/>
              <a:t>[(R, 1), (S, 3)], </a:t>
            </a:r>
            <a:r>
              <a:rPr lang="en-US" sz="2000" dirty="0"/>
              <a:t>the output would be </a:t>
            </a:r>
            <a:r>
              <a:rPr lang="en-US" sz="2000" b="1" i="1" dirty="0"/>
              <a:t>(1, 2, 3)</a:t>
            </a:r>
            <a:r>
              <a:rPr lang="en-US" sz="2000" dirty="0"/>
              <a:t>.</a:t>
            </a:r>
          </a:p>
        </p:txBody>
      </p:sp>
    </p:spTree>
    <p:extLst>
      <p:ext uri="{BB962C8B-B14F-4D97-AF65-F5344CB8AC3E}">
        <p14:creationId xmlns:p14="http://schemas.microsoft.com/office/powerpoint/2010/main" val="1854830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2" name="Metin kutusu 1">
            <a:extLst>
              <a:ext uri="{FF2B5EF4-FFF2-40B4-BE49-F238E27FC236}">
                <a16:creationId xmlns:a16="http://schemas.microsoft.com/office/drawing/2014/main" id="{E2B33AD5-9A52-9A1F-388A-8C2864F7583B}"/>
              </a:ext>
            </a:extLst>
          </p:cNvPr>
          <p:cNvSpPr txBox="1"/>
          <p:nvPr/>
        </p:nvSpPr>
        <p:spPr>
          <a:xfrm>
            <a:off x="152400" y="838200"/>
            <a:ext cx="11811000" cy="6186309"/>
          </a:xfrm>
          <a:prstGeom prst="rect">
            <a:avLst/>
          </a:prstGeom>
          <a:noFill/>
        </p:spPr>
        <p:txBody>
          <a:bodyPr wrap="square" rtlCol="0">
            <a:spAutoFit/>
          </a:bodyPr>
          <a:lstStyle/>
          <a:p>
            <a:pPr marL="285750" indent="-285750">
              <a:buFont typeface="Wingdings" panose="05000000000000000000" pitchFamily="2" charset="2"/>
              <a:buChar char="§"/>
            </a:pPr>
            <a:r>
              <a:rPr lang="en-US" b="1" dirty="0"/>
              <a:t>Computing Selections by MapReduce</a:t>
            </a:r>
          </a:p>
          <a:p>
            <a:pPr marL="285750" indent="-285750">
              <a:buFont typeface="Wingdings" panose="05000000000000000000" pitchFamily="2" charset="2"/>
              <a:buChar char="§"/>
            </a:pPr>
            <a:r>
              <a:rPr lang="en-US" b="1" dirty="0"/>
              <a:t>Selection</a:t>
            </a:r>
            <a:r>
              <a:rPr lang="en-US" dirty="0"/>
              <a:t> in relational databases is an operation that retrieves rows (or </a:t>
            </a:r>
            <a:r>
              <a:rPr lang="en-US" b="1" dirty="0"/>
              <a:t>tuples</a:t>
            </a:r>
            <a:r>
              <a:rPr lang="en-US" dirty="0"/>
              <a:t>) from a table that meet a certain condition or predicate. In </a:t>
            </a:r>
            <a:r>
              <a:rPr lang="en-US" b="1" dirty="0"/>
              <a:t>MapReduce</a:t>
            </a:r>
            <a:r>
              <a:rPr lang="en-US" dirty="0"/>
              <a:t>, selection can implemented operation to filter data by applying the condition during the </a:t>
            </a:r>
            <a:r>
              <a:rPr lang="en-US" b="1" dirty="0"/>
              <a:t>Map</a:t>
            </a:r>
            <a:r>
              <a:rPr lang="en-US" dirty="0"/>
              <a:t> phase. This operation can be parallelized efficiently using the MapReduce framework, even for large datasets.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Selection</a:t>
            </a:r>
            <a:r>
              <a:rPr lang="en-US" dirty="0"/>
              <a:t> in relational databases is an operation that retrieves rows (or </a:t>
            </a:r>
            <a:r>
              <a:rPr lang="en-US" b="1" dirty="0"/>
              <a:t>tuples</a:t>
            </a:r>
            <a:r>
              <a:rPr lang="en-US" dirty="0"/>
              <a:t>) from a table that meet a certain condition or predicate. In </a:t>
            </a:r>
            <a:r>
              <a:rPr lang="en-US" b="1" dirty="0"/>
              <a:t>MapReduce</a:t>
            </a:r>
            <a:r>
              <a:rPr lang="en-US" dirty="0"/>
              <a:t>, we can implement the selection operation to filter data by applying the condition during the </a:t>
            </a:r>
            <a:r>
              <a:rPr lang="en-US" b="1" dirty="0"/>
              <a:t>Map</a:t>
            </a:r>
            <a:r>
              <a:rPr lang="en-US" dirty="0"/>
              <a:t> phase. This operation can be parallelized efficiently using the MapReduce framework, even for large datasets.</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Selection Operation Overview:</a:t>
            </a:r>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r>
              <a:rPr lang="en-US" dirty="0"/>
              <a:t>The selection operation in relational algebra is denoted as: </a:t>
            </a:r>
            <a:r>
              <a:rPr lang="en-US" dirty="0" err="1"/>
              <a:t>σ</a:t>
            </a:r>
            <a:r>
              <a:rPr lang="en-US" sz="1200" dirty="0" err="1"/>
              <a:t>C</a:t>
            </a:r>
            <a:r>
              <a:rPr lang="en-US" dirty="0"/>
              <a:t>(</a:t>
            </a:r>
            <a:r>
              <a:rPr lang="en-US" i="1" dirty="0"/>
              <a:t>R</a:t>
            </a:r>
            <a:r>
              <a:rPr lang="en-US" dirty="0"/>
              <a:t>) Where:</a:t>
            </a:r>
          </a:p>
          <a:p>
            <a:pPr marL="285750" indent="-285750">
              <a:buFont typeface="Wingdings" panose="05000000000000000000" pitchFamily="2" charset="2"/>
              <a:buChar char="§"/>
            </a:pPr>
            <a:r>
              <a:rPr lang="en-US" dirty="0"/>
              <a:t>C is a </a:t>
            </a:r>
            <a:r>
              <a:rPr lang="en-US" b="1" dirty="0"/>
              <a:t>condition</a:t>
            </a:r>
            <a:r>
              <a:rPr lang="en-US" dirty="0"/>
              <a:t> applied to each tuple.</a:t>
            </a:r>
          </a:p>
          <a:p>
            <a:pPr marL="285750" indent="-285750">
              <a:buFont typeface="Wingdings" panose="05000000000000000000" pitchFamily="2" charset="2"/>
              <a:buChar char="§"/>
            </a:pPr>
            <a:r>
              <a:rPr lang="en-US" dirty="0"/>
              <a:t>R is a </a:t>
            </a:r>
            <a:r>
              <a:rPr lang="en-US" b="1" dirty="0"/>
              <a:t>relation</a:t>
            </a:r>
            <a:r>
              <a:rPr lang="en-US" dirty="0"/>
              <a:t> (table).</a:t>
            </a:r>
          </a:p>
          <a:p>
            <a:pPr marL="285750" indent="-285750">
              <a:buFont typeface="Wingdings" panose="05000000000000000000" pitchFamily="2" charset="2"/>
              <a:buChar char="§"/>
            </a:pPr>
            <a:r>
              <a:rPr lang="en-US" dirty="0"/>
              <a:t>The result of </a:t>
            </a:r>
            <a:r>
              <a:rPr lang="en-US" dirty="0" err="1"/>
              <a:t>σ</a:t>
            </a:r>
            <a:r>
              <a:rPr lang="en-US" sz="1200" dirty="0" err="1"/>
              <a:t>C</a:t>
            </a:r>
            <a:r>
              <a:rPr lang="en-US" dirty="0"/>
              <a:t>(</a:t>
            </a:r>
            <a:r>
              <a:rPr lang="en-US" i="1" dirty="0"/>
              <a:t>R</a:t>
            </a:r>
            <a:r>
              <a:rPr lang="en-US" dirty="0"/>
              <a:t>) is the set of tuples from </a:t>
            </a:r>
            <a:r>
              <a:rPr lang="en-US" i="1" dirty="0"/>
              <a:t>R</a:t>
            </a:r>
            <a:r>
              <a:rPr lang="en-US" dirty="0"/>
              <a:t> that satisfy condition </a:t>
            </a:r>
            <a:r>
              <a:rPr lang="en-US" i="1" dirty="0"/>
              <a:t>C</a:t>
            </a:r>
            <a:r>
              <a:rPr lang="en-US" dirty="0"/>
              <a:t>.</a:t>
            </a:r>
          </a:p>
          <a:p>
            <a:pPr marL="285750" indent="-285750">
              <a:buFont typeface="Wingdings" panose="05000000000000000000" pitchFamily="2" charset="2"/>
              <a:buChar char="§"/>
            </a:pPr>
            <a:r>
              <a:rPr lang="en-US" b="1" dirty="0"/>
              <a:t>MapReduce Implementation of Selection:</a:t>
            </a:r>
          </a:p>
          <a:p>
            <a:pPr marL="285750" indent="-285750">
              <a:buFont typeface="Wingdings" panose="05000000000000000000" pitchFamily="2" charset="2"/>
              <a:buChar char="§"/>
            </a:pPr>
            <a:r>
              <a:rPr lang="en-US" b="1" dirty="0"/>
              <a:t>1. Map Function:</a:t>
            </a:r>
          </a:p>
          <a:p>
            <a:pPr marL="285750" indent="-285750">
              <a:buFont typeface="Wingdings" panose="05000000000000000000" pitchFamily="2" charset="2"/>
              <a:buChar char="§"/>
            </a:pPr>
            <a:r>
              <a:rPr lang="en-US" dirty="0"/>
              <a:t>In the </a:t>
            </a:r>
            <a:r>
              <a:rPr lang="en-US" b="1" dirty="0"/>
              <a:t>Map</a:t>
            </a:r>
            <a:r>
              <a:rPr lang="en-US" dirty="0"/>
              <a:t> phase, the function processes each tuple (row) from the dataset. The </a:t>
            </a:r>
            <a:r>
              <a:rPr lang="en-US" b="1" dirty="0"/>
              <a:t>Map</a:t>
            </a:r>
            <a:r>
              <a:rPr lang="en-US" dirty="0"/>
              <a:t> function checks if the tuple satisfies the condition </a:t>
            </a:r>
            <a:r>
              <a:rPr lang="en-US" i="1" dirty="0"/>
              <a:t>C</a:t>
            </a:r>
            <a:r>
              <a:rPr lang="en-US" dirty="0"/>
              <a:t> and only emits the tuple if it passes the condition.</a:t>
            </a:r>
          </a:p>
          <a:p>
            <a:pPr marL="285750" indent="-285750">
              <a:buFont typeface="Wingdings" panose="05000000000000000000" pitchFamily="2" charset="2"/>
              <a:buChar char="§"/>
            </a:pPr>
            <a:r>
              <a:rPr lang="en-US" b="1" dirty="0"/>
              <a:t>Input</a:t>
            </a:r>
            <a:r>
              <a:rPr lang="en-US" dirty="0"/>
              <a:t>: A tuple from the relation </a:t>
            </a:r>
            <a:r>
              <a:rPr lang="en-US" i="1" dirty="0"/>
              <a:t>R</a:t>
            </a:r>
            <a:r>
              <a:rPr lang="en-US" dirty="0"/>
              <a:t>.</a:t>
            </a:r>
          </a:p>
          <a:p>
            <a:pPr marL="285750" indent="-285750">
              <a:buFont typeface="Wingdings" panose="05000000000000000000" pitchFamily="2" charset="2"/>
              <a:buChar char="§"/>
            </a:pPr>
            <a:r>
              <a:rPr lang="en-US" b="1" dirty="0"/>
              <a:t>Output</a:t>
            </a:r>
            <a:r>
              <a:rPr lang="en-US" dirty="0"/>
              <a:t>: A key-value pair where both the key and value are the tuple itself (or part of it) if it satisfies condition </a:t>
            </a:r>
            <a:r>
              <a:rPr lang="en-US" i="1" dirty="0"/>
              <a:t>C</a:t>
            </a:r>
            <a:r>
              <a:rPr lang="en-US" dirty="0"/>
              <a:t>.</a:t>
            </a:r>
          </a:p>
          <a:p>
            <a:pPr marL="285750" indent="-285750">
              <a:buFont typeface="Wingdings" panose="05000000000000000000" pitchFamily="2" charset="2"/>
              <a:buChar char="§"/>
            </a:pPr>
            <a:endParaRPr lang="en-US" dirty="0"/>
          </a:p>
        </p:txBody>
      </p:sp>
    </p:spTree>
    <p:extLst>
      <p:ext uri="{BB962C8B-B14F-4D97-AF65-F5344CB8AC3E}">
        <p14:creationId xmlns:p14="http://schemas.microsoft.com/office/powerpoint/2010/main" val="388624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2" name="Metin kutusu 1">
            <a:extLst>
              <a:ext uri="{FF2B5EF4-FFF2-40B4-BE49-F238E27FC236}">
                <a16:creationId xmlns:a16="http://schemas.microsoft.com/office/drawing/2014/main" id="{E2B33AD5-9A52-9A1F-388A-8C2864F7583B}"/>
              </a:ext>
            </a:extLst>
          </p:cNvPr>
          <p:cNvSpPr txBox="1"/>
          <p:nvPr/>
        </p:nvSpPr>
        <p:spPr>
          <a:xfrm>
            <a:off x="152400" y="838200"/>
            <a:ext cx="11811000" cy="5262979"/>
          </a:xfrm>
          <a:prstGeom prst="rect">
            <a:avLst/>
          </a:prstGeom>
          <a:noFill/>
        </p:spPr>
        <p:txBody>
          <a:bodyPr wrap="square" rtlCol="0">
            <a:spAutoFit/>
          </a:bodyPr>
          <a:lstStyle/>
          <a:p>
            <a:pPr marL="285750" indent="-285750">
              <a:buFont typeface="Wingdings" panose="05000000000000000000" pitchFamily="2" charset="2"/>
              <a:buChar char="§"/>
            </a:pPr>
            <a:r>
              <a:rPr lang="en-US" sz="2000" b="1" dirty="0"/>
              <a:t>Computing Selections by MapReduce</a:t>
            </a:r>
          </a:p>
          <a:p>
            <a:r>
              <a:rPr lang="en-US" sz="2000" b="1" dirty="0"/>
              <a:t>2. Reduce Function:</a:t>
            </a:r>
          </a:p>
          <a:p>
            <a:r>
              <a:rPr lang="en-US" sz="2000" dirty="0"/>
              <a:t>The </a:t>
            </a:r>
            <a:r>
              <a:rPr lang="en-US" sz="2000" b="1" dirty="0"/>
              <a:t>Reduce</a:t>
            </a:r>
            <a:r>
              <a:rPr lang="en-US" sz="2000" dirty="0"/>
              <a:t> function in this case is very simple (and often unnecessary). Since the Map function already filters the data and emits only the desired tuples, the </a:t>
            </a:r>
            <a:r>
              <a:rPr lang="en-US" sz="2000" b="1" dirty="0"/>
              <a:t>Reduce</a:t>
            </a:r>
            <a:r>
              <a:rPr lang="en-US" sz="2000" dirty="0"/>
              <a:t> function can simply pass through the data it receives. It is an </a:t>
            </a:r>
            <a:r>
              <a:rPr lang="en-US" sz="2000" b="1" dirty="0"/>
              <a:t>identity function</a:t>
            </a:r>
            <a:r>
              <a:rPr lang="en-US" sz="2000" dirty="0"/>
              <a:t>, which outputs the key-value pairs without any modification.</a:t>
            </a:r>
          </a:p>
          <a:p>
            <a:pPr>
              <a:buFont typeface="Arial" panose="020B0604020202020204" pitchFamily="34" charset="0"/>
              <a:buChar char="•"/>
            </a:pPr>
            <a:r>
              <a:rPr lang="en-US" sz="2000" b="1" dirty="0"/>
              <a:t>Input</a:t>
            </a:r>
            <a:r>
              <a:rPr lang="en-US" sz="2000" dirty="0"/>
              <a:t>: Key-value pairs (both the key and value are the tuple itself).</a:t>
            </a:r>
          </a:p>
          <a:p>
            <a:pPr>
              <a:buFont typeface="Arial" panose="020B0604020202020204" pitchFamily="34" charset="0"/>
              <a:buChar char="•"/>
            </a:pPr>
            <a:r>
              <a:rPr lang="en-US" sz="2000" b="1" dirty="0"/>
              <a:t>Output</a:t>
            </a:r>
            <a:r>
              <a:rPr lang="en-US" sz="2000" dirty="0"/>
              <a:t>: The same key-value pair, essentially outputting the filtered tuples.</a:t>
            </a:r>
          </a:p>
          <a:p>
            <a:pPr marL="285750" indent="-285750">
              <a:buFont typeface="Wingdings" panose="05000000000000000000" pitchFamily="2" charset="2"/>
              <a:buChar char="§"/>
            </a:pPr>
            <a:endParaRPr lang="en-US" sz="2000" b="1" dirty="0"/>
          </a:p>
          <a:p>
            <a:pPr marL="285750" indent="-285750">
              <a:buFont typeface="Wingdings" panose="05000000000000000000" pitchFamily="2" charset="2"/>
              <a:buChar char="§"/>
            </a:pPr>
            <a:endParaRPr lang="en-US" sz="2000" b="1" dirty="0"/>
          </a:p>
          <a:p>
            <a:pPr marL="285750" indent="-285750">
              <a:buFont typeface="Wingdings" panose="05000000000000000000" pitchFamily="2" charset="2"/>
              <a:buChar char="§"/>
            </a:pPr>
            <a:endParaRPr lang="en-US" sz="2000" b="1" dirty="0"/>
          </a:p>
          <a:p>
            <a:r>
              <a:rPr lang="en-US" sz="2000" b="1" dirty="0"/>
              <a:t>Advantages of Using MapReduce for Selection:</a:t>
            </a:r>
          </a:p>
          <a:p>
            <a:pPr>
              <a:buFont typeface="Arial" panose="020B0604020202020204" pitchFamily="34" charset="0"/>
              <a:buChar char="•"/>
            </a:pPr>
            <a:r>
              <a:rPr lang="en-US" sz="2000" b="1" dirty="0"/>
              <a:t>Scalability</a:t>
            </a:r>
            <a:r>
              <a:rPr lang="en-US" sz="2000" dirty="0"/>
              <a:t>: MapReduce allows the selection operation to be performed efficiently on large datasets by distributing the workload across multiple nodes.</a:t>
            </a:r>
          </a:p>
          <a:p>
            <a:pPr>
              <a:buFont typeface="Arial" panose="020B0604020202020204" pitchFamily="34" charset="0"/>
              <a:buChar char="•"/>
            </a:pPr>
            <a:r>
              <a:rPr lang="en-US" sz="2000" b="1" dirty="0"/>
              <a:t>Parallelization</a:t>
            </a:r>
            <a:r>
              <a:rPr lang="en-US" sz="2000" dirty="0"/>
              <a:t>: Each node in the cluster can process a different portion of the data in parallel, applying the selection condition independently.</a:t>
            </a:r>
          </a:p>
          <a:p>
            <a:pPr>
              <a:buFont typeface="Arial" panose="020B0604020202020204" pitchFamily="34" charset="0"/>
              <a:buChar char="•"/>
            </a:pPr>
            <a:r>
              <a:rPr lang="en-US" sz="2000" b="1" dirty="0"/>
              <a:t>Fault Tolerance</a:t>
            </a:r>
            <a:r>
              <a:rPr lang="en-US" sz="2000" dirty="0"/>
              <a:t>: MapReduce ensures that even if a node fails, the job can be restarted without losing progress.</a:t>
            </a:r>
          </a:p>
          <a:p>
            <a:pPr marL="285750" indent="-285750">
              <a:buFont typeface="Wingdings" panose="05000000000000000000" pitchFamily="2" charset="2"/>
              <a:buChar char="§"/>
            </a:pPr>
            <a:endParaRPr lang="en-US" dirty="0"/>
          </a:p>
        </p:txBody>
      </p:sp>
    </p:spTree>
    <p:extLst>
      <p:ext uri="{BB962C8B-B14F-4D97-AF65-F5344CB8AC3E}">
        <p14:creationId xmlns:p14="http://schemas.microsoft.com/office/powerpoint/2010/main" val="1893423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2" name="Metin kutusu 1">
            <a:extLst>
              <a:ext uri="{FF2B5EF4-FFF2-40B4-BE49-F238E27FC236}">
                <a16:creationId xmlns:a16="http://schemas.microsoft.com/office/drawing/2014/main" id="{E2B33AD5-9A52-9A1F-388A-8C2864F7583B}"/>
              </a:ext>
            </a:extLst>
          </p:cNvPr>
          <p:cNvSpPr txBox="1"/>
          <p:nvPr/>
        </p:nvSpPr>
        <p:spPr>
          <a:xfrm>
            <a:off x="152400" y="838200"/>
            <a:ext cx="11811000" cy="6463308"/>
          </a:xfrm>
          <a:prstGeom prst="rect">
            <a:avLst/>
          </a:prstGeom>
          <a:noFill/>
        </p:spPr>
        <p:txBody>
          <a:bodyPr wrap="square" rtlCol="0">
            <a:spAutoFit/>
          </a:bodyPr>
          <a:lstStyle/>
          <a:p>
            <a:pPr marL="285750" indent="-285750">
              <a:buFont typeface="Wingdings" panose="05000000000000000000" pitchFamily="2" charset="2"/>
              <a:buChar char="§"/>
            </a:pPr>
            <a:r>
              <a:rPr lang="en-US" b="1" dirty="0"/>
              <a:t>Computing Projections by MapReduce</a:t>
            </a:r>
          </a:p>
          <a:p>
            <a:pPr marL="285750" indent="-285750">
              <a:buFont typeface="Wingdings" panose="05000000000000000000" pitchFamily="2" charset="2"/>
              <a:buChar char="§"/>
            </a:pPr>
            <a:r>
              <a:rPr lang="en-US" b="1" dirty="0"/>
              <a:t>Projection</a:t>
            </a:r>
            <a:r>
              <a:rPr lang="en-US" dirty="0"/>
              <a:t> in relational databases is an operation that selects specific columns (attributes) from a table, eliminating the other columns. In </a:t>
            </a:r>
            <a:r>
              <a:rPr lang="en-US" b="1" dirty="0"/>
              <a:t>MapReduce</a:t>
            </a:r>
            <a:r>
              <a:rPr lang="en-US" dirty="0"/>
              <a:t>, computing a projection involves extracting only the desired attributes (columns) from each row in the dataset and ensuring that duplicate rows are eliminated.</a:t>
            </a:r>
          </a:p>
          <a:p>
            <a:r>
              <a:rPr lang="en-US" b="1" dirty="0"/>
              <a:t>Projection Operation Overview:</a:t>
            </a:r>
          </a:p>
          <a:p>
            <a:r>
              <a:rPr lang="en-US" dirty="0"/>
              <a:t>In relational algebra, the projection operation is denoted as: </a:t>
            </a:r>
            <a:r>
              <a:rPr lang="en-US" i="1" dirty="0"/>
              <a:t>π</a:t>
            </a:r>
            <a:r>
              <a:rPr lang="en-US" sz="1400" i="1" dirty="0"/>
              <a:t>s</a:t>
            </a:r>
            <a:r>
              <a:rPr lang="en-US" i="1" dirty="0"/>
              <a:t>(R)</a:t>
            </a:r>
            <a:r>
              <a:rPr lang="en-US" dirty="0"/>
              <a:t>Where:</a:t>
            </a:r>
          </a:p>
          <a:p>
            <a:pPr>
              <a:buFont typeface="Arial" panose="020B0604020202020204" pitchFamily="34" charset="0"/>
              <a:buChar char="•"/>
            </a:pPr>
            <a:r>
              <a:rPr lang="en-US" b="1" i="1" dirty="0"/>
              <a:t>S</a:t>
            </a:r>
            <a:r>
              <a:rPr lang="en-US" dirty="0"/>
              <a:t> is the set of attributes (columns) to be retained.</a:t>
            </a:r>
          </a:p>
          <a:p>
            <a:pPr>
              <a:buFont typeface="Arial" panose="020B0604020202020204" pitchFamily="34" charset="0"/>
              <a:buChar char="•"/>
            </a:pPr>
            <a:r>
              <a:rPr lang="en-US" b="1" i="1" dirty="0"/>
              <a:t>R</a:t>
            </a:r>
            <a:r>
              <a:rPr lang="en-US" dirty="0"/>
              <a:t> is the relation (table).</a:t>
            </a:r>
          </a:p>
          <a:p>
            <a:pPr>
              <a:buFont typeface="Arial" panose="020B0604020202020204" pitchFamily="34" charset="0"/>
              <a:buChar char="•"/>
            </a:pPr>
            <a:r>
              <a:rPr lang="en-US" dirty="0"/>
              <a:t>The result of </a:t>
            </a:r>
            <a:r>
              <a:rPr lang="en-US" b="1" i="1" dirty="0"/>
              <a:t>π</a:t>
            </a:r>
            <a:r>
              <a:rPr lang="en-US" sz="1200" b="1" i="1" dirty="0"/>
              <a:t>S</a:t>
            </a:r>
            <a:r>
              <a:rPr lang="en-US" b="1" i="1" dirty="0"/>
              <a:t>(R) </a:t>
            </a:r>
            <a:r>
              <a:rPr lang="en-US" dirty="0"/>
              <a:t>is a relation containing only the columns in</a:t>
            </a:r>
            <a:r>
              <a:rPr lang="en-US" b="1" i="1" dirty="0"/>
              <a:t> S</a:t>
            </a:r>
            <a:r>
              <a:rPr lang="en-US" dirty="0"/>
              <a:t>, with duplicate rows removed.</a:t>
            </a:r>
          </a:p>
          <a:p>
            <a:r>
              <a:rPr lang="en-US" b="1" dirty="0"/>
              <a:t>MapReduce Implementation of Projection:</a:t>
            </a:r>
          </a:p>
          <a:p>
            <a:r>
              <a:rPr lang="en-US" b="1" dirty="0"/>
              <a:t>1. Map Function:</a:t>
            </a:r>
          </a:p>
          <a:p>
            <a:r>
              <a:rPr lang="en-US" dirty="0"/>
              <a:t>In the </a:t>
            </a:r>
            <a:r>
              <a:rPr lang="en-US" b="1" dirty="0"/>
              <a:t>Map</a:t>
            </a:r>
            <a:r>
              <a:rPr lang="en-US" dirty="0"/>
              <a:t> phase, the function processes each tuple (row) from the dataset and extracts only the specified attributes </a:t>
            </a:r>
            <a:r>
              <a:rPr lang="en-US" b="1" i="1" dirty="0"/>
              <a:t>S</a:t>
            </a:r>
            <a:r>
              <a:rPr lang="en-US" dirty="0"/>
              <a:t>. It emits the extracted tuple as both the key and the value.</a:t>
            </a:r>
          </a:p>
          <a:p>
            <a:pPr>
              <a:buFont typeface="Arial" panose="020B0604020202020204" pitchFamily="34" charset="0"/>
              <a:buChar char="•"/>
            </a:pPr>
            <a:r>
              <a:rPr lang="en-US" b="1" dirty="0"/>
              <a:t>Input</a:t>
            </a:r>
            <a:r>
              <a:rPr lang="en-US" dirty="0"/>
              <a:t>: A tuple from the relation </a:t>
            </a:r>
            <a:r>
              <a:rPr lang="en-US" b="1" i="1" dirty="0"/>
              <a:t>R</a:t>
            </a:r>
            <a:r>
              <a:rPr lang="en-US" dirty="0"/>
              <a:t>.</a:t>
            </a:r>
          </a:p>
          <a:p>
            <a:pPr>
              <a:buFont typeface="Arial" panose="020B0604020202020204" pitchFamily="34" charset="0"/>
              <a:buChar char="•"/>
            </a:pPr>
            <a:r>
              <a:rPr lang="en-US" b="1" dirty="0"/>
              <a:t>Output</a:t>
            </a:r>
            <a:r>
              <a:rPr lang="en-US" dirty="0"/>
              <a:t>: A key-value pair where the key is the tuple with only the selected attributes, and the value is the same.</a:t>
            </a:r>
          </a:p>
          <a:p>
            <a:pPr>
              <a:buFont typeface="Arial" panose="020B0604020202020204" pitchFamily="34" charset="0"/>
              <a:buChar char="•"/>
            </a:pPr>
            <a:endParaRPr lang="en-US" dirty="0"/>
          </a:p>
          <a:p>
            <a:r>
              <a:rPr lang="en-US" b="1" dirty="0"/>
              <a:t>2. Reduce Function:</a:t>
            </a:r>
          </a:p>
          <a:p>
            <a:r>
              <a:rPr lang="en-US" dirty="0"/>
              <a:t>The </a:t>
            </a:r>
            <a:r>
              <a:rPr lang="en-US" b="1" dirty="0"/>
              <a:t>Reduce</a:t>
            </a:r>
            <a:r>
              <a:rPr lang="en-US" dirty="0"/>
              <a:t> phase is used to eliminate duplicates. After the </a:t>
            </a:r>
            <a:r>
              <a:rPr lang="en-US" b="1" dirty="0"/>
              <a:t>Map</a:t>
            </a:r>
            <a:r>
              <a:rPr lang="en-US" dirty="0"/>
              <a:t> phase, identical projected tuples may appear more than once. The </a:t>
            </a:r>
            <a:r>
              <a:rPr lang="en-US" b="1" dirty="0"/>
              <a:t>Reduce</a:t>
            </a:r>
            <a:r>
              <a:rPr lang="en-US" dirty="0"/>
              <a:t> function groups the tuples by their key (the projected tuple) and emits only one copy of each key.</a:t>
            </a:r>
          </a:p>
          <a:p>
            <a:pPr>
              <a:buFont typeface="Arial" panose="020B0604020202020204" pitchFamily="34" charset="0"/>
              <a:buChar char="•"/>
            </a:pPr>
            <a:r>
              <a:rPr lang="en-US" b="1" dirty="0"/>
              <a:t>Input</a:t>
            </a:r>
            <a:r>
              <a:rPr lang="en-US" dirty="0"/>
              <a:t>: Key (the projected tuple) and a list of values.</a:t>
            </a:r>
          </a:p>
          <a:p>
            <a:pPr>
              <a:buFont typeface="Arial" panose="020B0604020202020204" pitchFamily="34" charset="0"/>
              <a:buChar char="•"/>
            </a:pPr>
            <a:r>
              <a:rPr lang="en-US" b="1" dirty="0"/>
              <a:t>Output</a:t>
            </a:r>
            <a:r>
              <a:rPr lang="en-US" dirty="0"/>
              <a:t>: The unique key (projected tuple), ensuring that duplicates are removed.</a:t>
            </a:r>
          </a:p>
          <a:p>
            <a:pPr>
              <a:buFont typeface="Arial" panose="020B0604020202020204" pitchFamily="34" charset="0"/>
              <a:buChar char="•"/>
            </a:pPr>
            <a:endParaRPr lang="en-US" dirty="0"/>
          </a:p>
          <a:p>
            <a:pPr marL="285750" indent="-285750">
              <a:buFont typeface="Wingdings" panose="05000000000000000000" pitchFamily="2" charset="2"/>
              <a:buChar char="§"/>
            </a:pPr>
            <a:endParaRPr lang="en-US" dirty="0"/>
          </a:p>
        </p:txBody>
      </p:sp>
    </p:spTree>
    <p:extLst>
      <p:ext uri="{BB962C8B-B14F-4D97-AF65-F5344CB8AC3E}">
        <p14:creationId xmlns:p14="http://schemas.microsoft.com/office/powerpoint/2010/main" val="2474792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2" name="Metin kutusu 1">
            <a:extLst>
              <a:ext uri="{FF2B5EF4-FFF2-40B4-BE49-F238E27FC236}">
                <a16:creationId xmlns:a16="http://schemas.microsoft.com/office/drawing/2014/main" id="{E2B33AD5-9A52-9A1F-388A-8C2864F7583B}"/>
              </a:ext>
            </a:extLst>
          </p:cNvPr>
          <p:cNvSpPr txBox="1"/>
          <p:nvPr/>
        </p:nvSpPr>
        <p:spPr>
          <a:xfrm>
            <a:off x="152400" y="838200"/>
            <a:ext cx="11811000" cy="5355312"/>
          </a:xfrm>
          <a:prstGeom prst="rect">
            <a:avLst/>
          </a:prstGeom>
          <a:noFill/>
        </p:spPr>
        <p:txBody>
          <a:bodyPr wrap="square" rtlCol="0">
            <a:spAutoFit/>
          </a:bodyPr>
          <a:lstStyle/>
          <a:p>
            <a:pPr marL="285750" indent="-285750">
              <a:buFont typeface="Wingdings" panose="05000000000000000000" pitchFamily="2" charset="2"/>
              <a:buChar char="§"/>
            </a:pPr>
            <a:r>
              <a:rPr lang="en-US" b="1" dirty="0"/>
              <a:t>Union , Intersection , and Difference by MapReduce</a:t>
            </a:r>
          </a:p>
          <a:p>
            <a:pPr marL="285750" indent="-285750">
              <a:buFont typeface="Wingdings" panose="05000000000000000000" pitchFamily="2" charset="2"/>
              <a:buChar char="§"/>
            </a:pPr>
            <a:r>
              <a:rPr lang="en-US" b="1" dirty="0"/>
              <a:t>1. Union by MapReduce</a:t>
            </a:r>
          </a:p>
          <a:p>
            <a:pPr marL="285750" indent="-285750">
              <a:buFont typeface="Wingdings" panose="05000000000000000000" pitchFamily="2" charset="2"/>
              <a:buChar char="§"/>
            </a:pPr>
            <a:r>
              <a:rPr lang="en-US" dirty="0"/>
              <a:t>The </a:t>
            </a:r>
            <a:r>
              <a:rPr lang="en-US" b="1" dirty="0"/>
              <a:t>union</a:t>
            </a:r>
            <a:r>
              <a:rPr lang="en-US" dirty="0"/>
              <a:t> operation combines all tuples from two relations </a:t>
            </a:r>
            <a:r>
              <a:rPr lang="en-US" b="1" i="1" dirty="0"/>
              <a:t>R</a:t>
            </a:r>
            <a:r>
              <a:rPr lang="en-US" dirty="0"/>
              <a:t> and </a:t>
            </a:r>
            <a:r>
              <a:rPr lang="en-US" b="1" i="1" dirty="0"/>
              <a:t>S</a:t>
            </a:r>
            <a:r>
              <a:rPr lang="en-US" dirty="0"/>
              <a:t> that have the same schema. In the union operation, duplicates are removed so that each tuple appears only once in the result.</a:t>
            </a:r>
          </a:p>
          <a:p>
            <a:pPr marL="285750" indent="-285750">
              <a:buFont typeface="Wingdings" panose="05000000000000000000" pitchFamily="2" charset="2"/>
              <a:buChar char="§"/>
            </a:pPr>
            <a:r>
              <a:rPr lang="en-US" b="1" dirty="0"/>
              <a:t>Map Function:</a:t>
            </a:r>
          </a:p>
          <a:p>
            <a:pPr marL="285750" indent="-285750">
              <a:buFont typeface="Wingdings" panose="05000000000000000000" pitchFamily="2" charset="2"/>
              <a:buChar char="§"/>
            </a:pPr>
            <a:r>
              <a:rPr lang="en-US" dirty="0"/>
              <a:t>Input: A tuple from either relation </a:t>
            </a:r>
            <a:r>
              <a:rPr lang="en-US" b="1" i="1" dirty="0"/>
              <a:t>R</a:t>
            </a:r>
            <a:r>
              <a:rPr lang="en-US" dirty="0"/>
              <a:t> or </a:t>
            </a:r>
            <a:r>
              <a:rPr lang="en-US" b="1" i="1" dirty="0"/>
              <a:t>S</a:t>
            </a:r>
            <a:r>
              <a:rPr lang="en-US" dirty="0"/>
              <a:t>.</a:t>
            </a:r>
          </a:p>
          <a:p>
            <a:pPr marL="285750" indent="-285750">
              <a:buFont typeface="Wingdings" panose="05000000000000000000" pitchFamily="2" charset="2"/>
              <a:buChar char="§"/>
            </a:pPr>
            <a:r>
              <a:rPr lang="en-US" dirty="0"/>
              <a:t>Output: Emit the tuple as both the key and the value.</a:t>
            </a:r>
          </a:p>
          <a:p>
            <a:pPr marL="285750" indent="-285750">
              <a:buFont typeface="Wingdings" panose="05000000000000000000" pitchFamily="2" charset="2"/>
              <a:buChar char="§"/>
            </a:pPr>
            <a:r>
              <a:rPr lang="en-US" b="1" dirty="0"/>
              <a:t>Reduce Function:</a:t>
            </a:r>
          </a:p>
          <a:p>
            <a:pPr marL="285750" indent="-285750">
              <a:buFont typeface="Wingdings" panose="05000000000000000000" pitchFamily="2" charset="2"/>
              <a:buChar char="§"/>
            </a:pPr>
            <a:r>
              <a:rPr lang="en-US" dirty="0"/>
              <a:t>Input: A key (the tuple) and a list of values (which will either have one or two occurrences of the tuple, depending on whether it appears in both </a:t>
            </a:r>
            <a:r>
              <a:rPr lang="en-US" b="1" i="1" dirty="0"/>
              <a:t>R</a:t>
            </a:r>
            <a:r>
              <a:rPr lang="en-US" dirty="0"/>
              <a:t> and </a:t>
            </a:r>
            <a:r>
              <a:rPr lang="en-US" b="1" i="1" dirty="0"/>
              <a:t>S</a:t>
            </a:r>
            <a:r>
              <a:rPr lang="en-US" dirty="0"/>
              <a:t>).</a:t>
            </a:r>
          </a:p>
          <a:p>
            <a:pPr marL="285750" indent="-285750">
              <a:buFont typeface="Wingdings" panose="05000000000000000000" pitchFamily="2" charset="2"/>
              <a:buChar char="§"/>
            </a:pPr>
            <a:r>
              <a:rPr lang="en-US" dirty="0"/>
              <a:t>Output: Emit the tuple once, regardless of how many times it appears</a:t>
            </a:r>
          </a:p>
          <a:p>
            <a:pPr marL="285750" indent="-285750">
              <a:buFont typeface="Wingdings" panose="05000000000000000000" pitchFamily="2" charset="2"/>
              <a:buChar char="§"/>
            </a:pPr>
            <a:r>
              <a:rPr lang="en-US" b="1" dirty="0"/>
              <a:t>Map Phase:</a:t>
            </a:r>
          </a:p>
          <a:p>
            <a:pPr marL="285750" indent="-285750">
              <a:buFont typeface="Wingdings" panose="05000000000000000000" pitchFamily="2" charset="2"/>
              <a:buChar char="§"/>
            </a:pPr>
            <a:r>
              <a:rPr lang="en-US" dirty="0"/>
              <a:t>For 𝑅, emit: ((1, "Alice"), (1, "Alice")), ((2, "Bob"), (2, "Bob"))</a:t>
            </a:r>
          </a:p>
          <a:p>
            <a:pPr marL="285750" indent="-285750">
              <a:buFont typeface="Wingdings" panose="05000000000000000000" pitchFamily="2" charset="2"/>
              <a:buChar char="§"/>
            </a:pPr>
            <a:r>
              <a:rPr lang="en-US" dirty="0"/>
              <a:t>For 𝑆, emit: ((2, "Bob"), (2, "Bob")), ((3, "Charlie"), (3, "Charlie"))</a:t>
            </a:r>
          </a:p>
          <a:p>
            <a:pPr marL="285750" indent="-285750">
              <a:buFont typeface="Wingdings" panose="05000000000000000000" pitchFamily="2" charset="2"/>
              <a:buChar char="§"/>
            </a:pPr>
            <a:r>
              <a:rPr lang="en-US" b="1" dirty="0"/>
              <a:t>Reduce Phase:</a:t>
            </a:r>
          </a:p>
          <a:p>
            <a:pPr marL="285750" indent="-285750">
              <a:buFont typeface="Wingdings" panose="05000000000000000000" pitchFamily="2" charset="2"/>
              <a:buChar char="§"/>
            </a:pPr>
            <a:r>
              <a:rPr lang="en-US" dirty="0"/>
              <a:t>For ((1, "Alice"), [tuple]), output (1, "Alice")</a:t>
            </a:r>
          </a:p>
          <a:p>
            <a:pPr marL="285750" indent="-285750">
              <a:buFont typeface="Wingdings" panose="05000000000000000000" pitchFamily="2" charset="2"/>
              <a:buChar char="§"/>
            </a:pPr>
            <a:r>
              <a:rPr lang="en-US" dirty="0"/>
              <a:t>For ((2, "Bob"), [tuple, tuple]), output (2, "Bob")</a:t>
            </a:r>
          </a:p>
          <a:p>
            <a:pPr marL="285750" indent="-285750">
              <a:buFont typeface="Wingdings" panose="05000000000000000000" pitchFamily="2" charset="2"/>
              <a:buChar char="§"/>
            </a:pPr>
            <a:r>
              <a:rPr lang="en-US" dirty="0"/>
              <a:t>For ((3, "Charlie"), [tuple]), output (3, "Charlie")</a:t>
            </a:r>
          </a:p>
          <a:p>
            <a:pPr marL="285750" indent="-285750">
              <a:buFont typeface="Wingdings" panose="05000000000000000000" pitchFamily="2" charset="2"/>
              <a:buChar char="§"/>
            </a:pPr>
            <a:r>
              <a:rPr lang="en-US" b="1" dirty="0"/>
              <a:t>Final Output (Union</a:t>
            </a:r>
            <a:r>
              <a:rPr lang="en-US" dirty="0"/>
              <a:t>):{(1,"𝐴𝑙𝑖𝑐𝑒"),(2,"𝐵𝑜𝑏"),(3,"𝐶ℎ𝑎𝑟𝑙𝑖𝑒")}</a:t>
            </a:r>
          </a:p>
        </p:txBody>
      </p:sp>
    </p:spTree>
    <p:extLst>
      <p:ext uri="{BB962C8B-B14F-4D97-AF65-F5344CB8AC3E}">
        <p14:creationId xmlns:p14="http://schemas.microsoft.com/office/powerpoint/2010/main" val="1264005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2" name="Metin kutusu 1">
            <a:extLst>
              <a:ext uri="{FF2B5EF4-FFF2-40B4-BE49-F238E27FC236}">
                <a16:creationId xmlns:a16="http://schemas.microsoft.com/office/drawing/2014/main" id="{E2B33AD5-9A52-9A1F-388A-8C2864F7583B}"/>
              </a:ext>
            </a:extLst>
          </p:cNvPr>
          <p:cNvSpPr txBox="1"/>
          <p:nvPr/>
        </p:nvSpPr>
        <p:spPr>
          <a:xfrm>
            <a:off x="0" y="762000"/>
            <a:ext cx="11811000" cy="6186309"/>
          </a:xfrm>
          <a:prstGeom prst="rect">
            <a:avLst/>
          </a:prstGeom>
          <a:noFill/>
        </p:spPr>
        <p:txBody>
          <a:bodyPr wrap="square" rtlCol="0">
            <a:spAutoFit/>
          </a:bodyPr>
          <a:lstStyle/>
          <a:p>
            <a:pPr marL="285750" indent="-285750">
              <a:buFont typeface="Wingdings" panose="05000000000000000000" pitchFamily="2" charset="2"/>
              <a:buChar char="§"/>
            </a:pPr>
            <a:r>
              <a:rPr lang="en-US" b="1" dirty="0"/>
              <a:t>Union , Intersection , and Difference by MapReduce</a:t>
            </a:r>
          </a:p>
          <a:p>
            <a:pPr marL="285750" indent="-285750">
              <a:buFont typeface="Wingdings" panose="05000000000000000000" pitchFamily="2" charset="2"/>
              <a:buChar char="§"/>
            </a:pPr>
            <a:r>
              <a:rPr lang="en-US" b="1" dirty="0"/>
              <a:t>2. Intersection by MapReduce</a:t>
            </a:r>
          </a:p>
          <a:p>
            <a:pPr marL="285750" indent="-285750">
              <a:buFont typeface="Wingdings" panose="05000000000000000000" pitchFamily="2" charset="2"/>
              <a:buChar char="§"/>
            </a:pPr>
            <a:r>
              <a:rPr lang="en-US" dirty="0"/>
              <a:t>The intersection operation retrieves only the tuples that appear in both relations 𝑅 and 𝑆.</a:t>
            </a:r>
          </a:p>
          <a:p>
            <a:pPr marL="285750" indent="-285750">
              <a:buFont typeface="Wingdings" panose="05000000000000000000" pitchFamily="2" charset="2"/>
              <a:buChar char="§"/>
            </a:pPr>
            <a:r>
              <a:rPr lang="en-US" dirty="0"/>
              <a:t>Map Function:</a:t>
            </a:r>
          </a:p>
          <a:p>
            <a:pPr marL="285750" indent="-285750">
              <a:buFont typeface="Wingdings" panose="05000000000000000000" pitchFamily="2" charset="2"/>
              <a:buChar char="§"/>
            </a:pPr>
            <a:r>
              <a:rPr lang="en-US" b="1" dirty="0"/>
              <a:t>Input</a:t>
            </a:r>
            <a:r>
              <a:rPr lang="en-US" dirty="0"/>
              <a:t>: A tuple from either relation 𝑅 or 𝑆.</a:t>
            </a:r>
          </a:p>
          <a:p>
            <a:pPr marL="285750" indent="-285750">
              <a:buFont typeface="Wingdings" panose="05000000000000000000" pitchFamily="2" charset="2"/>
              <a:buChar char="§"/>
            </a:pPr>
            <a:r>
              <a:rPr lang="en-US" b="1" dirty="0"/>
              <a:t>Output</a:t>
            </a:r>
            <a:r>
              <a:rPr lang="en-US" dirty="0"/>
              <a:t>: Emit the tuple as the key and the relation identifier (either 𝑅 or 𝑆) as the value. </a:t>
            </a:r>
          </a:p>
          <a:p>
            <a:pPr marL="285750" indent="-285750">
              <a:buFont typeface="Wingdings" panose="05000000000000000000" pitchFamily="2" charset="2"/>
              <a:buChar char="§"/>
            </a:pPr>
            <a:r>
              <a:rPr lang="en-US" dirty="0"/>
              <a:t>This allows the Reduce function to identify whether the tuple exists in both relations.</a:t>
            </a:r>
          </a:p>
          <a:p>
            <a:pPr marL="285750" indent="-285750">
              <a:buFont typeface="Wingdings" panose="05000000000000000000" pitchFamily="2" charset="2"/>
              <a:buChar char="§"/>
            </a:pPr>
            <a:r>
              <a:rPr lang="en-US" dirty="0"/>
              <a:t>Example: If a tuple is (a, b) and it comes from 𝑅, emit ((a, b), "R").</a:t>
            </a:r>
          </a:p>
          <a:p>
            <a:pPr marL="285750" indent="-285750">
              <a:buFont typeface="Wingdings" panose="05000000000000000000" pitchFamily="2" charset="2"/>
              <a:buChar char="§"/>
            </a:pPr>
            <a:r>
              <a:rPr lang="en-US" dirty="0"/>
              <a:t>Reduce Function:</a:t>
            </a:r>
          </a:p>
          <a:p>
            <a:pPr marL="285750" indent="-285750">
              <a:buFont typeface="Wingdings" panose="05000000000000000000" pitchFamily="2" charset="2"/>
              <a:buChar char="§"/>
            </a:pPr>
            <a:r>
              <a:rPr lang="en-US" b="1" dirty="0"/>
              <a:t>Input</a:t>
            </a:r>
            <a:r>
              <a:rPr lang="en-US" dirty="0"/>
              <a:t>: A key (the tuple) and a list of values (either ["R"], ["S"], or ["R", "S"]).</a:t>
            </a:r>
          </a:p>
          <a:p>
            <a:pPr marL="285750" indent="-285750">
              <a:buFont typeface="Wingdings" panose="05000000000000000000" pitchFamily="2" charset="2"/>
              <a:buChar char="§"/>
            </a:pPr>
            <a:r>
              <a:rPr lang="en-US" dirty="0"/>
              <a:t>Output: Emit the tuple only if both 𝑅 and 𝑆 appear in the value list (i.e., if the tuple appears in both relations).</a:t>
            </a:r>
          </a:p>
          <a:p>
            <a:pPr marL="285750" indent="-285750">
              <a:buFont typeface="Wingdings" panose="05000000000000000000" pitchFamily="2" charset="2"/>
              <a:buChar char="§"/>
            </a:pPr>
            <a:r>
              <a:rPr lang="en-US" dirty="0"/>
              <a:t>Example: If the key (a, b) has values ["R", "S"], emit (a, b).</a:t>
            </a:r>
          </a:p>
          <a:p>
            <a:pPr marL="285750" indent="-285750">
              <a:buFont typeface="Wingdings" panose="05000000000000000000" pitchFamily="2" charset="2"/>
              <a:buChar char="§"/>
            </a:pPr>
            <a:r>
              <a:rPr lang="en-US" dirty="0"/>
              <a:t>𝑅={(1,"𝐴𝑙𝑖𝑐𝑒"),(2,"𝐵𝑜𝑏")}</a:t>
            </a:r>
          </a:p>
          <a:p>
            <a:pPr marL="285750" indent="-285750">
              <a:buFont typeface="Wingdings" panose="05000000000000000000" pitchFamily="2" charset="2"/>
              <a:buChar char="§"/>
            </a:pPr>
            <a:r>
              <a:rPr lang="en-US" dirty="0"/>
              <a:t>𝑆={(2,"𝐵𝑜𝑏"),(3,"𝐶ℎ𝑎𝑟𝑙𝑖𝑒")}</a:t>
            </a:r>
          </a:p>
          <a:p>
            <a:pPr marL="285750" indent="-285750">
              <a:buFont typeface="Wingdings" panose="05000000000000000000" pitchFamily="2" charset="2"/>
              <a:buChar char="§"/>
            </a:pPr>
            <a:r>
              <a:rPr lang="en-US" b="1" dirty="0"/>
              <a:t>Map Phase:</a:t>
            </a:r>
          </a:p>
          <a:p>
            <a:pPr marL="285750" indent="-285750">
              <a:buFont typeface="Wingdings" panose="05000000000000000000" pitchFamily="2" charset="2"/>
              <a:buChar char="§"/>
            </a:pPr>
            <a:r>
              <a:rPr lang="en-US" dirty="0"/>
              <a:t>For 𝑅, emit: ((1, "Alice"), "R"), ((2, "Bob"), "R")</a:t>
            </a:r>
          </a:p>
          <a:p>
            <a:pPr marL="285750" indent="-285750">
              <a:buFont typeface="Wingdings" panose="05000000000000000000" pitchFamily="2" charset="2"/>
              <a:buChar char="§"/>
            </a:pPr>
            <a:r>
              <a:rPr lang="en-US" dirty="0"/>
              <a:t>For 𝑆, emit: ((2, "Bob"), "S"), ((3, "Charlie"), "S")</a:t>
            </a:r>
          </a:p>
          <a:p>
            <a:pPr marL="285750" indent="-285750">
              <a:buFont typeface="Wingdings" panose="05000000000000000000" pitchFamily="2" charset="2"/>
              <a:buChar char="§"/>
            </a:pPr>
            <a:r>
              <a:rPr lang="en-US" b="1" dirty="0"/>
              <a:t>Reduce Phase:</a:t>
            </a:r>
          </a:p>
          <a:p>
            <a:pPr marL="285750" indent="-285750">
              <a:buFont typeface="Wingdings" panose="05000000000000000000" pitchFamily="2" charset="2"/>
              <a:buChar char="§"/>
            </a:pPr>
            <a:r>
              <a:rPr lang="en-US" dirty="0"/>
              <a:t>For ((1, "Alice"), ["R"]), no output</a:t>
            </a:r>
          </a:p>
          <a:p>
            <a:pPr marL="285750" indent="-285750">
              <a:buFont typeface="Wingdings" panose="05000000000000000000" pitchFamily="2" charset="2"/>
              <a:buChar char="§"/>
            </a:pPr>
            <a:r>
              <a:rPr lang="en-US" dirty="0"/>
              <a:t>For ((2, "Bob"), ["R", "S"]), output (2, "Bob")</a:t>
            </a:r>
          </a:p>
          <a:p>
            <a:pPr marL="285750" indent="-285750">
              <a:buFont typeface="Wingdings" panose="05000000000000000000" pitchFamily="2" charset="2"/>
              <a:buChar char="§"/>
            </a:pPr>
            <a:r>
              <a:rPr lang="en-US" dirty="0"/>
              <a:t>For ((3, "Charlie"), ["S"]), no output</a:t>
            </a:r>
          </a:p>
          <a:p>
            <a:pPr marL="285750" indent="-285750">
              <a:buFont typeface="Wingdings" panose="05000000000000000000" pitchFamily="2" charset="2"/>
              <a:buChar char="§"/>
            </a:pPr>
            <a:r>
              <a:rPr lang="en-US" b="1" dirty="0"/>
              <a:t>Final Output (Intersection):</a:t>
            </a:r>
            <a:r>
              <a:rPr lang="en-US" dirty="0"/>
              <a:t>{(2,"𝐵𝑜𝑏")}</a:t>
            </a:r>
          </a:p>
        </p:txBody>
      </p:sp>
    </p:spTree>
    <p:extLst>
      <p:ext uri="{BB962C8B-B14F-4D97-AF65-F5344CB8AC3E}">
        <p14:creationId xmlns:p14="http://schemas.microsoft.com/office/powerpoint/2010/main" val="362601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2" name="Metin kutusu 1">
            <a:extLst>
              <a:ext uri="{FF2B5EF4-FFF2-40B4-BE49-F238E27FC236}">
                <a16:creationId xmlns:a16="http://schemas.microsoft.com/office/drawing/2014/main" id="{E2B33AD5-9A52-9A1F-388A-8C2864F7583B}"/>
              </a:ext>
            </a:extLst>
          </p:cNvPr>
          <p:cNvSpPr txBox="1"/>
          <p:nvPr/>
        </p:nvSpPr>
        <p:spPr>
          <a:xfrm>
            <a:off x="152400" y="838200"/>
            <a:ext cx="11811000" cy="5909310"/>
          </a:xfrm>
          <a:prstGeom prst="rect">
            <a:avLst/>
          </a:prstGeom>
          <a:noFill/>
        </p:spPr>
        <p:txBody>
          <a:bodyPr wrap="square" rtlCol="0">
            <a:spAutoFit/>
          </a:bodyPr>
          <a:lstStyle/>
          <a:p>
            <a:pPr marL="285750" indent="-285750">
              <a:buFont typeface="Wingdings" panose="05000000000000000000" pitchFamily="2" charset="2"/>
              <a:buChar char="§"/>
            </a:pPr>
            <a:r>
              <a:rPr lang="en-US" b="1" dirty="0"/>
              <a:t>Union , Intersection , and Difference by MapReduce</a:t>
            </a:r>
          </a:p>
          <a:p>
            <a:pPr marL="285750" indent="-285750">
              <a:buFont typeface="Wingdings" panose="05000000000000000000" pitchFamily="2" charset="2"/>
              <a:buChar char="§"/>
            </a:pPr>
            <a:r>
              <a:rPr lang="en-US" b="1" dirty="0"/>
              <a:t>3</a:t>
            </a:r>
            <a:r>
              <a:rPr lang="en-US" dirty="0"/>
              <a:t>. </a:t>
            </a:r>
            <a:r>
              <a:rPr lang="en-US" b="1" dirty="0"/>
              <a:t>Difference by MapReduce</a:t>
            </a:r>
          </a:p>
          <a:p>
            <a:pPr marL="285750" indent="-285750">
              <a:buFont typeface="Wingdings" panose="05000000000000000000" pitchFamily="2" charset="2"/>
              <a:buChar char="§"/>
            </a:pPr>
            <a:r>
              <a:rPr lang="en-US" dirty="0"/>
              <a:t>The difference operation retrieves the tuples that appear in relation 𝑅 but not in relation 𝑆. </a:t>
            </a:r>
          </a:p>
          <a:p>
            <a:pPr marL="285750" indent="-285750">
              <a:buFont typeface="Wingdings" panose="05000000000000000000" pitchFamily="2" charset="2"/>
              <a:buChar char="§"/>
            </a:pPr>
            <a:r>
              <a:rPr lang="en-US" dirty="0"/>
              <a:t>In relational algebra, this is denoted as 𝑅−𝑆.</a:t>
            </a:r>
          </a:p>
          <a:p>
            <a:pPr marL="285750" indent="-285750">
              <a:buFont typeface="Wingdings" panose="05000000000000000000" pitchFamily="2" charset="2"/>
              <a:buChar char="§"/>
            </a:pPr>
            <a:r>
              <a:rPr lang="en-US" b="1" dirty="0"/>
              <a:t>Map Function:</a:t>
            </a:r>
          </a:p>
          <a:p>
            <a:pPr marL="285750" indent="-285750">
              <a:buFont typeface="Wingdings" panose="05000000000000000000" pitchFamily="2" charset="2"/>
              <a:buChar char="§"/>
            </a:pPr>
            <a:r>
              <a:rPr lang="en-US" dirty="0"/>
              <a:t>Input: A tuple from either relation 𝑅 or 𝑆.</a:t>
            </a:r>
          </a:p>
          <a:p>
            <a:pPr marL="285750" indent="-285750">
              <a:buFont typeface="Wingdings" panose="05000000000000000000" pitchFamily="2" charset="2"/>
              <a:buChar char="§"/>
            </a:pPr>
            <a:r>
              <a:rPr lang="en-US" dirty="0"/>
              <a:t>Output: Emit the tuple as the key and the relation identifier (R or S) as the value.</a:t>
            </a:r>
          </a:p>
          <a:p>
            <a:pPr marL="285750" indent="-285750">
              <a:buFont typeface="Wingdings" panose="05000000000000000000" pitchFamily="2" charset="2"/>
              <a:buChar char="§"/>
            </a:pPr>
            <a:r>
              <a:rPr lang="en-US" dirty="0"/>
              <a:t>Example: If a tuple is (a, b) and it comes from 𝑅, emit ((a, b), "R").</a:t>
            </a:r>
          </a:p>
          <a:p>
            <a:pPr marL="285750" indent="-285750">
              <a:buFont typeface="Wingdings" panose="05000000000000000000" pitchFamily="2" charset="2"/>
              <a:buChar char="§"/>
            </a:pPr>
            <a:r>
              <a:rPr lang="en-US" b="1" dirty="0"/>
              <a:t>Reduce Function:</a:t>
            </a:r>
          </a:p>
          <a:p>
            <a:pPr marL="285750" indent="-285750">
              <a:buFont typeface="Wingdings" panose="05000000000000000000" pitchFamily="2" charset="2"/>
              <a:buChar char="§"/>
            </a:pPr>
            <a:r>
              <a:rPr lang="en-US" b="1" dirty="0"/>
              <a:t>Input: </a:t>
            </a:r>
            <a:r>
              <a:rPr lang="en-US" dirty="0"/>
              <a:t>A key (the tuple) and a list of values (either ["R"], ["S"], or ["R", "S"]).</a:t>
            </a:r>
          </a:p>
          <a:p>
            <a:pPr marL="285750" indent="-285750">
              <a:buFont typeface="Wingdings" panose="05000000000000000000" pitchFamily="2" charset="2"/>
              <a:buChar char="§"/>
            </a:pPr>
            <a:r>
              <a:rPr lang="en-US" b="1" dirty="0"/>
              <a:t>Output: </a:t>
            </a:r>
            <a:r>
              <a:rPr lang="en-US" dirty="0"/>
              <a:t>Emit the tuple only if it appears in 𝑅 but not in 𝑆.</a:t>
            </a:r>
          </a:p>
          <a:p>
            <a:pPr marL="285750" indent="-285750">
              <a:buFont typeface="Wingdings" panose="05000000000000000000" pitchFamily="2" charset="2"/>
              <a:buChar char="§"/>
            </a:pPr>
            <a:r>
              <a:rPr lang="en-US" dirty="0"/>
              <a:t>Example: If the key (a, b) has values ["R"], emit (a, b).</a:t>
            </a:r>
          </a:p>
          <a:p>
            <a:pPr marL="285750" indent="-285750">
              <a:buFont typeface="Wingdings" panose="05000000000000000000" pitchFamily="2" charset="2"/>
              <a:buChar char="§"/>
            </a:pPr>
            <a:r>
              <a:rPr lang="en-US" dirty="0"/>
              <a:t>𝑅={(1,"𝐴𝑙𝑖𝑐𝑒"),(2,"𝐵𝑜𝑏")} </a:t>
            </a:r>
          </a:p>
          <a:p>
            <a:pPr marL="285750" indent="-285750">
              <a:buFont typeface="Wingdings" panose="05000000000000000000" pitchFamily="2" charset="2"/>
              <a:buChar char="§"/>
            </a:pPr>
            <a:r>
              <a:rPr lang="en-US" dirty="0"/>
              <a:t>𝑆={(2,"𝐵𝑜𝑏"),(3,"𝐶ℎ𝑎𝑟𝑙𝑖𝑒")} </a:t>
            </a:r>
          </a:p>
          <a:p>
            <a:pPr marL="285750" indent="-285750">
              <a:buFont typeface="Wingdings" panose="05000000000000000000" pitchFamily="2" charset="2"/>
              <a:buChar char="§"/>
            </a:pPr>
            <a:r>
              <a:rPr lang="en-US" b="1" dirty="0"/>
              <a:t>Map Phase:</a:t>
            </a:r>
          </a:p>
          <a:p>
            <a:pPr marL="285750" indent="-285750">
              <a:buFont typeface="Wingdings" panose="05000000000000000000" pitchFamily="2" charset="2"/>
              <a:buChar char="§"/>
            </a:pPr>
            <a:r>
              <a:rPr lang="en-US" dirty="0"/>
              <a:t>For 𝑅, emit: ((1, "Alice"), "R"), ((2, "Bob"), "R")</a:t>
            </a:r>
          </a:p>
          <a:p>
            <a:pPr marL="285750" indent="-285750">
              <a:buFont typeface="Wingdings" panose="05000000000000000000" pitchFamily="2" charset="2"/>
              <a:buChar char="§"/>
            </a:pPr>
            <a:r>
              <a:rPr lang="en-US" dirty="0"/>
              <a:t>For 𝑆, emit: ((2, "Bob"), "S"), ((3, "Charlie"), "S")</a:t>
            </a:r>
          </a:p>
          <a:p>
            <a:pPr marL="285750" indent="-285750">
              <a:buFont typeface="Wingdings" panose="05000000000000000000" pitchFamily="2" charset="2"/>
              <a:buChar char="§"/>
            </a:pPr>
            <a:r>
              <a:rPr lang="en-US" b="1" dirty="0"/>
              <a:t>Reduce </a:t>
            </a:r>
            <a:r>
              <a:rPr lang="en-US" b="1" dirty="0" err="1"/>
              <a:t>Phase</a:t>
            </a:r>
            <a:r>
              <a:rPr lang="en-US" dirty="0" err="1"/>
              <a:t>:For</a:t>
            </a:r>
            <a:r>
              <a:rPr lang="en-US" dirty="0"/>
              <a:t> ((1, "Alice"), ["R"]), output (1, "Alice")</a:t>
            </a:r>
          </a:p>
          <a:p>
            <a:pPr marL="285750" indent="-285750">
              <a:buFont typeface="Wingdings" panose="05000000000000000000" pitchFamily="2" charset="2"/>
              <a:buChar char="§"/>
            </a:pPr>
            <a:r>
              <a:rPr lang="en-US" dirty="0"/>
              <a:t>For ((2, "Bob"), ["R", "S"]), no output</a:t>
            </a:r>
          </a:p>
          <a:p>
            <a:pPr marL="285750" indent="-285750">
              <a:buFont typeface="Wingdings" panose="05000000000000000000" pitchFamily="2" charset="2"/>
              <a:buChar char="§"/>
            </a:pPr>
            <a:r>
              <a:rPr lang="en-US" dirty="0"/>
              <a:t>For ((3, "Charlie"), ["S"]), no output</a:t>
            </a:r>
          </a:p>
          <a:p>
            <a:pPr marL="285750" indent="-285750">
              <a:buFont typeface="Wingdings" panose="05000000000000000000" pitchFamily="2" charset="2"/>
              <a:buChar char="§"/>
            </a:pPr>
            <a:r>
              <a:rPr lang="en-US" dirty="0"/>
              <a:t>Final Output (Difference 𝑅−𝑆):{(1,"𝐴𝑙𝑖𝑐𝑒")}</a:t>
            </a:r>
          </a:p>
        </p:txBody>
      </p:sp>
    </p:spTree>
    <p:extLst>
      <p:ext uri="{BB962C8B-B14F-4D97-AF65-F5344CB8AC3E}">
        <p14:creationId xmlns:p14="http://schemas.microsoft.com/office/powerpoint/2010/main" val="3929183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2" name="Metin kutusu 1">
            <a:extLst>
              <a:ext uri="{FF2B5EF4-FFF2-40B4-BE49-F238E27FC236}">
                <a16:creationId xmlns:a16="http://schemas.microsoft.com/office/drawing/2014/main" id="{E2B33AD5-9A52-9A1F-388A-8C2864F7583B}"/>
              </a:ext>
            </a:extLst>
          </p:cNvPr>
          <p:cNvSpPr txBox="1"/>
          <p:nvPr/>
        </p:nvSpPr>
        <p:spPr>
          <a:xfrm>
            <a:off x="152400" y="838200"/>
            <a:ext cx="11811000" cy="5632311"/>
          </a:xfrm>
          <a:prstGeom prst="rect">
            <a:avLst/>
          </a:prstGeom>
          <a:noFill/>
        </p:spPr>
        <p:txBody>
          <a:bodyPr wrap="square" rtlCol="0">
            <a:spAutoFit/>
          </a:bodyPr>
          <a:lstStyle/>
          <a:p>
            <a:pPr marL="285750" indent="-285750">
              <a:buFont typeface="Wingdings" panose="05000000000000000000" pitchFamily="2" charset="2"/>
              <a:buChar char="§"/>
            </a:pPr>
            <a:r>
              <a:rPr lang="en-US" b="1" dirty="0"/>
              <a:t>Computing Natural Join by MapReduce</a:t>
            </a:r>
          </a:p>
          <a:p>
            <a:pPr marL="285750" indent="-285750">
              <a:buFont typeface="Wingdings" panose="05000000000000000000" pitchFamily="2" charset="2"/>
              <a:buChar char="§"/>
            </a:pPr>
            <a:r>
              <a:rPr lang="en-US" dirty="0"/>
              <a:t>The </a:t>
            </a:r>
            <a:r>
              <a:rPr lang="en-US" b="1" dirty="0"/>
              <a:t>Natural Join</a:t>
            </a:r>
            <a:r>
              <a:rPr lang="en-US" dirty="0"/>
              <a:t> operation in relational databases combines two relations by matching tuples based on common attributes. In the </a:t>
            </a:r>
            <a:r>
              <a:rPr lang="en-US" b="1" dirty="0"/>
              <a:t>MapReduce</a:t>
            </a:r>
            <a:r>
              <a:rPr lang="en-US" dirty="0"/>
              <a:t> framework, this operation can be efficiently parallelized, allowing for large-scale processing of the join operation.</a:t>
            </a:r>
            <a:endParaRPr lang="en-US" b="1" dirty="0"/>
          </a:p>
          <a:p>
            <a:pPr marL="285750" indent="-285750">
              <a:buFont typeface="Wingdings" panose="05000000000000000000" pitchFamily="2" charset="2"/>
              <a:buChar char="§"/>
            </a:pPr>
            <a:r>
              <a:rPr lang="en-US" b="1" dirty="0"/>
              <a:t>Natural Join Overview:</a:t>
            </a:r>
          </a:p>
          <a:p>
            <a:pPr marL="285750" indent="-285750">
              <a:buFont typeface="Wingdings" panose="05000000000000000000" pitchFamily="2" charset="2"/>
              <a:buChar char="§"/>
            </a:pPr>
            <a:r>
              <a:rPr lang="en-US" dirty="0"/>
              <a:t>Given two relations </a:t>
            </a:r>
            <a:r>
              <a:rPr lang="en-US" b="1" i="1" dirty="0"/>
              <a:t>R(A,B) </a:t>
            </a:r>
            <a:r>
              <a:rPr lang="en-US" dirty="0"/>
              <a:t>and </a:t>
            </a:r>
            <a:r>
              <a:rPr lang="en-US" b="1" i="1" dirty="0"/>
              <a:t>S(B,C) </a:t>
            </a:r>
            <a:r>
              <a:rPr lang="en-US" dirty="0"/>
              <a:t>a </a:t>
            </a:r>
            <a:r>
              <a:rPr lang="en-US" b="1" dirty="0"/>
              <a:t>Natural Join</a:t>
            </a:r>
            <a:r>
              <a:rPr lang="en-US" dirty="0"/>
              <a:t> retrieves tuples where the common attribute </a:t>
            </a:r>
            <a:r>
              <a:rPr lang="en-US" b="1" i="1" dirty="0"/>
              <a:t>B</a:t>
            </a:r>
            <a:r>
              <a:rPr lang="en-US" dirty="0"/>
              <a:t> matches in both relations, and it returns a new relation with attributes </a:t>
            </a:r>
            <a:r>
              <a:rPr lang="en-US" i="1" dirty="0"/>
              <a:t>(A,B,C).</a:t>
            </a:r>
          </a:p>
          <a:p>
            <a:pPr marL="285750" indent="-285750">
              <a:buFont typeface="Wingdings" panose="05000000000000000000" pitchFamily="2" charset="2"/>
              <a:buChar char="§"/>
            </a:pPr>
            <a:r>
              <a:rPr lang="en-US" dirty="0"/>
              <a:t>The natural join can be expressed as:</a:t>
            </a:r>
          </a:p>
          <a:p>
            <a:pPr algn="ctr"/>
            <a:r>
              <a:rPr lang="en-US" b="1" i="1" dirty="0"/>
              <a:t>R(A,B)⋈ S(B,C) </a:t>
            </a:r>
          </a:p>
          <a:p>
            <a:pPr marL="285750" indent="-285750">
              <a:buFont typeface="Wingdings" panose="05000000000000000000" pitchFamily="2" charset="2"/>
              <a:buChar char="§"/>
            </a:pPr>
            <a:r>
              <a:rPr lang="en-US" dirty="0"/>
              <a:t>This produces a result where </a:t>
            </a:r>
            <a:r>
              <a:rPr lang="en-US" b="1" i="1" dirty="0"/>
              <a:t>R.B=S.B </a:t>
            </a:r>
            <a:r>
              <a:rPr lang="en-US" dirty="0"/>
              <a:t>and outputs the combined tuples </a:t>
            </a:r>
            <a:r>
              <a:rPr lang="en-US" b="1" i="1" dirty="0"/>
              <a:t>(A,B,C).</a:t>
            </a:r>
          </a:p>
          <a:p>
            <a:pPr marL="285750" indent="-285750">
              <a:buFont typeface="Wingdings" panose="05000000000000000000" pitchFamily="2" charset="2"/>
              <a:buChar char="§"/>
            </a:pPr>
            <a:r>
              <a:rPr lang="en-US" i="1" dirty="0" err="1"/>
              <a:t>Example:Given:Relation</a:t>
            </a:r>
            <a:r>
              <a:rPr lang="en-US" i="1" dirty="0"/>
              <a:t> 𝑅(𝐴,𝐵)={(1,10),(2,20)} Relation 𝑆(𝐵,𝐶)={(10,"𝑋"),(20,"𝑌")} </a:t>
            </a:r>
          </a:p>
          <a:p>
            <a:pPr marL="285750" indent="-285750">
              <a:buFont typeface="Wingdings" panose="05000000000000000000" pitchFamily="2" charset="2"/>
              <a:buChar char="§"/>
            </a:pPr>
            <a:r>
              <a:rPr lang="en-US" i="1" dirty="0"/>
              <a:t>Map </a:t>
            </a:r>
            <a:r>
              <a:rPr lang="en-US" i="1" dirty="0" err="1"/>
              <a:t>Output:For</a:t>
            </a:r>
            <a:r>
              <a:rPr lang="en-US" i="1" dirty="0"/>
              <a:t> 𝑅(𝐴,𝐵) Emit (10, ("R", 1)), (20, ("R", 2))For 𝑆(𝐵,𝐶) Emit (10, ("S", "X")), (20, ("S", "Y"))</a:t>
            </a:r>
          </a:p>
          <a:p>
            <a:r>
              <a:rPr lang="en-US" b="1" dirty="0"/>
              <a:t>MapReduce Implementation of Natural Join:</a:t>
            </a:r>
          </a:p>
          <a:p>
            <a:r>
              <a:rPr lang="en-US" b="1" dirty="0"/>
              <a:t>1. Map Function:</a:t>
            </a:r>
          </a:p>
          <a:p>
            <a:r>
              <a:rPr lang="en-US" dirty="0"/>
              <a:t>The </a:t>
            </a:r>
            <a:r>
              <a:rPr lang="en-US" b="1" dirty="0"/>
              <a:t>Map</a:t>
            </a:r>
            <a:r>
              <a:rPr lang="en-US" dirty="0"/>
              <a:t> function processes tuples from both relations, emitting the join attribute B as the key, and the other attributes as the value.</a:t>
            </a:r>
          </a:p>
          <a:p>
            <a:pPr marL="285750" indent="-285750">
              <a:buFont typeface="Wingdings" panose="05000000000000000000" pitchFamily="2" charset="2"/>
              <a:buChar char="§"/>
            </a:pPr>
            <a:r>
              <a:rPr lang="en-US" b="1" dirty="0"/>
              <a:t>Input</a:t>
            </a:r>
            <a:r>
              <a:rPr lang="en-US" dirty="0"/>
              <a:t>: Tuples from relations </a:t>
            </a:r>
            <a:r>
              <a:rPr lang="en-US" b="1" i="1" dirty="0"/>
              <a:t>R(A,B) </a:t>
            </a:r>
            <a:r>
              <a:rPr lang="en-US" dirty="0"/>
              <a:t>and </a:t>
            </a:r>
            <a:r>
              <a:rPr lang="en-US" b="1" i="1" dirty="0"/>
              <a:t>S(B,C) </a:t>
            </a:r>
          </a:p>
          <a:p>
            <a:pPr marL="285750" indent="-285750">
              <a:buFont typeface="Wingdings" panose="05000000000000000000" pitchFamily="2" charset="2"/>
              <a:buChar char="§"/>
            </a:pPr>
            <a:r>
              <a:rPr lang="en-US" b="1" dirty="0"/>
              <a:t>Output</a:t>
            </a:r>
            <a:r>
              <a:rPr lang="en-US" dirty="0"/>
              <a:t>: For each tuple in </a:t>
            </a:r>
            <a:r>
              <a:rPr lang="en-US" b="1" i="1" dirty="0"/>
              <a:t>R</a:t>
            </a:r>
            <a:r>
              <a:rPr lang="en-US" dirty="0"/>
              <a:t>, emit a key-value pair where the key is </a:t>
            </a:r>
            <a:r>
              <a:rPr lang="en-US" b="1" i="1" dirty="0"/>
              <a:t>B</a:t>
            </a:r>
            <a:r>
              <a:rPr lang="en-US" dirty="0"/>
              <a:t>, and the value is </a:t>
            </a:r>
            <a:r>
              <a:rPr lang="en-US" b="1" i="1" dirty="0"/>
              <a:t>(R,A)</a:t>
            </a:r>
            <a:r>
              <a:rPr lang="en-US" dirty="0"/>
              <a:t>.For each tuple in S, emit a key-value pair where the key is </a:t>
            </a:r>
            <a:r>
              <a:rPr lang="en-US" b="1" i="1" dirty="0"/>
              <a:t>B</a:t>
            </a:r>
            <a:r>
              <a:rPr lang="en-US" dirty="0"/>
              <a:t>, and the value is </a:t>
            </a:r>
            <a:r>
              <a:rPr lang="en-US" b="1" i="1" dirty="0"/>
              <a:t>(S,C).</a:t>
            </a:r>
          </a:p>
          <a:p>
            <a:pPr marL="285750" indent="-285750">
              <a:buFont typeface="Wingdings" panose="05000000000000000000" pitchFamily="2" charset="2"/>
              <a:buChar char="§"/>
            </a:pPr>
            <a:endParaRPr lang="en-US" b="1" dirty="0"/>
          </a:p>
        </p:txBody>
      </p:sp>
    </p:spTree>
    <p:extLst>
      <p:ext uri="{BB962C8B-B14F-4D97-AF65-F5344CB8AC3E}">
        <p14:creationId xmlns:p14="http://schemas.microsoft.com/office/powerpoint/2010/main" val="523010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2" name="Metin kutusu 1">
            <a:extLst>
              <a:ext uri="{FF2B5EF4-FFF2-40B4-BE49-F238E27FC236}">
                <a16:creationId xmlns:a16="http://schemas.microsoft.com/office/drawing/2014/main" id="{E2B33AD5-9A52-9A1F-388A-8C2864F7583B}"/>
              </a:ext>
            </a:extLst>
          </p:cNvPr>
          <p:cNvSpPr txBox="1"/>
          <p:nvPr/>
        </p:nvSpPr>
        <p:spPr>
          <a:xfrm>
            <a:off x="152400" y="838200"/>
            <a:ext cx="11811000" cy="3139321"/>
          </a:xfrm>
          <a:prstGeom prst="rect">
            <a:avLst/>
          </a:prstGeom>
          <a:noFill/>
        </p:spPr>
        <p:txBody>
          <a:bodyPr wrap="square" rtlCol="0">
            <a:spAutoFit/>
          </a:bodyPr>
          <a:lstStyle/>
          <a:p>
            <a:pPr marL="285750" indent="-285750">
              <a:buFont typeface="Wingdings" panose="05000000000000000000" pitchFamily="2" charset="2"/>
              <a:buChar char="§"/>
            </a:pPr>
            <a:r>
              <a:rPr lang="en-US" b="1" dirty="0"/>
              <a:t>Computing Natural Join by MapReduce</a:t>
            </a:r>
          </a:p>
          <a:p>
            <a:pPr marL="285750" indent="-285750">
              <a:buFont typeface="Wingdings" panose="05000000000000000000" pitchFamily="2" charset="2"/>
              <a:buChar char="§"/>
            </a:pPr>
            <a:r>
              <a:rPr lang="en-US" b="1" dirty="0"/>
              <a:t>2. Shuffle and Sort Phase:</a:t>
            </a:r>
          </a:p>
          <a:p>
            <a:pPr marL="285750" indent="-285750">
              <a:buFont typeface="Wingdings" panose="05000000000000000000" pitchFamily="2" charset="2"/>
              <a:buChar char="§"/>
            </a:pPr>
            <a:r>
              <a:rPr lang="en-US" dirty="0"/>
              <a:t>The MapReduce framework automatically </a:t>
            </a:r>
            <a:r>
              <a:rPr lang="en-US" b="1" dirty="0"/>
              <a:t>shuffles</a:t>
            </a:r>
            <a:r>
              <a:rPr lang="en-US" dirty="0"/>
              <a:t> and </a:t>
            </a:r>
            <a:r>
              <a:rPr lang="en-US" b="1" dirty="0"/>
              <a:t>sorts</a:t>
            </a:r>
            <a:r>
              <a:rPr lang="en-US" dirty="0"/>
              <a:t> the intermediate key-value pairs by key </a:t>
            </a:r>
            <a:r>
              <a:rPr lang="en-US" b="1" i="1" dirty="0"/>
              <a:t>B</a:t>
            </a:r>
            <a:r>
              <a:rPr lang="en-US" dirty="0"/>
              <a:t>. This groups together all values associated with the same </a:t>
            </a:r>
            <a:r>
              <a:rPr lang="en-US" b="1" i="1" dirty="0"/>
              <a:t>B </a:t>
            </a:r>
            <a:r>
              <a:rPr lang="en-US" dirty="0"/>
              <a:t>key, which is essential for performing the join operation.</a:t>
            </a:r>
          </a:p>
          <a:p>
            <a:pPr marL="285750" indent="-285750">
              <a:buFont typeface="Wingdings" panose="05000000000000000000" pitchFamily="2" charset="2"/>
              <a:buChar char="§"/>
            </a:pPr>
            <a:r>
              <a:rPr lang="en-US" b="1" dirty="0"/>
              <a:t>3.Reduce Function,</a:t>
            </a:r>
          </a:p>
          <a:p>
            <a:pPr marL="285750" indent="-285750">
              <a:buFont typeface="Wingdings" panose="05000000000000000000" pitchFamily="2" charset="2"/>
              <a:buChar char="§"/>
            </a:pPr>
            <a:r>
              <a:rPr lang="en-US" dirty="0"/>
              <a:t>The </a:t>
            </a:r>
            <a:r>
              <a:rPr lang="en-US" b="1" dirty="0"/>
              <a:t>Reduce</a:t>
            </a:r>
            <a:r>
              <a:rPr lang="en-US" dirty="0"/>
              <a:t> function receives all tuples that share the same join attribute </a:t>
            </a:r>
            <a:r>
              <a:rPr lang="en-US" b="1" i="1" dirty="0"/>
              <a:t>B</a:t>
            </a:r>
            <a:r>
              <a:rPr lang="en-US" dirty="0"/>
              <a:t>. It pairs the values from relation</a:t>
            </a:r>
            <a:r>
              <a:rPr lang="en-US" b="1" i="1" dirty="0"/>
              <a:t> R </a:t>
            </a:r>
            <a:r>
              <a:rPr lang="en-US" dirty="0"/>
              <a:t>with the values from relation </a:t>
            </a:r>
            <a:r>
              <a:rPr lang="en-US" b="1" i="1" dirty="0"/>
              <a:t>S</a:t>
            </a:r>
            <a:r>
              <a:rPr lang="en-US" dirty="0"/>
              <a:t> for each key </a:t>
            </a:r>
            <a:r>
              <a:rPr lang="en-US" b="1" i="1" dirty="0"/>
              <a:t>B</a:t>
            </a:r>
            <a:r>
              <a:rPr lang="en-US" dirty="0"/>
              <a:t>, and emits the combined tuples.</a:t>
            </a:r>
          </a:p>
          <a:p>
            <a:pPr>
              <a:buFont typeface="Arial" panose="020B0604020202020204" pitchFamily="34" charset="0"/>
              <a:buChar char="•"/>
            </a:pPr>
            <a:r>
              <a:rPr lang="en-US" b="1" dirty="0"/>
              <a:t>Input</a:t>
            </a:r>
            <a:r>
              <a:rPr lang="en-US" dirty="0"/>
              <a:t>: A key B and a list of values where each value is either </a:t>
            </a:r>
            <a:r>
              <a:rPr lang="en-US" b="1" i="1" dirty="0"/>
              <a:t>(R,A) </a:t>
            </a:r>
            <a:r>
              <a:rPr lang="en-US" dirty="0"/>
              <a:t>or </a:t>
            </a:r>
            <a:r>
              <a:rPr lang="en-US" b="1" i="1" dirty="0"/>
              <a:t>(S,C)</a:t>
            </a:r>
          </a:p>
          <a:p>
            <a:pPr>
              <a:buFont typeface="Arial" panose="020B0604020202020204" pitchFamily="34" charset="0"/>
              <a:buChar char="•"/>
            </a:pPr>
            <a:r>
              <a:rPr lang="en-US" b="1" dirty="0"/>
              <a:t>Output</a:t>
            </a:r>
            <a:r>
              <a:rPr lang="en-US" dirty="0"/>
              <a:t>: Emit the combined tuple </a:t>
            </a:r>
            <a:r>
              <a:rPr lang="en-US" b="1" i="1" dirty="0"/>
              <a:t>(A,B,C) </a:t>
            </a:r>
            <a:r>
              <a:rPr lang="en-US" dirty="0"/>
              <a:t>whenever there is a match between</a:t>
            </a:r>
            <a:r>
              <a:rPr lang="en-US" b="1" i="1" dirty="0"/>
              <a:t> R </a:t>
            </a:r>
            <a:r>
              <a:rPr lang="en-US" dirty="0"/>
              <a:t>and</a:t>
            </a:r>
            <a:r>
              <a:rPr lang="en-US" b="1" i="1" dirty="0"/>
              <a:t> S</a:t>
            </a:r>
            <a:r>
              <a:rPr lang="en-US" dirty="0"/>
              <a:t>.</a:t>
            </a:r>
          </a:p>
          <a:p>
            <a:endParaRPr lang="en-US" dirty="0"/>
          </a:p>
          <a:p>
            <a:endParaRPr lang="en-US" b="1" dirty="0"/>
          </a:p>
        </p:txBody>
      </p:sp>
    </p:spTree>
    <p:extLst>
      <p:ext uri="{BB962C8B-B14F-4D97-AF65-F5344CB8AC3E}">
        <p14:creationId xmlns:p14="http://schemas.microsoft.com/office/powerpoint/2010/main" val="4276879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2" name="Metin kutusu 1">
            <a:extLst>
              <a:ext uri="{FF2B5EF4-FFF2-40B4-BE49-F238E27FC236}">
                <a16:creationId xmlns:a16="http://schemas.microsoft.com/office/drawing/2014/main" id="{E2B33AD5-9A52-9A1F-388A-8C2864F7583B}"/>
              </a:ext>
            </a:extLst>
          </p:cNvPr>
          <p:cNvSpPr txBox="1"/>
          <p:nvPr/>
        </p:nvSpPr>
        <p:spPr>
          <a:xfrm>
            <a:off x="152400" y="838200"/>
            <a:ext cx="11811000" cy="5632311"/>
          </a:xfrm>
          <a:prstGeom prst="rect">
            <a:avLst/>
          </a:prstGeom>
          <a:noFill/>
        </p:spPr>
        <p:txBody>
          <a:bodyPr wrap="square" rtlCol="0">
            <a:spAutoFit/>
          </a:bodyPr>
          <a:lstStyle/>
          <a:p>
            <a:pPr marL="285750" indent="-285750">
              <a:buFont typeface="Wingdings" panose="05000000000000000000" pitchFamily="2" charset="2"/>
              <a:buChar char="§"/>
            </a:pPr>
            <a:r>
              <a:rPr lang="en-US" b="1" dirty="0"/>
              <a:t>Grouping and Aggregation by MapReduce</a:t>
            </a:r>
          </a:p>
          <a:p>
            <a:pPr marL="285750" indent="-285750">
              <a:buFont typeface="Wingdings" panose="05000000000000000000" pitchFamily="2" charset="2"/>
              <a:buChar char="§"/>
            </a:pPr>
            <a:r>
              <a:rPr lang="en-US" dirty="0"/>
              <a:t>Grouping and Aggregation are fundamental operations in data processing, particularly in database queries and data mining tasks. In a MapReduce framework, these operations can be efficiently executed by grouping the data by certain attributes and then applying an aggregation function </a:t>
            </a:r>
            <a:r>
              <a:rPr lang="en-US" b="1" dirty="0"/>
              <a:t>(e.g., SUM, COUNT, AVG, MIN, MAX) </a:t>
            </a:r>
            <a:r>
              <a:rPr lang="en-US" dirty="0"/>
              <a:t>to each group.</a:t>
            </a:r>
          </a:p>
          <a:p>
            <a:pPr marL="285750" indent="-285750">
              <a:buFont typeface="Wingdings" panose="05000000000000000000" pitchFamily="2" charset="2"/>
              <a:buChar char="§"/>
            </a:pPr>
            <a:r>
              <a:rPr lang="en-US" b="1" dirty="0"/>
              <a:t>1. Map Function:</a:t>
            </a:r>
          </a:p>
          <a:p>
            <a:pPr marL="285750" indent="-285750">
              <a:buFont typeface="Wingdings" panose="05000000000000000000" pitchFamily="2" charset="2"/>
              <a:buChar char="§"/>
            </a:pPr>
            <a:r>
              <a:rPr lang="en-US" dirty="0"/>
              <a:t>In the </a:t>
            </a:r>
            <a:r>
              <a:rPr lang="en-US" b="1" dirty="0"/>
              <a:t>Map</a:t>
            </a:r>
            <a:r>
              <a:rPr lang="en-US" dirty="0"/>
              <a:t> phase, the function processes each tuple from the dataset, emits the grouping attribute(s) as the key, and the aggregated attribute(s) as the value.</a:t>
            </a:r>
          </a:p>
          <a:p>
            <a:pPr marL="285750" indent="-285750">
              <a:buFont typeface="Wingdings" panose="05000000000000000000" pitchFamily="2" charset="2"/>
              <a:buChar char="§"/>
            </a:pPr>
            <a:r>
              <a:rPr lang="en-US" b="1" dirty="0"/>
              <a:t>Input</a:t>
            </a:r>
            <a:r>
              <a:rPr lang="en-US" dirty="0"/>
              <a:t>: A tuple from the relation </a:t>
            </a:r>
            <a:r>
              <a:rPr lang="en-US" b="1" i="1" dirty="0"/>
              <a:t>R(A,B,C)</a:t>
            </a:r>
          </a:p>
          <a:p>
            <a:pPr marL="285750" indent="-285750">
              <a:buFont typeface="Wingdings" panose="05000000000000000000" pitchFamily="2" charset="2"/>
              <a:buChar char="§"/>
            </a:pPr>
            <a:r>
              <a:rPr lang="en-US" b="1" dirty="0"/>
              <a:t>Output</a:t>
            </a:r>
            <a:r>
              <a:rPr lang="en-US" dirty="0"/>
              <a:t>: Emit a key-value pair where the key is the group (the value of attribute </a:t>
            </a:r>
            <a:r>
              <a:rPr lang="en-US" b="1" i="1" dirty="0"/>
              <a:t>A</a:t>
            </a:r>
            <a:r>
              <a:rPr lang="en-US" dirty="0"/>
              <a:t>), and the value is the attribute to be aggregated (e.g., </a:t>
            </a:r>
            <a:r>
              <a:rPr lang="en-US" b="1" i="1" dirty="0"/>
              <a:t>B</a:t>
            </a:r>
            <a:r>
              <a:rPr lang="en-US" dirty="0"/>
              <a:t>).</a:t>
            </a:r>
          </a:p>
          <a:p>
            <a:pPr marL="285750" indent="-285750">
              <a:buFont typeface="Wingdings" panose="05000000000000000000" pitchFamily="2" charset="2"/>
              <a:buChar char="§"/>
            </a:pPr>
            <a:r>
              <a:rPr lang="en-US" dirty="0"/>
              <a:t>Example: Given a relation 𝑅 with tuples:𝑅={(𝐴𝑙𝑖𝑐𝑒,5),(𝐵𝑜𝑏,10),(𝐴𝑙𝑖𝑐𝑒,15),(𝐵𝑜𝑏,20)} Where the attributes are (𝐴=name,𝐵=score) </a:t>
            </a:r>
          </a:p>
          <a:p>
            <a:pPr marL="285750" indent="-285750">
              <a:buFont typeface="Wingdings" panose="05000000000000000000" pitchFamily="2" charset="2"/>
              <a:buChar char="§"/>
            </a:pPr>
            <a:r>
              <a:rPr lang="en-US" dirty="0"/>
              <a:t>The Map phase emits the following key-value pairs: Emit: (Alice, 5) Emit: (Bob, 10) Emit: (Alice, 15) Emit: (Bob, 20)</a:t>
            </a:r>
          </a:p>
          <a:p>
            <a:pPr>
              <a:buFont typeface="Arial" panose="020B0604020202020204" pitchFamily="34" charset="0"/>
              <a:buChar char="•"/>
            </a:pPr>
            <a:endParaRPr lang="en-US" dirty="0"/>
          </a:p>
          <a:p>
            <a:pPr marL="285750" indent="-285750">
              <a:buFont typeface="Wingdings" panose="05000000000000000000" pitchFamily="2" charset="2"/>
              <a:buChar char="§"/>
            </a:pPr>
            <a:r>
              <a:rPr lang="en-US" b="1" dirty="0"/>
              <a:t>2. Reduce Function</a:t>
            </a:r>
          </a:p>
          <a:p>
            <a:pPr marL="285750" indent="-285750">
              <a:buFont typeface="Wingdings" panose="05000000000000000000" pitchFamily="2" charset="2"/>
              <a:buChar char="§"/>
            </a:pPr>
            <a:r>
              <a:rPr lang="en-US" dirty="0"/>
              <a:t>The Reduce function receives each key (group) and the list of values associated with that key. It applies the aggregation function (e.g., SUM, COUNT, etc.) to compute the result for each group.</a:t>
            </a:r>
          </a:p>
          <a:p>
            <a:pPr marL="285750" indent="-285750">
              <a:buFont typeface="Wingdings" panose="05000000000000000000" pitchFamily="2" charset="2"/>
              <a:buChar char="§"/>
            </a:pPr>
            <a:r>
              <a:rPr lang="en-US" dirty="0"/>
              <a:t>Input: A key 𝐴 (the grouping attribute) and a list of values [𝐵1,𝐵2,…,𝐵𝑛] to aggregate.</a:t>
            </a:r>
          </a:p>
          <a:p>
            <a:pPr marL="285750" indent="-285750">
              <a:buFont typeface="Wingdings" panose="05000000000000000000" pitchFamily="2" charset="2"/>
              <a:buChar char="§"/>
            </a:pPr>
            <a:r>
              <a:rPr lang="en-US" dirty="0"/>
              <a:t>Output: Emit the key 𝐴 and the aggregated result (e.g., the sum of 𝐵).</a:t>
            </a:r>
          </a:p>
          <a:p>
            <a:pPr marL="285750" indent="-285750">
              <a:buFont typeface="Wingdings" panose="05000000000000000000" pitchFamily="2" charset="2"/>
              <a:buChar char="§"/>
            </a:pPr>
            <a:endParaRPr lang="en-US" b="1" dirty="0"/>
          </a:p>
        </p:txBody>
      </p:sp>
    </p:spTree>
    <p:extLst>
      <p:ext uri="{BB962C8B-B14F-4D97-AF65-F5344CB8AC3E}">
        <p14:creationId xmlns:p14="http://schemas.microsoft.com/office/powerpoint/2010/main" val="1176046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56852EB0-98C5-E6BB-DB3D-EB5F26A2F27D}"/>
              </a:ext>
            </a:extLst>
          </p:cNvPr>
          <p:cNvSpPr/>
          <p:nvPr/>
        </p:nvSpPr>
        <p:spPr>
          <a:xfrm>
            <a:off x="0" y="0"/>
            <a:ext cx="121920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ltLang="ko-KR" sz="2800" dirty="0">
              <a:ea typeface="맑은 고딕"/>
            </a:endParaRPr>
          </a:p>
          <a:p>
            <a:r>
              <a:rPr lang="en-US" altLang="ko-KR" sz="2800" dirty="0">
                <a:ea typeface="맑은 고딕"/>
              </a:rPr>
              <a:t>2. </a:t>
            </a:r>
            <a:r>
              <a:rPr lang="en-US" altLang="ko-KR" sz="2800" dirty="0">
                <a:ea typeface="맑은 고딕"/>
                <a:cs typeface="Calibri"/>
              </a:rPr>
              <a:t>MapReduce and Big Data</a:t>
            </a:r>
          </a:p>
          <a:p>
            <a:endParaRPr lang="ko-KR" altLang="en-US" sz="2800" dirty="0">
              <a:ea typeface="맑은 고딕"/>
            </a:endParaRPr>
          </a:p>
        </p:txBody>
      </p:sp>
      <p:sp>
        <p:nvSpPr>
          <p:cNvPr id="2" name="Metin kutusu 1">
            <a:extLst>
              <a:ext uri="{FF2B5EF4-FFF2-40B4-BE49-F238E27FC236}">
                <a16:creationId xmlns:a16="http://schemas.microsoft.com/office/drawing/2014/main" id="{E2B33AD5-9A52-9A1F-388A-8C2864F7583B}"/>
              </a:ext>
            </a:extLst>
          </p:cNvPr>
          <p:cNvSpPr txBox="1"/>
          <p:nvPr/>
        </p:nvSpPr>
        <p:spPr>
          <a:xfrm>
            <a:off x="76200" y="762000"/>
            <a:ext cx="11811000" cy="6740307"/>
          </a:xfrm>
          <a:prstGeom prst="rect">
            <a:avLst/>
          </a:prstGeom>
          <a:noFill/>
        </p:spPr>
        <p:txBody>
          <a:bodyPr wrap="square" rtlCol="0">
            <a:spAutoFit/>
          </a:bodyPr>
          <a:lstStyle/>
          <a:p>
            <a:pPr marL="285750" indent="-285750">
              <a:buFont typeface="Wingdings" panose="05000000000000000000" pitchFamily="2" charset="2"/>
              <a:buChar char="§"/>
            </a:pPr>
            <a:r>
              <a:rPr lang="en-US" b="1" dirty="0"/>
              <a:t>Matrix Multiplication with One MapReduce Step</a:t>
            </a:r>
          </a:p>
          <a:p>
            <a:pPr marL="285750" indent="-285750">
              <a:buFont typeface="Wingdings" panose="05000000000000000000" pitchFamily="2" charset="2"/>
              <a:buChar char="§"/>
            </a:pPr>
            <a:r>
              <a:rPr lang="en-US" b="1" dirty="0"/>
              <a:t>Matrix Multiplication</a:t>
            </a:r>
            <a:r>
              <a:rPr lang="en-US" dirty="0"/>
              <a:t> is a common operation in many scientific and data processing tasks. When handling large matrices, </a:t>
            </a:r>
            <a:r>
              <a:rPr lang="en-US" b="1" dirty="0"/>
              <a:t>MapReduce</a:t>
            </a:r>
            <a:r>
              <a:rPr lang="en-US" dirty="0"/>
              <a:t> can be used to parallelize the computation. One approach to perform </a:t>
            </a:r>
            <a:r>
              <a:rPr lang="en-US" b="1" dirty="0"/>
              <a:t>matrix multiplication</a:t>
            </a:r>
            <a:r>
              <a:rPr lang="en-US" dirty="0"/>
              <a:t> using a single MapReduce step is to emit intermediate key-value pairs that represent the necessary computations and then aggregate them in the Reduce phase.</a:t>
            </a:r>
            <a:endParaRPr lang="en-US" b="1" dirty="0"/>
          </a:p>
          <a:p>
            <a:pPr marL="285750" indent="-285750">
              <a:buFont typeface="Wingdings" panose="05000000000000000000" pitchFamily="2" charset="2"/>
              <a:buChar char="§"/>
            </a:pPr>
            <a:endParaRPr lang="en-US" b="1" dirty="0"/>
          </a:p>
          <a:p>
            <a:pPr marL="285750" indent="-285750">
              <a:buFont typeface="Wingdings" panose="05000000000000000000" pitchFamily="2" charset="2"/>
              <a:buChar char="§"/>
            </a:pPr>
            <a:r>
              <a:rPr lang="en-US" b="1" dirty="0"/>
              <a:t>1. Map Phase:</a:t>
            </a:r>
          </a:p>
          <a:p>
            <a:pPr marL="285750" indent="-285750">
              <a:buFont typeface="Wingdings" panose="05000000000000000000" pitchFamily="2" charset="2"/>
              <a:buChar char="§"/>
            </a:pPr>
            <a:r>
              <a:rPr lang="en-US" dirty="0"/>
              <a:t>Each </a:t>
            </a:r>
            <a:r>
              <a:rPr lang="en-US" b="1" dirty="0"/>
              <a:t>Map</a:t>
            </a:r>
            <a:r>
              <a:rPr lang="en-US" dirty="0"/>
              <a:t> task processes elements from both matrices M and N. For each element M[</a:t>
            </a:r>
            <a:r>
              <a:rPr lang="en-US" dirty="0" err="1"/>
              <a:t>i,j</a:t>
            </a:r>
            <a:r>
              <a:rPr lang="en-US" dirty="0"/>
              <a:t>] of matrix M, emit a key-value pair where the key is (</a:t>
            </a:r>
            <a:r>
              <a:rPr lang="en-US" dirty="0" err="1"/>
              <a:t>i,k</a:t>
            </a:r>
            <a:r>
              <a:rPr lang="en-US" dirty="0"/>
              <a:t>) and the value is (</a:t>
            </a:r>
            <a:r>
              <a:rPr lang="en-US" dirty="0" err="1"/>
              <a:t>M,j,M</a:t>
            </a:r>
            <a:r>
              <a:rPr lang="en-US" dirty="0"/>
              <a:t>[</a:t>
            </a:r>
            <a:r>
              <a:rPr lang="en-US" dirty="0" err="1"/>
              <a:t>i,j</a:t>
            </a:r>
            <a:r>
              <a:rPr lang="en-US" dirty="0"/>
              <a:t>]). Similarly, for each element N[</a:t>
            </a:r>
            <a:r>
              <a:rPr lang="en-US" dirty="0" err="1"/>
              <a:t>j,k</a:t>
            </a:r>
            <a:r>
              <a:rPr lang="en-US" dirty="0"/>
              <a:t>] of matrix N, emit a key-value pair where the key is (</a:t>
            </a:r>
            <a:r>
              <a:rPr lang="en-US" dirty="0" err="1"/>
              <a:t>i,k</a:t>
            </a:r>
            <a:r>
              <a:rPr lang="en-US" dirty="0"/>
              <a:t>) and the value is (</a:t>
            </a:r>
            <a:r>
              <a:rPr lang="en-US" dirty="0" err="1"/>
              <a:t>N,j,N</a:t>
            </a:r>
            <a:r>
              <a:rPr lang="en-US" dirty="0"/>
              <a:t>[</a:t>
            </a:r>
            <a:r>
              <a:rPr lang="en-US" dirty="0" err="1"/>
              <a:t>j,k</a:t>
            </a:r>
            <a:r>
              <a:rPr lang="en-US" dirty="0"/>
              <a:t>]) .</a:t>
            </a:r>
          </a:p>
          <a:p>
            <a:pPr marL="285750" indent="-285750">
              <a:buFont typeface="Wingdings" panose="05000000000000000000" pitchFamily="2" charset="2"/>
              <a:buChar char="§"/>
            </a:pPr>
            <a:r>
              <a:rPr lang="en-US" dirty="0"/>
              <a:t>The goal is to prepare all the data needed to compute each element P[</a:t>
            </a:r>
            <a:r>
              <a:rPr lang="en-US" dirty="0" err="1"/>
              <a:t>i,k</a:t>
            </a:r>
            <a:r>
              <a:rPr lang="en-US" dirty="0"/>
              <a:t>] of the result matrix.</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2. Shuffle and Sort:</a:t>
            </a:r>
          </a:p>
          <a:p>
            <a:pPr marL="285750" indent="-285750">
              <a:buFont typeface="Wingdings" panose="05000000000000000000" pitchFamily="2" charset="2"/>
              <a:buChar char="§"/>
            </a:pPr>
            <a:r>
              <a:rPr lang="en-US" dirty="0"/>
              <a:t>The MapReduce framework will shuffle and sort the intermediate key-value pairs by key (𝑖,𝑘), grouping all the values for each key. This ensures that for each key (𝑖,𝑘), all the values 𝑀[𝑖,𝑗]M and 𝑁[𝑗,𝑘] needed to compute 𝑃[𝑖,𝑘] are brought together.</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dirty="0"/>
              <a:t>3. Reduce Phase:</a:t>
            </a:r>
          </a:p>
          <a:p>
            <a:pPr marL="285750" indent="-285750">
              <a:buFont typeface="Wingdings" panose="05000000000000000000" pitchFamily="2" charset="2"/>
              <a:buChar char="§"/>
            </a:pPr>
            <a:r>
              <a:rPr lang="en-US" dirty="0"/>
              <a:t>The </a:t>
            </a:r>
            <a:r>
              <a:rPr lang="en-US" b="1" dirty="0"/>
              <a:t>Reduce</a:t>
            </a:r>
            <a:r>
              <a:rPr lang="en-US" dirty="0"/>
              <a:t> function receives a key (</a:t>
            </a:r>
            <a:r>
              <a:rPr lang="en-US" dirty="0" err="1"/>
              <a:t>i,k</a:t>
            </a:r>
            <a:r>
              <a:rPr lang="en-US" dirty="0"/>
              <a:t>)and a list of values. Each value in the list corresponds to either M[</a:t>
            </a:r>
            <a:r>
              <a:rPr lang="en-US" dirty="0" err="1"/>
              <a:t>i,j</a:t>
            </a:r>
            <a:r>
              <a:rPr lang="en-US" dirty="0"/>
              <a:t>] or N[</a:t>
            </a:r>
            <a:r>
              <a:rPr lang="en-US" dirty="0" err="1"/>
              <a:t>j,k</a:t>
            </a:r>
            <a:r>
              <a:rPr lang="en-US" dirty="0"/>
              <a:t>]. The reducer must:</a:t>
            </a:r>
          </a:p>
          <a:p>
            <a:pPr marL="285750" indent="-285750">
              <a:buFont typeface="Wingdings" panose="05000000000000000000" pitchFamily="2" charset="2"/>
              <a:buChar char="§"/>
            </a:pPr>
            <a:r>
              <a:rPr lang="en-US" dirty="0"/>
              <a:t>Separate the values that came from M and N.</a:t>
            </a:r>
          </a:p>
          <a:p>
            <a:pPr marL="285750" indent="-285750">
              <a:buFont typeface="Wingdings" panose="05000000000000000000" pitchFamily="2" charset="2"/>
              <a:buChar char="§"/>
            </a:pPr>
            <a:r>
              <a:rPr lang="en-US" dirty="0"/>
              <a:t>Compute the products M[</a:t>
            </a:r>
            <a:r>
              <a:rPr lang="en-US" dirty="0" err="1"/>
              <a:t>i,j</a:t>
            </a:r>
            <a:r>
              <a:rPr lang="en-US" dirty="0"/>
              <a:t>]×N[</a:t>
            </a:r>
            <a:r>
              <a:rPr lang="en-US" dirty="0" err="1"/>
              <a:t>j,k</a:t>
            </a:r>
            <a:r>
              <a:rPr lang="en-US" dirty="0"/>
              <a:t>] for all j and sum them to produce P[</a:t>
            </a:r>
            <a:r>
              <a:rPr lang="en-US" dirty="0" err="1"/>
              <a:t>i,k</a:t>
            </a:r>
            <a:r>
              <a:rPr lang="en-US" dirty="0"/>
              <a:t>].</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b="1" dirty="0"/>
          </a:p>
        </p:txBody>
      </p:sp>
    </p:spTree>
    <p:extLst>
      <p:ext uri="{BB962C8B-B14F-4D97-AF65-F5344CB8AC3E}">
        <p14:creationId xmlns:p14="http://schemas.microsoft.com/office/powerpoint/2010/main" val="160845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366DE83-661B-4F83-900B-7B381CE2BE43}"/>
              </a:ext>
            </a:extLst>
          </p:cNvPr>
          <p:cNvSpPr>
            <a:spLocks noGrp="1"/>
          </p:cNvSpPr>
          <p:nvPr>
            <p:ph type="body" idx="1"/>
          </p:nvPr>
        </p:nvSpPr>
        <p:spPr/>
        <p:txBody>
          <a:bodyPr/>
          <a:lstStyle/>
          <a:p>
            <a:endParaRPr lang="en-US"/>
          </a:p>
        </p:txBody>
      </p:sp>
      <p:sp>
        <p:nvSpPr>
          <p:cNvPr id="5" name="object 2">
            <a:extLst>
              <a:ext uri="{FF2B5EF4-FFF2-40B4-BE49-F238E27FC236}">
                <a16:creationId xmlns:a16="http://schemas.microsoft.com/office/drawing/2014/main" id="{19164182-8FCC-47DD-955F-DDF95FE76526}"/>
              </a:ext>
            </a:extLst>
          </p:cNvPr>
          <p:cNvSpPr/>
          <p:nvPr/>
        </p:nvSpPr>
        <p:spPr>
          <a:xfrm>
            <a:off x="-381" y="0"/>
            <a:ext cx="12192000" cy="5260975"/>
          </a:xfrm>
          <a:custGeom>
            <a:avLst/>
            <a:gdLst/>
            <a:ahLst/>
            <a:cxnLst/>
            <a:rect l="l" t="t" r="r" b="b"/>
            <a:pathLst>
              <a:path w="12192000" h="5260975">
                <a:moveTo>
                  <a:pt x="0" y="5260848"/>
                </a:moveTo>
                <a:lnTo>
                  <a:pt x="12192000" y="5260848"/>
                </a:lnTo>
                <a:lnTo>
                  <a:pt x="12192000" y="0"/>
                </a:lnTo>
                <a:lnTo>
                  <a:pt x="0" y="0"/>
                </a:lnTo>
                <a:lnTo>
                  <a:pt x="0" y="5260848"/>
                </a:lnTo>
                <a:close/>
              </a:path>
            </a:pathLst>
          </a:custGeom>
          <a:solidFill>
            <a:srgbClr val="204767"/>
          </a:solidFill>
        </p:spPr>
        <p:txBody>
          <a:bodyPr wrap="square" lIns="0" tIns="0" rIns="0" bIns="0" rtlCol="0"/>
          <a:lstStyle/>
          <a:p>
            <a:endParaRPr>
              <a:latin typeface="나눔스퀘어" panose="020B0600000101010101" pitchFamily="50" charset="-127"/>
              <a:ea typeface="나눔스퀘어" panose="020B0600000101010101" pitchFamily="50" charset="-127"/>
            </a:endParaRPr>
          </a:p>
        </p:txBody>
      </p:sp>
      <p:sp>
        <p:nvSpPr>
          <p:cNvPr id="6" name="TextBox 5">
            <a:extLst>
              <a:ext uri="{FF2B5EF4-FFF2-40B4-BE49-F238E27FC236}">
                <a16:creationId xmlns:a16="http://schemas.microsoft.com/office/drawing/2014/main" id="{15A21CA0-8976-45E3-9815-AC0DDB9DACCA}"/>
              </a:ext>
            </a:extLst>
          </p:cNvPr>
          <p:cNvSpPr txBox="1"/>
          <p:nvPr/>
        </p:nvSpPr>
        <p:spPr>
          <a:xfrm>
            <a:off x="3656230" y="2568212"/>
            <a:ext cx="4435510" cy="1169551"/>
          </a:xfrm>
          <a:prstGeom prst="rect">
            <a:avLst/>
          </a:prstGeom>
          <a:noFill/>
        </p:spPr>
        <p:txBody>
          <a:bodyPr wrap="none" rtlCol="0">
            <a:spAutoFit/>
          </a:bodyPr>
          <a:lstStyle/>
          <a:p>
            <a:r>
              <a:rPr lang="en-US" altLang="ko-KR" sz="7000">
                <a:solidFill>
                  <a:schemeClr val="bg1"/>
                </a:solidFill>
                <a:latin typeface="나눔스퀘어" panose="020B0600000101010101" pitchFamily="50" charset="-127"/>
                <a:ea typeface="나눔스퀘어" panose="020B0600000101010101" pitchFamily="50" charset="-127"/>
              </a:rPr>
              <a:t>Thank You</a:t>
            </a:r>
            <a:endParaRPr lang="ko-KR" altLang="en-US" sz="7000">
              <a:solidFill>
                <a:schemeClr val="bg1"/>
              </a:solidFill>
              <a:latin typeface="나눔스퀘어" panose="020B0600000101010101" pitchFamily="50" charset="-127"/>
              <a:ea typeface="나눔스퀘어" panose="020B0600000101010101" pitchFamily="50" charset="-127"/>
            </a:endParaRPr>
          </a:p>
        </p:txBody>
      </p:sp>
      <p:sp>
        <p:nvSpPr>
          <p:cNvPr id="8" name="Slide Number Placeholder 7">
            <a:extLst>
              <a:ext uri="{FF2B5EF4-FFF2-40B4-BE49-F238E27FC236}">
                <a16:creationId xmlns:a16="http://schemas.microsoft.com/office/drawing/2014/main" id="{9E91EFFB-394B-4C63-8DC0-D966D0EE0FC7}"/>
              </a:ext>
            </a:extLst>
          </p:cNvPr>
          <p:cNvSpPr>
            <a:spLocks noGrp="1"/>
          </p:cNvSpPr>
          <p:nvPr>
            <p:ph type="sldNum" sz="quarter" idx="7"/>
          </p:nvPr>
        </p:nvSpPr>
        <p:spPr/>
        <p:txBody>
          <a:bodyPr/>
          <a:lstStyle/>
          <a:p>
            <a:fld id="{B6F15528-21DE-4FAA-801E-634DDDAF4B2B}" type="slidenum">
              <a:rPr lang="en-US" smtClean="0"/>
              <a:t>24</a:t>
            </a:fld>
            <a:endParaRPr lang="en-US"/>
          </a:p>
        </p:txBody>
      </p:sp>
    </p:spTree>
    <p:extLst>
      <p:ext uri="{BB962C8B-B14F-4D97-AF65-F5344CB8AC3E}">
        <p14:creationId xmlns:p14="http://schemas.microsoft.com/office/powerpoint/2010/main" val="33703446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43272</TotalTime>
  <Words>4830</Words>
  <Application>Microsoft Office PowerPoint</Application>
  <PresentationFormat>Geniş ekran</PresentationFormat>
  <Paragraphs>321</Paragraphs>
  <Slides>24</Slides>
  <Notes>1</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24</vt:i4>
      </vt:variant>
    </vt:vector>
  </HeadingPairs>
  <TitlesOfParts>
    <vt:vector size="32" baseType="lpstr">
      <vt:lpstr>Google Sans</vt:lpstr>
      <vt:lpstr>맑은 고딕</vt:lpstr>
      <vt:lpstr>나눔스퀘어</vt:lpstr>
      <vt:lpstr>Arial</vt:lpstr>
      <vt:lpstr>Calibri</vt:lpstr>
      <vt:lpstr>IBM Plex Sans</vt:lpstr>
      <vt:lpstr>Wingdings</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조현석</dc:creator>
  <cp:lastModifiedBy>ERCELIK UGUR</cp:lastModifiedBy>
  <cp:revision>3084</cp:revision>
  <dcterms:created xsi:type="dcterms:W3CDTF">2020-08-25T05:40:20Z</dcterms:created>
  <dcterms:modified xsi:type="dcterms:W3CDTF">2024-09-23T02:29:59Z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2020-08-21T00:00:00Z</vt:filetime>
  </property>
  <property fmtid="{D5CDD505-2E9C-101B-9397-08002B2CF9AE}" pid="3" name="Creator">
    <vt:lpwstr>Microsoft® PowerPoint® Microsoft 365용</vt:lpwstr>
  </property>
  <property fmtid="{D5CDD505-2E9C-101B-9397-08002B2CF9AE}" pid="4" name="LastSaved">
    <vt:filetime>2020-08-25T00:00:00Z</vt:filetime>
  </property>
</Properties>
</file>