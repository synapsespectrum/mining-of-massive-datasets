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2"/>
    <p:sldId id="406" r:id="rId3"/>
    <p:sldId id="465" r:id="rId4"/>
    <p:sldId id="470" r:id="rId5"/>
    <p:sldId id="469" r:id="rId6"/>
    <p:sldId id="467" r:id="rId7"/>
    <p:sldId id="484" r:id="rId8"/>
    <p:sldId id="468" r:id="rId9"/>
    <p:sldId id="471" r:id="rId10"/>
    <p:sldId id="472" r:id="rId11"/>
    <p:sldId id="473" r:id="rId12"/>
    <p:sldId id="474" r:id="rId13"/>
    <p:sldId id="485" r:id="rId14"/>
    <p:sldId id="486" r:id="rId15"/>
    <p:sldId id="487" r:id="rId16"/>
    <p:sldId id="475" r:id="rId17"/>
    <p:sldId id="476" r:id="rId18"/>
    <p:sldId id="477" r:id="rId19"/>
    <p:sldId id="478" r:id="rId20"/>
    <p:sldId id="479" r:id="rId21"/>
    <p:sldId id="480" r:id="rId22"/>
    <p:sldId id="481" r:id="rId23"/>
    <p:sldId id="482" r:id="rId24"/>
    <p:sldId id="483" r:id="rId25"/>
    <p:sldId id="339" r:id="rId26"/>
  </p:sldIdLst>
  <p:sldSz cx="12192000" cy="6858000"/>
  <p:notesSz cx="12192000" cy="6858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04767"/>
    <a:srgbClr val="D6D7FF"/>
    <a:srgbClr val="FFC000"/>
    <a:srgbClr val="FFCC66"/>
    <a:srgbClr val="B3A2C7"/>
    <a:srgbClr val="57B79C"/>
    <a:srgbClr val="ECD554"/>
    <a:srgbClr val="7E776A"/>
    <a:srgbClr val="D9969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E21B69-15D2-AF18-13EE-E0080E2EE17E}" v="207" dt="2024-08-02T01:52:39.485"/>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6235" autoAdjust="0"/>
  </p:normalViewPr>
  <p:slideViewPr>
    <p:cSldViewPr>
      <p:cViewPr varScale="1">
        <p:scale>
          <a:sx n="111" d="100"/>
          <a:sy n="111" d="100"/>
        </p:scale>
        <p:origin x="594" y="9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9A843D13-C03F-42D3-B435-73E1D593F2FD}" type="datetimeFigureOut">
              <a:rPr lang="ko-KR" altLang="en-US" smtClean="0"/>
              <a:t>2024-11-16</a:t>
            </a:fld>
            <a:endParaRPr lang="ko-KR" altLang="en-US"/>
          </a:p>
        </p:txBody>
      </p:sp>
      <p:sp>
        <p:nvSpPr>
          <p:cNvPr id="4" name="슬라이드 이미지 개체 틀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718401D1-1C6B-45FA-95F9-498D6CAF4651}" type="slidenum">
              <a:rPr lang="ko-KR" altLang="en-US" smtClean="0"/>
              <a:t>‹#›</a:t>
            </a:fld>
            <a:endParaRPr lang="ko-KR" altLang="en-US"/>
          </a:p>
        </p:txBody>
      </p:sp>
    </p:spTree>
    <p:extLst>
      <p:ext uri="{BB962C8B-B14F-4D97-AF65-F5344CB8AC3E}">
        <p14:creationId xmlns:p14="http://schemas.microsoft.com/office/powerpoint/2010/main" val="143186670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a:t>
            </a:r>
          </a:p>
          <a:p>
            <a:endParaRPr lang="en-US" b="1" dirty="0"/>
          </a:p>
        </p:txBody>
      </p:sp>
      <p:sp>
        <p:nvSpPr>
          <p:cNvPr id="4" name="Slide Number Placeholder 3"/>
          <p:cNvSpPr>
            <a:spLocks noGrp="1"/>
          </p:cNvSpPr>
          <p:nvPr>
            <p:ph type="sldNum" sz="quarter" idx="5"/>
          </p:nvPr>
        </p:nvSpPr>
        <p:spPr/>
        <p:txBody>
          <a:bodyPr/>
          <a:lstStyle/>
          <a:p>
            <a:fld id="{2CEE789E-42EA-4A29-8544-92FCFB1233EF}" type="slidenum">
              <a:rPr lang="en-US" smtClean="0"/>
              <a:t>1</a:t>
            </a:fld>
            <a:endParaRPr lang="en-US"/>
          </a:p>
        </p:txBody>
      </p:sp>
    </p:spTree>
    <p:extLst>
      <p:ext uri="{BB962C8B-B14F-4D97-AF65-F5344CB8AC3E}">
        <p14:creationId xmlns:p14="http://schemas.microsoft.com/office/powerpoint/2010/main" val="42363841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r>
              <a:rPr lang="en-US" altLang="ko-KR"/>
              <a:t>2021-10-27</a:t>
            </a:r>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50" b="1" i="1">
                <a:solidFill>
                  <a:schemeClr val="bg1"/>
                </a:solidFill>
                <a:latin typeface="맑은 고딕"/>
                <a:cs typeface="맑은 고딕"/>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r>
              <a:rPr lang="en-US" altLang="ko-KR"/>
              <a:t>2021-10-27</a:t>
            </a:r>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50" b="1" i="1">
                <a:solidFill>
                  <a:schemeClr val="bg1"/>
                </a:solidFill>
                <a:latin typeface="맑은 고딕"/>
                <a:cs typeface="맑은 고딕"/>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r>
              <a:rPr lang="en-US" altLang="ko-KR"/>
              <a:t>2021-10-27</a:t>
            </a:r>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5260975"/>
          </a:xfrm>
          <a:custGeom>
            <a:avLst/>
            <a:gdLst/>
            <a:ahLst/>
            <a:cxnLst/>
            <a:rect l="l" t="t" r="r" b="b"/>
            <a:pathLst>
              <a:path w="12192000" h="5260975">
                <a:moveTo>
                  <a:pt x="0" y="5260848"/>
                </a:moveTo>
                <a:lnTo>
                  <a:pt x="12192000" y="5260848"/>
                </a:lnTo>
                <a:lnTo>
                  <a:pt x="12192000" y="0"/>
                </a:lnTo>
                <a:lnTo>
                  <a:pt x="0" y="0"/>
                </a:lnTo>
                <a:lnTo>
                  <a:pt x="0" y="5260848"/>
                </a:lnTo>
                <a:close/>
              </a:path>
            </a:pathLst>
          </a:custGeom>
          <a:solidFill>
            <a:srgbClr val="204767"/>
          </a:solidFill>
        </p:spPr>
        <p:txBody>
          <a:bodyPr wrap="square" lIns="0" tIns="0" rIns="0" bIns="0" rtlCol="0"/>
          <a:lstStyle/>
          <a:p>
            <a:endParaRPr/>
          </a:p>
        </p:txBody>
      </p:sp>
      <p:sp>
        <p:nvSpPr>
          <p:cNvPr id="17" name="bg object 17"/>
          <p:cNvSpPr/>
          <p:nvPr/>
        </p:nvSpPr>
        <p:spPr>
          <a:xfrm>
            <a:off x="0" y="3663695"/>
            <a:ext cx="12192000" cy="3194685"/>
          </a:xfrm>
          <a:custGeom>
            <a:avLst/>
            <a:gdLst/>
            <a:ahLst/>
            <a:cxnLst/>
            <a:rect l="l" t="t" r="r" b="b"/>
            <a:pathLst>
              <a:path w="12192000" h="3194684">
                <a:moveTo>
                  <a:pt x="12192000" y="1597152"/>
                </a:moveTo>
                <a:lnTo>
                  <a:pt x="10594848" y="1597152"/>
                </a:lnTo>
                <a:lnTo>
                  <a:pt x="0" y="1597152"/>
                </a:lnTo>
                <a:lnTo>
                  <a:pt x="0" y="3194304"/>
                </a:lnTo>
                <a:lnTo>
                  <a:pt x="12192000" y="3194304"/>
                </a:lnTo>
                <a:lnTo>
                  <a:pt x="12192000" y="1597152"/>
                </a:lnTo>
                <a:close/>
              </a:path>
              <a:path w="12192000" h="3194684">
                <a:moveTo>
                  <a:pt x="12192000" y="0"/>
                </a:moveTo>
                <a:lnTo>
                  <a:pt x="10594848" y="0"/>
                </a:lnTo>
                <a:lnTo>
                  <a:pt x="10594848" y="1597152"/>
                </a:lnTo>
                <a:lnTo>
                  <a:pt x="12192000" y="0"/>
                </a:lnTo>
                <a:close/>
              </a:path>
            </a:pathLst>
          </a:custGeom>
          <a:solidFill>
            <a:srgbClr val="FFFFFF"/>
          </a:solidFill>
        </p:spPr>
        <p:txBody>
          <a:bodyPr wrap="square" lIns="0" tIns="0" rIns="0" bIns="0" rtlCol="0"/>
          <a:lstStyle/>
          <a:p>
            <a:endParaRPr/>
          </a:p>
        </p:txBody>
      </p:sp>
      <p:sp>
        <p:nvSpPr>
          <p:cNvPr id="18" name="bg object 18"/>
          <p:cNvSpPr/>
          <p:nvPr/>
        </p:nvSpPr>
        <p:spPr>
          <a:xfrm>
            <a:off x="8997696" y="3663695"/>
            <a:ext cx="3194685" cy="3194685"/>
          </a:xfrm>
          <a:custGeom>
            <a:avLst/>
            <a:gdLst/>
            <a:ahLst/>
            <a:cxnLst/>
            <a:rect l="l" t="t" r="r" b="b"/>
            <a:pathLst>
              <a:path w="3194684" h="3194684">
                <a:moveTo>
                  <a:pt x="1597152" y="0"/>
                </a:moveTo>
                <a:lnTo>
                  <a:pt x="0" y="1597152"/>
                </a:lnTo>
                <a:lnTo>
                  <a:pt x="1597152" y="1597152"/>
                </a:lnTo>
                <a:lnTo>
                  <a:pt x="1597152" y="0"/>
                </a:lnTo>
                <a:close/>
              </a:path>
              <a:path w="3194684" h="3194684">
                <a:moveTo>
                  <a:pt x="3194304" y="1597152"/>
                </a:moveTo>
                <a:lnTo>
                  <a:pt x="1597152" y="1597152"/>
                </a:lnTo>
                <a:lnTo>
                  <a:pt x="1597152" y="3194304"/>
                </a:lnTo>
                <a:lnTo>
                  <a:pt x="3194304" y="1597152"/>
                </a:lnTo>
                <a:close/>
              </a:path>
            </a:pathLst>
          </a:custGeom>
          <a:solidFill>
            <a:srgbClr val="00AFEF"/>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350" b="1" i="1">
                <a:solidFill>
                  <a:schemeClr val="bg1"/>
                </a:solidFill>
                <a:latin typeface="맑은 고딕"/>
                <a:cs typeface="맑은 고딕"/>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r>
              <a:rPr lang="en-US" altLang="ko-KR"/>
              <a:t>2021-10-27</a:t>
            </a:r>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5260975"/>
          </a:xfrm>
          <a:custGeom>
            <a:avLst/>
            <a:gdLst/>
            <a:ahLst/>
            <a:cxnLst/>
            <a:rect l="l" t="t" r="r" b="b"/>
            <a:pathLst>
              <a:path w="12192000" h="5260975">
                <a:moveTo>
                  <a:pt x="0" y="5260848"/>
                </a:moveTo>
                <a:lnTo>
                  <a:pt x="12192000" y="5260848"/>
                </a:lnTo>
                <a:lnTo>
                  <a:pt x="12192000" y="0"/>
                </a:lnTo>
                <a:lnTo>
                  <a:pt x="0" y="0"/>
                </a:lnTo>
                <a:lnTo>
                  <a:pt x="0" y="5260848"/>
                </a:lnTo>
                <a:close/>
              </a:path>
            </a:pathLst>
          </a:custGeom>
          <a:solidFill>
            <a:srgbClr val="204767"/>
          </a:solidFill>
        </p:spPr>
        <p:txBody>
          <a:bodyPr wrap="square" lIns="0" tIns="0" rIns="0" bIns="0" rtlCol="0"/>
          <a:lstStyle/>
          <a:p>
            <a:endParaRPr/>
          </a:p>
        </p:txBody>
      </p:sp>
      <p:sp>
        <p:nvSpPr>
          <p:cNvPr id="17" name="bg object 17"/>
          <p:cNvSpPr/>
          <p:nvPr/>
        </p:nvSpPr>
        <p:spPr>
          <a:xfrm>
            <a:off x="0" y="3663695"/>
            <a:ext cx="12192000" cy="3194685"/>
          </a:xfrm>
          <a:custGeom>
            <a:avLst/>
            <a:gdLst/>
            <a:ahLst/>
            <a:cxnLst/>
            <a:rect l="l" t="t" r="r" b="b"/>
            <a:pathLst>
              <a:path w="12192000" h="3194684">
                <a:moveTo>
                  <a:pt x="12192000" y="1597152"/>
                </a:moveTo>
                <a:lnTo>
                  <a:pt x="10594848" y="1597152"/>
                </a:lnTo>
                <a:lnTo>
                  <a:pt x="0" y="1597152"/>
                </a:lnTo>
                <a:lnTo>
                  <a:pt x="0" y="3194304"/>
                </a:lnTo>
                <a:lnTo>
                  <a:pt x="12192000" y="3194304"/>
                </a:lnTo>
                <a:lnTo>
                  <a:pt x="12192000" y="1597152"/>
                </a:lnTo>
                <a:close/>
              </a:path>
              <a:path w="12192000" h="3194684">
                <a:moveTo>
                  <a:pt x="12192000" y="0"/>
                </a:moveTo>
                <a:lnTo>
                  <a:pt x="10594848" y="0"/>
                </a:lnTo>
                <a:lnTo>
                  <a:pt x="10594848" y="1597152"/>
                </a:lnTo>
                <a:lnTo>
                  <a:pt x="12192000" y="0"/>
                </a:lnTo>
                <a:close/>
              </a:path>
            </a:pathLst>
          </a:custGeom>
          <a:solidFill>
            <a:srgbClr val="FFFFFF"/>
          </a:solidFill>
        </p:spPr>
        <p:txBody>
          <a:bodyPr wrap="square" lIns="0" tIns="0" rIns="0" bIns="0" rtlCol="0"/>
          <a:lstStyle/>
          <a:p>
            <a:endParaRPr/>
          </a:p>
        </p:txBody>
      </p:sp>
      <p:sp>
        <p:nvSpPr>
          <p:cNvPr id="18" name="bg object 18"/>
          <p:cNvSpPr/>
          <p:nvPr/>
        </p:nvSpPr>
        <p:spPr>
          <a:xfrm>
            <a:off x="8997696" y="3663695"/>
            <a:ext cx="3194685" cy="3194685"/>
          </a:xfrm>
          <a:custGeom>
            <a:avLst/>
            <a:gdLst/>
            <a:ahLst/>
            <a:cxnLst/>
            <a:rect l="l" t="t" r="r" b="b"/>
            <a:pathLst>
              <a:path w="3194684" h="3194684">
                <a:moveTo>
                  <a:pt x="1597152" y="0"/>
                </a:moveTo>
                <a:lnTo>
                  <a:pt x="0" y="1597152"/>
                </a:lnTo>
                <a:lnTo>
                  <a:pt x="1597152" y="1597152"/>
                </a:lnTo>
                <a:lnTo>
                  <a:pt x="1597152" y="0"/>
                </a:lnTo>
                <a:close/>
              </a:path>
              <a:path w="3194684" h="3194684">
                <a:moveTo>
                  <a:pt x="3194304" y="1597152"/>
                </a:moveTo>
                <a:lnTo>
                  <a:pt x="1597152" y="1597152"/>
                </a:lnTo>
                <a:lnTo>
                  <a:pt x="1597152" y="3194304"/>
                </a:lnTo>
                <a:lnTo>
                  <a:pt x="3194304" y="1597152"/>
                </a:lnTo>
                <a:close/>
              </a:path>
            </a:pathLst>
          </a:custGeom>
          <a:solidFill>
            <a:srgbClr val="00AFEF"/>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r>
              <a:rPr lang="en-US" altLang="ko-KR"/>
              <a:t>2021-10-27</a:t>
            </a:r>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1996E4B-236B-4BAA-A92C-55C9903A7D09}"/>
              </a:ext>
            </a:extLst>
          </p:cNvPr>
          <p:cNvSpPr>
            <a:spLocks noGrp="1"/>
          </p:cNvSpPr>
          <p:nvPr>
            <p:ph type="ctrTitle"/>
          </p:nvPr>
        </p:nvSpPr>
        <p:spPr>
          <a:xfrm>
            <a:off x="1524000" y="1122363"/>
            <a:ext cx="9144000" cy="2387600"/>
          </a:xfrm>
        </p:spPr>
        <p:txBody>
          <a:bodyPr anchor="b"/>
          <a:lstStyle>
            <a:lvl1pPr algn="ctr">
              <a:defRPr sz="6000"/>
            </a:lvl1pPr>
          </a:lstStyle>
          <a:p>
            <a:r>
              <a:rPr lang="en-US" altLang="ko-KR"/>
              <a:t>Click to edit Master title style</a:t>
            </a:r>
            <a:endParaRPr lang="ko-KR" altLang="en-US"/>
          </a:p>
        </p:txBody>
      </p:sp>
      <p:sp>
        <p:nvSpPr>
          <p:cNvPr id="3" name="부제목 2">
            <a:extLst>
              <a:ext uri="{FF2B5EF4-FFF2-40B4-BE49-F238E27FC236}">
                <a16:creationId xmlns:a16="http://schemas.microsoft.com/office/drawing/2014/main" id="{4BB825D4-3A19-4878-8915-4C487E312F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ko-KR"/>
              <a:t>Click to edit Master subtitle style</a:t>
            </a:r>
            <a:endParaRPr lang="ko-KR" altLang="en-US"/>
          </a:p>
        </p:txBody>
      </p:sp>
      <p:sp>
        <p:nvSpPr>
          <p:cNvPr id="4" name="날짜 개체 틀 3">
            <a:extLst>
              <a:ext uri="{FF2B5EF4-FFF2-40B4-BE49-F238E27FC236}">
                <a16:creationId xmlns:a16="http://schemas.microsoft.com/office/drawing/2014/main" id="{2C913D0E-698C-480A-80BC-D1A8DCA322E7}"/>
              </a:ext>
            </a:extLst>
          </p:cNvPr>
          <p:cNvSpPr>
            <a:spLocks noGrp="1"/>
          </p:cNvSpPr>
          <p:nvPr>
            <p:ph type="dt" sz="half" idx="10"/>
          </p:nvPr>
        </p:nvSpPr>
        <p:spPr/>
        <p:txBody>
          <a:bodyPr/>
          <a:lstStyle/>
          <a:p>
            <a:r>
              <a:rPr lang="en-US" altLang="ko-KR"/>
              <a:t>2021-10-27</a:t>
            </a:r>
            <a:endParaRPr lang="ko-KR" altLang="en-US"/>
          </a:p>
        </p:txBody>
      </p:sp>
      <p:sp>
        <p:nvSpPr>
          <p:cNvPr id="5" name="바닥글 개체 틀 4">
            <a:extLst>
              <a:ext uri="{FF2B5EF4-FFF2-40B4-BE49-F238E27FC236}">
                <a16:creationId xmlns:a16="http://schemas.microsoft.com/office/drawing/2014/main" id="{AAB06ED2-8DBD-41ED-8510-79792DFF1B0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19191164-B2AD-47FB-B26B-06CD8E0EF200}"/>
              </a:ext>
            </a:extLst>
          </p:cNvPr>
          <p:cNvSpPr>
            <a:spLocks noGrp="1"/>
          </p:cNvSpPr>
          <p:nvPr>
            <p:ph type="sldNum" sz="quarter" idx="12"/>
          </p:nvPr>
        </p:nvSpPr>
        <p:spPr/>
        <p:txBody>
          <a:bodyPr/>
          <a:lstStyle/>
          <a:p>
            <a:fld id="{60B2ABDE-784B-4C4C-A5EC-B8C1902A07D4}" type="slidenum">
              <a:rPr lang="ko-KR" altLang="en-US" smtClean="0"/>
              <a:t>‹#›</a:t>
            </a:fld>
            <a:endParaRPr lang="ko-KR" altLang="en-US"/>
          </a:p>
        </p:txBody>
      </p:sp>
    </p:spTree>
    <p:extLst>
      <p:ext uri="{BB962C8B-B14F-4D97-AF65-F5344CB8AC3E}">
        <p14:creationId xmlns:p14="http://schemas.microsoft.com/office/powerpoint/2010/main" val="4103012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D611E6A3-0CB6-4E36-82DD-D41FD0835048}" type="datetimeFigureOut">
              <a:rPr lang="en-GB" smtClean="0"/>
              <a:t>16/11/2024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C3B3F18-A767-4BC8-A331-25E3D7274BB2}" type="slidenum">
              <a:rPr lang="en-GB" smtClean="0"/>
              <a:t>‹#›</a:t>
            </a:fld>
            <a:endParaRPr lang="en-GB"/>
          </a:p>
        </p:txBody>
      </p:sp>
    </p:spTree>
    <p:extLst>
      <p:ext uri="{BB962C8B-B14F-4D97-AF65-F5344CB8AC3E}">
        <p14:creationId xmlns:p14="http://schemas.microsoft.com/office/powerpoint/2010/main" val="56622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oş">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611E6A3-0CB6-4E36-82DD-D41FD0835048}" type="datetimeFigureOut">
              <a:rPr lang="en-GB" smtClean="0"/>
              <a:t>16/11/2024</a:t>
            </a:fld>
            <a:endParaRPr lang="en-GB"/>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GB"/>
          </a:p>
        </p:txBody>
      </p:sp>
      <p:sp>
        <p:nvSpPr>
          <p:cNvPr id="9" name="Slide Number Placeholder 8"/>
          <p:cNvSpPr>
            <a:spLocks noGrp="1"/>
          </p:cNvSpPr>
          <p:nvPr>
            <p:ph type="sldNum" sz="quarter" idx="12"/>
          </p:nvPr>
        </p:nvSpPr>
        <p:spPr/>
        <p:txBody>
          <a:bodyPr/>
          <a:lstStyle/>
          <a:p>
            <a:fld id="{CC3B3F18-A767-4BC8-A331-25E3D7274BB2}" type="slidenum">
              <a:rPr lang="en-GB" smtClean="0"/>
              <a:t>‹#›</a:t>
            </a:fld>
            <a:endParaRPr lang="en-GB"/>
          </a:p>
        </p:txBody>
      </p:sp>
    </p:spTree>
    <p:extLst>
      <p:ext uri="{BB962C8B-B14F-4D97-AF65-F5344CB8AC3E}">
        <p14:creationId xmlns:p14="http://schemas.microsoft.com/office/powerpoint/2010/main" val="584618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762000"/>
          </a:xfrm>
          <a:custGeom>
            <a:avLst/>
            <a:gdLst/>
            <a:ahLst/>
            <a:cxnLst/>
            <a:rect l="l" t="t" r="r" b="b"/>
            <a:pathLst>
              <a:path w="12192000" h="1080770">
                <a:moveTo>
                  <a:pt x="12192000" y="0"/>
                </a:moveTo>
                <a:lnTo>
                  <a:pt x="0" y="0"/>
                </a:lnTo>
                <a:lnTo>
                  <a:pt x="0" y="1080515"/>
                </a:lnTo>
                <a:lnTo>
                  <a:pt x="12192000" y="1080515"/>
                </a:lnTo>
                <a:lnTo>
                  <a:pt x="12192000" y="0"/>
                </a:lnTo>
                <a:close/>
              </a:path>
            </a:pathLst>
          </a:custGeom>
          <a:solidFill>
            <a:srgbClr val="204767"/>
          </a:solidFill>
        </p:spPr>
        <p:txBody>
          <a:bodyPr wrap="square" lIns="0" tIns="0" rIns="0" bIns="0" rtlCol="0"/>
          <a:lstStyle/>
          <a:p>
            <a:endParaRPr/>
          </a:p>
        </p:txBody>
      </p:sp>
      <p:sp>
        <p:nvSpPr>
          <p:cNvPr id="2" name="Holder 2"/>
          <p:cNvSpPr>
            <a:spLocks noGrp="1"/>
          </p:cNvSpPr>
          <p:nvPr>
            <p:ph type="title"/>
          </p:nvPr>
        </p:nvSpPr>
        <p:spPr>
          <a:xfrm>
            <a:off x="0" y="123237"/>
            <a:ext cx="12192000" cy="515526"/>
          </a:xfrm>
          <a:prstGeom prst="rect">
            <a:avLst/>
          </a:prstGeom>
        </p:spPr>
        <p:txBody>
          <a:bodyPr wrap="square" lIns="0" tIns="0" rIns="0" bIns="0">
            <a:spAutoFit/>
          </a:bodyPr>
          <a:lstStyle>
            <a:lvl1pPr>
              <a:defRPr sz="3350" b="1" i="1">
                <a:solidFill>
                  <a:schemeClr val="bg1"/>
                </a:solidFill>
                <a:latin typeface="맑은 고딕"/>
                <a:cs typeface="맑은 고딕"/>
              </a:defRPr>
            </a:lvl1pPr>
          </a:lstStyle>
          <a:p>
            <a:endParaRPr dirty="0"/>
          </a:p>
        </p:txBody>
      </p:sp>
      <p:sp>
        <p:nvSpPr>
          <p:cNvPr id="3" name="Holder 3"/>
          <p:cNvSpPr>
            <a:spLocks noGrp="1"/>
          </p:cNvSpPr>
          <p:nvPr>
            <p:ph type="body" idx="1"/>
          </p:nvPr>
        </p:nvSpPr>
        <p:spPr>
          <a:xfrm>
            <a:off x="476250" y="1599564"/>
            <a:ext cx="10006330" cy="223901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r>
              <a:rPr lang="en-US" altLang="ko-KR"/>
              <a:t>2021-10-27</a:t>
            </a:r>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Lst>
  <p:hf hdr="0" ftr="0" dt="0"/>
  <p:txStyles>
    <p:titleStyle>
      <a:lvl1pPr algn="ctr">
        <a:defRPr sz="2800">
          <a:latin typeface="나눔스퀘어" panose="020B0600000101010101" pitchFamily="50" charset="-127"/>
          <a:ea typeface="나눔스퀘어" panose="020B0600000101010101" pitchFamily="50" charset="-127"/>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2">
            <a:extLst>
              <a:ext uri="{FF2B5EF4-FFF2-40B4-BE49-F238E27FC236}">
                <a16:creationId xmlns:a16="http://schemas.microsoft.com/office/drawing/2014/main" id="{D62633BD-BDE9-4495-A72D-9BD857F15281}"/>
              </a:ext>
            </a:extLst>
          </p:cNvPr>
          <p:cNvSpPr/>
          <p:nvPr/>
        </p:nvSpPr>
        <p:spPr>
          <a:xfrm>
            <a:off x="-381" y="109560"/>
            <a:ext cx="12192000" cy="5260975"/>
          </a:xfrm>
          <a:custGeom>
            <a:avLst/>
            <a:gdLst/>
            <a:ahLst/>
            <a:cxnLst/>
            <a:rect l="l" t="t" r="r" b="b"/>
            <a:pathLst>
              <a:path w="12192000" h="5260975">
                <a:moveTo>
                  <a:pt x="0" y="5260848"/>
                </a:moveTo>
                <a:lnTo>
                  <a:pt x="12192000" y="5260848"/>
                </a:lnTo>
                <a:lnTo>
                  <a:pt x="12192000" y="0"/>
                </a:lnTo>
                <a:lnTo>
                  <a:pt x="0" y="0"/>
                </a:lnTo>
                <a:lnTo>
                  <a:pt x="0" y="5260848"/>
                </a:lnTo>
                <a:close/>
              </a:path>
            </a:pathLst>
          </a:custGeom>
          <a:solidFill>
            <a:srgbClr val="204767"/>
          </a:solidFill>
        </p:spPr>
        <p:txBody>
          <a:bodyPr wrap="square" lIns="0" tIns="0" rIns="0" bIns="0" rtlCol="0"/>
          <a:lstStyle/>
          <a:p>
            <a:endParaRPr dirty="0">
              <a:latin typeface="나눔스퀘어" panose="020B0600000101010101" pitchFamily="50" charset="-127"/>
              <a:ea typeface="나눔스퀘어" panose="020B0600000101010101" pitchFamily="50" charset="-127"/>
            </a:endParaRPr>
          </a:p>
        </p:txBody>
      </p:sp>
      <p:grpSp>
        <p:nvGrpSpPr>
          <p:cNvPr id="25" name="object 3">
            <a:extLst>
              <a:ext uri="{FF2B5EF4-FFF2-40B4-BE49-F238E27FC236}">
                <a16:creationId xmlns:a16="http://schemas.microsoft.com/office/drawing/2014/main" id="{D728939A-6D19-447F-A8A2-BDA2D84FE07D}"/>
              </a:ext>
            </a:extLst>
          </p:cNvPr>
          <p:cNvGrpSpPr/>
          <p:nvPr/>
        </p:nvGrpSpPr>
        <p:grpSpPr>
          <a:xfrm>
            <a:off x="0" y="3663696"/>
            <a:ext cx="12192000" cy="3194685"/>
            <a:chOff x="0" y="3663696"/>
            <a:chExt cx="12192000" cy="3194685"/>
          </a:xfrm>
        </p:grpSpPr>
        <p:sp>
          <p:nvSpPr>
            <p:cNvPr id="26" name="object 4">
              <a:extLst>
                <a:ext uri="{FF2B5EF4-FFF2-40B4-BE49-F238E27FC236}">
                  <a16:creationId xmlns:a16="http://schemas.microsoft.com/office/drawing/2014/main" id="{64648433-2D2C-43C1-B2F7-3036AC01B55E}"/>
                </a:ext>
              </a:extLst>
            </p:cNvPr>
            <p:cNvSpPr/>
            <p:nvPr/>
          </p:nvSpPr>
          <p:spPr>
            <a:xfrm>
              <a:off x="0" y="3663695"/>
              <a:ext cx="12192000" cy="3194685"/>
            </a:xfrm>
            <a:custGeom>
              <a:avLst/>
              <a:gdLst/>
              <a:ahLst/>
              <a:cxnLst/>
              <a:rect l="l" t="t" r="r" b="b"/>
              <a:pathLst>
                <a:path w="12192000" h="3194684">
                  <a:moveTo>
                    <a:pt x="12192000" y="1597152"/>
                  </a:moveTo>
                  <a:lnTo>
                    <a:pt x="10594848" y="1597152"/>
                  </a:lnTo>
                  <a:lnTo>
                    <a:pt x="0" y="1597152"/>
                  </a:lnTo>
                  <a:lnTo>
                    <a:pt x="0" y="3194304"/>
                  </a:lnTo>
                  <a:lnTo>
                    <a:pt x="12192000" y="3194304"/>
                  </a:lnTo>
                  <a:lnTo>
                    <a:pt x="12192000" y="1597152"/>
                  </a:lnTo>
                  <a:close/>
                </a:path>
                <a:path w="12192000" h="3194684">
                  <a:moveTo>
                    <a:pt x="12192000" y="0"/>
                  </a:moveTo>
                  <a:lnTo>
                    <a:pt x="10594848" y="0"/>
                  </a:lnTo>
                  <a:lnTo>
                    <a:pt x="10594848" y="1597152"/>
                  </a:lnTo>
                  <a:lnTo>
                    <a:pt x="12192000" y="0"/>
                  </a:lnTo>
                  <a:close/>
                </a:path>
              </a:pathLst>
            </a:custGeom>
            <a:solidFill>
              <a:srgbClr val="FFFFFF"/>
            </a:solidFill>
          </p:spPr>
          <p:txBody>
            <a:bodyPr wrap="square" lIns="0" tIns="0" rIns="0" bIns="0" rtlCol="0"/>
            <a:lstStyle/>
            <a:p>
              <a:endParaRPr dirty="0">
                <a:latin typeface="나눔스퀘어" panose="020B0600000101010101" pitchFamily="50" charset="-127"/>
                <a:ea typeface="나눔스퀘어" panose="020B0600000101010101" pitchFamily="50" charset="-127"/>
              </a:endParaRPr>
            </a:p>
          </p:txBody>
        </p:sp>
        <p:sp>
          <p:nvSpPr>
            <p:cNvPr id="27" name="object 5">
              <a:extLst>
                <a:ext uri="{FF2B5EF4-FFF2-40B4-BE49-F238E27FC236}">
                  <a16:creationId xmlns:a16="http://schemas.microsoft.com/office/drawing/2014/main" id="{984C1B9A-3B60-48F4-96F4-F37FDA3FE621}"/>
                </a:ext>
              </a:extLst>
            </p:cNvPr>
            <p:cNvSpPr/>
            <p:nvPr/>
          </p:nvSpPr>
          <p:spPr>
            <a:xfrm>
              <a:off x="8997696" y="3663695"/>
              <a:ext cx="3194685" cy="3194685"/>
            </a:xfrm>
            <a:custGeom>
              <a:avLst/>
              <a:gdLst/>
              <a:ahLst/>
              <a:cxnLst/>
              <a:rect l="l" t="t" r="r" b="b"/>
              <a:pathLst>
                <a:path w="3194684" h="3194684">
                  <a:moveTo>
                    <a:pt x="1597152" y="0"/>
                  </a:moveTo>
                  <a:lnTo>
                    <a:pt x="0" y="1597152"/>
                  </a:lnTo>
                  <a:lnTo>
                    <a:pt x="1597152" y="1597152"/>
                  </a:lnTo>
                  <a:lnTo>
                    <a:pt x="1597152" y="0"/>
                  </a:lnTo>
                  <a:close/>
                </a:path>
                <a:path w="3194684" h="3194684">
                  <a:moveTo>
                    <a:pt x="3194304" y="1597152"/>
                  </a:moveTo>
                  <a:lnTo>
                    <a:pt x="1597152" y="1597152"/>
                  </a:lnTo>
                  <a:lnTo>
                    <a:pt x="1597152" y="3194304"/>
                  </a:lnTo>
                  <a:lnTo>
                    <a:pt x="3194304" y="1597152"/>
                  </a:lnTo>
                  <a:close/>
                </a:path>
              </a:pathLst>
            </a:custGeom>
            <a:solidFill>
              <a:srgbClr val="00AFEF"/>
            </a:solidFill>
          </p:spPr>
          <p:txBody>
            <a:bodyPr wrap="square" lIns="0" tIns="0" rIns="0" bIns="0" rtlCol="0"/>
            <a:lstStyle/>
            <a:p>
              <a:endParaRPr dirty="0">
                <a:latin typeface="나눔스퀘어" panose="020B0600000101010101" pitchFamily="50" charset="-127"/>
                <a:ea typeface="나눔스퀘어" panose="020B0600000101010101" pitchFamily="50" charset="-127"/>
              </a:endParaRPr>
            </a:p>
          </p:txBody>
        </p:sp>
      </p:grpSp>
      <p:sp>
        <p:nvSpPr>
          <p:cNvPr id="20" name="object 8">
            <a:extLst>
              <a:ext uri="{FF2B5EF4-FFF2-40B4-BE49-F238E27FC236}">
                <a16:creationId xmlns:a16="http://schemas.microsoft.com/office/drawing/2014/main" id="{86682624-3897-4AFB-A79A-13131A7646F0}"/>
              </a:ext>
            </a:extLst>
          </p:cNvPr>
          <p:cNvSpPr/>
          <p:nvPr/>
        </p:nvSpPr>
        <p:spPr>
          <a:xfrm flipV="1">
            <a:off x="2134743" y="2663516"/>
            <a:ext cx="7921752" cy="45719"/>
          </a:xfrm>
          <a:custGeom>
            <a:avLst/>
            <a:gdLst/>
            <a:ahLst/>
            <a:cxnLst/>
            <a:rect l="l" t="t" r="r" b="b"/>
            <a:pathLst>
              <a:path w="7200265">
                <a:moveTo>
                  <a:pt x="7200010" y="0"/>
                </a:moveTo>
                <a:lnTo>
                  <a:pt x="0" y="0"/>
                </a:lnTo>
              </a:path>
            </a:pathLst>
          </a:custGeom>
          <a:ln w="12700">
            <a:solidFill>
              <a:srgbClr val="00AFEF"/>
            </a:solidFill>
          </a:ln>
        </p:spPr>
        <p:txBody>
          <a:bodyPr wrap="square" lIns="0" tIns="0" rIns="0" bIns="0" rtlCol="0"/>
          <a:lstStyle/>
          <a:p>
            <a:endParaRPr dirty="0">
              <a:latin typeface="나눔스퀘어" panose="020B0600000101010101" pitchFamily="50" charset="-127"/>
              <a:ea typeface="나눔스퀘어" panose="020B0600000101010101" pitchFamily="50" charset="-127"/>
            </a:endParaRPr>
          </a:p>
        </p:txBody>
      </p:sp>
      <p:grpSp>
        <p:nvGrpSpPr>
          <p:cNvPr id="13" name="그룹 21">
            <a:extLst>
              <a:ext uri="{FF2B5EF4-FFF2-40B4-BE49-F238E27FC236}">
                <a16:creationId xmlns:a16="http://schemas.microsoft.com/office/drawing/2014/main" id="{66560D5C-E35F-4596-B71A-BBD49DF0552B}"/>
              </a:ext>
            </a:extLst>
          </p:cNvPr>
          <p:cNvGrpSpPr/>
          <p:nvPr/>
        </p:nvGrpSpPr>
        <p:grpSpPr>
          <a:xfrm>
            <a:off x="7722254" y="5508075"/>
            <a:ext cx="2717146" cy="1197525"/>
            <a:chOff x="8305800" y="5904191"/>
            <a:chExt cx="2063631" cy="909502"/>
          </a:xfrm>
        </p:grpSpPr>
        <p:pic>
          <p:nvPicPr>
            <p:cNvPr id="14" name="그림 22">
              <a:extLst>
                <a:ext uri="{FF2B5EF4-FFF2-40B4-BE49-F238E27FC236}">
                  <a16:creationId xmlns:a16="http://schemas.microsoft.com/office/drawing/2014/main" id="{56D71213-ED20-405D-85EF-A8BD669F73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59929" y="5904191"/>
              <a:ext cx="909502" cy="909502"/>
            </a:xfrm>
            <a:prstGeom prst="rect">
              <a:avLst/>
            </a:prstGeom>
          </p:spPr>
        </p:pic>
        <p:pic>
          <p:nvPicPr>
            <p:cNvPr id="16" name="그림 23">
              <a:extLst>
                <a:ext uri="{FF2B5EF4-FFF2-40B4-BE49-F238E27FC236}">
                  <a16:creationId xmlns:a16="http://schemas.microsoft.com/office/drawing/2014/main" id="{9FAB6258-B18B-4F7A-BC86-D058A907FA7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05800" y="5904191"/>
              <a:ext cx="909502" cy="909502"/>
            </a:xfrm>
            <a:prstGeom prst="rect">
              <a:avLst/>
            </a:prstGeom>
          </p:spPr>
        </p:pic>
      </p:grpSp>
      <p:sp>
        <p:nvSpPr>
          <p:cNvPr id="6" name="Slide Number Placeholder 5">
            <a:extLst>
              <a:ext uri="{FF2B5EF4-FFF2-40B4-BE49-F238E27FC236}">
                <a16:creationId xmlns:a16="http://schemas.microsoft.com/office/drawing/2014/main" id="{A6785A25-D4D2-42EF-9ECB-61C4296F6863}"/>
              </a:ext>
            </a:extLst>
          </p:cNvPr>
          <p:cNvSpPr>
            <a:spLocks noGrp="1"/>
          </p:cNvSpPr>
          <p:nvPr>
            <p:ph type="sldNum" sz="quarter" idx="12"/>
          </p:nvPr>
        </p:nvSpPr>
        <p:spPr/>
        <p:txBody>
          <a:bodyPr/>
          <a:lstStyle/>
          <a:p>
            <a:fld id="{60B2ABDE-784B-4C4C-A5EC-B8C1902A07D4}" type="slidenum">
              <a:rPr lang="ko-KR" altLang="en-US" smtClean="0"/>
              <a:t>1</a:t>
            </a:fld>
            <a:endParaRPr lang="ko-KR" altLang="en-US"/>
          </a:p>
        </p:txBody>
      </p:sp>
      <p:sp>
        <p:nvSpPr>
          <p:cNvPr id="4" name="TextBox 3"/>
          <p:cNvSpPr txBox="1"/>
          <p:nvPr/>
        </p:nvSpPr>
        <p:spPr>
          <a:xfrm>
            <a:off x="190880" y="5537450"/>
            <a:ext cx="5066919" cy="1154162"/>
          </a:xfrm>
          <a:prstGeom prst="rect">
            <a:avLst/>
          </a:prstGeom>
          <a:noFill/>
        </p:spPr>
        <p:txBody>
          <a:bodyPr wrap="square" lIns="91440" tIns="45720" rIns="91440" bIns="45720" rtlCol="0" anchor="t">
            <a:spAutoFit/>
          </a:bodyPr>
          <a:lstStyle/>
          <a:p>
            <a:r>
              <a:rPr lang="en-US" altLang="ko-KR" sz="1700" dirty="0">
                <a:latin typeface="+mj-ea"/>
                <a:ea typeface="+mj-ea"/>
              </a:rPr>
              <a:t>Chonnam National University</a:t>
            </a:r>
          </a:p>
          <a:p>
            <a:r>
              <a:rPr lang="en-US" altLang="ko-KR" sz="1700" dirty="0">
                <a:latin typeface="+mj-ea"/>
                <a:ea typeface="+mj-ea"/>
              </a:rPr>
              <a:t>Dept of Artificial Intelligence Convergence</a:t>
            </a:r>
          </a:p>
          <a:p>
            <a:r>
              <a:rPr lang="en-US" altLang="ko-KR" sz="1700" dirty="0">
                <a:latin typeface="맑은 고딕"/>
                <a:ea typeface="맑은 고딕"/>
              </a:rPr>
              <a:t>Distributed Networks and Systems Laboratory</a:t>
            </a:r>
          </a:p>
          <a:p>
            <a:r>
              <a:rPr lang="en-US" altLang="ko-KR" sz="1700" dirty="0">
                <a:latin typeface="맑은 고딕"/>
                <a:ea typeface="맑은 고딕"/>
              </a:rPr>
              <a:t>Uğur </a:t>
            </a:r>
            <a:r>
              <a:rPr lang="en-US" altLang="ko-KR" sz="1600" dirty="0" err="1">
                <a:latin typeface="맑은 고딕"/>
                <a:ea typeface="맑은 고딕"/>
              </a:rPr>
              <a:t>Erçelik</a:t>
            </a:r>
            <a:r>
              <a:rPr lang="en-US" altLang="ko-KR" sz="1700" dirty="0">
                <a:latin typeface="맑은 고딕"/>
                <a:ea typeface="맑은 고딕"/>
              </a:rPr>
              <a:t>(248185)</a:t>
            </a:r>
            <a:endParaRPr lang="en-US" dirty="0"/>
          </a:p>
        </p:txBody>
      </p:sp>
      <p:sp>
        <p:nvSpPr>
          <p:cNvPr id="2" name="TextBox 1"/>
          <p:cNvSpPr txBox="1"/>
          <p:nvPr/>
        </p:nvSpPr>
        <p:spPr>
          <a:xfrm>
            <a:off x="190880" y="1256092"/>
            <a:ext cx="11658599" cy="1384995"/>
          </a:xfrm>
          <a:prstGeom prst="rect">
            <a:avLst/>
          </a:prstGeom>
          <a:noFill/>
        </p:spPr>
        <p:txBody>
          <a:bodyPr wrap="square" lIns="91440" tIns="45720" rIns="91440" bIns="45720" rtlCol="0" anchor="t">
            <a:spAutoFit/>
          </a:bodyPr>
          <a:lstStyle/>
          <a:p>
            <a:pPr algn="ctr"/>
            <a:r>
              <a:rPr lang="en-US" sz="2800" dirty="0">
                <a:solidFill>
                  <a:srgbClr val="FFFFFF"/>
                </a:solidFill>
                <a:cs typeface="Calibri"/>
              </a:rPr>
              <a:t>CHAPTER 6. FREQUENT ITEMSETS</a:t>
            </a:r>
          </a:p>
          <a:p>
            <a:pPr algn="ctr"/>
            <a:r>
              <a:rPr lang="en-US" sz="2800" dirty="0">
                <a:solidFill>
                  <a:srgbClr val="FFFFFF"/>
                </a:solidFill>
                <a:cs typeface="Calibri"/>
              </a:rPr>
              <a:t>6.1 The Market-Basket Model</a:t>
            </a:r>
          </a:p>
          <a:p>
            <a:pPr algn="ctr"/>
            <a:r>
              <a:rPr lang="en-US" sz="2800" dirty="0">
                <a:solidFill>
                  <a:srgbClr val="FFFFFF"/>
                </a:solidFill>
                <a:cs typeface="Calibri"/>
              </a:rPr>
              <a:t>6.3 Handling Larger Datasets in Main Memory</a:t>
            </a:r>
          </a:p>
        </p:txBody>
      </p:sp>
      <p:sp>
        <p:nvSpPr>
          <p:cNvPr id="7" name="TextBox 6">
            <a:extLst>
              <a:ext uri="{FF2B5EF4-FFF2-40B4-BE49-F238E27FC236}">
                <a16:creationId xmlns:a16="http://schemas.microsoft.com/office/drawing/2014/main" id="{E44EF1BD-79DB-416B-3736-1007C04E2F92}"/>
              </a:ext>
            </a:extLst>
          </p:cNvPr>
          <p:cNvSpPr txBox="1"/>
          <p:nvPr/>
        </p:nvSpPr>
        <p:spPr>
          <a:xfrm>
            <a:off x="266319" y="7848600"/>
            <a:ext cx="8420481" cy="1477328"/>
          </a:xfrm>
          <a:prstGeom prst="rect">
            <a:avLst/>
          </a:prstGeom>
          <a:noFill/>
        </p:spPr>
        <p:txBody>
          <a:bodyPr wrap="square" rtlCol="0">
            <a:spAutoFit/>
          </a:bodyPr>
          <a:lstStyle/>
          <a:p>
            <a:r>
              <a:rPr lang="en-US" altLang="ko-KR" sz="1800" dirty="0" err="1">
                <a:solidFill>
                  <a:schemeClr val="bg1"/>
                </a:solidFill>
              </a:rPr>
              <a:t>SimVP</a:t>
            </a:r>
            <a:r>
              <a:rPr lang="en-US" altLang="ko-KR" sz="1800" dirty="0">
                <a:solidFill>
                  <a:schemeClr val="bg1"/>
                </a:solidFill>
              </a:rPr>
              <a:t>: Towards Simple yet Powerful Spatiotemporal Predictive Learning</a:t>
            </a:r>
          </a:p>
          <a:p>
            <a:r>
              <a:rPr lang="en-US" altLang="ko-KR" sz="1800" b="0" i="0" dirty="0">
                <a:solidFill>
                  <a:srgbClr val="FFFFFF"/>
                </a:solidFill>
                <a:effectLst/>
                <a:latin typeface="Arial" panose="020B0604020202020204" pitchFamily="34" charset="0"/>
              </a:rPr>
              <a:t>Tan, Cheng, et al. "</a:t>
            </a:r>
            <a:r>
              <a:rPr lang="en-US" altLang="ko-KR" sz="1800" b="0" i="0" dirty="0" err="1">
                <a:solidFill>
                  <a:srgbClr val="FFFFFF"/>
                </a:solidFill>
                <a:effectLst/>
                <a:latin typeface="Arial" panose="020B0604020202020204" pitchFamily="34" charset="0"/>
              </a:rPr>
              <a:t>Simvp</a:t>
            </a:r>
            <a:r>
              <a:rPr lang="en-US" altLang="ko-KR" sz="1800" b="0" i="0" dirty="0">
                <a:solidFill>
                  <a:srgbClr val="FFFFFF"/>
                </a:solidFill>
                <a:effectLst/>
                <a:latin typeface="Arial" panose="020B0604020202020204" pitchFamily="34" charset="0"/>
              </a:rPr>
              <a:t>: Towards simple yet powerful spatiotemporal predictive learning." </a:t>
            </a:r>
            <a:r>
              <a:rPr lang="en-US" altLang="ko-KR" sz="1800" b="0" i="1" dirty="0" err="1">
                <a:solidFill>
                  <a:srgbClr val="FFFFFF"/>
                </a:solidFill>
                <a:effectLst/>
                <a:latin typeface="Arial" panose="020B0604020202020204" pitchFamily="34" charset="0"/>
              </a:rPr>
              <a:t>arXiv</a:t>
            </a:r>
            <a:r>
              <a:rPr lang="en-US" altLang="ko-KR" sz="1800" b="0" i="1" dirty="0">
                <a:solidFill>
                  <a:srgbClr val="FFFFFF"/>
                </a:solidFill>
                <a:effectLst/>
                <a:latin typeface="Arial" panose="020B0604020202020204" pitchFamily="34" charset="0"/>
              </a:rPr>
              <a:t> preprint arXiv:2211.12509</a:t>
            </a:r>
            <a:r>
              <a:rPr lang="en-US" altLang="ko-KR" sz="1800" b="0" i="0" dirty="0">
                <a:solidFill>
                  <a:srgbClr val="FFFFFF"/>
                </a:solidFill>
                <a:effectLst/>
                <a:latin typeface="Arial" panose="020B0604020202020204" pitchFamily="34" charset="0"/>
              </a:rPr>
              <a:t> (2022).</a:t>
            </a:r>
            <a:endParaRPr lang="ko-KR" altLang="en-US" sz="1800" dirty="0">
              <a:solidFill>
                <a:srgbClr val="FFFFFF"/>
              </a:solidFill>
            </a:endParaRPr>
          </a:p>
          <a:p>
            <a:endParaRPr lang="ko-KR" altLang="en-US" sz="1800" dirty="0">
              <a:solidFill>
                <a:schemeClr val="bg1"/>
              </a:solidFill>
            </a:endParaRPr>
          </a:p>
          <a:p>
            <a:endParaRPr lang="ko-KR" altLang="en-US" dirty="0"/>
          </a:p>
        </p:txBody>
      </p:sp>
    </p:spTree>
    <p:extLst>
      <p:ext uri="{BB962C8B-B14F-4D97-AF65-F5344CB8AC3E}">
        <p14:creationId xmlns:p14="http://schemas.microsoft.com/office/powerpoint/2010/main" val="2209632901"/>
      </p:ext>
    </p:extLst>
  </p:cSld>
  <p:clrMapOvr>
    <a:masterClrMapping/>
  </p:clrMapOvr>
  <mc:AlternateContent xmlns:mc="http://schemas.openxmlformats.org/markup-compatibility/2006" xmlns:p14="http://schemas.microsoft.com/office/powerpoint/2010/main">
    <mc:Choice Requires="p14">
      <p:transition spd="slow" p14:dur="2000" advTm="24901"/>
    </mc:Choice>
    <mc:Fallback xmlns="">
      <p:transition spd="slow" advTm="24901"/>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B89B294F-FB28-17A4-067B-31059A734866}"/>
              </a:ext>
            </a:extLst>
          </p:cNvPr>
          <p:cNvSpPr>
            <a:spLocks noGrp="1"/>
          </p:cNvSpPr>
          <p:nvPr>
            <p:ph type="sldNum" sz="quarter" idx="12"/>
          </p:nvPr>
        </p:nvSpPr>
        <p:spPr/>
        <p:txBody>
          <a:bodyPr/>
          <a:lstStyle/>
          <a:p>
            <a:fld id="{60B2ABDE-784B-4C4C-A5EC-B8C1902A07D4}" type="slidenum">
              <a:rPr lang="ko-KR" altLang="en-US" smtClean="0"/>
              <a:t>2</a:t>
            </a:fld>
            <a:endParaRPr lang="ko-KR" altLang="en-US"/>
          </a:p>
        </p:txBody>
      </p:sp>
      <p:sp>
        <p:nvSpPr>
          <p:cNvPr id="6" name="직사각형 5">
            <a:extLst>
              <a:ext uri="{FF2B5EF4-FFF2-40B4-BE49-F238E27FC236}">
                <a16:creationId xmlns:a16="http://schemas.microsoft.com/office/drawing/2014/main" id="{7279C6C7-2237-64D2-16D4-915589761395}"/>
              </a:ext>
            </a:extLst>
          </p:cNvPr>
          <p:cNvSpPr/>
          <p:nvPr/>
        </p:nvSpPr>
        <p:spPr>
          <a:xfrm>
            <a:off x="0" y="0"/>
            <a:ext cx="12192000" cy="76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직사각형 6">
            <a:extLst>
              <a:ext uri="{FF2B5EF4-FFF2-40B4-BE49-F238E27FC236}">
                <a16:creationId xmlns:a16="http://schemas.microsoft.com/office/drawing/2014/main" id="{0199C465-CEDA-71A2-B0E4-0DC7B59303A4}"/>
              </a:ext>
            </a:extLst>
          </p:cNvPr>
          <p:cNvSpPr/>
          <p:nvPr/>
        </p:nvSpPr>
        <p:spPr>
          <a:xfrm>
            <a:off x="0" y="0"/>
            <a:ext cx="2804160" cy="6858000"/>
          </a:xfrm>
          <a:prstGeom prst="rect">
            <a:avLst/>
          </a:prstGeom>
          <a:solidFill>
            <a:srgbClr val="2047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2800" dirty="0"/>
              <a:t>Index</a:t>
            </a:r>
            <a:endParaRPr lang="ko-KR" altLang="en-US" sz="2800" dirty="0"/>
          </a:p>
        </p:txBody>
      </p:sp>
      <p:sp>
        <p:nvSpPr>
          <p:cNvPr id="8" name="TextBox 7">
            <a:extLst>
              <a:ext uri="{FF2B5EF4-FFF2-40B4-BE49-F238E27FC236}">
                <a16:creationId xmlns:a16="http://schemas.microsoft.com/office/drawing/2014/main" id="{C2CF7222-B0B6-D615-93E3-D24E39A9B5C9}"/>
              </a:ext>
            </a:extLst>
          </p:cNvPr>
          <p:cNvSpPr txBox="1"/>
          <p:nvPr/>
        </p:nvSpPr>
        <p:spPr>
          <a:xfrm>
            <a:off x="3276600" y="582067"/>
            <a:ext cx="8610600" cy="5693866"/>
          </a:xfrm>
          <a:prstGeom prst="rect">
            <a:avLst/>
          </a:prstGeom>
          <a:noFill/>
        </p:spPr>
        <p:txBody>
          <a:bodyPr wrap="square" lIns="91440" tIns="45720" rIns="91440" bIns="45720" rtlCol="0" anchor="t">
            <a:spAutoFit/>
          </a:bodyPr>
          <a:lstStyle/>
          <a:p>
            <a:r>
              <a:rPr lang="en-US" altLang="ko-KR" sz="2800" b="1" dirty="0">
                <a:ea typeface="맑은 고딕"/>
                <a:cs typeface="Calibri"/>
              </a:rPr>
              <a:t>6.1. The Market-Basket Model</a:t>
            </a:r>
          </a:p>
          <a:p>
            <a:endParaRPr lang="en-US" altLang="ko-KR" sz="2800" dirty="0">
              <a:ea typeface="맑은 고딕"/>
              <a:cs typeface="Calibri"/>
            </a:endParaRPr>
          </a:p>
          <a:p>
            <a:r>
              <a:rPr lang="en-US" sz="2800" dirty="0"/>
              <a:t>6.1.1 Definition of Frequent </a:t>
            </a:r>
            <a:r>
              <a:rPr lang="en-US" sz="2800" dirty="0" err="1"/>
              <a:t>Itemsets</a:t>
            </a:r>
            <a:endParaRPr lang="en-US" altLang="ko-KR" sz="2800" dirty="0">
              <a:ea typeface="맑은 고딕"/>
              <a:cs typeface="Calibri"/>
            </a:endParaRPr>
          </a:p>
          <a:p>
            <a:r>
              <a:rPr lang="en-US" sz="2800" dirty="0"/>
              <a:t>6.1.2. Applications of Frequent </a:t>
            </a:r>
            <a:r>
              <a:rPr lang="en-US" sz="2800" dirty="0" err="1"/>
              <a:t>Itemsets</a:t>
            </a:r>
            <a:endParaRPr lang="en-US" sz="2800" dirty="0"/>
          </a:p>
          <a:p>
            <a:r>
              <a:rPr lang="en-US" sz="2800" dirty="0"/>
              <a:t>6.1.3 Association Rules</a:t>
            </a:r>
          </a:p>
          <a:p>
            <a:r>
              <a:rPr lang="en-US" sz="2800" dirty="0"/>
              <a:t>6.1.4 Finding Association Rules with High Confidence</a:t>
            </a:r>
          </a:p>
          <a:p>
            <a:pPr marL="342900" indent="-342900">
              <a:buFontTx/>
              <a:buAutoNum type="arabicPeriod"/>
            </a:pPr>
            <a:endParaRPr lang="en-US" altLang="ko-KR" sz="2800" dirty="0">
              <a:ea typeface="맑은 고딕"/>
              <a:cs typeface="Calibri"/>
            </a:endParaRPr>
          </a:p>
          <a:p>
            <a:r>
              <a:rPr lang="en-US" altLang="ko-KR" sz="2800" b="1" dirty="0">
                <a:ea typeface="맑은 고딕"/>
                <a:cs typeface="Calibri"/>
              </a:rPr>
              <a:t>6.3 Handling Larger Datasets in Main Memory</a:t>
            </a:r>
          </a:p>
          <a:p>
            <a:endParaRPr lang="en-US" altLang="ko-KR" sz="2800" dirty="0">
              <a:ea typeface="맑은 고딕"/>
              <a:cs typeface="Calibri"/>
            </a:endParaRPr>
          </a:p>
          <a:p>
            <a:r>
              <a:rPr lang="en-US" altLang="ko-KR" sz="2800" dirty="0">
                <a:ea typeface="맑은 고딕"/>
                <a:cs typeface="Calibri"/>
              </a:rPr>
              <a:t>6.3.1 The Algorithm of Park, Chen, and Yu</a:t>
            </a:r>
          </a:p>
          <a:p>
            <a:r>
              <a:rPr lang="en-US" altLang="ko-KR" sz="2800" dirty="0">
                <a:ea typeface="맑은 고딕"/>
                <a:cs typeface="Calibri"/>
              </a:rPr>
              <a:t>6.3.2 The Multistage Algorithm</a:t>
            </a:r>
          </a:p>
          <a:p>
            <a:r>
              <a:rPr lang="en-US" altLang="ko-KR" sz="2800" dirty="0">
                <a:ea typeface="맑은 고딕"/>
                <a:cs typeface="Calibri"/>
              </a:rPr>
              <a:t>6.3.3 The </a:t>
            </a:r>
            <a:r>
              <a:rPr lang="en-US" altLang="ko-KR" sz="2800" dirty="0" err="1">
                <a:ea typeface="맑은 고딕"/>
                <a:cs typeface="Calibri"/>
              </a:rPr>
              <a:t>Multihash</a:t>
            </a:r>
            <a:r>
              <a:rPr lang="en-US" altLang="ko-KR" sz="2800" dirty="0">
                <a:ea typeface="맑은 고딕"/>
                <a:cs typeface="Calibri"/>
              </a:rPr>
              <a:t> Algorithm</a:t>
            </a:r>
          </a:p>
          <a:p>
            <a:pPr marL="514350" indent="-514350">
              <a:buFont typeface="+mj-lt"/>
              <a:buAutoNum type="arabicPeriod"/>
            </a:pPr>
            <a:endParaRPr lang="en-US" altLang="ko-KR" sz="2800" dirty="0">
              <a:ea typeface="맑은 고딕"/>
              <a:cs typeface="Calibri"/>
            </a:endParaRPr>
          </a:p>
        </p:txBody>
      </p:sp>
    </p:spTree>
    <p:extLst>
      <p:ext uri="{BB962C8B-B14F-4D97-AF65-F5344CB8AC3E}">
        <p14:creationId xmlns:p14="http://schemas.microsoft.com/office/powerpoint/2010/main" val="2876143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56852EB0-98C5-E6BB-DB3D-EB5F26A2F27D}"/>
              </a:ext>
            </a:extLst>
          </p:cNvPr>
          <p:cNvSpPr/>
          <p:nvPr/>
        </p:nvSpPr>
        <p:spPr>
          <a:xfrm>
            <a:off x="17253" y="0"/>
            <a:ext cx="121920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ltLang="ko-KR" sz="2800" dirty="0">
              <a:ea typeface="맑은 고딕"/>
            </a:endParaRPr>
          </a:p>
          <a:p>
            <a:endParaRPr lang="en-US" altLang="ko-KR" sz="2800" dirty="0">
              <a:ea typeface="맑은 고딕"/>
            </a:endParaRPr>
          </a:p>
          <a:p>
            <a:r>
              <a:rPr lang="en-US" altLang="ko-KR" sz="2800" dirty="0">
                <a:ea typeface="맑은 고딕"/>
              </a:rPr>
              <a:t>6.1</a:t>
            </a:r>
            <a:r>
              <a:rPr lang="en-US" sz="2800" dirty="0"/>
              <a:t> The Market-Basket Model</a:t>
            </a:r>
          </a:p>
          <a:p>
            <a:r>
              <a:rPr lang="en-US" altLang="ko-KR" sz="2800" dirty="0">
                <a:ea typeface="맑은 고딕"/>
              </a:rPr>
              <a:t> </a:t>
            </a:r>
            <a:endParaRPr lang="en-US" altLang="ko-KR" sz="2800" dirty="0">
              <a:ea typeface="맑은 고딕"/>
              <a:cs typeface="Calibri"/>
            </a:endParaRPr>
          </a:p>
          <a:p>
            <a:endParaRPr lang="ko-KR" altLang="en-US" sz="2800" dirty="0">
              <a:ea typeface="맑은 고딕"/>
            </a:endParaRPr>
          </a:p>
        </p:txBody>
      </p:sp>
      <p:sp>
        <p:nvSpPr>
          <p:cNvPr id="2" name="Metin kutusu 1">
            <a:extLst>
              <a:ext uri="{FF2B5EF4-FFF2-40B4-BE49-F238E27FC236}">
                <a16:creationId xmlns:a16="http://schemas.microsoft.com/office/drawing/2014/main" id="{59653D56-6B46-D024-B4E4-EC018DF51397}"/>
              </a:ext>
            </a:extLst>
          </p:cNvPr>
          <p:cNvSpPr txBox="1"/>
          <p:nvPr/>
        </p:nvSpPr>
        <p:spPr>
          <a:xfrm>
            <a:off x="17253" y="838200"/>
            <a:ext cx="11734800" cy="646331"/>
          </a:xfrm>
          <a:prstGeom prst="rect">
            <a:avLst/>
          </a:prstGeom>
          <a:noFill/>
        </p:spPr>
        <p:txBody>
          <a:bodyPr wrap="square" rtlCol="0">
            <a:spAutoFit/>
          </a:bodyPr>
          <a:lstStyle/>
          <a:p>
            <a:pPr marL="285750" indent="-285750">
              <a:buFont typeface="Wingdings" panose="05000000000000000000" pitchFamily="2" charset="2"/>
              <a:buChar char="§"/>
            </a:pPr>
            <a:endParaRPr lang="en-US" dirty="0"/>
          </a:p>
          <a:p>
            <a:endParaRPr lang="en-US" dirty="0"/>
          </a:p>
        </p:txBody>
      </p:sp>
      <p:sp>
        <p:nvSpPr>
          <p:cNvPr id="6" name="Metin kutusu 5">
            <a:extLst>
              <a:ext uri="{FF2B5EF4-FFF2-40B4-BE49-F238E27FC236}">
                <a16:creationId xmlns:a16="http://schemas.microsoft.com/office/drawing/2014/main" id="{253DAAEC-8FDA-2EB3-FDFA-5FDB3152B6F4}"/>
              </a:ext>
            </a:extLst>
          </p:cNvPr>
          <p:cNvSpPr txBox="1"/>
          <p:nvPr/>
        </p:nvSpPr>
        <p:spPr>
          <a:xfrm>
            <a:off x="17253" y="838200"/>
            <a:ext cx="12022347" cy="5909310"/>
          </a:xfrm>
          <a:prstGeom prst="rect">
            <a:avLst/>
          </a:prstGeom>
          <a:noFill/>
        </p:spPr>
        <p:txBody>
          <a:bodyPr wrap="square" rtlCol="0">
            <a:spAutoFit/>
          </a:bodyPr>
          <a:lstStyle/>
          <a:p>
            <a:pPr marL="285750" indent="-285750">
              <a:buFont typeface="Wingdings" panose="05000000000000000000" pitchFamily="2" charset="2"/>
              <a:buChar char="§"/>
            </a:pPr>
            <a:r>
              <a:rPr lang="en-US" b="1" dirty="0"/>
              <a:t>The Market-Basket Model </a:t>
            </a:r>
            <a:r>
              <a:rPr lang="en-US" dirty="0"/>
              <a:t>is a common approach in data mining to analyze large datasets of transactional data, typically to discover patterns or associations between items. </a:t>
            </a:r>
          </a:p>
          <a:p>
            <a:pPr marL="285750" indent="-285750">
              <a:buFont typeface="Wingdings" panose="05000000000000000000" pitchFamily="2" charset="2"/>
              <a:buChar char="§"/>
            </a:pPr>
            <a:r>
              <a:rPr lang="en-US" dirty="0"/>
              <a:t>This model is especially useful in retail, </a:t>
            </a:r>
            <a:r>
              <a:rPr lang="en-US" b="1" dirty="0"/>
              <a:t>where it can reveal relationships among products often purchased together</a:t>
            </a:r>
            <a:r>
              <a:rPr lang="en-US" dirty="0"/>
              <a:t>, but it  also applies to any context where </a:t>
            </a:r>
            <a:r>
              <a:rPr lang="en-US" b="1" dirty="0"/>
              <a:t>items are grouped together </a:t>
            </a:r>
            <a:r>
              <a:rPr lang="en-US" dirty="0"/>
              <a:t>in "baskets," such as clickstream data on websites, medical    diagnoses, or document word analysis.</a:t>
            </a:r>
          </a:p>
          <a:p>
            <a:pPr marL="285750" indent="-285750">
              <a:buFont typeface="Wingdings" panose="05000000000000000000" pitchFamily="2" charset="2"/>
              <a:buChar char="§"/>
            </a:pPr>
            <a:r>
              <a:rPr lang="en-US" dirty="0"/>
              <a:t>Market basket analysis in data mining involves analyzing the </a:t>
            </a:r>
            <a:r>
              <a:rPr lang="en-US" b="1" dirty="0"/>
              <a:t>combinations of products </a:t>
            </a:r>
            <a:r>
              <a:rPr lang="en-US" dirty="0"/>
              <a:t>that are bought together.</a:t>
            </a:r>
          </a:p>
          <a:p>
            <a:pPr marL="285750" indent="-285750">
              <a:buFont typeface="Wingdings" panose="05000000000000000000" pitchFamily="2" charset="2"/>
              <a:buChar char="§"/>
            </a:pPr>
            <a:r>
              <a:rPr lang="en-US" dirty="0"/>
              <a:t>This is a technique that gives the careful study of purchases done by a customer in a supermarket. This concept identifies the pattern of frequent purchase items by customers. This analysis can help to promote deals, offers, sale by the companies, and data mining techniques helps to achieve this analysis task.</a:t>
            </a:r>
          </a:p>
          <a:p>
            <a:pPr marL="285750" indent="-285750">
              <a:buFont typeface="Wingdings" panose="05000000000000000000" pitchFamily="2" charset="2"/>
              <a:buChar char="§"/>
            </a:pPr>
            <a:r>
              <a:rPr lang="en-US" b="1" dirty="0"/>
              <a:t>Key Components</a:t>
            </a:r>
          </a:p>
          <a:p>
            <a:pPr marL="285750" indent="-285750">
              <a:buFont typeface="Wingdings" panose="05000000000000000000" pitchFamily="2" charset="2"/>
              <a:buChar char="§"/>
            </a:pPr>
            <a:r>
              <a:rPr lang="en-US" b="1" dirty="0"/>
              <a:t>Items: </a:t>
            </a:r>
            <a:r>
              <a:rPr lang="en-US" dirty="0"/>
              <a:t>These are the individual elements that might appear in a transaction. In a retail context, items could be products like bread, milk, or cereal.</a:t>
            </a:r>
          </a:p>
          <a:p>
            <a:pPr marL="285750" indent="-285750">
              <a:buFont typeface="Wingdings" panose="05000000000000000000" pitchFamily="2" charset="2"/>
              <a:buChar char="§"/>
            </a:pPr>
            <a:r>
              <a:rPr lang="en-US" b="1" dirty="0"/>
              <a:t>Baskets (or Transactions): </a:t>
            </a:r>
            <a:r>
              <a:rPr lang="en-US" dirty="0"/>
              <a:t>Each basket represents a transaction containing a collection of items bought together. For instance, if a customer buys bread, milk, and eggs, this transaction is a basket with these three </a:t>
            </a:r>
            <a:r>
              <a:rPr lang="en-US" dirty="0" err="1"/>
              <a:t>items.Typically</a:t>
            </a:r>
            <a:r>
              <a:rPr lang="en-US" dirty="0"/>
              <a:t>, the number of items in each basket is small compared to the total number of unique items across all baskets.</a:t>
            </a:r>
          </a:p>
          <a:p>
            <a:pPr marL="285750" indent="-285750">
              <a:buFont typeface="Wingdings" panose="05000000000000000000" pitchFamily="2" charset="2"/>
              <a:buChar char="§"/>
            </a:pPr>
            <a:r>
              <a:rPr lang="en-US" b="1" dirty="0"/>
              <a:t>Frequent </a:t>
            </a:r>
            <a:r>
              <a:rPr lang="en-US" b="1" dirty="0" err="1"/>
              <a:t>Itemsets</a:t>
            </a:r>
            <a:r>
              <a:rPr lang="en-US" dirty="0"/>
              <a:t>: A frequent itemset is a set of items that appears together in multiple baskets beyond a certain threshold. Identifying these frequent </a:t>
            </a:r>
            <a:r>
              <a:rPr lang="en-US" dirty="0" err="1"/>
              <a:t>itemsets</a:t>
            </a:r>
            <a:r>
              <a:rPr lang="en-US" dirty="0"/>
              <a:t> allows us to discover common patterns, such as items that are frequently bought together.</a:t>
            </a:r>
          </a:p>
          <a:p>
            <a:pPr marL="285750" indent="-285750">
              <a:buFont typeface="Wingdings" panose="05000000000000000000" pitchFamily="2" charset="2"/>
              <a:buChar char="§"/>
            </a:pPr>
            <a:r>
              <a:rPr lang="en-US" b="1" dirty="0"/>
              <a:t>Support Threshold: </a:t>
            </a:r>
            <a:r>
              <a:rPr lang="en-US" dirty="0"/>
              <a:t>The support threshold defines how often an item or itemset must appear across all transactions to be considered frequent. For example, if the support threshold is set at 100, only </a:t>
            </a:r>
            <a:r>
              <a:rPr lang="en-US" dirty="0" err="1"/>
              <a:t>itemsets</a:t>
            </a:r>
            <a:r>
              <a:rPr lang="en-US" dirty="0"/>
              <a:t> that appear in 100 or more transactions are considered frequent.</a:t>
            </a:r>
          </a:p>
        </p:txBody>
      </p:sp>
    </p:spTree>
    <p:extLst>
      <p:ext uri="{BB962C8B-B14F-4D97-AF65-F5344CB8AC3E}">
        <p14:creationId xmlns:p14="http://schemas.microsoft.com/office/powerpoint/2010/main" val="1490672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039FB-9029-89D6-81A4-CE62E4E7580A}"/>
            </a:ext>
          </a:extLst>
        </p:cNvPr>
        <p:cNvGrpSpPr/>
        <p:nvPr/>
      </p:nvGrpSpPr>
      <p:grpSpPr>
        <a:xfrm>
          <a:off x="0" y="0"/>
          <a:ext cx="0" cy="0"/>
          <a:chOff x="0" y="0"/>
          <a:chExt cx="0" cy="0"/>
        </a:xfrm>
      </p:grpSpPr>
      <p:sp>
        <p:nvSpPr>
          <p:cNvPr id="3" name="직사각형 2">
            <a:extLst>
              <a:ext uri="{FF2B5EF4-FFF2-40B4-BE49-F238E27FC236}">
                <a16:creationId xmlns:a16="http://schemas.microsoft.com/office/drawing/2014/main" id="{32EBF6E3-E642-E3F2-EADD-6C053F32476D}"/>
              </a:ext>
            </a:extLst>
          </p:cNvPr>
          <p:cNvSpPr/>
          <p:nvPr/>
        </p:nvSpPr>
        <p:spPr>
          <a:xfrm>
            <a:off x="17253" y="0"/>
            <a:ext cx="121920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ltLang="ko-KR" sz="2800" dirty="0">
              <a:ea typeface="맑은 고딕"/>
            </a:endParaRPr>
          </a:p>
          <a:p>
            <a:endParaRPr lang="en-US" altLang="ko-KR" sz="2800" dirty="0">
              <a:ea typeface="맑은 고딕"/>
            </a:endParaRPr>
          </a:p>
          <a:p>
            <a:r>
              <a:rPr lang="en-US" altLang="ko-KR" sz="2800" dirty="0">
                <a:ea typeface="맑은 고딕"/>
              </a:rPr>
              <a:t>6.1</a:t>
            </a:r>
            <a:r>
              <a:rPr lang="en-US" sz="2800" dirty="0"/>
              <a:t> The Market-Basket Model</a:t>
            </a:r>
          </a:p>
          <a:p>
            <a:r>
              <a:rPr lang="en-US" altLang="ko-KR" sz="2800" dirty="0">
                <a:ea typeface="맑은 고딕"/>
              </a:rPr>
              <a:t> </a:t>
            </a:r>
            <a:endParaRPr lang="en-US" altLang="ko-KR" sz="2800" dirty="0">
              <a:ea typeface="맑은 고딕"/>
              <a:cs typeface="Calibri"/>
            </a:endParaRPr>
          </a:p>
          <a:p>
            <a:endParaRPr lang="ko-KR" altLang="en-US" sz="2800" dirty="0">
              <a:ea typeface="맑은 고딕"/>
            </a:endParaRPr>
          </a:p>
        </p:txBody>
      </p:sp>
      <p:sp>
        <p:nvSpPr>
          <p:cNvPr id="2" name="Metin kutusu 1">
            <a:extLst>
              <a:ext uri="{FF2B5EF4-FFF2-40B4-BE49-F238E27FC236}">
                <a16:creationId xmlns:a16="http://schemas.microsoft.com/office/drawing/2014/main" id="{9AB42795-06B0-3414-2B8A-128E8A5DE1B2}"/>
              </a:ext>
            </a:extLst>
          </p:cNvPr>
          <p:cNvSpPr txBox="1"/>
          <p:nvPr/>
        </p:nvSpPr>
        <p:spPr>
          <a:xfrm>
            <a:off x="17253" y="838200"/>
            <a:ext cx="11734800" cy="646331"/>
          </a:xfrm>
          <a:prstGeom prst="rect">
            <a:avLst/>
          </a:prstGeom>
          <a:noFill/>
        </p:spPr>
        <p:txBody>
          <a:bodyPr wrap="square" rtlCol="0">
            <a:spAutoFit/>
          </a:bodyPr>
          <a:lstStyle/>
          <a:p>
            <a:pPr marL="285750" indent="-285750">
              <a:buFont typeface="Wingdings" panose="05000000000000000000" pitchFamily="2" charset="2"/>
              <a:buChar char="§"/>
            </a:pPr>
            <a:endParaRPr lang="en-US" dirty="0"/>
          </a:p>
          <a:p>
            <a:endParaRPr lang="en-US" dirty="0"/>
          </a:p>
        </p:txBody>
      </p:sp>
      <p:sp>
        <p:nvSpPr>
          <p:cNvPr id="6" name="Metin kutusu 5">
            <a:extLst>
              <a:ext uri="{FF2B5EF4-FFF2-40B4-BE49-F238E27FC236}">
                <a16:creationId xmlns:a16="http://schemas.microsoft.com/office/drawing/2014/main" id="{8DF85EC0-12C4-096C-B862-889D441B3F7F}"/>
              </a:ext>
            </a:extLst>
          </p:cNvPr>
          <p:cNvSpPr txBox="1"/>
          <p:nvPr/>
        </p:nvSpPr>
        <p:spPr>
          <a:xfrm>
            <a:off x="17253" y="838200"/>
            <a:ext cx="12022347" cy="2862322"/>
          </a:xfrm>
          <a:prstGeom prst="rect">
            <a:avLst/>
          </a:prstGeom>
          <a:noFill/>
        </p:spPr>
        <p:txBody>
          <a:bodyPr wrap="square" rtlCol="0">
            <a:spAutoFit/>
          </a:bodyPr>
          <a:lstStyle/>
          <a:p>
            <a:pPr marL="285750" indent="-285750">
              <a:buFont typeface="Wingdings" panose="05000000000000000000" pitchFamily="2" charset="2"/>
              <a:buChar char="§"/>
            </a:pPr>
            <a:r>
              <a:rPr lang="en-US" b="1" dirty="0"/>
              <a:t>Example of the Market-Basket Model</a:t>
            </a:r>
          </a:p>
          <a:p>
            <a:pPr marL="285750" indent="-285750">
              <a:buFont typeface="Wingdings" panose="05000000000000000000" pitchFamily="2" charset="2"/>
              <a:buChar char="§"/>
            </a:pPr>
            <a:r>
              <a:rPr lang="en-US" dirty="0"/>
              <a:t>Consider a supermarket analyzing purchases. Suppose baskets (transactions) include:</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b="1" dirty="0"/>
              <a:t>Basket 1</a:t>
            </a:r>
            <a:r>
              <a:rPr lang="en-US" dirty="0"/>
              <a:t>: {Milk, Bread, Butter}</a:t>
            </a:r>
          </a:p>
          <a:p>
            <a:pPr marL="285750" indent="-285750">
              <a:buFont typeface="Wingdings" panose="05000000000000000000" pitchFamily="2" charset="2"/>
              <a:buChar char="§"/>
            </a:pPr>
            <a:r>
              <a:rPr lang="en-US" b="1" dirty="0"/>
              <a:t>Basket 2</a:t>
            </a:r>
            <a:r>
              <a:rPr lang="en-US" dirty="0"/>
              <a:t>: {Diapers, Beer, Milk}</a:t>
            </a:r>
          </a:p>
          <a:p>
            <a:pPr marL="285750" indent="-285750">
              <a:buFont typeface="Wingdings" panose="05000000000000000000" pitchFamily="2" charset="2"/>
              <a:buChar char="§"/>
            </a:pPr>
            <a:r>
              <a:rPr lang="en-US" b="1" dirty="0"/>
              <a:t>Basket 3</a:t>
            </a:r>
            <a:r>
              <a:rPr lang="en-US" dirty="0"/>
              <a:t>: {Bread, Butter, Jam}</a:t>
            </a:r>
          </a:p>
          <a:p>
            <a:pPr marL="285750" indent="-285750">
              <a:buFont typeface="Wingdings" panose="05000000000000000000" pitchFamily="2" charset="2"/>
              <a:buChar char="§"/>
            </a:pPr>
            <a:r>
              <a:rPr lang="en-US" b="1" dirty="0"/>
              <a:t>Basket 4</a:t>
            </a:r>
            <a:r>
              <a:rPr lang="en-US" dirty="0"/>
              <a:t>: {Diapers, Beer}</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dirty="0"/>
              <a:t>With a support threshold of 2, the supermarket finds that the items </a:t>
            </a:r>
            <a:r>
              <a:rPr lang="en-US" b="1" dirty="0"/>
              <a:t>“Diapers and Beer” </a:t>
            </a:r>
            <a:r>
              <a:rPr lang="en-US" dirty="0"/>
              <a:t>often appear together. </a:t>
            </a:r>
          </a:p>
          <a:p>
            <a:pPr marL="285750" indent="-285750">
              <a:buFont typeface="Wingdings" panose="05000000000000000000" pitchFamily="2" charset="2"/>
              <a:buChar char="§"/>
            </a:pPr>
            <a:r>
              <a:rPr lang="en-US" dirty="0"/>
              <a:t>This insight could lead to targeted promotions or optimized store layouts.</a:t>
            </a:r>
          </a:p>
        </p:txBody>
      </p:sp>
    </p:spTree>
    <p:extLst>
      <p:ext uri="{BB962C8B-B14F-4D97-AF65-F5344CB8AC3E}">
        <p14:creationId xmlns:p14="http://schemas.microsoft.com/office/powerpoint/2010/main" val="36550023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E3309-F941-88EC-A16A-2BC391E14ADE}"/>
            </a:ext>
          </a:extLst>
        </p:cNvPr>
        <p:cNvGrpSpPr/>
        <p:nvPr/>
      </p:nvGrpSpPr>
      <p:grpSpPr>
        <a:xfrm>
          <a:off x="0" y="0"/>
          <a:ext cx="0" cy="0"/>
          <a:chOff x="0" y="0"/>
          <a:chExt cx="0" cy="0"/>
        </a:xfrm>
      </p:grpSpPr>
      <p:sp>
        <p:nvSpPr>
          <p:cNvPr id="3" name="직사각형 2">
            <a:extLst>
              <a:ext uri="{FF2B5EF4-FFF2-40B4-BE49-F238E27FC236}">
                <a16:creationId xmlns:a16="http://schemas.microsoft.com/office/drawing/2014/main" id="{7C7300AD-B5FC-5D7F-EA2A-385AAAE246CB}"/>
              </a:ext>
            </a:extLst>
          </p:cNvPr>
          <p:cNvSpPr/>
          <p:nvPr/>
        </p:nvSpPr>
        <p:spPr>
          <a:xfrm>
            <a:off x="17253" y="0"/>
            <a:ext cx="121920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ltLang="ko-KR" sz="2800" dirty="0">
              <a:ea typeface="맑은 고딕"/>
            </a:endParaRPr>
          </a:p>
          <a:p>
            <a:endParaRPr lang="en-US" altLang="ko-KR" sz="2800" dirty="0">
              <a:ea typeface="맑은 고딕"/>
            </a:endParaRPr>
          </a:p>
          <a:p>
            <a:r>
              <a:rPr lang="en-US" sz="2800" dirty="0"/>
              <a:t>6.1.1 Definition of Frequent </a:t>
            </a:r>
            <a:r>
              <a:rPr lang="en-US" sz="2800" dirty="0" err="1"/>
              <a:t>Itemsets</a:t>
            </a:r>
            <a:endParaRPr lang="en-US" altLang="ko-KR" sz="2800" dirty="0">
              <a:ea typeface="맑은 고딕"/>
              <a:cs typeface="Calibri"/>
            </a:endParaRPr>
          </a:p>
          <a:p>
            <a:r>
              <a:rPr lang="en-US" altLang="ko-KR" sz="2800" dirty="0">
                <a:ea typeface="맑은 고딕"/>
              </a:rPr>
              <a:t> </a:t>
            </a:r>
            <a:endParaRPr lang="en-US" altLang="ko-KR" sz="2800" dirty="0">
              <a:ea typeface="맑은 고딕"/>
              <a:cs typeface="Calibri"/>
            </a:endParaRPr>
          </a:p>
          <a:p>
            <a:endParaRPr lang="ko-KR" altLang="en-US" sz="2800" dirty="0">
              <a:ea typeface="맑은 고딕"/>
            </a:endParaRPr>
          </a:p>
        </p:txBody>
      </p:sp>
      <p:sp>
        <p:nvSpPr>
          <p:cNvPr id="2" name="Metin kutusu 1">
            <a:extLst>
              <a:ext uri="{FF2B5EF4-FFF2-40B4-BE49-F238E27FC236}">
                <a16:creationId xmlns:a16="http://schemas.microsoft.com/office/drawing/2014/main" id="{22DF8417-AF96-09A2-D806-085EBA4A405A}"/>
              </a:ext>
            </a:extLst>
          </p:cNvPr>
          <p:cNvSpPr txBox="1"/>
          <p:nvPr/>
        </p:nvSpPr>
        <p:spPr>
          <a:xfrm>
            <a:off x="17253" y="838200"/>
            <a:ext cx="11734800" cy="3693319"/>
          </a:xfrm>
          <a:prstGeom prst="rect">
            <a:avLst/>
          </a:prstGeom>
          <a:noFill/>
        </p:spPr>
        <p:txBody>
          <a:bodyPr wrap="square" rtlCol="0">
            <a:spAutoFit/>
          </a:bodyPr>
          <a:lstStyle/>
          <a:p>
            <a:pPr marL="285750" indent="-285750">
              <a:buFont typeface="Wingdings" panose="05000000000000000000" pitchFamily="2" charset="2"/>
              <a:buChar char="§"/>
            </a:pPr>
            <a:r>
              <a:rPr lang="en-US" b="1" dirty="0"/>
              <a:t>Frequent items </a:t>
            </a:r>
            <a:r>
              <a:rPr lang="en-US" dirty="0"/>
              <a:t>are core elements in data mining, especially in the context of </a:t>
            </a:r>
            <a:r>
              <a:rPr lang="en-US" b="1" dirty="0"/>
              <a:t>analyzing large datasets for patterns or associations</a:t>
            </a:r>
            <a:r>
              <a:rPr lang="en-US" dirty="0"/>
              <a:t>. In essence, a frequent </a:t>
            </a:r>
            <a:r>
              <a:rPr lang="en-US" b="1" dirty="0"/>
              <a:t>item is an item that appears in a dataset (or transaction set) with a frequency</a:t>
            </a:r>
            <a:r>
              <a:rPr lang="en-US" dirty="0"/>
              <a:t> that meets or exceeds a predefined threshold, known as the </a:t>
            </a:r>
            <a:r>
              <a:rPr lang="en-US" b="1" dirty="0"/>
              <a:t>support threshold</a:t>
            </a:r>
            <a:r>
              <a:rPr lang="en-US" dirty="0"/>
              <a:t>.</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dirty="0"/>
              <a:t>Frequent </a:t>
            </a:r>
            <a:r>
              <a:rPr lang="en-US" dirty="0" err="1"/>
              <a:t>itemsets</a:t>
            </a:r>
            <a:r>
              <a:rPr lang="en-US" dirty="0"/>
              <a:t>, which are sets of items (e.g., {bread, butter}) that </a:t>
            </a:r>
            <a:r>
              <a:rPr lang="en-US" b="1" dirty="0"/>
              <a:t>appear together frequently</a:t>
            </a:r>
            <a:r>
              <a:rPr lang="en-US" dirty="0"/>
              <a:t>. These sets form the basis of many association rule mining techniques. </a:t>
            </a:r>
          </a:p>
          <a:p>
            <a:pPr marL="285750" indent="-285750">
              <a:buFont typeface="Wingdings" panose="05000000000000000000" pitchFamily="2" charset="2"/>
              <a:buChar char="§"/>
            </a:pPr>
            <a:r>
              <a:rPr lang="en-US" dirty="0"/>
              <a:t>A frequent item set is a set of items that occur together frequently in a dataset. The frequency of an item set is measured by the </a:t>
            </a:r>
            <a:r>
              <a:rPr lang="en-US" b="1" dirty="0"/>
              <a:t>support count, </a:t>
            </a:r>
            <a:r>
              <a:rPr lang="en-US" dirty="0"/>
              <a:t>which is the number of transactions or records in the dataset that contain the item set. </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b="1" dirty="0"/>
              <a:t>For example</a:t>
            </a:r>
            <a:r>
              <a:rPr lang="en-US" dirty="0"/>
              <a:t>, if a dataset contains 100 transactions and the item set {milk, bread} appears in 20 of those transactions, the </a:t>
            </a:r>
            <a:r>
              <a:rPr lang="en-US" b="1" dirty="0"/>
              <a:t>support count for {milk, bread} is 20</a:t>
            </a:r>
            <a:r>
              <a:rPr lang="en-US" dirty="0"/>
              <a:t>.</a:t>
            </a:r>
          </a:p>
          <a:p>
            <a:pPr marL="285750" indent="-285750">
              <a:buFont typeface="Wingdings" panose="05000000000000000000" pitchFamily="2" charset="2"/>
              <a:buChar char="§"/>
            </a:pPr>
            <a:endParaRPr lang="en-US" dirty="0"/>
          </a:p>
          <a:p>
            <a:endParaRPr lang="en-US" dirty="0"/>
          </a:p>
        </p:txBody>
      </p:sp>
    </p:spTree>
    <p:extLst>
      <p:ext uri="{BB962C8B-B14F-4D97-AF65-F5344CB8AC3E}">
        <p14:creationId xmlns:p14="http://schemas.microsoft.com/office/powerpoint/2010/main" val="6981583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57A74-8D8D-E236-1A85-6BD05E00BC54}"/>
            </a:ext>
          </a:extLst>
        </p:cNvPr>
        <p:cNvGrpSpPr/>
        <p:nvPr/>
      </p:nvGrpSpPr>
      <p:grpSpPr>
        <a:xfrm>
          <a:off x="0" y="0"/>
          <a:ext cx="0" cy="0"/>
          <a:chOff x="0" y="0"/>
          <a:chExt cx="0" cy="0"/>
        </a:xfrm>
      </p:grpSpPr>
      <p:sp>
        <p:nvSpPr>
          <p:cNvPr id="3" name="직사각형 2">
            <a:extLst>
              <a:ext uri="{FF2B5EF4-FFF2-40B4-BE49-F238E27FC236}">
                <a16:creationId xmlns:a16="http://schemas.microsoft.com/office/drawing/2014/main" id="{AF1235C4-F956-BF07-558D-1C9775C35BC7}"/>
              </a:ext>
            </a:extLst>
          </p:cNvPr>
          <p:cNvSpPr/>
          <p:nvPr/>
        </p:nvSpPr>
        <p:spPr>
          <a:xfrm>
            <a:off x="17253" y="0"/>
            <a:ext cx="121920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ltLang="ko-KR" sz="2800" dirty="0">
              <a:ea typeface="맑은 고딕"/>
            </a:endParaRPr>
          </a:p>
          <a:p>
            <a:endParaRPr lang="en-US" altLang="ko-KR" sz="2800" dirty="0">
              <a:ea typeface="맑은 고딕"/>
            </a:endParaRPr>
          </a:p>
          <a:p>
            <a:r>
              <a:rPr lang="en-US" sz="2800" dirty="0"/>
              <a:t>6.1.1 Definition of Frequent </a:t>
            </a:r>
            <a:r>
              <a:rPr lang="en-US" sz="2800" dirty="0" err="1"/>
              <a:t>Itemsets</a:t>
            </a:r>
            <a:endParaRPr lang="en-US" altLang="ko-KR" sz="2800" dirty="0">
              <a:ea typeface="맑은 고딕"/>
              <a:cs typeface="Calibri"/>
            </a:endParaRPr>
          </a:p>
          <a:p>
            <a:r>
              <a:rPr lang="en-US" altLang="ko-KR" sz="2800" dirty="0">
                <a:ea typeface="맑은 고딕"/>
              </a:rPr>
              <a:t> </a:t>
            </a:r>
            <a:endParaRPr lang="en-US" altLang="ko-KR" sz="2800" dirty="0">
              <a:ea typeface="맑은 고딕"/>
              <a:cs typeface="Calibri"/>
            </a:endParaRPr>
          </a:p>
          <a:p>
            <a:endParaRPr lang="ko-KR" altLang="en-US" sz="2800" dirty="0">
              <a:ea typeface="맑은 고딕"/>
            </a:endParaRPr>
          </a:p>
        </p:txBody>
      </p:sp>
      <p:sp>
        <p:nvSpPr>
          <p:cNvPr id="2" name="Metin kutusu 1">
            <a:extLst>
              <a:ext uri="{FF2B5EF4-FFF2-40B4-BE49-F238E27FC236}">
                <a16:creationId xmlns:a16="http://schemas.microsoft.com/office/drawing/2014/main" id="{A358F812-008E-1DE2-A148-7EF1425D9978}"/>
              </a:ext>
            </a:extLst>
          </p:cNvPr>
          <p:cNvSpPr txBox="1"/>
          <p:nvPr/>
        </p:nvSpPr>
        <p:spPr>
          <a:xfrm>
            <a:off x="17253" y="838200"/>
            <a:ext cx="11734800" cy="5355312"/>
          </a:xfrm>
          <a:prstGeom prst="rect">
            <a:avLst/>
          </a:prstGeom>
          <a:noFill/>
        </p:spPr>
        <p:txBody>
          <a:bodyPr wrap="square" rtlCol="0">
            <a:spAutoFit/>
          </a:bodyPr>
          <a:lstStyle/>
          <a:p>
            <a:pPr marL="285750" indent="-285750">
              <a:buFont typeface="Wingdings" panose="05000000000000000000" pitchFamily="2" charset="2"/>
              <a:buChar char="§"/>
            </a:pPr>
            <a:r>
              <a:rPr lang="en-US" b="1" dirty="0"/>
              <a:t>Important Definitions</a:t>
            </a:r>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r>
              <a:rPr lang="en-US" b="1" dirty="0"/>
              <a:t>Support</a:t>
            </a:r>
            <a:r>
              <a:rPr lang="en-US" dirty="0"/>
              <a:t> : It is one of the measures of interestingness. </a:t>
            </a:r>
          </a:p>
          <a:p>
            <a:pPr marL="285750" indent="-285750">
              <a:buFont typeface="Wingdings" panose="05000000000000000000" pitchFamily="2" charset="2"/>
              <a:buChar char="§"/>
            </a:pPr>
            <a:r>
              <a:rPr lang="en-US" dirty="0"/>
              <a:t>This tells about the usefulness and certainty of rules. 5% Support means total 5% of transactions in the database follow the rule.</a:t>
            </a:r>
          </a:p>
          <a:p>
            <a:pPr marL="285750" indent="-285750">
              <a:buFont typeface="Wingdings" panose="05000000000000000000" pitchFamily="2" charset="2"/>
              <a:buChar char="§"/>
            </a:pPr>
            <a:r>
              <a:rPr lang="en-US" dirty="0"/>
              <a:t>Support(A -&gt; B) = </a:t>
            </a:r>
            <a:r>
              <a:rPr lang="en-US" dirty="0" err="1"/>
              <a:t>Support_count</a:t>
            </a:r>
            <a:r>
              <a:rPr lang="en-US" dirty="0"/>
              <a:t>(A ∪ B)</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b="1" dirty="0"/>
              <a:t>Confidence</a:t>
            </a:r>
            <a:r>
              <a:rPr lang="en-US" dirty="0"/>
              <a:t>: A confidence of 60% means that 60% of the customers who purchased a milk and bread also bought butter.</a:t>
            </a:r>
          </a:p>
          <a:p>
            <a:pPr marL="285750" indent="-285750">
              <a:buFont typeface="Wingdings" panose="05000000000000000000" pitchFamily="2" charset="2"/>
              <a:buChar char="§"/>
            </a:pPr>
            <a:r>
              <a:rPr lang="en-US" dirty="0"/>
              <a:t>Confidence(A -&gt; B) = </a:t>
            </a:r>
            <a:r>
              <a:rPr lang="en-US" dirty="0" err="1"/>
              <a:t>Support_count</a:t>
            </a:r>
            <a:r>
              <a:rPr lang="en-US" dirty="0"/>
              <a:t>(A ∪ B) / </a:t>
            </a:r>
            <a:r>
              <a:rPr lang="en-US" dirty="0" err="1"/>
              <a:t>Support_count</a:t>
            </a:r>
            <a:r>
              <a:rPr lang="en-US" dirty="0"/>
              <a:t>(A)</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b="1" dirty="0" err="1"/>
              <a:t>Support_count</a:t>
            </a:r>
            <a:r>
              <a:rPr lang="en-US" b="1" dirty="0"/>
              <a:t>(X): </a:t>
            </a:r>
            <a:r>
              <a:rPr lang="en-US" dirty="0"/>
              <a:t>Number of transactions in which X appears. If X is A union B then it is the number of transactions in which A and B both are present.</a:t>
            </a:r>
          </a:p>
          <a:p>
            <a:pPr marL="285750" indent="-285750">
              <a:buFont typeface="Wingdings" panose="05000000000000000000" pitchFamily="2" charset="2"/>
              <a:buChar char="§"/>
            </a:pPr>
            <a:r>
              <a:rPr lang="en-US" b="1" dirty="0"/>
              <a:t>Maximal Itemset: </a:t>
            </a:r>
            <a:r>
              <a:rPr lang="en-US" dirty="0"/>
              <a:t>An itemset is maximal frequent if none of its supersets are frequent.</a:t>
            </a:r>
          </a:p>
          <a:p>
            <a:pPr marL="285750" indent="-285750">
              <a:buFont typeface="Wingdings" panose="05000000000000000000" pitchFamily="2" charset="2"/>
              <a:buChar char="§"/>
            </a:pPr>
            <a:r>
              <a:rPr lang="en-US" dirty="0"/>
              <a:t>For example, if </a:t>
            </a:r>
            <a:r>
              <a:rPr lang="en-US" b="1" dirty="0"/>
              <a:t>{bread, butter, milk} </a:t>
            </a:r>
            <a:r>
              <a:rPr lang="en-US" dirty="0"/>
              <a:t>is frequent and there are no other </a:t>
            </a:r>
            <a:r>
              <a:rPr lang="en-US" dirty="0" err="1"/>
              <a:t>itemsets</a:t>
            </a:r>
            <a:r>
              <a:rPr lang="en-US" dirty="0"/>
              <a:t> that include all three items with a higher frequency, </a:t>
            </a:r>
            <a:r>
              <a:rPr lang="en-US" b="1" dirty="0"/>
              <a:t>{bread, butter, milk} </a:t>
            </a:r>
            <a:r>
              <a:rPr lang="en-US" dirty="0"/>
              <a:t>is maximal.</a:t>
            </a:r>
          </a:p>
          <a:p>
            <a:pPr marL="285750" indent="-285750">
              <a:buFont typeface="Wingdings" panose="05000000000000000000" pitchFamily="2" charset="2"/>
              <a:buChar char="§"/>
            </a:pPr>
            <a:r>
              <a:rPr lang="en-US" b="1" dirty="0"/>
              <a:t>Closed Itemset</a:t>
            </a:r>
            <a:r>
              <a:rPr lang="en-US" dirty="0"/>
              <a:t>: An itemset is closed if none of its immediate supersets have same support count same as Itemset.</a:t>
            </a:r>
          </a:p>
          <a:p>
            <a:pPr marL="285750" indent="-285750">
              <a:buFont typeface="Wingdings" panose="05000000000000000000" pitchFamily="2" charset="2"/>
              <a:buChar char="§"/>
            </a:pPr>
            <a:r>
              <a:rPr lang="en-US" b="1" dirty="0"/>
              <a:t>K- Itemset: </a:t>
            </a:r>
            <a:r>
              <a:rPr lang="en-US" dirty="0"/>
              <a:t>Itemset which contains K items is a K-itemset. So it can be said that an itemset is frequent if the corresponding support count is greater than the minimum support count.</a:t>
            </a:r>
          </a:p>
          <a:p>
            <a:endParaRPr lang="en-US" dirty="0"/>
          </a:p>
        </p:txBody>
      </p:sp>
    </p:spTree>
    <p:extLst>
      <p:ext uri="{BB962C8B-B14F-4D97-AF65-F5344CB8AC3E}">
        <p14:creationId xmlns:p14="http://schemas.microsoft.com/office/powerpoint/2010/main" val="41650841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52B98-FDF6-1ECE-731B-484A0C677132}"/>
            </a:ext>
          </a:extLst>
        </p:cNvPr>
        <p:cNvGrpSpPr/>
        <p:nvPr/>
      </p:nvGrpSpPr>
      <p:grpSpPr>
        <a:xfrm>
          <a:off x="0" y="0"/>
          <a:ext cx="0" cy="0"/>
          <a:chOff x="0" y="0"/>
          <a:chExt cx="0" cy="0"/>
        </a:xfrm>
      </p:grpSpPr>
      <p:sp>
        <p:nvSpPr>
          <p:cNvPr id="3" name="직사각형 2">
            <a:extLst>
              <a:ext uri="{FF2B5EF4-FFF2-40B4-BE49-F238E27FC236}">
                <a16:creationId xmlns:a16="http://schemas.microsoft.com/office/drawing/2014/main" id="{BDA4B191-7C9E-DB38-B0C0-723E84BFF664}"/>
              </a:ext>
            </a:extLst>
          </p:cNvPr>
          <p:cNvSpPr/>
          <p:nvPr/>
        </p:nvSpPr>
        <p:spPr>
          <a:xfrm>
            <a:off x="17253" y="0"/>
            <a:ext cx="121920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ltLang="ko-KR" sz="2800" dirty="0">
              <a:ea typeface="맑은 고딕"/>
            </a:endParaRPr>
          </a:p>
          <a:p>
            <a:endParaRPr lang="en-US" altLang="ko-KR" sz="2800" dirty="0">
              <a:ea typeface="맑은 고딕"/>
            </a:endParaRPr>
          </a:p>
          <a:p>
            <a:r>
              <a:rPr lang="en-US" sz="2800" dirty="0"/>
              <a:t>6.1.1 Definition of Frequent </a:t>
            </a:r>
            <a:r>
              <a:rPr lang="en-US" sz="2800" dirty="0" err="1"/>
              <a:t>Itemsets</a:t>
            </a:r>
            <a:endParaRPr lang="en-US" altLang="ko-KR" sz="2800" dirty="0">
              <a:ea typeface="맑은 고딕"/>
              <a:cs typeface="Calibri"/>
            </a:endParaRPr>
          </a:p>
          <a:p>
            <a:r>
              <a:rPr lang="en-US" altLang="ko-KR" sz="2800" dirty="0">
                <a:ea typeface="맑은 고딕"/>
              </a:rPr>
              <a:t> </a:t>
            </a:r>
            <a:endParaRPr lang="en-US" altLang="ko-KR" sz="2800" dirty="0">
              <a:ea typeface="맑은 고딕"/>
              <a:cs typeface="Calibri"/>
            </a:endParaRPr>
          </a:p>
          <a:p>
            <a:endParaRPr lang="ko-KR" altLang="en-US" sz="2800" dirty="0">
              <a:ea typeface="맑은 고딕"/>
            </a:endParaRPr>
          </a:p>
        </p:txBody>
      </p:sp>
      <p:sp>
        <p:nvSpPr>
          <p:cNvPr id="2" name="Metin kutusu 1">
            <a:extLst>
              <a:ext uri="{FF2B5EF4-FFF2-40B4-BE49-F238E27FC236}">
                <a16:creationId xmlns:a16="http://schemas.microsoft.com/office/drawing/2014/main" id="{DCC58B63-ACE1-CF28-8AB2-BDF0B2D898B4}"/>
              </a:ext>
            </a:extLst>
          </p:cNvPr>
          <p:cNvSpPr txBox="1"/>
          <p:nvPr/>
        </p:nvSpPr>
        <p:spPr>
          <a:xfrm>
            <a:off x="17253" y="838200"/>
            <a:ext cx="11734800" cy="5078313"/>
          </a:xfrm>
          <a:prstGeom prst="rect">
            <a:avLst/>
          </a:prstGeom>
          <a:noFill/>
        </p:spPr>
        <p:txBody>
          <a:bodyPr wrap="square" rtlCol="0">
            <a:spAutoFit/>
          </a:bodyPr>
          <a:lstStyle/>
          <a:p>
            <a:pPr marL="285750" indent="-285750">
              <a:buFont typeface="Wingdings" panose="05000000000000000000" pitchFamily="2" charset="2"/>
              <a:buChar char="§"/>
            </a:pPr>
            <a:r>
              <a:rPr lang="en-US" b="1" dirty="0"/>
              <a:t>Example of Frequent </a:t>
            </a:r>
            <a:r>
              <a:rPr lang="en-US" b="1" dirty="0" err="1"/>
              <a:t>Itemsets</a:t>
            </a:r>
            <a:endParaRPr lang="en-US" b="1" dirty="0"/>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r>
              <a:rPr lang="en-US" dirty="0"/>
              <a:t>Suppose we have the following transactions:</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dirty="0"/>
              <a:t>If we set a minimum support threshold of 50% (3 out of 5 transactions), some frequent </a:t>
            </a:r>
            <a:r>
              <a:rPr lang="en-US" dirty="0" err="1"/>
              <a:t>itemsets</a:t>
            </a:r>
            <a:r>
              <a:rPr lang="en-US" dirty="0"/>
              <a:t> might include:</a:t>
            </a:r>
          </a:p>
          <a:p>
            <a:pPr marL="285750" indent="-285750">
              <a:buFont typeface="Wingdings" panose="05000000000000000000" pitchFamily="2" charset="2"/>
              <a:buChar char="§"/>
            </a:pPr>
            <a:r>
              <a:rPr lang="en-US" b="1" dirty="0"/>
              <a:t>{bread}</a:t>
            </a:r>
            <a:r>
              <a:rPr lang="en-US" dirty="0"/>
              <a:t>: Appears in 4 out of 5 transactions (80% support).</a:t>
            </a:r>
          </a:p>
          <a:p>
            <a:pPr marL="285750" indent="-285750">
              <a:buFont typeface="Wingdings" panose="05000000000000000000" pitchFamily="2" charset="2"/>
              <a:buChar char="§"/>
            </a:pPr>
            <a:r>
              <a:rPr lang="en-US" b="1" dirty="0"/>
              <a:t>{milk}</a:t>
            </a:r>
            <a:r>
              <a:rPr lang="en-US" dirty="0"/>
              <a:t>: Appears in 4 out of 5 transactions (80% support).</a:t>
            </a:r>
          </a:p>
          <a:p>
            <a:pPr marL="285750" indent="-285750">
              <a:buFont typeface="Wingdings" panose="05000000000000000000" pitchFamily="2" charset="2"/>
              <a:buChar char="§"/>
            </a:pPr>
            <a:r>
              <a:rPr lang="en-US" b="1" dirty="0"/>
              <a:t>{bread, milk}</a:t>
            </a:r>
            <a:r>
              <a:rPr lang="en-US" dirty="0"/>
              <a:t>: Appears in 3 out of 5 transactions (60% support).</a:t>
            </a:r>
          </a:p>
          <a:p>
            <a:pPr marL="285750" indent="-285750">
              <a:buFont typeface="Wingdings" panose="05000000000000000000" pitchFamily="2" charset="2"/>
              <a:buChar char="§"/>
            </a:pPr>
            <a:endParaRPr lang="en-US" dirty="0"/>
          </a:p>
        </p:txBody>
      </p:sp>
      <p:pic>
        <p:nvPicPr>
          <p:cNvPr id="5" name="Resim 4">
            <a:extLst>
              <a:ext uri="{FF2B5EF4-FFF2-40B4-BE49-F238E27FC236}">
                <a16:creationId xmlns:a16="http://schemas.microsoft.com/office/drawing/2014/main" id="{6CC618B6-6EF7-7F62-CF1F-7A5959EB0BC6}"/>
              </a:ext>
            </a:extLst>
          </p:cNvPr>
          <p:cNvPicPr>
            <a:picLocks noChangeAspect="1"/>
          </p:cNvPicPr>
          <p:nvPr/>
        </p:nvPicPr>
        <p:blipFill>
          <a:blip r:embed="rId2"/>
          <a:stretch>
            <a:fillRect/>
          </a:stretch>
        </p:blipFill>
        <p:spPr>
          <a:xfrm>
            <a:off x="2378932" y="2034216"/>
            <a:ext cx="7468642" cy="2095792"/>
          </a:xfrm>
          <a:prstGeom prst="rect">
            <a:avLst/>
          </a:prstGeom>
        </p:spPr>
      </p:pic>
    </p:spTree>
    <p:extLst>
      <p:ext uri="{BB962C8B-B14F-4D97-AF65-F5344CB8AC3E}">
        <p14:creationId xmlns:p14="http://schemas.microsoft.com/office/powerpoint/2010/main" val="29632212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0D5CF-58C6-28FA-B139-4878FB4A6D46}"/>
            </a:ext>
          </a:extLst>
        </p:cNvPr>
        <p:cNvGrpSpPr/>
        <p:nvPr/>
      </p:nvGrpSpPr>
      <p:grpSpPr>
        <a:xfrm>
          <a:off x="0" y="0"/>
          <a:ext cx="0" cy="0"/>
          <a:chOff x="0" y="0"/>
          <a:chExt cx="0" cy="0"/>
        </a:xfrm>
      </p:grpSpPr>
      <p:sp>
        <p:nvSpPr>
          <p:cNvPr id="3" name="직사각형 2">
            <a:extLst>
              <a:ext uri="{FF2B5EF4-FFF2-40B4-BE49-F238E27FC236}">
                <a16:creationId xmlns:a16="http://schemas.microsoft.com/office/drawing/2014/main" id="{863D8A85-F599-41EB-DDD0-551621313E78}"/>
              </a:ext>
            </a:extLst>
          </p:cNvPr>
          <p:cNvSpPr/>
          <p:nvPr/>
        </p:nvSpPr>
        <p:spPr>
          <a:xfrm>
            <a:off x="17253" y="0"/>
            <a:ext cx="121920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ltLang="ko-KR" sz="2800" dirty="0">
              <a:ea typeface="맑은 고딕"/>
            </a:endParaRPr>
          </a:p>
          <a:p>
            <a:endParaRPr lang="en-US" altLang="ko-KR" sz="2800" dirty="0">
              <a:ea typeface="맑은 고딕"/>
            </a:endParaRPr>
          </a:p>
          <a:p>
            <a:r>
              <a:rPr lang="en-US" sz="2800" dirty="0"/>
              <a:t>6.1.1 Definition of Frequent </a:t>
            </a:r>
            <a:r>
              <a:rPr lang="en-US" sz="2800" dirty="0" err="1"/>
              <a:t>Itemsets</a:t>
            </a:r>
            <a:endParaRPr lang="en-US" altLang="ko-KR" sz="2800" dirty="0">
              <a:ea typeface="맑은 고딕"/>
              <a:cs typeface="Calibri"/>
            </a:endParaRPr>
          </a:p>
          <a:p>
            <a:r>
              <a:rPr lang="en-US" altLang="ko-KR" sz="2800" dirty="0">
                <a:ea typeface="맑은 고딕"/>
              </a:rPr>
              <a:t> </a:t>
            </a:r>
            <a:endParaRPr lang="en-US" altLang="ko-KR" sz="2800" dirty="0">
              <a:ea typeface="맑은 고딕"/>
              <a:cs typeface="Calibri"/>
            </a:endParaRPr>
          </a:p>
          <a:p>
            <a:endParaRPr lang="ko-KR" altLang="en-US" sz="2800" dirty="0">
              <a:ea typeface="맑은 고딕"/>
            </a:endParaRPr>
          </a:p>
        </p:txBody>
      </p:sp>
      <p:sp>
        <p:nvSpPr>
          <p:cNvPr id="4" name="Metin kutusu 3">
            <a:extLst>
              <a:ext uri="{FF2B5EF4-FFF2-40B4-BE49-F238E27FC236}">
                <a16:creationId xmlns:a16="http://schemas.microsoft.com/office/drawing/2014/main" id="{E5A1E177-193C-37DE-A5C2-D7521376799B}"/>
              </a:ext>
            </a:extLst>
          </p:cNvPr>
          <p:cNvSpPr txBox="1"/>
          <p:nvPr/>
        </p:nvSpPr>
        <p:spPr>
          <a:xfrm>
            <a:off x="136315" y="833437"/>
            <a:ext cx="11734800" cy="646331"/>
          </a:xfrm>
          <a:prstGeom prst="rect">
            <a:avLst/>
          </a:prstGeom>
          <a:noFill/>
        </p:spPr>
        <p:txBody>
          <a:bodyPr wrap="square" rtlCol="0">
            <a:spAutoFit/>
          </a:bodyPr>
          <a:lstStyle/>
          <a:p>
            <a:pPr marL="285750" indent="-285750">
              <a:buFont typeface="Wingdings" panose="05000000000000000000" pitchFamily="2" charset="2"/>
              <a:buChar char="§"/>
            </a:pPr>
            <a:r>
              <a:rPr lang="en-US" dirty="0"/>
              <a:t>Example On finding Frequent </a:t>
            </a:r>
            <a:r>
              <a:rPr lang="en-US" dirty="0" err="1"/>
              <a:t>Itemsets</a:t>
            </a:r>
            <a:r>
              <a:rPr lang="en-US" dirty="0"/>
              <a:t> – Consider the given dataset with given transactions.</a:t>
            </a:r>
          </a:p>
          <a:p>
            <a:pPr marL="285750" indent="-285750">
              <a:buFont typeface="Wingdings" panose="05000000000000000000" pitchFamily="2" charset="2"/>
              <a:buChar char="§"/>
            </a:pPr>
            <a:endParaRPr lang="en-US" dirty="0"/>
          </a:p>
        </p:txBody>
      </p:sp>
      <p:pic>
        <p:nvPicPr>
          <p:cNvPr id="3074" name="Picture 2">
            <a:extLst>
              <a:ext uri="{FF2B5EF4-FFF2-40B4-BE49-F238E27FC236}">
                <a16:creationId xmlns:a16="http://schemas.microsoft.com/office/drawing/2014/main" id="{CE991B0E-1156-31A4-99A6-0C31CAC239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02862" y="2133600"/>
            <a:ext cx="4048125" cy="3038475"/>
          </a:xfrm>
          <a:prstGeom prst="rect">
            <a:avLst/>
          </a:prstGeom>
          <a:noFill/>
          <a:extLst>
            <a:ext uri="{909E8E84-426E-40DD-AFC4-6F175D3DCCD1}">
              <a14:hiddenFill xmlns:a14="http://schemas.microsoft.com/office/drawing/2010/main">
                <a:solidFill>
                  <a:srgbClr val="FFFFFF"/>
                </a:solidFill>
              </a14:hiddenFill>
            </a:ext>
          </a:extLst>
        </p:spPr>
      </p:pic>
      <p:sp>
        <p:nvSpPr>
          <p:cNvPr id="5" name="Metin kutusu 4">
            <a:extLst>
              <a:ext uri="{FF2B5EF4-FFF2-40B4-BE49-F238E27FC236}">
                <a16:creationId xmlns:a16="http://schemas.microsoft.com/office/drawing/2014/main" id="{F833A08E-9457-6ECB-8AD3-247FAEEA4B6E}"/>
              </a:ext>
            </a:extLst>
          </p:cNvPr>
          <p:cNvSpPr txBox="1"/>
          <p:nvPr/>
        </p:nvSpPr>
        <p:spPr>
          <a:xfrm>
            <a:off x="142066" y="1156602"/>
            <a:ext cx="7788485" cy="5355312"/>
          </a:xfrm>
          <a:prstGeom prst="rect">
            <a:avLst/>
          </a:prstGeom>
          <a:noFill/>
        </p:spPr>
        <p:txBody>
          <a:bodyPr wrap="square" rtlCol="0">
            <a:spAutoFit/>
          </a:bodyPr>
          <a:lstStyle/>
          <a:p>
            <a:pPr marL="285750" indent="-285750">
              <a:buFont typeface="Wingdings" panose="05000000000000000000" pitchFamily="2" charset="2"/>
              <a:buChar char="§"/>
            </a:pPr>
            <a:r>
              <a:rPr lang="en-US" dirty="0"/>
              <a:t>Lets say minimum support count is 3</a:t>
            </a:r>
          </a:p>
          <a:p>
            <a:pPr marL="285750" indent="-285750">
              <a:buFont typeface="Wingdings" panose="05000000000000000000" pitchFamily="2" charset="2"/>
              <a:buChar char="§"/>
            </a:pPr>
            <a:r>
              <a:rPr lang="en-US" dirty="0"/>
              <a:t>Relation hold is maximal frequent =&gt; closed =&gt; frequent</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b="1" dirty="0"/>
              <a:t>1-frequent</a:t>
            </a:r>
            <a:r>
              <a:rPr lang="en-US" dirty="0"/>
              <a:t>: {A} = 3; // not closed due to {A, C} and not maximal {B} = 4; // not closed due to {B, D} and no maximal {C} = 4; // not closed due to {C, D} not maximal {D} = 5; // closed item-set since not immediate super-set has same count. </a:t>
            </a:r>
          </a:p>
          <a:p>
            <a:pPr marL="285750" indent="-285750">
              <a:buFont typeface="Wingdings" panose="05000000000000000000" pitchFamily="2" charset="2"/>
              <a:buChar char="§"/>
            </a:pPr>
            <a:r>
              <a:rPr lang="en-US" b="1" dirty="0"/>
              <a:t>2-frequent</a:t>
            </a:r>
            <a:r>
              <a:rPr lang="en-US" dirty="0"/>
              <a:t>: {A, B} = 2 // not frequent because support count &lt; minimum support count so ignore {A, C} = 3 // not closed due to {A, C, D} {A, D} = 3 // not closed due to {A, C, D} {B, C} = 3 // not closed due to {B, C, D} {B, D} = 4 // closed but not maximal due to {B, C, D} {C, D} = 4 // closed but not maximal due to {B, C, D} </a:t>
            </a:r>
          </a:p>
          <a:p>
            <a:endParaRPr lang="en-US" dirty="0"/>
          </a:p>
          <a:p>
            <a:pPr marL="285750" indent="-285750">
              <a:buFont typeface="Wingdings" panose="05000000000000000000" pitchFamily="2" charset="2"/>
              <a:buChar char="§"/>
            </a:pPr>
            <a:r>
              <a:rPr lang="en-US" b="1" dirty="0"/>
              <a:t>3-frequent</a:t>
            </a:r>
            <a:r>
              <a:rPr lang="en-US" dirty="0"/>
              <a:t>: {A, B, C} = 2 // ignore not frequent because support count &lt; minimum support count {A, B, D} = 2 // ignore not frequent because support count &lt; minimum support count {A, C, D} = 3 // maximal frequent {B, C, D} = 3 // maximal frequent </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b="1" dirty="0"/>
              <a:t>4-frequent</a:t>
            </a:r>
            <a:r>
              <a:rPr lang="en-US" dirty="0"/>
              <a:t>: {A, B, C, D} = 2 //ignore not frequent </a:t>
            </a:r>
          </a:p>
        </p:txBody>
      </p:sp>
      <p:sp>
        <p:nvSpPr>
          <p:cNvPr id="6" name="Metin kutusu 5">
            <a:extLst>
              <a:ext uri="{FF2B5EF4-FFF2-40B4-BE49-F238E27FC236}">
                <a16:creationId xmlns:a16="http://schemas.microsoft.com/office/drawing/2014/main" id="{B7D95BA4-3973-F65B-4520-C1FF859EC7B8}"/>
              </a:ext>
            </a:extLst>
          </p:cNvPr>
          <p:cNvSpPr txBox="1"/>
          <p:nvPr/>
        </p:nvSpPr>
        <p:spPr>
          <a:xfrm>
            <a:off x="7239000" y="6542692"/>
            <a:ext cx="4953000" cy="246221"/>
          </a:xfrm>
          <a:prstGeom prst="rect">
            <a:avLst/>
          </a:prstGeom>
          <a:noFill/>
        </p:spPr>
        <p:txBody>
          <a:bodyPr wrap="square" rtlCol="0">
            <a:spAutoFit/>
          </a:bodyPr>
          <a:lstStyle/>
          <a:p>
            <a:r>
              <a:rPr lang="en-US" sz="1000" dirty="0"/>
              <a:t>[1]https://www.geeksforgeeks.org/frequent-item-set-in-data-set-association-rule-mining/</a:t>
            </a:r>
          </a:p>
        </p:txBody>
      </p:sp>
    </p:spTree>
    <p:extLst>
      <p:ext uri="{BB962C8B-B14F-4D97-AF65-F5344CB8AC3E}">
        <p14:creationId xmlns:p14="http://schemas.microsoft.com/office/powerpoint/2010/main" val="20012502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8F0EA-C54E-FC30-3950-30F23C42B43D}"/>
            </a:ext>
          </a:extLst>
        </p:cNvPr>
        <p:cNvGrpSpPr/>
        <p:nvPr/>
      </p:nvGrpSpPr>
      <p:grpSpPr>
        <a:xfrm>
          <a:off x="0" y="0"/>
          <a:ext cx="0" cy="0"/>
          <a:chOff x="0" y="0"/>
          <a:chExt cx="0" cy="0"/>
        </a:xfrm>
      </p:grpSpPr>
      <p:sp>
        <p:nvSpPr>
          <p:cNvPr id="3" name="직사각형 2">
            <a:extLst>
              <a:ext uri="{FF2B5EF4-FFF2-40B4-BE49-F238E27FC236}">
                <a16:creationId xmlns:a16="http://schemas.microsoft.com/office/drawing/2014/main" id="{8EDEE866-776C-C6D1-6264-818F4531834A}"/>
              </a:ext>
            </a:extLst>
          </p:cNvPr>
          <p:cNvSpPr/>
          <p:nvPr/>
        </p:nvSpPr>
        <p:spPr>
          <a:xfrm>
            <a:off x="17253" y="0"/>
            <a:ext cx="121920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ltLang="ko-KR" sz="2800" dirty="0">
              <a:ea typeface="맑은 고딕"/>
            </a:endParaRPr>
          </a:p>
          <a:p>
            <a:endParaRPr lang="en-US" altLang="ko-KR" sz="2800" dirty="0">
              <a:ea typeface="맑은 고딕"/>
            </a:endParaRPr>
          </a:p>
          <a:p>
            <a:r>
              <a:rPr lang="en-US" sz="2800" dirty="0"/>
              <a:t>6.1.2. Applications of Frequent </a:t>
            </a:r>
            <a:r>
              <a:rPr lang="en-US" sz="2800" dirty="0" err="1"/>
              <a:t>Itemsets</a:t>
            </a:r>
            <a:endParaRPr lang="en-US" sz="2800" dirty="0"/>
          </a:p>
          <a:p>
            <a:r>
              <a:rPr lang="en-US" altLang="ko-KR" sz="2800" dirty="0">
                <a:ea typeface="맑은 고딕"/>
              </a:rPr>
              <a:t> </a:t>
            </a:r>
            <a:endParaRPr lang="en-US" altLang="ko-KR" sz="2800" dirty="0">
              <a:ea typeface="맑은 고딕"/>
              <a:cs typeface="Calibri"/>
            </a:endParaRPr>
          </a:p>
          <a:p>
            <a:endParaRPr lang="ko-KR" altLang="en-US" sz="2800" dirty="0">
              <a:ea typeface="맑은 고딕"/>
            </a:endParaRPr>
          </a:p>
        </p:txBody>
      </p:sp>
      <p:sp>
        <p:nvSpPr>
          <p:cNvPr id="4" name="Metin kutusu 3">
            <a:extLst>
              <a:ext uri="{FF2B5EF4-FFF2-40B4-BE49-F238E27FC236}">
                <a16:creationId xmlns:a16="http://schemas.microsoft.com/office/drawing/2014/main" id="{C24D1B94-3936-7DA5-3DC8-21600AB454C2}"/>
              </a:ext>
            </a:extLst>
          </p:cNvPr>
          <p:cNvSpPr txBox="1"/>
          <p:nvPr/>
        </p:nvSpPr>
        <p:spPr>
          <a:xfrm>
            <a:off x="0" y="762000"/>
            <a:ext cx="11734800" cy="6186309"/>
          </a:xfrm>
          <a:prstGeom prst="rect">
            <a:avLst/>
          </a:prstGeom>
          <a:noFill/>
        </p:spPr>
        <p:txBody>
          <a:bodyPr wrap="square" rtlCol="0">
            <a:spAutoFit/>
          </a:bodyPr>
          <a:lstStyle/>
          <a:p>
            <a:pPr marL="285750" indent="-285750">
              <a:buFont typeface="Wingdings" panose="05000000000000000000" pitchFamily="2" charset="2"/>
              <a:buChar char="§"/>
            </a:pPr>
            <a:r>
              <a:rPr lang="en-US" dirty="0"/>
              <a:t>In retail, frequent items and </a:t>
            </a:r>
            <a:r>
              <a:rPr lang="en-US" dirty="0" err="1"/>
              <a:t>itemsets</a:t>
            </a:r>
            <a:r>
              <a:rPr lang="en-US" dirty="0"/>
              <a:t> reveal purchasing patterns, aiding in marketing and inventory management.</a:t>
            </a:r>
          </a:p>
          <a:p>
            <a:pPr marL="285750" indent="-285750">
              <a:buFont typeface="Wingdings" panose="05000000000000000000" pitchFamily="2" charset="2"/>
              <a:buChar char="§"/>
            </a:pPr>
            <a:r>
              <a:rPr lang="en-US" dirty="0"/>
              <a:t>In text analysis, frequent words or terms can help identify common topics or potential plagiarism.</a:t>
            </a:r>
          </a:p>
          <a:p>
            <a:pPr marL="285750" indent="-285750">
              <a:buFont typeface="Wingdings" panose="05000000000000000000" pitchFamily="2" charset="2"/>
              <a:buChar char="§"/>
            </a:pPr>
            <a:r>
              <a:rPr lang="en-US" dirty="0"/>
              <a:t>In medical research, identifying frequent biomarkers can help link certain biological markers to diseases.</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b="1" dirty="0"/>
              <a:t>Retail and E-commerce:</a:t>
            </a:r>
          </a:p>
          <a:p>
            <a:pPr marL="285750" indent="-285750">
              <a:buFont typeface="Wingdings" panose="05000000000000000000" pitchFamily="2" charset="2"/>
              <a:buChar char="§"/>
            </a:pPr>
            <a:r>
              <a:rPr lang="en-US" dirty="0"/>
              <a:t>In retail, the market-basket model is commonly used for association rule mining to uncover buying patterns. For example, if customers who buy diapers often buy beer, a store could use this knowledge to create promotions or optimize product </a:t>
            </a:r>
            <a:r>
              <a:rPr lang="en-US" dirty="0" err="1"/>
              <a:t>placement.Online</a:t>
            </a:r>
            <a:r>
              <a:rPr lang="en-US" dirty="0"/>
              <a:t> stores might use this model to power recommendation engines, suggesting items that customers are likely to buy together based on previous transactions.</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b="1" dirty="0"/>
              <a:t>Text Analysis:</a:t>
            </a:r>
          </a:p>
          <a:p>
            <a:pPr marL="285750" indent="-285750">
              <a:buFont typeface="Wingdings" panose="05000000000000000000" pitchFamily="2" charset="2"/>
              <a:buChar char="§"/>
            </a:pPr>
            <a:r>
              <a:rPr lang="en-US" dirty="0"/>
              <a:t>In text mining, items can represent words, and baskets represent documents. Analyzing frequent </a:t>
            </a:r>
            <a:r>
              <a:rPr lang="en-US" dirty="0" err="1"/>
              <a:t>itemsets</a:t>
            </a:r>
            <a:r>
              <a:rPr lang="en-US" dirty="0"/>
              <a:t> in this context can help in identifying key terms or common topics across multiple documents.</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b="1" dirty="0"/>
              <a:t>Healthcare and Genetics:</a:t>
            </a:r>
          </a:p>
          <a:p>
            <a:pPr marL="285750" indent="-285750">
              <a:buFont typeface="Wingdings" panose="05000000000000000000" pitchFamily="2" charset="2"/>
              <a:buChar char="§"/>
            </a:pPr>
            <a:r>
              <a:rPr lang="en-US" dirty="0"/>
              <a:t>In healthcare, items can be biomarkers (like genes or proteins), and baskets can represent patient profiles. The market-basket model can reveal associations between certain biomarkers and diseases, aiding in predictive diagnostics or personalized medicine.</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b="1" dirty="0"/>
              <a:t>Fraud Detection and Plagiarism:</a:t>
            </a:r>
          </a:p>
          <a:p>
            <a:pPr marL="285750" indent="-285750">
              <a:buFont typeface="Wingdings" panose="05000000000000000000" pitchFamily="2" charset="2"/>
              <a:buChar char="§"/>
            </a:pPr>
            <a:r>
              <a:rPr lang="en-US" dirty="0"/>
              <a:t>In fraud detection, items could be specific actions in a sequence of events, where frequent </a:t>
            </a:r>
            <a:r>
              <a:rPr lang="en-US" dirty="0" err="1"/>
              <a:t>itemsets</a:t>
            </a:r>
            <a:r>
              <a:rPr lang="en-US" dirty="0"/>
              <a:t> might indicate suspicious patterns.</a:t>
            </a:r>
          </a:p>
        </p:txBody>
      </p:sp>
    </p:spTree>
    <p:extLst>
      <p:ext uri="{BB962C8B-B14F-4D97-AF65-F5344CB8AC3E}">
        <p14:creationId xmlns:p14="http://schemas.microsoft.com/office/powerpoint/2010/main" val="35342907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3AE99-9EBD-A9CA-5449-BE9E03DAC4A7}"/>
            </a:ext>
          </a:extLst>
        </p:cNvPr>
        <p:cNvGrpSpPr/>
        <p:nvPr/>
      </p:nvGrpSpPr>
      <p:grpSpPr>
        <a:xfrm>
          <a:off x="0" y="0"/>
          <a:ext cx="0" cy="0"/>
          <a:chOff x="0" y="0"/>
          <a:chExt cx="0" cy="0"/>
        </a:xfrm>
      </p:grpSpPr>
      <p:sp>
        <p:nvSpPr>
          <p:cNvPr id="3" name="직사각형 2">
            <a:extLst>
              <a:ext uri="{FF2B5EF4-FFF2-40B4-BE49-F238E27FC236}">
                <a16:creationId xmlns:a16="http://schemas.microsoft.com/office/drawing/2014/main" id="{498C64D9-AD99-0CCF-A090-BF90006372F3}"/>
              </a:ext>
            </a:extLst>
          </p:cNvPr>
          <p:cNvSpPr/>
          <p:nvPr/>
        </p:nvSpPr>
        <p:spPr>
          <a:xfrm>
            <a:off x="17253" y="0"/>
            <a:ext cx="121920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ltLang="ko-KR" sz="2800" dirty="0">
              <a:ea typeface="맑은 고딕"/>
            </a:endParaRPr>
          </a:p>
          <a:p>
            <a:endParaRPr lang="en-US" altLang="ko-KR" sz="2800" dirty="0">
              <a:ea typeface="맑은 고딕"/>
            </a:endParaRPr>
          </a:p>
          <a:p>
            <a:r>
              <a:rPr lang="en-US" sz="2800" dirty="0"/>
              <a:t>6.1.3 Association Rules</a:t>
            </a:r>
          </a:p>
          <a:p>
            <a:r>
              <a:rPr lang="en-US" altLang="ko-KR" sz="2800" dirty="0">
                <a:ea typeface="맑은 고딕"/>
              </a:rPr>
              <a:t> </a:t>
            </a:r>
            <a:endParaRPr lang="en-US" altLang="ko-KR" sz="2800" dirty="0">
              <a:ea typeface="맑은 고딕"/>
              <a:cs typeface="Calibri"/>
            </a:endParaRPr>
          </a:p>
          <a:p>
            <a:endParaRPr lang="ko-KR" altLang="en-US" sz="2800" dirty="0">
              <a:ea typeface="맑은 고딕"/>
            </a:endParaRPr>
          </a:p>
        </p:txBody>
      </p:sp>
      <p:sp>
        <p:nvSpPr>
          <p:cNvPr id="5" name="Metin kutusu 4">
            <a:extLst>
              <a:ext uri="{FF2B5EF4-FFF2-40B4-BE49-F238E27FC236}">
                <a16:creationId xmlns:a16="http://schemas.microsoft.com/office/drawing/2014/main" id="{C38F9C3D-E5F5-C9CF-E074-3BC88E100532}"/>
              </a:ext>
            </a:extLst>
          </p:cNvPr>
          <p:cNvSpPr txBox="1"/>
          <p:nvPr/>
        </p:nvSpPr>
        <p:spPr>
          <a:xfrm>
            <a:off x="17253" y="762000"/>
            <a:ext cx="12039600" cy="4524315"/>
          </a:xfrm>
          <a:prstGeom prst="rect">
            <a:avLst/>
          </a:prstGeom>
          <a:noFill/>
        </p:spPr>
        <p:txBody>
          <a:bodyPr wrap="square" rtlCol="0">
            <a:spAutoFit/>
          </a:bodyPr>
          <a:lstStyle/>
          <a:p>
            <a:pPr marL="285750" indent="-285750">
              <a:buFont typeface="Wingdings" panose="05000000000000000000" pitchFamily="2" charset="2"/>
              <a:buChar char="§"/>
            </a:pPr>
            <a:r>
              <a:rPr lang="en-US" b="1" dirty="0"/>
              <a:t>An association rule </a:t>
            </a:r>
            <a:r>
              <a:rPr lang="en-US" dirty="0"/>
              <a:t>describes a relationship between two sets of items, expressed as an implication (e.g., if a person buys bread, they are also likely to buy butter).</a:t>
            </a:r>
          </a:p>
          <a:p>
            <a:pPr marL="285750" indent="-285750">
              <a:buFont typeface="Wingdings" panose="05000000000000000000" pitchFamily="2" charset="2"/>
              <a:buChar char="§"/>
            </a:pPr>
            <a:r>
              <a:rPr lang="en-US" b="1" dirty="0"/>
              <a:t>Confidence</a:t>
            </a:r>
            <a:r>
              <a:rPr lang="en-US" dirty="0"/>
              <a:t> and </a:t>
            </a:r>
            <a:r>
              <a:rPr lang="en-US" b="1" dirty="0"/>
              <a:t>interest</a:t>
            </a:r>
            <a:r>
              <a:rPr lang="en-US" dirty="0"/>
              <a:t> are metrics used to assess rule strength:</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b="1" dirty="0"/>
              <a:t>Confidence</a:t>
            </a:r>
            <a:r>
              <a:rPr lang="en-US" dirty="0"/>
              <a:t>: The proportion of baskets containing all items in the rule’s left side that also include the item on the right.</a:t>
            </a:r>
          </a:p>
          <a:p>
            <a:pPr marL="285750" indent="-285750">
              <a:buFont typeface="Wingdings" panose="05000000000000000000" pitchFamily="2" charset="2"/>
              <a:buChar char="§"/>
            </a:pPr>
            <a:r>
              <a:rPr lang="en-US" b="1" dirty="0"/>
              <a:t>Interest</a:t>
            </a:r>
            <a:r>
              <a:rPr lang="en-US" dirty="0"/>
              <a:t>: Measures how much more (or less) likely an item appears with others compared to random chance.</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b="1" dirty="0"/>
              <a:t>Example of Association Rule Calculation:</a:t>
            </a:r>
          </a:p>
          <a:p>
            <a:pPr marL="285750" indent="-285750">
              <a:buFont typeface="Wingdings" panose="05000000000000000000" pitchFamily="2" charset="2"/>
              <a:buChar char="§"/>
            </a:pPr>
            <a:r>
              <a:rPr lang="en-US" dirty="0"/>
              <a:t>A scenario where we have baskets with items like "dog," "cat," "and," etc., and we are calculating the association rule:</a:t>
            </a:r>
          </a:p>
          <a:p>
            <a:pPr marL="285750" indent="-285750">
              <a:buFont typeface="Wingdings" panose="05000000000000000000" pitchFamily="2" charset="2"/>
              <a:buChar char="§"/>
            </a:pPr>
            <a:r>
              <a:rPr lang="en-US" b="1" dirty="0"/>
              <a:t>Rule: </a:t>
            </a:r>
            <a:r>
              <a:rPr lang="en-US" dirty="0"/>
              <a:t>{cat, dog}→ and</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b="1" dirty="0"/>
              <a:t>Confidence Calculation:</a:t>
            </a:r>
          </a:p>
          <a:p>
            <a:pPr marL="285750" indent="-285750">
              <a:buFont typeface="Wingdings" panose="05000000000000000000" pitchFamily="2" charset="2"/>
              <a:buChar char="§"/>
            </a:pPr>
            <a:r>
              <a:rPr lang="en-US" dirty="0"/>
              <a:t>If the words “cat” and “dog” appear together in five baskets, and “and” also appears in three of those baskets, the confidence of the rule is:</a:t>
            </a:r>
            <a:endParaRPr lang="en-US" b="1" dirty="0"/>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p:txBody>
      </p:sp>
      <p:pic>
        <p:nvPicPr>
          <p:cNvPr id="9" name="Resim 8">
            <a:extLst>
              <a:ext uri="{FF2B5EF4-FFF2-40B4-BE49-F238E27FC236}">
                <a16:creationId xmlns:a16="http://schemas.microsoft.com/office/drawing/2014/main" id="{322B8A37-DF9D-A242-A0B0-6A92CF791E56}"/>
              </a:ext>
            </a:extLst>
          </p:cNvPr>
          <p:cNvPicPr>
            <a:picLocks noChangeAspect="1"/>
          </p:cNvPicPr>
          <p:nvPr/>
        </p:nvPicPr>
        <p:blipFill>
          <a:blip r:embed="rId2"/>
          <a:stretch>
            <a:fillRect/>
          </a:stretch>
        </p:blipFill>
        <p:spPr>
          <a:xfrm>
            <a:off x="4993920" y="4876800"/>
            <a:ext cx="2086266" cy="543001"/>
          </a:xfrm>
          <a:prstGeom prst="rect">
            <a:avLst/>
          </a:prstGeom>
        </p:spPr>
      </p:pic>
    </p:spTree>
    <p:extLst>
      <p:ext uri="{BB962C8B-B14F-4D97-AF65-F5344CB8AC3E}">
        <p14:creationId xmlns:p14="http://schemas.microsoft.com/office/powerpoint/2010/main" val="16914783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746D6-730A-E9B5-8113-DF22259B43FF}"/>
            </a:ext>
          </a:extLst>
        </p:cNvPr>
        <p:cNvGrpSpPr/>
        <p:nvPr/>
      </p:nvGrpSpPr>
      <p:grpSpPr>
        <a:xfrm>
          <a:off x="0" y="0"/>
          <a:ext cx="0" cy="0"/>
          <a:chOff x="0" y="0"/>
          <a:chExt cx="0" cy="0"/>
        </a:xfrm>
      </p:grpSpPr>
      <p:sp>
        <p:nvSpPr>
          <p:cNvPr id="3" name="직사각형 2">
            <a:extLst>
              <a:ext uri="{FF2B5EF4-FFF2-40B4-BE49-F238E27FC236}">
                <a16:creationId xmlns:a16="http://schemas.microsoft.com/office/drawing/2014/main" id="{93EFD0E1-B0B5-CF53-C34D-43C27C0C4D46}"/>
              </a:ext>
            </a:extLst>
          </p:cNvPr>
          <p:cNvSpPr/>
          <p:nvPr/>
        </p:nvSpPr>
        <p:spPr>
          <a:xfrm>
            <a:off x="17253" y="0"/>
            <a:ext cx="121920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ltLang="ko-KR" sz="2800" dirty="0">
              <a:ea typeface="맑은 고딕"/>
            </a:endParaRPr>
          </a:p>
          <a:p>
            <a:endParaRPr lang="en-US" altLang="ko-KR" sz="2800" dirty="0">
              <a:ea typeface="맑은 고딕"/>
            </a:endParaRPr>
          </a:p>
          <a:p>
            <a:r>
              <a:rPr lang="en-US" sz="2800" dirty="0"/>
              <a:t>6.1.4 Finding Association Rules with High Confidence</a:t>
            </a:r>
          </a:p>
          <a:p>
            <a:r>
              <a:rPr lang="en-US" altLang="ko-KR" sz="2800" dirty="0">
                <a:ea typeface="맑은 고딕"/>
              </a:rPr>
              <a:t> </a:t>
            </a:r>
            <a:endParaRPr lang="en-US" altLang="ko-KR" sz="2800" dirty="0">
              <a:ea typeface="맑은 고딕"/>
              <a:cs typeface="Calibri"/>
            </a:endParaRPr>
          </a:p>
          <a:p>
            <a:endParaRPr lang="ko-KR" altLang="en-US" sz="2800" dirty="0">
              <a:ea typeface="맑은 고딕"/>
            </a:endParaRPr>
          </a:p>
        </p:txBody>
      </p:sp>
      <p:sp>
        <p:nvSpPr>
          <p:cNvPr id="5" name="Metin kutusu 4">
            <a:extLst>
              <a:ext uri="{FF2B5EF4-FFF2-40B4-BE49-F238E27FC236}">
                <a16:creationId xmlns:a16="http://schemas.microsoft.com/office/drawing/2014/main" id="{EAE3F5E1-CC5F-A93B-827B-5C2E3AAFBD62}"/>
              </a:ext>
            </a:extLst>
          </p:cNvPr>
          <p:cNvSpPr txBox="1"/>
          <p:nvPr/>
        </p:nvSpPr>
        <p:spPr>
          <a:xfrm>
            <a:off x="17253" y="762000"/>
            <a:ext cx="12039600" cy="646331"/>
          </a:xfrm>
          <a:prstGeom prst="rect">
            <a:avLst/>
          </a:prstGeom>
          <a:noFill/>
        </p:spPr>
        <p:txBody>
          <a:bodyPr wrap="square" rtlCol="0">
            <a:spAutoFit/>
          </a:bodyPr>
          <a:lstStyle/>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p:txBody>
      </p:sp>
      <p:sp>
        <p:nvSpPr>
          <p:cNvPr id="2" name="Metin kutusu 1">
            <a:extLst>
              <a:ext uri="{FF2B5EF4-FFF2-40B4-BE49-F238E27FC236}">
                <a16:creationId xmlns:a16="http://schemas.microsoft.com/office/drawing/2014/main" id="{8AE63CE3-19FC-8DF4-0818-3A77B7EA9B3B}"/>
              </a:ext>
            </a:extLst>
          </p:cNvPr>
          <p:cNvSpPr txBox="1"/>
          <p:nvPr/>
        </p:nvSpPr>
        <p:spPr>
          <a:xfrm>
            <a:off x="43132" y="762000"/>
            <a:ext cx="11691668" cy="5909310"/>
          </a:xfrm>
          <a:prstGeom prst="rect">
            <a:avLst/>
          </a:prstGeom>
          <a:noFill/>
        </p:spPr>
        <p:txBody>
          <a:bodyPr wrap="square" rtlCol="0">
            <a:spAutoFit/>
          </a:bodyPr>
          <a:lstStyle/>
          <a:p>
            <a:pPr marL="285750" indent="-285750">
              <a:buFont typeface="Wingdings" panose="05000000000000000000" pitchFamily="2" charset="2"/>
              <a:buChar char="§"/>
            </a:pPr>
            <a:r>
              <a:rPr lang="en-US" dirty="0"/>
              <a:t>Finding </a:t>
            </a:r>
            <a:r>
              <a:rPr lang="en-US" b="1" dirty="0"/>
              <a:t>association rules with high confidence</a:t>
            </a:r>
            <a:r>
              <a:rPr lang="en-US" dirty="0"/>
              <a:t> involves identifying relationships within a dataset where one set of items implies the likely presence of another item. </a:t>
            </a:r>
          </a:p>
          <a:p>
            <a:pPr marL="285750" indent="-285750">
              <a:buFont typeface="Wingdings" panose="05000000000000000000" pitchFamily="2" charset="2"/>
              <a:buChar char="§"/>
            </a:pPr>
            <a:r>
              <a:rPr lang="en-US" b="1" dirty="0"/>
              <a:t>Steps to Find Association Rules with High Confidence</a:t>
            </a:r>
          </a:p>
          <a:p>
            <a:pPr marL="285750" indent="-285750">
              <a:buFont typeface="Wingdings" panose="05000000000000000000" pitchFamily="2" charset="2"/>
              <a:buChar char="§"/>
            </a:pPr>
            <a:r>
              <a:rPr lang="en-US" b="1" dirty="0"/>
              <a:t>Identify Frequent </a:t>
            </a:r>
            <a:r>
              <a:rPr lang="en-US" b="1" dirty="0" err="1"/>
              <a:t>Itemsets</a:t>
            </a:r>
            <a:r>
              <a:rPr lang="en-US" b="1" dirty="0"/>
              <a:t>:</a:t>
            </a:r>
          </a:p>
          <a:p>
            <a:pPr marL="285750" indent="-285750">
              <a:buFont typeface="Wingdings" panose="05000000000000000000" pitchFamily="2" charset="2"/>
              <a:buChar char="§"/>
            </a:pPr>
            <a:r>
              <a:rPr lang="en-US" dirty="0"/>
              <a:t>The first step is to generate frequent </a:t>
            </a:r>
            <a:r>
              <a:rPr lang="en-US" dirty="0" err="1"/>
              <a:t>itemsets</a:t>
            </a:r>
            <a:r>
              <a:rPr lang="en-US" dirty="0"/>
              <a:t>—sets of items that appear together in a significant number of transactions. The minimum frequency of appearance is determined by the support threshold.</a:t>
            </a:r>
          </a:p>
          <a:p>
            <a:pPr marL="285750" indent="-285750">
              <a:buFont typeface="Wingdings" panose="05000000000000000000" pitchFamily="2" charset="2"/>
              <a:buChar char="§"/>
            </a:pPr>
            <a:r>
              <a:rPr lang="en-US" dirty="0"/>
              <a:t>For example, if the support threshold is 100, an itemset must appear in at least 100 transactions to be considered frequent.</a:t>
            </a:r>
          </a:p>
          <a:p>
            <a:pPr marL="285750" indent="-285750">
              <a:buFont typeface="Wingdings" panose="05000000000000000000" pitchFamily="2" charset="2"/>
              <a:buChar char="§"/>
            </a:pPr>
            <a:r>
              <a:rPr lang="en-US" b="1" dirty="0"/>
              <a:t>Generate Potential Association Rules</a:t>
            </a:r>
            <a:r>
              <a:rPr lang="en-US" dirty="0"/>
              <a:t>:</a:t>
            </a:r>
          </a:p>
          <a:p>
            <a:pPr marL="285750" indent="-285750">
              <a:buFont typeface="Wingdings" panose="05000000000000000000" pitchFamily="2" charset="2"/>
              <a:buChar char="§"/>
            </a:pPr>
            <a:r>
              <a:rPr lang="en-US" dirty="0"/>
              <a:t>From each frequent itemset, generate possible association rules. If a frequent itemset 𝐽 has 𝑛 items, it can produce 𝑛 possible rules by isolating each item as a consequence and taking the rest as the antecedent.</a:t>
            </a:r>
          </a:p>
          <a:p>
            <a:pPr marL="285750" indent="-285750">
              <a:buFont typeface="Wingdings" panose="05000000000000000000" pitchFamily="2" charset="2"/>
              <a:buChar char="§"/>
            </a:pPr>
            <a:r>
              <a:rPr lang="en-US" dirty="0"/>
              <a:t>For example, if the frequent itemset is {𝐴,𝐵,𝐶} possible association rules include</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b="1" dirty="0"/>
              <a:t>Calculate Confidence for Each Rule:</a:t>
            </a:r>
          </a:p>
          <a:p>
            <a:pPr marL="285750" indent="-285750">
              <a:buFont typeface="Wingdings" panose="05000000000000000000" pitchFamily="2" charset="2"/>
              <a:buChar char="§"/>
            </a:pPr>
            <a:r>
              <a:rPr lang="en-US" dirty="0"/>
              <a:t>For each potential rule 𝐼→𝑗 generated from a frequent itemset, calculate confidence. Confidence measures how often the consequent 𝑗 appears in transactions that contain the antecedent 𝐼.</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p:txBody>
      </p:sp>
      <p:pic>
        <p:nvPicPr>
          <p:cNvPr id="7" name="Resim 6">
            <a:extLst>
              <a:ext uri="{FF2B5EF4-FFF2-40B4-BE49-F238E27FC236}">
                <a16:creationId xmlns:a16="http://schemas.microsoft.com/office/drawing/2014/main" id="{48B28637-7A91-094B-76F3-AA3DAE23B9D2}"/>
              </a:ext>
            </a:extLst>
          </p:cNvPr>
          <p:cNvPicPr>
            <a:picLocks noChangeAspect="1"/>
          </p:cNvPicPr>
          <p:nvPr/>
        </p:nvPicPr>
        <p:blipFill>
          <a:blip r:embed="rId2"/>
          <a:stretch>
            <a:fillRect/>
          </a:stretch>
        </p:blipFill>
        <p:spPr>
          <a:xfrm>
            <a:off x="304800" y="4198002"/>
            <a:ext cx="1571844" cy="1019317"/>
          </a:xfrm>
          <a:prstGeom prst="rect">
            <a:avLst/>
          </a:prstGeom>
        </p:spPr>
      </p:pic>
      <p:pic>
        <p:nvPicPr>
          <p:cNvPr id="10" name="Resim 9">
            <a:extLst>
              <a:ext uri="{FF2B5EF4-FFF2-40B4-BE49-F238E27FC236}">
                <a16:creationId xmlns:a16="http://schemas.microsoft.com/office/drawing/2014/main" id="{DB5FC664-F589-BFAA-0568-481CB2026BBA}"/>
              </a:ext>
            </a:extLst>
          </p:cNvPr>
          <p:cNvPicPr>
            <a:picLocks noChangeAspect="1"/>
          </p:cNvPicPr>
          <p:nvPr/>
        </p:nvPicPr>
        <p:blipFill>
          <a:blip r:embed="rId3"/>
          <a:stretch>
            <a:fillRect/>
          </a:stretch>
        </p:blipFill>
        <p:spPr>
          <a:xfrm>
            <a:off x="4724400" y="6019800"/>
            <a:ext cx="3000794" cy="743054"/>
          </a:xfrm>
          <a:prstGeom prst="rect">
            <a:avLst/>
          </a:prstGeom>
        </p:spPr>
      </p:pic>
    </p:spTree>
    <p:extLst>
      <p:ext uri="{BB962C8B-B14F-4D97-AF65-F5344CB8AC3E}">
        <p14:creationId xmlns:p14="http://schemas.microsoft.com/office/powerpoint/2010/main" val="13633535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42414-7981-C86A-9ABE-916DEE16B275}"/>
            </a:ext>
          </a:extLst>
        </p:cNvPr>
        <p:cNvGrpSpPr/>
        <p:nvPr/>
      </p:nvGrpSpPr>
      <p:grpSpPr>
        <a:xfrm>
          <a:off x="0" y="0"/>
          <a:ext cx="0" cy="0"/>
          <a:chOff x="0" y="0"/>
          <a:chExt cx="0" cy="0"/>
        </a:xfrm>
      </p:grpSpPr>
      <p:sp>
        <p:nvSpPr>
          <p:cNvPr id="3" name="직사각형 2">
            <a:extLst>
              <a:ext uri="{FF2B5EF4-FFF2-40B4-BE49-F238E27FC236}">
                <a16:creationId xmlns:a16="http://schemas.microsoft.com/office/drawing/2014/main" id="{7061F34D-0C4A-3AC0-6181-5497595AE70E}"/>
              </a:ext>
            </a:extLst>
          </p:cNvPr>
          <p:cNvSpPr/>
          <p:nvPr/>
        </p:nvSpPr>
        <p:spPr>
          <a:xfrm>
            <a:off x="17253" y="0"/>
            <a:ext cx="121920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ltLang="ko-KR" sz="2800" dirty="0">
              <a:ea typeface="맑은 고딕"/>
            </a:endParaRPr>
          </a:p>
          <a:p>
            <a:endParaRPr lang="en-US" altLang="ko-KR" sz="2800" dirty="0">
              <a:ea typeface="맑은 고딕"/>
            </a:endParaRPr>
          </a:p>
          <a:p>
            <a:r>
              <a:rPr lang="en-US" sz="2800" dirty="0"/>
              <a:t>6.1.4 Finding Association Rules with High Confidence</a:t>
            </a:r>
          </a:p>
          <a:p>
            <a:r>
              <a:rPr lang="en-US" altLang="ko-KR" sz="2800" dirty="0">
                <a:ea typeface="맑은 고딕"/>
              </a:rPr>
              <a:t> </a:t>
            </a:r>
            <a:endParaRPr lang="en-US" altLang="ko-KR" sz="2800" dirty="0">
              <a:ea typeface="맑은 고딕"/>
              <a:cs typeface="Calibri"/>
            </a:endParaRPr>
          </a:p>
          <a:p>
            <a:endParaRPr lang="ko-KR" altLang="en-US" sz="2800" dirty="0">
              <a:ea typeface="맑은 고딕"/>
            </a:endParaRPr>
          </a:p>
        </p:txBody>
      </p:sp>
      <p:sp>
        <p:nvSpPr>
          <p:cNvPr id="5" name="Metin kutusu 4">
            <a:extLst>
              <a:ext uri="{FF2B5EF4-FFF2-40B4-BE49-F238E27FC236}">
                <a16:creationId xmlns:a16="http://schemas.microsoft.com/office/drawing/2014/main" id="{22BB8CEE-8027-C3FF-3674-71D507E05931}"/>
              </a:ext>
            </a:extLst>
          </p:cNvPr>
          <p:cNvSpPr txBox="1"/>
          <p:nvPr/>
        </p:nvSpPr>
        <p:spPr>
          <a:xfrm>
            <a:off x="17253" y="762000"/>
            <a:ext cx="12039600" cy="646331"/>
          </a:xfrm>
          <a:prstGeom prst="rect">
            <a:avLst/>
          </a:prstGeom>
          <a:noFill/>
        </p:spPr>
        <p:txBody>
          <a:bodyPr wrap="square" rtlCol="0">
            <a:spAutoFit/>
          </a:bodyPr>
          <a:lstStyle/>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p:txBody>
      </p:sp>
      <p:sp>
        <p:nvSpPr>
          <p:cNvPr id="2" name="Metin kutusu 1">
            <a:extLst>
              <a:ext uri="{FF2B5EF4-FFF2-40B4-BE49-F238E27FC236}">
                <a16:creationId xmlns:a16="http://schemas.microsoft.com/office/drawing/2014/main" id="{D6C9297B-97D4-A75B-78D3-77D4F9B01961}"/>
              </a:ext>
            </a:extLst>
          </p:cNvPr>
          <p:cNvSpPr txBox="1"/>
          <p:nvPr/>
        </p:nvSpPr>
        <p:spPr>
          <a:xfrm>
            <a:off x="43132" y="762000"/>
            <a:ext cx="11691668" cy="3970318"/>
          </a:xfrm>
          <a:prstGeom prst="rect">
            <a:avLst/>
          </a:prstGeom>
          <a:noFill/>
        </p:spPr>
        <p:txBody>
          <a:bodyPr wrap="square" rtlCol="0">
            <a:spAutoFit/>
          </a:bodyPr>
          <a:lstStyle/>
          <a:p>
            <a:pPr marL="285750" indent="-285750">
              <a:buFont typeface="Wingdings" panose="05000000000000000000" pitchFamily="2" charset="2"/>
              <a:buChar char="§"/>
            </a:pPr>
            <a:r>
              <a:rPr lang="en-US" b="1" dirty="0"/>
              <a:t>Example Calculation</a:t>
            </a:r>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r>
              <a:rPr lang="en-US" dirty="0"/>
              <a:t>Suppose the following itemset frequencies are found in a dataset</a:t>
            </a:r>
            <a:r>
              <a:rPr lang="en-US" b="1" dirty="0"/>
              <a:t>:</a:t>
            </a:r>
          </a:p>
          <a:p>
            <a:pPr marL="285750" indent="-285750">
              <a:buFont typeface="Wingdings" panose="05000000000000000000" pitchFamily="2" charset="2"/>
              <a:buChar char="§"/>
            </a:pPr>
            <a:r>
              <a:rPr lang="en-US" dirty="0"/>
              <a:t>Support for {𝐴,𝐵,𝐶} : 150 transactions</a:t>
            </a:r>
          </a:p>
          <a:p>
            <a:pPr marL="285750" indent="-285750">
              <a:buFont typeface="Wingdings" panose="05000000000000000000" pitchFamily="2" charset="2"/>
              <a:buChar char="§"/>
            </a:pPr>
            <a:r>
              <a:rPr lang="en-US" dirty="0"/>
              <a:t>Support for {𝐴,𝐵} : 200 transactions</a:t>
            </a:r>
          </a:p>
          <a:p>
            <a:pPr marL="285750" indent="-285750">
              <a:buFont typeface="Wingdings" panose="05000000000000000000" pitchFamily="2" charset="2"/>
              <a:buChar char="§"/>
            </a:pPr>
            <a:r>
              <a:rPr lang="en-US" dirty="0"/>
              <a:t>To determine if {𝐴,𝐵}→𝐶 is a high-confidence rule:</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b="1" dirty="0"/>
              <a:t>Confidence Calculation:</a:t>
            </a:r>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r>
              <a:rPr lang="en-US" dirty="0"/>
              <a:t>If the confidence threshold is 0.7, this rule passes and is considered a </a:t>
            </a:r>
            <a:r>
              <a:rPr lang="en-US" b="1" dirty="0"/>
              <a:t>high-confidence rule</a:t>
            </a:r>
            <a:r>
              <a:rPr lang="en-US" dirty="0"/>
              <a:t>.</a:t>
            </a:r>
            <a:endParaRPr lang="en-US" b="1" dirty="0"/>
          </a:p>
          <a:p>
            <a:pPr marL="285750" indent="-285750">
              <a:buFont typeface="Wingdings" panose="05000000000000000000" pitchFamily="2" charset="2"/>
              <a:buChar char="§"/>
            </a:pPr>
            <a:endParaRPr lang="en-US" b="1" dirty="0"/>
          </a:p>
        </p:txBody>
      </p:sp>
      <p:pic>
        <p:nvPicPr>
          <p:cNvPr id="6" name="Resim 5">
            <a:extLst>
              <a:ext uri="{FF2B5EF4-FFF2-40B4-BE49-F238E27FC236}">
                <a16:creationId xmlns:a16="http://schemas.microsoft.com/office/drawing/2014/main" id="{FCBB4752-AEB0-32FE-9C73-B0B6788CFF79}"/>
              </a:ext>
            </a:extLst>
          </p:cNvPr>
          <p:cNvPicPr>
            <a:picLocks noChangeAspect="1"/>
          </p:cNvPicPr>
          <p:nvPr/>
        </p:nvPicPr>
        <p:blipFill>
          <a:blip r:embed="rId2"/>
          <a:stretch>
            <a:fillRect/>
          </a:stretch>
        </p:blipFill>
        <p:spPr>
          <a:xfrm>
            <a:off x="3847786" y="3062236"/>
            <a:ext cx="4496427" cy="733527"/>
          </a:xfrm>
          <a:prstGeom prst="rect">
            <a:avLst/>
          </a:prstGeom>
        </p:spPr>
      </p:pic>
    </p:spTree>
    <p:extLst>
      <p:ext uri="{BB962C8B-B14F-4D97-AF65-F5344CB8AC3E}">
        <p14:creationId xmlns:p14="http://schemas.microsoft.com/office/powerpoint/2010/main" val="1242971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AF61B-70BD-C135-FB1A-995A6E1D8E96}"/>
            </a:ext>
          </a:extLst>
        </p:cNvPr>
        <p:cNvGrpSpPr/>
        <p:nvPr/>
      </p:nvGrpSpPr>
      <p:grpSpPr>
        <a:xfrm>
          <a:off x="0" y="0"/>
          <a:ext cx="0" cy="0"/>
          <a:chOff x="0" y="0"/>
          <a:chExt cx="0" cy="0"/>
        </a:xfrm>
      </p:grpSpPr>
      <p:sp>
        <p:nvSpPr>
          <p:cNvPr id="3" name="직사각형 2">
            <a:extLst>
              <a:ext uri="{FF2B5EF4-FFF2-40B4-BE49-F238E27FC236}">
                <a16:creationId xmlns:a16="http://schemas.microsoft.com/office/drawing/2014/main" id="{E707BDAE-9BD3-5D85-0B45-7E952B61A02D}"/>
              </a:ext>
            </a:extLst>
          </p:cNvPr>
          <p:cNvSpPr/>
          <p:nvPr/>
        </p:nvSpPr>
        <p:spPr>
          <a:xfrm>
            <a:off x="17253" y="0"/>
            <a:ext cx="121920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ltLang="ko-KR" sz="2800" dirty="0">
              <a:ea typeface="맑은 고딕"/>
            </a:endParaRPr>
          </a:p>
          <a:p>
            <a:endParaRPr lang="en-US" altLang="ko-KR" sz="2800" dirty="0">
              <a:ea typeface="맑은 고딕"/>
            </a:endParaRPr>
          </a:p>
          <a:p>
            <a:r>
              <a:rPr lang="en-US" sz="2800" dirty="0"/>
              <a:t>6.1.4 Finding Association Rules with High Confidence</a:t>
            </a:r>
          </a:p>
          <a:p>
            <a:r>
              <a:rPr lang="en-US" altLang="ko-KR" sz="2800" dirty="0">
                <a:ea typeface="맑은 고딕"/>
              </a:rPr>
              <a:t> </a:t>
            </a:r>
            <a:endParaRPr lang="en-US" altLang="ko-KR" sz="2800" dirty="0">
              <a:ea typeface="맑은 고딕"/>
              <a:cs typeface="Calibri"/>
            </a:endParaRPr>
          </a:p>
          <a:p>
            <a:endParaRPr lang="ko-KR" altLang="en-US" sz="2800" dirty="0">
              <a:ea typeface="맑은 고딕"/>
            </a:endParaRPr>
          </a:p>
        </p:txBody>
      </p:sp>
      <p:sp>
        <p:nvSpPr>
          <p:cNvPr id="5" name="Metin kutusu 4">
            <a:extLst>
              <a:ext uri="{FF2B5EF4-FFF2-40B4-BE49-F238E27FC236}">
                <a16:creationId xmlns:a16="http://schemas.microsoft.com/office/drawing/2014/main" id="{6492E786-6C46-2301-A354-ADC86B80FDAC}"/>
              </a:ext>
            </a:extLst>
          </p:cNvPr>
          <p:cNvSpPr txBox="1"/>
          <p:nvPr/>
        </p:nvSpPr>
        <p:spPr>
          <a:xfrm>
            <a:off x="17253" y="762000"/>
            <a:ext cx="12039600" cy="646331"/>
          </a:xfrm>
          <a:prstGeom prst="rect">
            <a:avLst/>
          </a:prstGeom>
          <a:noFill/>
        </p:spPr>
        <p:txBody>
          <a:bodyPr wrap="square" rtlCol="0">
            <a:spAutoFit/>
          </a:bodyPr>
          <a:lstStyle/>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p:txBody>
      </p:sp>
      <p:sp>
        <p:nvSpPr>
          <p:cNvPr id="2" name="Metin kutusu 1">
            <a:extLst>
              <a:ext uri="{FF2B5EF4-FFF2-40B4-BE49-F238E27FC236}">
                <a16:creationId xmlns:a16="http://schemas.microsoft.com/office/drawing/2014/main" id="{D4F2379C-0D94-4EAA-3170-B9B9FEDE4D90}"/>
              </a:ext>
            </a:extLst>
          </p:cNvPr>
          <p:cNvSpPr txBox="1"/>
          <p:nvPr/>
        </p:nvSpPr>
        <p:spPr>
          <a:xfrm>
            <a:off x="43132" y="762000"/>
            <a:ext cx="11691668" cy="5909310"/>
          </a:xfrm>
          <a:prstGeom prst="rect">
            <a:avLst/>
          </a:prstGeom>
          <a:noFill/>
        </p:spPr>
        <p:txBody>
          <a:bodyPr wrap="square" rtlCol="0">
            <a:spAutoFit/>
          </a:bodyPr>
          <a:lstStyle/>
          <a:p>
            <a:pPr marL="285750" indent="-285750">
              <a:buFont typeface="Wingdings" panose="05000000000000000000" pitchFamily="2" charset="2"/>
              <a:buChar char="§"/>
            </a:pPr>
            <a:r>
              <a:rPr lang="en-US" b="1" dirty="0"/>
              <a:t>Example of Association Rules with the Provided Dataset</a:t>
            </a:r>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r>
              <a:rPr lang="en-US" b="1" dirty="0"/>
              <a:t>Step 1: Calculate Support</a:t>
            </a:r>
          </a:p>
          <a:p>
            <a:pPr marL="285750" indent="-285750">
              <a:buFont typeface="Wingdings" panose="05000000000000000000" pitchFamily="2" charset="2"/>
              <a:buChar char="§"/>
            </a:pPr>
            <a:r>
              <a:rPr lang="en-US" dirty="0"/>
              <a:t>Let's say we are interested in these example rules and calculate their support:</a:t>
            </a:r>
          </a:p>
          <a:p>
            <a:pPr marL="285750" indent="-285750">
              <a:buFont typeface="Wingdings" panose="05000000000000000000" pitchFamily="2" charset="2"/>
              <a:buChar char="§"/>
            </a:pPr>
            <a:r>
              <a:rPr lang="en-US" b="1" dirty="0"/>
              <a:t>{B} ⇒ {D}</a:t>
            </a:r>
          </a:p>
          <a:p>
            <a:pPr marL="285750" indent="-285750">
              <a:buFont typeface="Wingdings" panose="05000000000000000000" pitchFamily="2" charset="2"/>
              <a:buChar char="§"/>
            </a:pPr>
            <a:r>
              <a:rPr lang="en-US" dirty="0"/>
              <a:t>Support = Transactions containing {B, D} / Total transactions = 4 / 5 = 0.8</a:t>
            </a:r>
          </a:p>
          <a:p>
            <a:pPr marL="285750" indent="-285750">
              <a:buFont typeface="Wingdings" panose="05000000000000000000" pitchFamily="2" charset="2"/>
              <a:buChar char="§"/>
            </a:pPr>
            <a:r>
              <a:rPr lang="en-US" b="1" dirty="0"/>
              <a:t>{A, C} ⇒ {D}</a:t>
            </a:r>
          </a:p>
          <a:p>
            <a:pPr marL="285750" indent="-285750">
              <a:buFont typeface="Wingdings" panose="05000000000000000000" pitchFamily="2" charset="2"/>
              <a:buChar char="§"/>
            </a:pPr>
            <a:r>
              <a:rPr lang="en-US" dirty="0"/>
              <a:t>Support = Transactions containing {A, C, D} / Total transactions = 3 / 5 = 0.6</a:t>
            </a:r>
          </a:p>
          <a:p>
            <a:pPr marL="285750" indent="-285750">
              <a:buFont typeface="Wingdings" panose="05000000000000000000" pitchFamily="2" charset="2"/>
              <a:buChar char="§"/>
            </a:pPr>
            <a:r>
              <a:rPr lang="en-US" b="1" dirty="0"/>
              <a:t>{A} ⇒ {B, C, D}</a:t>
            </a:r>
          </a:p>
          <a:p>
            <a:pPr marL="285750" indent="-285750">
              <a:buFont typeface="Wingdings" panose="05000000000000000000" pitchFamily="2" charset="2"/>
              <a:buChar char="§"/>
            </a:pPr>
            <a:r>
              <a:rPr lang="en-US" dirty="0"/>
              <a:t>Support = Transactions containing {A, B, C, D} / Total transactions = 2 / 5 = 0.4</a:t>
            </a:r>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p:txBody>
      </p:sp>
      <p:pic>
        <p:nvPicPr>
          <p:cNvPr id="8" name="Resim 7">
            <a:extLst>
              <a:ext uri="{FF2B5EF4-FFF2-40B4-BE49-F238E27FC236}">
                <a16:creationId xmlns:a16="http://schemas.microsoft.com/office/drawing/2014/main" id="{B67D911E-E2F2-1AE6-96A9-FA1BA4DAC24E}"/>
              </a:ext>
            </a:extLst>
          </p:cNvPr>
          <p:cNvPicPr>
            <a:picLocks noChangeAspect="1"/>
          </p:cNvPicPr>
          <p:nvPr/>
        </p:nvPicPr>
        <p:blipFill>
          <a:blip r:embed="rId2"/>
          <a:stretch>
            <a:fillRect/>
          </a:stretch>
        </p:blipFill>
        <p:spPr>
          <a:xfrm>
            <a:off x="2168934" y="1362164"/>
            <a:ext cx="7440063" cy="2057687"/>
          </a:xfrm>
          <a:prstGeom prst="rect">
            <a:avLst/>
          </a:prstGeom>
        </p:spPr>
      </p:pic>
    </p:spTree>
    <p:extLst>
      <p:ext uri="{BB962C8B-B14F-4D97-AF65-F5344CB8AC3E}">
        <p14:creationId xmlns:p14="http://schemas.microsoft.com/office/powerpoint/2010/main" val="2050168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FE74C-6D45-B99A-650F-261521B2F787}"/>
            </a:ext>
          </a:extLst>
        </p:cNvPr>
        <p:cNvGrpSpPr/>
        <p:nvPr/>
      </p:nvGrpSpPr>
      <p:grpSpPr>
        <a:xfrm>
          <a:off x="0" y="0"/>
          <a:ext cx="0" cy="0"/>
          <a:chOff x="0" y="0"/>
          <a:chExt cx="0" cy="0"/>
        </a:xfrm>
      </p:grpSpPr>
      <p:sp>
        <p:nvSpPr>
          <p:cNvPr id="3" name="직사각형 2">
            <a:extLst>
              <a:ext uri="{FF2B5EF4-FFF2-40B4-BE49-F238E27FC236}">
                <a16:creationId xmlns:a16="http://schemas.microsoft.com/office/drawing/2014/main" id="{505C62BB-3487-A5FC-D236-F6944CADC787}"/>
              </a:ext>
            </a:extLst>
          </p:cNvPr>
          <p:cNvSpPr/>
          <p:nvPr/>
        </p:nvSpPr>
        <p:spPr>
          <a:xfrm>
            <a:off x="17253" y="0"/>
            <a:ext cx="121920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ltLang="ko-KR" sz="2800" dirty="0">
              <a:ea typeface="맑은 고딕"/>
            </a:endParaRPr>
          </a:p>
          <a:p>
            <a:endParaRPr lang="en-US" altLang="ko-KR" sz="2800" dirty="0">
              <a:ea typeface="맑은 고딕"/>
            </a:endParaRPr>
          </a:p>
          <a:p>
            <a:r>
              <a:rPr lang="en-US" sz="2800" dirty="0"/>
              <a:t>6.1.4 Finding Association Rules with High Confidence</a:t>
            </a:r>
          </a:p>
          <a:p>
            <a:r>
              <a:rPr lang="en-US" altLang="ko-KR" sz="2800" dirty="0">
                <a:ea typeface="맑은 고딕"/>
              </a:rPr>
              <a:t> </a:t>
            </a:r>
            <a:endParaRPr lang="en-US" altLang="ko-KR" sz="2800" dirty="0">
              <a:ea typeface="맑은 고딕"/>
              <a:cs typeface="Calibri"/>
            </a:endParaRPr>
          </a:p>
          <a:p>
            <a:endParaRPr lang="ko-KR" altLang="en-US" sz="2800" dirty="0">
              <a:ea typeface="맑은 고딕"/>
            </a:endParaRPr>
          </a:p>
        </p:txBody>
      </p:sp>
      <p:sp>
        <p:nvSpPr>
          <p:cNvPr id="5" name="Metin kutusu 4">
            <a:extLst>
              <a:ext uri="{FF2B5EF4-FFF2-40B4-BE49-F238E27FC236}">
                <a16:creationId xmlns:a16="http://schemas.microsoft.com/office/drawing/2014/main" id="{1768A88B-6C86-660F-54B4-430683E51E32}"/>
              </a:ext>
            </a:extLst>
          </p:cNvPr>
          <p:cNvSpPr txBox="1"/>
          <p:nvPr/>
        </p:nvSpPr>
        <p:spPr>
          <a:xfrm>
            <a:off x="17253" y="762000"/>
            <a:ext cx="12039600" cy="646331"/>
          </a:xfrm>
          <a:prstGeom prst="rect">
            <a:avLst/>
          </a:prstGeom>
          <a:noFill/>
        </p:spPr>
        <p:txBody>
          <a:bodyPr wrap="square" rtlCol="0">
            <a:spAutoFit/>
          </a:bodyPr>
          <a:lstStyle/>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p:txBody>
      </p:sp>
      <p:sp>
        <p:nvSpPr>
          <p:cNvPr id="2" name="Metin kutusu 1">
            <a:extLst>
              <a:ext uri="{FF2B5EF4-FFF2-40B4-BE49-F238E27FC236}">
                <a16:creationId xmlns:a16="http://schemas.microsoft.com/office/drawing/2014/main" id="{02E9BE71-A88A-489D-D5C3-C5D2F11682F4}"/>
              </a:ext>
            </a:extLst>
          </p:cNvPr>
          <p:cNvSpPr txBox="1"/>
          <p:nvPr/>
        </p:nvSpPr>
        <p:spPr>
          <a:xfrm>
            <a:off x="43132" y="762000"/>
            <a:ext cx="11691668" cy="5909310"/>
          </a:xfrm>
          <a:prstGeom prst="rect">
            <a:avLst/>
          </a:prstGeom>
          <a:noFill/>
        </p:spPr>
        <p:txBody>
          <a:bodyPr wrap="square" rtlCol="0">
            <a:spAutoFit/>
          </a:bodyPr>
          <a:lstStyle/>
          <a:p>
            <a:pPr marL="285750" indent="-285750">
              <a:buFont typeface="Wingdings" panose="05000000000000000000" pitchFamily="2" charset="2"/>
              <a:buChar char="§"/>
            </a:pPr>
            <a:r>
              <a:rPr lang="en-US" b="1" dirty="0"/>
              <a:t>Example of Association Rules with the Provided Dataset</a:t>
            </a:r>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r>
              <a:rPr lang="en-US" b="1" dirty="0"/>
              <a:t>Step 2: Calculate Confidence</a:t>
            </a:r>
          </a:p>
          <a:p>
            <a:pPr marL="285750" indent="-285750">
              <a:buFont typeface="Wingdings" panose="05000000000000000000" pitchFamily="2" charset="2"/>
              <a:buChar char="§"/>
            </a:pPr>
            <a:r>
              <a:rPr lang="en-US" dirty="0"/>
              <a:t>Using these example rules, here’s how we can calculate confidence:</a:t>
            </a:r>
          </a:p>
          <a:p>
            <a:pPr marL="285750" indent="-285750">
              <a:buFont typeface="Wingdings" panose="05000000000000000000" pitchFamily="2" charset="2"/>
              <a:buChar char="§"/>
            </a:pPr>
            <a:r>
              <a:rPr lang="en-US" dirty="0"/>
              <a:t>{B} ⇒ {D}</a:t>
            </a:r>
          </a:p>
          <a:p>
            <a:pPr marL="285750" indent="-285750">
              <a:buFont typeface="Wingdings" panose="05000000000000000000" pitchFamily="2" charset="2"/>
              <a:buChar char="§"/>
            </a:pPr>
            <a:r>
              <a:rPr lang="en-US" dirty="0"/>
              <a:t>Confidence = Support({B, D}) / Support({B}) = 0.8 / 0.8 = 1.0 (100%)</a:t>
            </a:r>
          </a:p>
          <a:p>
            <a:pPr marL="285750" indent="-285750">
              <a:buFont typeface="Wingdings" panose="05000000000000000000" pitchFamily="2" charset="2"/>
              <a:buChar char="§"/>
            </a:pPr>
            <a:r>
              <a:rPr lang="en-US" dirty="0"/>
              <a:t>Interpretation: When {B} is bought, {D} is always bought.</a:t>
            </a:r>
          </a:p>
          <a:p>
            <a:pPr marL="285750" indent="-285750">
              <a:buFont typeface="Wingdings" panose="05000000000000000000" pitchFamily="2" charset="2"/>
              <a:buChar char="§"/>
            </a:pPr>
            <a:r>
              <a:rPr lang="en-US" dirty="0"/>
              <a:t>{A, C} ⇒ {D}Confidence = Support({A, C, D}) / Support({A, C}) = 0.6 / 0.6 = 1.0 (100%)</a:t>
            </a:r>
          </a:p>
          <a:p>
            <a:pPr marL="285750" indent="-285750">
              <a:buFont typeface="Wingdings" panose="05000000000000000000" pitchFamily="2" charset="2"/>
              <a:buChar char="§"/>
            </a:pPr>
            <a:r>
              <a:rPr lang="en-US" dirty="0"/>
              <a:t>Interpretation: When {A} and {C} are bought together, {D} is always bought.</a:t>
            </a:r>
          </a:p>
          <a:p>
            <a:pPr marL="285750" indent="-285750">
              <a:buFont typeface="Wingdings" panose="05000000000000000000" pitchFamily="2" charset="2"/>
              <a:buChar char="§"/>
            </a:pPr>
            <a:r>
              <a:rPr lang="en-US" dirty="0"/>
              <a:t>{A} ⇒ {B, C, D}Confidence = Support({A, B, C, D}) / Support({A}) = 0.4 / 0.6 ≈ 0.67 (67%)</a:t>
            </a:r>
          </a:p>
          <a:p>
            <a:pPr marL="285750" indent="-285750">
              <a:buFont typeface="Wingdings" panose="05000000000000000000" pitchFamily="2" charset="2"/>
              <a:buChar char="§"/>
            </a:pPr>
            <a:r>
              <a:rPr lang="en-US" dirty="0"/>
              <a:t>Interpretation: When {A} is bought, {B, C, D} are also bought 67% of the time.</a:t>
            </a:r>
          </a:p>
          <a:p>
            <a:pPr marL="285750" indent="-285750">
              <a:buFont typeface="Wingdings" panose="05000000000000000000" pitchFamily="2" charset="2"/>
              <a:buChar char="§"/>
            </a:pPr>
            <a:endParaRPr lang="en-US" b="1" dirty="0"/>
          </a:p>
        </p:txBody>
      </p:sp>
      <p:pic>
        <p:nvPicPr>
          <p:cNvPr id="8" name="Resim 7">
            <a:extLst>
              <a:ext uri="{FF2B5EF4-FFF2-40B4-BE49-F238E27FC236}">
                <a16:creationId xmlns:a16="http://schemas.microsoft.com/office/drawing/2014/main" id="{B6A8F1CE-02FB-77F4-FD12-808B9A9E4D63}"/>
              </a:ext>
            </a:extLst>
          </p:cNvPr>
          <p:cNvPicPr>
            <a:picLocks noChangeAspect="1"/>
          </p:cNvPicPr>
          <p:nvPr/>
        </p:nvPicPr>
        <p:blipFill>
          <a:blip r:embed="rId2"/>
          <a:stretch>
            <a:fillRect/>
          </a:stretch>
        </p:blipFill>
        <p:spPr>
          <a:xfrm>
            <a:off x="2168934" y="1362164"/>
            <a:ext cx="7440063" cy="2057687"/>
          </a:xfrm>
          <a:prstGeom prst="rect">
            <a:avLst/>
          </a:prstGeom>
        </p:spPr>
      </p:pic>
    </p:spTree>
    <p:extLst>
      <p:ext uri="{BB962C8B-B14F-4D97-AF65-F5344CB8AC3E}">
        <p14:creationId xmlns:p14="http://schemas.microsoft.com/office/powerpoint/2010/main" val="23394917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33C57-FEDE-E400-289F-64637E102019}"/>
            </a:ext>
          </a:extLst>
        </p:cNvPr>
        <p:cNvGrpSpPr/>
        <p:nvPr/>
      </p:nvGrpSpPr>
      <p:grpSpPr>
        <a:xfrm>
          <a:off x="0" y="0"/>
          <a:ext cx="0" cy="0"/>
          <a:chOff x="0" y="0"/>
          <a:chExt cx="0" cy="0"/>
        </a:xfrm>
      </p:grpSpPr>
      <p:sp>
        <p:nvSpPr>
          <p:cNvPr id="3" name="직사각형 2">
            <a:extLst>
              <a:ext uri="{FF2B5EF4-FFF2-40B4-BE49-F238E27FC236}">
                <a16:creationId xmlns:a16="http://schemas.microsoft.com/office/drawing/2014/main" id="{49C5C5E4-3FDE-D9FB-7AB8-C1E6B946434E}"/>
              </a:ext>
            </a:extLst>
          </p:cNvPr>
          <p:cNvSpPr/>
          <p:nvPr/>
        </p:nvSpPr>
        <p:spPr>
          <a:xfrm>
            <a:off x="17253" y="0"/>
            <a:ext cx="121920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ltLang="ko-KR" sz="2800" dirty="0">
              <a:ea typeface="맑은 고딕"/>
            </a:endParaRPr>
          </a:p>
          <a:p>
            <a:endParaRPr lang="en-US" altLang="ko-KR" sz="2800" dirty="0">
              <a:ea typeface="맑은 고딕"/>
            </a:endParaRPr>
          </a:p>
          <a:p>
            <a:r>
              <a:rPr lang="en-US" sz="2800" dirty="0"/>
              <a:t>6.1.4 Finding Association Rules with High Confidence</a:t>
            </a:r>
          </a:p>
          <a:p>
            <a:r>
              <a:rPr lang="en-US" altLang="ko-KR" sz="2800" dirty="0">
                <a:ea typeface="맑은 고딕"/>
              </a:rPr>
              <a:t> </a:t>
            </a:r>
            <a:endParaRPr lang="en-US" altLang="ko-KR" sz="2800" dirty="0">
              <a:ea typeface="맑은 고딕"/>
              <a:cs typeface="Calibri"/>
            </a:endParaRPr>
          </a:p>
          <a:p>
            <a:endParaRPr lang="ko-KR" altLang="en-US" sz="2800" dirty="0">
              <a:ea typeface="맑은 고딕"/>
            </a:endParaRPr>
          </a:p>
        </p:txBody>
      </p:sp>
      <p:sp>
        <p:nvSpPr>
          <p:cNvPr id="5" name="Metin kutusu 4">
            <a:extLst>
              <a:ext uri="{FF2B5EF4-FFF2-40B4-BE49-F238E27FC236}">
                <a16:creationId xmlns:a16="http://schemas.microsoft.com/office/drawing/2014/main" id="{25F55CC3-5AD1-AD81-9A27-8E19CE7410F4}"/>
              </a:ext>
            </a:extLst>
          </p:cNvPr>
          <p:cNvSpPr txBox="1"/>
          <p:nvPr/>
        </p:nvSpPr>
        <p:spPr>
          <a:xfrm>
            <a:off x="17253" y="762000"/>
            <a:ext cx="12039600" cy="646331"/>
          </a:xfrm>
          <a:prstGeom prst="rect">
            <a:avLst/>
          </a:prstGeom>
          <a:noFill/>
        </p:spPr>
        <p:txBody>
          <a:bodyPr wrap="square" rtlCol="0">
            <a:spAutoFit/>
          </a:bodyPr>
          <a:lstStyle/>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p:txBody>
      </p:sp>
      <p:sp>
        <p:nvSpPr>
          <p:cNvPr id="2" name="Metin kutusu 1">
            <a:extLst>
              <a:ext uri="{FF2B5EF4-FFF2-40B4-BE49-F238E27FC236}">
                <a16:creationId xmlns:a16="http://schemas.microsoft.com/office/drawing/2014/main" id="{E7D2683D-573C-0D4E-5A59-010B7B8CBCB1}"/>
              </a:ext>
            </a:extLst>
          </p:cNvPr>
          <p:cNvSpPr txBox="1"/>
          <p:nvPr/>
        </p:nvSpPr>
        <p:spPr>
          <a:xfrm>
            <a:off x="43132" y="762000"/>
            <a:ext cx="11691668" cy="5909310"/>
          </a:xfrm>
          <a:prstGeom prst="rect">
            <a:avLst/>
          </a:prstGeom>
          <a:noFill/>
        </p:spPr>
        <p:txBody>
          <a:bodyPr wrap="square" rtlCol="0">
            <a:spAutoFit/>
          </a:bodyPr>
          <a:lstStyle/>
          <a:p>
            <a:pPr marL="285750" indent="-285750">
              <a:buFont typeface="Wingdings" panose="05000000000000000000" pitchFamily="2" charset="2"/>
              <a:buChar char="§"/>
            </a:pPr>
            <a:r>
              <a:rPr lang="en-US" b="1" dirty="0"/>
              <a:t>Example of Association Rules with the Provided Dataset</a:t>
            </a:r>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r>
              <a:rPr lang="en-US" b="1" dirty="0"/>
              <a:t>Step 3: Calculate Lift</a:t>
            </a:r>
          </a:p>
          <a:p>
            <a:pPr marL="285750" indent="-285750">
              <a:buFont typeface="Wingdings" panose="05000000000000000000" pitchFamily="2" charset="2"/>
              <a:buChar char="§"/>
            </a:pPr>
            <a:r>
              <a:rPr lang="en-US" b="1" dirty="0"/>
              <a:t>{B} ⇒ {D}</a:t>
            </a:r>
          </a:p>
          <a:p>
            <a:pPr marL="285750" indent="-285750">
              <a:buFont typeface="Wingdings" panose="05000000000000000000" pitchFamily="2" charset="2"/>
              <a:buChar char="§"/>
            </a:pPr>
            <a:r>
              <a:rPr lang="en-US" dirty="0"/>
              <a:t>Lift = Confidence({B} ⇒ {D}) / Support({D}) = 1.0 / 1.0 = 1</a:t>
            </a:r>
          </a:p>
          <a:p>
            <a:pPr marL="285750" indent="-285750">
              <a:buFont typeface="Wingdings" panose="05000000000000000000" pitchFamily="2" charset="2"/>
              <a:buChar char="§"/>
            </a:pPr>
            <a:r>
              <a:rPr lang="en-US" dirty="0"/>
              <a:t>Interpretation: {B} and {D} are independent (no special relationship).</a:t>
            </a:r>
          </a:p>
          <a:p>
            <a:pPr marL="285750" indent="-285750">
              <a:buFont typeface="Wingdings" panose="05000000000000000000" pitchFamily="2" charset="2"/>
              <a:buChar char="§"/>
            </a:pPr>
            <a:r>
              <a:rPr lang="en-US" b="1" dirty="0"/>
              <a:t>{A, C} ⇒ {D}</a:t>
            </a:r>
          </a:p>
          <a:p>
            <a:pPr marL="285750" indent="-285750">
              <a:buFont typeface="Wingdings" panose="05000000000000000000" pitchFamily="2" charset="2"/>
              <a:buChar char="§"/>
            </a:pPr>
            <a:r>
              <a:rPr lang="en-US" dirty="0"/>
              <a:t>Lift = Confidence({A, C} ⇒ {D}) / Support({D}) = 1.0 / 1.0 = 1</a:t>
            </a:r>
          </a:p>
          <a:p>
            <a:pPr marL="285750" indent="-285750">
              <a:buFont typeface="Wingdings" panose="05000000000000000000" pitchFamily="2" charset="2"/>
              <a:buChar char="§"/>
            </a:pPr>
            <a:r>
              <a:rPr lang="en-US" dirty="0"/>
              <a:t>Interpretation: {A, C} and {D} are also independent.</a:t>
            </a:r>
          </a:p>
          <a:p>
            <a:pPr marL="285750" indent="-285750">
              <a:buFont typeface="Wingdings" panose="05000000000000000000" pitchFamily="2" charset="2"/>
              <a:buChar char="§"/>
            </a:pPr>
            <a:r>
              <a:rPr lang="en-US" b="1" dirty="0"/>
              <a:t>{A} ⇒ {B, C, D}</a:t>
            </a:r>
          </a:p>
          <a:p>
            <a:pPr marL="285750" indent="-285750">
              <a:buFont typeface="Wingdings" panose="05000000000000000000" pitchFamily="2" charset="2"/>
              <a:buChar char="§"/>
            </a:pPr>
            <a:r>
              <a:rPr lang="en-US" dirty="0"/>
              <a:t>Lift = Confidence({A} ⇒ {B, C, D}) / Support({B, C, D}) = 0.67 / 0.4 = 1.675</a:t>
            </a:r>
          </a:p>
          <a:p>
            <a:pPr marL="285750" indent="-285750">
              <a:buFont typeface="Wingdings" panose="05000000000000000000" pitchFamily="2" charset="2"/>
              <a:buChar char="§"/>
            </a:pPr>
            <a:r>
              <a:rPr lang="en-US" dirty="0"/>
              <a:t>Interpretation: There is a positive association, as {A} increases the likelihood of {B, C, D} being bought together.</a:t>
            </a:r>
          </a:p>
        </p:txBody>
      </p:sp>
      <p:pic>
        <p:nvPicPr>
          <p:cNvPr id="8" name="Resim 7">
            <a:extLst>
              <a:ext uri="{FF2B5EF4-FFF2-40B4-BE49-F238E27FC236}">
                <a16:creationId xmlns:a16="http://schemas.microsoft.com/office/drawing/2014/main" id="{45E4026C-3627-4ADE-E0EC-30D922683326}"/>
              </a:ext>
            </a:extLst>
          </p:cNvPr>
          <p:cNvPicPr>
            <a:picLocks noChangeAspect="1"/>
          </p:cNvPicPr>
          <p:nvPr/>
        </p:nvPicPr>
        <p:blipFill>
          <a:blip r:embed="rId2"/>
          <a:stretch>
            <a:fillRect/>
          </a:stretch>
        </p:blipFill>
        <p:spPr>
          <a:xfrm>
            <a:off x="2168934" y="1362164"/>
            <a:ext cx="7440063" cy="2057687"/>
          </a:xfrm>
          <a:prstGeom prst="rect">
            <a:avLst/>
          </a:prstGeom>
        </p:spPr>
      </p:pic>
    </p:spTree>
    <p:extLst>
      <p:ext uri="{BB962C8B-B14F-4D97-AF65-F5344CB8AC3E}">
        <p14:creationId xmlns:p14="http://schemas.microsoft.com/office/powerpoint/2010/main" val="4039046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F49F8-E9D5-54EC-E19D-833575EEB263}"/>
            </a:ext>
          </a:extLst>
        </p:cNvPr>
        <p:cNvGrpSpPr/>
        <p:nvPr/>
      </p:nvGrpSpPr>
      <p:grpSpPr>
        <a:xfrm>
          <a:off x="0" y="0"/>
          <a:ext cx="0" cy="0"/>
          <a:chOff x="0" y="0"/>
          <a:chExt cx="0" cy="0"/>
        </a:xfrm>
      </p:grpSpPr>
      <p:sp>
        <p:nvSpPr>
          <p:cNvPr id="3" name="직사각형 2">
            <a:extLst>
              <a:ext uri="{FF2B5EF4-FFF2-40B4-BE49-F238E27FC236}">
                <a16:creationId xmlns:a16="http://schemas.microsoft.com/office/drawing/2014/main" id="{9E0EE0C4-F1A5-D789-A879-25338F1CD4B1}"/>
              </a:ext>
            </a:extLst>
          </p:cNvPr>
          <p:cNvSpPr/>
          <p:nvPr/>
        </p:nvSpPr>
        <p:spPr>
          <a:xfrm>
            <a:off x="17253" y="0"/>
            <a:ext cx="121920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ltLang="ko-KR" sz="2800" dirty="0">
              <a:ea typeface="맑은 고딕"/>
            </a:endParaRPr>
          </a:p>
          <a:p>
            <a:endParaRPr lang="en-US" altLang="ko-KR" sz="2800" dirty="0">
              <a:ea typeface="맑은 고딕"/>
            </a:endParaRPr>
          </a:p>
          <a:p>
            <a:r>
              <a:rPr lang="en-US" sz="2800" dirty="0"/>
              <a:t>6.3 Handling Larger Datasets in Main Memory</a:t>
            </a:r>
          </a:p>
          <a:p>
            <a:r>
              <a:rPr lang="en-US" altLang="ko-KR" sz="2800" dirty="0">
                <a:ea typeface="맑은 고딕"/>
              </a:rPr>
              <a:t> </a:t>
            </a:r>
            <a:endParaRPr lang="en-US" altLang="ko-KR" sz="2800" dirty="0">
              <a:ea typeface="맑은 고딕"/>
              <a:cs typeface="Calibri"/>
            </a:endParaRPr>
          </a:p>
          <a:p>
            <a:endParaRPr lang="ko-KR" altLang="en-US" sz="2800" dirty="0">
              <a:ea typeface="맑은 고딕"/>
            </a:endParaRPr>
          </a:p>
        </p:txBody>
      </p:sp>
      <p:sp>
        <p:nvSpPr>
          <p:cNvPr id="5" name="Metin kutusu 4">
            <a:extLst>
              <a:ext uri="{FF2B5EF4-FFF2-40B4-BE49-F238E27FC236}">
                <a16:creationId xmlns:a16="http://schemas.microsoft.com/office/drawing/2014/main" id="{7FF63978-F98C-70CD-BC7D-531D8C60FBF8}"/>
              </a:ext>
            </a:extLst>
          </p:cNvPr>
          <p:cNvSpPr txBox="1"/>
          <p:nvPr/>
        </p:nvSpPr>
        <p:spPr>
          <a:xfrm>
            <a:off x="17253" y="762000"/>
            <a:ext cx="12039600" cy="646331"/>
          </a:xfrm>
          <a:prstGeom prst="rect">
            <a:avLst/>
          </a:prstGeom>
          <a:noFill/>
        </p:spPr>
        <p:txBody>
          <a:bodyPr wrap="square" rtlCol="0">
            <a:spAutoFit/>
          </a:bodyPr>
          <a:lstStyle/>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p:txBody>
      </p:sp>
      <p:sp>
        <p:nvSpPr>
          <p:cNvPr id="4" name="Metin kutusu 3">
            <a:extLst>
              <a:ext uri="{FF2B5EF4-FFF2-40B4-BE49-F238E27FC236}">
                <a16:creationId xmlns:a16="http://schemas.microsoft.com/office/drawing/2014/main" id="{F9D63BAD-E9FC-C6E5-DD1E-3FF969FA5F0F}"/>
              </a:ext>
            </a:extLst>
          </p:cNvPr>
          <p:cNvSpPr txBox="1"/>
          <p:nvPr/>
        </p:nvSpPr>
        <p:spPr>
          <a:xfrm>
            <a:off x="76200" y="838200"/>
            <a:ext cx="11811000" cy="1477328"/>
          </a:xfrm>
          <a:prstGeom prst="rect">
            <a:avLst/>
          </a:prstGeom>
          <a:noFill/>
        </p:spPr>
        <p:txBody>
          <a:bodyPr wrap="square" rtlCol="0">
            <a:spAutoFit/>
          </a:bodyPr>
          <a:lstStyle/>
          <a:p>
            <a:pPr marL="285750" indent="-285750">
              <a:buFont typeface="Wingdings" panose="05000000000000000000" pitchFamily="2" charset="2"/>
              <a:buChar char="§"/>
            </a:pPr>
            <a:r>
              <a:rPr lang="en-US" dirty="0"/>
              <a:t>When dealing with very large datasets, efficiently managing memory is a crucial challenge for algorithms designed to find frequent </a:t>
            </a:r>
            <a:r>
              <a:rPr lang="en-US" dirty="0" err="1"/>
              <a:t>itemsets</a:t>
            </a:r>
            <a:r>
              <a:rPr lang="en-US" dirty="0"/>
              <a:t> and association rules.</a:t>
            </a:r>
          </a:p>
          <a:p>
            <a:pPr marL="285750" indent="-285750">
              <a:buFont typeface="Wingdings" panose="05000000000000000000" pitchFamily="2" charset="2"/>
              <a:buChar char="§"/>
            </a:pPr>
            <a:r>
              <a:rPr lang="en-US" dirty="0"/>
              <a:t>This part addresses methods to optimize memory usage so that even massive datasets can be processed without requiring excessive disk reads or "thrashing" (constant swapping between main memory and disk). The focus is on improving the </a:t>
            </a:r>
            <a:r>
              <a:rPr lang="en-US" b="1" dirty="0"/>
              <a:t>A-Priori algorithm</a:t>
            </a:r>
            <a:r>
              <a:rPr lang="en-US" dirty="0"/>
              <a:t> by modifying it to work within the memory limitations typical in real-world data mining tasks.</a:t>
            </a:r>
          </a:p>
        </p:txBody>
      </p:sp>
    </p:spTree>
    <p:extLst>
      <p:ext uri="{BB962C8B-B14F-4D97-AF65-F5344CB8AC3E}">
        <p14:creationId xmlns:p14="http://schemas.microsoft.com/office/powerpoint/2010/main" val="20751741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A4691-F1A9-5DC6-B60F-474677FCB78D}"/>
            </a:ext>
          </a:extLst>
        </p:cNvPr>
        <p:cNvGrpSpPr/>
        <p:nvPr/>
      </p:nvGrpSpPr>
      <p:grpSpPr>
        <a:xfrm>
          <a:off x="0" y="0"/>
          <a:ext cx="0" cy="0"/>
          <a:chOff x="0" y="0"/>
          <a:chExt cx="0" cy="0"/>
        </a:xfrm>
      </p:grpSpPr>
      <p:sp>
        <p:nvSpPr>
          <p:cNvPr id="3" name="직사각형 2">
            <a:extLst>
              <a:ext uri="{FF2B5EF4-FFF2-40B4-BE49-F238E27FC236}">
                <a16:creationId xmlns:a16="http://schemas.microsoft.com/office/drawing/2014/main" id="{1E132C79-933D-EAF4-CC64-F7C228C0B123}"/>
              </a:ext>
            </a:extLst>
          </p:cNvPr>
          <p:cNvSpPr/>
          <p:nvPr/>
        </p:nvSpPr>
        <p:spPr>
          <a:xfrm>
            <a:off x="17253" y="0"/>
            <a:ext cx="121920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ltLang="ko-KR" sz="2800" dirty="0">
              <a:ea typeface="맑은 고딕"/>
            </a:endParaRPr>
          </a:p>
          <a:p>
            <a:endParaRPr lang="en-US" altLang="ko-KR" sz="2800" dirty="0">
              <a:ea typeface="맑은 고딕"/>
            </a:endParaRPr>
          </a:p>
          <a:p>
            <a:r>
              <a:rPr lang="en-US" sz="2800" dirty="0"/>
              <a:t>6.3.1 The Algorithm of Park, Chen, and Yu</a:t>
            </a:r>
          </a:p>
          <a:p>
            <a:r>
              <a:rPr lang="en-US" altLang="ko-KR" sz="2800" dirty="0">
                <a:ea typeface="맑은 고딕"/>
              </a:rPr>
              <a:t> </a:t>
            </a:r>
            <a:endParaRPr lang="en-US" altLang="ko-KR" sz="2800" dirty="0">
              <a:ea typeface="맑은 고딕"/>
              <a:cs typeface="Calibri"/>
            </a:endParaRPr>
          </a:p>
          <a:p>
            <a:endParaRPr lang="ko-KR" altLang="en-US" sz="2800" dirty="0">
              <a:ea typeface="맑은 고딕"/>
            </a:endParaRPr>
          </a:p>
        </p:txBody>
      </p:sp>
      <p:sp>
        <p:nvSpPr>
          <p:cNvPr id="5" name="Metin kutusu 4">
            <a:extLst>
              <a:ext uri="{FF2B5EF4-FFF2-40B4-BE49-F238E27FC236}">
                <a16:creationId xmlns:a16="http://schemas.microsoft.com/office/drawing/2014/main" id="{BFB71BF0-BFFA-57A3-EA25-772F16DE1897}"/>
              </a:ext>
            </a:extLst>
          </p:cNvPr>
          <p:cNvSpPr txBox="1"/>
          <p:nvPr/>
        </p:nvSpPr>
        <p:spPr>
          <a:xfrm>
            <a:off x="17253" y="762000"/>
            <a:ext cx="12039600" cy="646331"/>
          </a:xfrm>
          <a:prstGeom prst="rect">
            <a:avLst/>
          </a:prstGeom>
          <a:noFill/>
        </p:spPr>
        <p:txBody>
          <a:bodyPr wrap="square" rtlCol="0">
            <a:spAutoFit/>
          </a:bodyPr>
          <a:lstStyle/>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p:txBody>
      </p:sp>
      <p:sp>
        <p:nvSpPr>
          <p:cNvPr id="2" name="Metin kutusu 1">
            <a:extLst>
              <a:ext uri="{FF2B5EF4-FFF2-40B4-BE49-F238E27FC236}">
                <a16:creationId xmlns:a16="http://schemas.microsoft.com/office/drawing/2014/main" id="{D4280901-344B-8A9E-8508-863F1ED9CB10}"/>
              </a:ext>
            </a:extLst>
          </p:cNvPr>
          <p:cNvSpPr txBox="1"/>
          <p:nvPr/>
        </p:nvSpPr>
        <p:spPr>
          <a:xfrm>
            <a:off x="17253" y="838200"/>
            <a:ext cx="12157494" cy="5909310"/>
          </a:xfrm>
          <a:prstGeom prst="rect">
            <a:avLst/>
          </a:prstGeom>
          <a:noFill/>
        </p:spPr>
        <p:txBody>
          <a:bodyPr wrap="square" rtlCol="0">
            <a:spAutoFit/>
          </a:bodyPr>
          <a:lstStyle/>
          <a:p>
            <a:pPr marL="285750" indent="-285750">
              <a:buFont typeface="Wingdings" panose="05000000000000000000" pitchFamily="2" charset="2"/>
              <a:buChar char="§"/>
            </a:pPr>
            <a:r>
              <a:rPr lang="en-US" dirty="0"/>
              <a:t>The PCY algorithm (Park-Chen-Yu algorithm) is a data mining algorithm that is used to find frequent </a:t>
            </a:r>
            <a:r>
              <a:rPr lang="en-US" dirty="0" err="1"/>
              <a:t>itemsets</a:t>
            </a:r>
            <a:r>
              <a:rPr lang="en-US" dirty="0"/>
              <a:t> in large datasets.</a:t>
            </a:r>
          </a:p>
          <a:p>
            <a:pPr marL="285750" indent="-285750">
              <a:buFont typeface="Wingdings" panose="05000000000000000000" pitchFamily="2" charset="2"/>
              <a:buChar char="§"/>
            </a:pPr>
            <a:r>
              <a:rPr lang="en-US" dirty="0"/>
              <a:t>The PCY algorithm uses hashing to efficiently count item set frequencies and reduce overall computational cost. The basic idea is to use a hash function to map </a:t>
            </a:r>
            <a:r>
              <a:rPr lang="en-US" dirty="0" err="1"/>
              <a:t>itemsets</a:t>
            </a:r>
            <a:r>
              <a:rPr lang="en-US" dirty="0"/>
              <a:t> to hash buckets, followed by a hash table to count the frequency of </a:t>
            </a:r>
            <a:r>
              <a:rPr lang="en-US" dirty="0" err="1"/>
              <a:t>itemsets</a:t>
            </a:r>
            <a:r>
              <a:rPr lang="en-US" dirty="0"/>
              <a:t> in each bucket.</a:t>
            </a:r>
          </a:p>
          <a:p>
            <a:pPr marL="285750" indent="-285750">
              <a:buFont typeface="Wingdings" panose="05000000000000000000" pitchFamily="2" charset="2"/>
              <a:buChar char="§"/>
            </a:pPr>
            <a:r>
              <a:rPr lang="en-US" dirty="0"/>
              <a:t>By utilizing a hash table in the first pass, it reduces the number of candidate item pairs that need to be checked in subsequent passes, optimizing memory usage and improving performance.</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b="1" dirty="0"/>
              <a:t>The PCY Algorithm builds on the following ideas:</a:t>
            </a:r>
          </a:p>
          <a:p>
            <a:pPr marL="285750" indent="-285750">
              <a:buFont typeface="Wingdings" panose="05000000000000000000" pitchFamily="2" charset="2"/>
              <a:buChar char="§"/>
            </a:pPr>
            <a:r>
              <a:rPr lang="en-US" b="1" dirty="0"/>
              <a:t>Frequent </a:t>
            </a:r>
            <a:r>
              <a:rPr lang="en-US" b="1" dirty="0" err="1"/>
              <a:t>Itemsets</a:t>
            </a:r>
            <a:r>
              <a:rPr lang="en-US" b="1" dirty="0"/>
              <a:t> and Candidate Pair Reduction:</a:t>
            </a:r>
          </a:p>
          <a:p>
            <a:pPr marL="285750" indent="-285750">
              <a:buFont typeface="Wingdings" panose="05000000000000000000" pitchFamily="2" charset="2"/>
              <a:buChar char="§"/>
            </a:pPr>
            <a:r>
              <a:rPr lang="en-US" dirty="0"/>
              <a:t>Like A-Priori, the PCY algorithm identifies frequent </a:t>
            </a:r>
            <a:r>
              <a:rPr lang="en-US" dirty="0" err="1"/>
              <a:t>itemsets</a:t>
            </a:r>
            <a:r>
              <a:rPr lang="en-US" dirty="0"/>
              <a:t> by eliminating infrequent candidates early on. It begins with single items, then progresses to pairs, triples, and larger </a:t>
            </a:r>
            <a:r>
              <a:rPr lang="en-US" dirty="0" err="1"/>
              <a:t>itemsets.However</a:t>
            </a:r>
            <a:r>
              <a:rPr lang="en-US" dirty="0"/>
              <a:t>, unlike A-Priori, which requires memory for counting every possible pair of items, PCY reduces the number of pairs by filtering with a hash table.</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b="1" dirty="0"/>
              <a:t>Hash Table for Pair Counting</a:t>
            </a:r>
            <a:r>
              <a:rPr lang="en-US" dirty="0"/>
              <a:t>:</a:t>
            </a:r>
          </a:p>
          <a:p>
            <a:pPr marL="285750" indent="-285750">
              <a:buFont typeface="Wingdings" panose="05000000000000000000" pitchFamily="2" charset="2"/>
              <a:buChar char="§"/>
            </a:pPr>
            <a:r>
              <a:rPr lang="en-US" dirty="0"/>
              <a:t>During the first pass, the PCY algorithm uses a hash table to keep track of counts for item pairs. Each pair of items within a transaction is hashed into a bucket in this table, and the count of that bucket is incremented.</a:t>
            </a:r>
          </a:p>
          <a:p>
            <a:pPr marL="285750" indent="-285750">
              <a:buFont typeface="Wingdings" panose="05000000000000000000" pitchFamily="2" charset="2"/>
              <a:buChar char="§"/>
            </a:pPr>
            <a:r>
              <a:rPr lang="en-US" dirty="0"/>
              <a:t>By doing this, PCY identifies which </a:t>
            </a:r>
            <a:r>
              <a:rPr lang="en-US" b="1" dirty="0"/>
              <a:t>buckets are “frequent”</a:t>
            </a:r>
            <a:r>
              <a:rPr lang="en-US" dirty="0"/>
              <a:t>—those whose counts meet or exceed a specified support threshold. Only pairs that fall into these frequent buckets are considered in the next pass, significantly reducing the number of candidates.</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p:txBody>
      </p:sp>
    </p:spTree>
    <p:extLst>
      <p:ext uri="{BB962C8B-B14F-4D97-AF65-F5344CB8AC3E}">
        <p14:creationId xmlns:p14="http://schemas.microsoft.com/office/powerpoint/2010/main" val="28013688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6F535-8DE6-3F62-8AD4-DB87E5D6B029}"/>
            </a:ext>
          </a:extLst>
        </p:cNvPr>
        <p:cNvGrpSpPr/>
        <p:nvPr/>
      </p:nvGrpSpPr>
      <p:grpSpPr>
        <a:xfrm>
          <a:off x="0" y="0"/>
          <a:ext cx="0" cy="0"/>
          <a:chOff x="0" y="0"/>
          <a:chExt cx="0" cy="0"/>
        </a:xfrm>
      </p:grpSpPr>
      <p:sp>
        <p:nvSpPr>
          <p:cNvPr id="3" name="직사각형 2">
            <a:extLst>
              <a:ext uri="{FF2B5EF4-FFF2-40B4-BE49-F238E27FC236}">
                <a16:creationId xmlns:a16="http://schemas.microsoft.com/office/drawing/2014/main" id="{9FF951DA-1236-6443-6DB8-063046860E53}"/>
              </a:ext>
            </a:extLst>
          </p:cNvPr>
          <p:cNvSpPr/>
          <p:nvPr/>
        </p:nvSpPr>
        <p:spPr>
          <a:xfrm>
            <a:off x="17253" y="0"/>
            <a:ext cx="121920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ltLang="ko-KR" sz="2800" dirty="0">
              <a:ea typeface="맑은 고딕"/>
            </a:endParaRPr>
          </a:p>
          <a:p>
            <a:endParaRPr lang="en-US" altLang="ko-KR" sz="2800" dirty="0">
              <a:ea typeface="맑은 고딕"/>
            </a:endParaRPr>
          </a:p>
          <a:p>
            <a:r>
              <a:rPr lang="en-US" sz="2800" dirty="0"/>
              <a:t>6.3.1 The Algorithm of Park, Chen, and Yu</a:t>
            </a:r>
          </a:p>
          <a:p>
            <a:r>
              <a:rPr lang="en-US" altLang="ko-KR" sz="2800" dirty="0">
                <a:ea typeface="맑은 고딕"/>
              </a:rPr>
              <a:t> </a:t>
            </a:r>
            <a:endParaRPr lang="en-US" altLang="ko-KR" sz="2800" dirty="0">
              <a:ea typeface="맑은 고딕"/>
              <a:cs typeface="Calibri"/>
            </a:endParaRPr>
          </a:p>
          <a:p>
            <a:endParaRPr lang="ko-KR" altLang="en-US" sz="2800" dirty="0">
              <a:ea typeface="맑은 고딕"/>
            </a:endParaRPr>
          </a:p>
        </p:txBody>
      </p:sp>
      <p:sp>
        <p:nvSpPr>
          <p:cNvPr id="5" name="Metin kutusu 4">
            <a:extLst>
              <a:ext uri="{FF2B5EF4-FFF2-40B4-BE49-F238E27FC236}">
                <a16:creationId xmlns:a16="http://schemas.microsoft.com/office/drawing/2014/main" id="{6F87AB49-B252-E5F9-C27E-02DE12CBDD82}"/>
              </a:ext>
            </a:extLst>
          </p:cNvPr>
          <p:cNvSpPr txBox="1"/>
          <p:nvPr/>
        </p:nvSpPr>
        <p:spPr>
          <a:xfrm>
            <a:off x="17253" y="762000"/>
            <a:ext cx="12039600" cy="646331"/>
          </a:xfrm>
          <a:prstGeom prst="rect">
            <a:avLst/>
          </a:prstGeom>
          <a:noFill/>
        </p:spPr>
        <p:txBody>
          <a:bodyPr wrap="square" rtlCol="0">
            <a:spAutoFit/>
          </a:bodyPr>
          <a:lstStyle/>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p:txBody>
      </p:sp>
      <p:sp>
        <p:nvSpPr>
          <p:cNvPr id="2" name="Metin kutusu 1">
            <a:extLst>
              <a:ext uri="{FF2B5EF4-FFF2-40B4-BE49-F238E27FC236}">
                <a16:creationId xmlns:a16="http://schemas.microsoft.com/office/drawing/2014/main" id="{ED4A7DA8-9849-D449-262E-C66C0DD14C20}"/>
              </a:ext>
            </a:extLst>
          </p:cNvPr>
          <p:cNvSpPr txBox="1"/>
          <p:nvPr/>
        </p:nvSpPr>
        <p:spPr>
          <a:xfrm>
            <a:off x="17253" y="838200"/>
            <a:ext cx="12157494" cy="7571303"/>
          </a:xfrm>
          <a:prstGeom prst="rect">
            <a:avLst/>
          </a:prstGeom>
          <a:noFill/>
        </p:spPr>
        <p:txBody>
          <a:bodyPr wrap="square" rtlCol="0">
            <a:spAutoFit/>
          </a:bodyPr>
          <a:lstStyle/>
          <a:p>
            <a:pPr marL="285750" indent="-285750">
              <a:buFont typeface="Wingdings" panose="05000000000000000000" pitchFamily="2" charset="2"/>
              <a:buChar char="§"/>
            </a:pPr>
            <a:r>
              <a:rPr lang="en-US" b="1" dirty="0"/>
              <a:t>Bitmap for Hash Table Summarization</a:t>
            </a:r>
            <a:r>
              <a:rPr lang="en-US" dirty="0"/>
              <a:t>:</a:t>
            </a:r>
          </a:p>
          <a:p>
            <a:pPr marL="285750" indent="-285750">
              <a:buFont typeface="Wingdings" panose="05000000000000000000" pitchFamily="2" charset="2"/>
              <a:buChar char="§"/>
            </a:pPr>
            <a:r>
              <a:rPr lang="en-US" dirty="0"/>
              <a:t>At the end of the first pass, each bucket in the hash table is marked as either frequent or infrequent based on whether its count meets the support threshold.</a:t>
            </a:r>
          </a:p>
          <a:p>
            <a:pPr marL="285750" indent="-285750">
              <a:buFont typeface="Wingdings" panose="05000000000000000000" pitchFamily="2" charset="2"/>
              <a:buChar char="§"/>
            </a:pPr>
            <a:r>
              <a:rPr lang="en-US" dirty="0"/>
              <a:t>The results are stored as a </a:t>
            </a:r>
            <a:r>
              <a:rPr lang="en-US" b="1" dirty="0"/>
              <a:t>bitmap</a:t>
            </a:r>
            <a:r>
              <a:rPr lang="en-US" dirty="0"/>
              <a:t>—a compact array of bits where each bit represents a bucket’s frequency status (1 for frequent, 0 for infrequent). This bitmap is then used in the second pass to filter out pairs that hash to infrequent buckets.</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b="1" dirty="0"/>
              <a:t>Example</a:t>
            </a:r>
          </a:p>
          <a:p>
            <a:pPr marL="285750" indent="-285750">
              <a:buFont typeface="Wingdings" panose="05000000000000000000" pitchFamily="2" charset="2"/>
              <a:buChar char="§"/>
            </a:pPr>
            <a:r>
              <a:rPr lang="en-US" dirty="0"/>
              <a:t>Imagine a dataset with the following transactions:</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dirty="0"/>
              <a:t>With a support threshold of 2:</a:t>
            </a:r>
          </a:p>
          <a:p>
            <a:pPr marL="285750" indent="-285750">
              <a:buFont typeface="Wingdings" panose="05000000000000000000" pitchFamily="2" charset="2"/>
              <a:buChar char="§"/>
            </a:pPr>
            <a:r>
              <a:rPr lang="en-US" b="1" dirty="0"/>
              <a:t>First Pass</a:t>
            </a:r>
            <a:r>
              <a:rPr lang="en-US" dirty="0"/>
              <a:t>:</a:t>
            </a:r>
          </a:p>
          <a:p>
            <a:pPr marL="742950" lvl="1" indent="-285750">
              <a:buFont typeface="Wingdings" panose="05000000000000000000" pitchFamily="2" charset="2"/>
              <a:buChar char="§"/>
            </a:pPr>
            <a:r>
              <a:rPr lang="en-US" dirty="0"/>
              <a:t>Count each individual item and create a hash table for pairs.</a:t>
            </a:r>
          </a:p>
          <a:p>
            <a:pPr marL="742950" lvl="1" indent="-285750">
              <a:buFont typeface="Wingdings" panose="05000000000000000000" pitchFamily="2" charset="2"/>
              <a:buChar char="§"/>
            </a:pPr>
            <a:r>
              <a:rPr lang="en-US" dirty="0"/>
              <a:t>For instance, pairs in T1 like (A,B),(A,C), and (B,C) are hashed into buckets in the hash table, incrementing counts in those buckets.</a:t>
            </a:r>
          </a:p>
          <a:p>
            <a:pPr marL="285750" indent="-285750">
              <a:buFont typeface="Wingdings" panose="05000000000000000000" pitchFamily="2" charset="2"/>
              <a:buChar char="§"/>
            </a:pPr>
            <a:r>
              <a:rPr lang="en-US" b="1" dirty="0"/>
              <a:t>Frequent Buckets</a:t>
            </a:r>
            <a:r>
              <a:rPr lang="en-US" dirty="0"/>
              <a:t>:</a:t>
            </a:r>
          </a:p>
          <a:p>
            <a:pPr marL="742950" lvl="1" indent="-285750">
              <a:buFont typeface="Wingdings" panose="05000000000000000000" pitchFamily="2" charset="2"/>
              <a:buChar char="§"/>
            </a:pPr>
            <a:r>
              <a:rPr lang="en-US" dirty="0"/>
              <a:t>After the first pass, each bucket in the hash table is evaluated. If a bucket’s count meets the threshold (e.g., count ≥ 2), it’s marked as frequent in the bitmap.</a:t>
            </a:r>
          </a:p>
          <a:p>
            <a:pPr marL="285750" indent="-285750">
              <a:buFont typeface="Wingdings" panose="05000000000000000000" pitchFamily="2" charset="2"/>
              <a:buChar char="§"/>
            </a:pPr>
            <a:r>
              <a:rPr lang="en-US" b="1" dirty="0"/>
              <a:t>Second Pass</a:t>
            </a:r>
            <a:r>
              <a:rPr lang="en-US" dirty="0"/>
              <a:t>:</a:t>
            </a:r>
          </a:p>
          <a:p>
            <a:pPr marL="742950" lvl="1" indent="-285750">
              <a:buFont typeface="Wingdings" panose="05000000000000000000" pitchFamily="2" charset="2"/>
              <a:buChar char="§"/>
            </a:pPr>
            <a:r>
              <a:rPr lang="en-US" dirty="0"/>
              <a:t>Only pairs that hash to frequent buckets and consist of frequent individual items are considered, significantly reducing the number of pairs checked.</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p:txBody>
      </p:sp>
      <p:pic>
        <p:nvPicPr>
          <p:cNvPr id="6" name="Resim 5">
            <a:extLst>
              <a:ext uri="{FF2B5EF4-FFF2-40B4-BE49-F238E27FC236}">
                <a16:creationId xmlns:a16="http://schemas.microsoft.com/office/drawing/2014/main" id="{E53D4E9C-F4FF-F924-BA8B-1FFA56E79199}"/>
              </a:ext>
            </a:extLst>
          </p:cNvPr>
          <p:cNvPicPr>
            <a:picLocks noChangeAspect="1"/>
          </p:cNvPicPr>
          <p:nvPr/>
        </p:nvPicPr>
        <p:blipFill>
          <a:blip r:embed="rId2"/>
          <a:stretch>
            <a:fillRect/>
          </a:stretch>
        </p:blipFill>
        <p:spPr>
          <a:xfrm>
            <a:off x="5334000" y="2438400"/>
            <a:ext cx="1657560" cy="1476581"/>
          </a:xfrm>
          <a:prstGeom prst="rect">
            <a:avLst/>
          </a:prstGeom>
        </p:spPr>
      </p:pic>
    </p:spTree>
    <p:extLst>
      <p:ext uri="{BB962C8B-B14F-4D97-AF65-F5344CB8AC3E}">
        <p14:creationId xmlns:p14="http://schemas.microsoft.com/office/powerpoint/2010/main" val="35540609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8E6FF-9DCA-45D5-DF11-B02DA97434FB}"/>
            </a:ext>
          </a:extLst>
        </p:cNvPr>
        <p:cNvGrpSpPr/>
        <p:nvPr/>
      </p:nvGrpSpPr>
      <p:grpSpPr>
        <a:xfrm>
          <a:off x="0" y="0"/>
          <a:ext cx="0" cy="0"/>
          <a:chOff x="0" y="0"/>
          <a:chExt cx="0" cy="0"/>
        </a:xfrm>
      </p:grpSpPr>
      <p:sp>
        <p:nvSpPr>
          <p:cNvPr id="3" name="직사각형 2">
            <a:extLst>
              <a:ext uri="{FF2B5EF4-FFF2-40B4-BE49-F238E27FC236}">
                <a16:creationId xmlns:a16="http://schemas.microsoft.com/office/drawing/2014/main" id="{E8C07ACB-7D73-E285-9C7F-457AF14E189B}"/>
              </a:ext>
            </a:extLst>
          </p:cNvPr>
          <p:cNvSpPr/>
          <p:nvPr/>
        </p:nvSpPr>
        <p:spPr>
          <a:xfrm>
            <a:off x="17253" y="0"/>
            <a:ext cx="121920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ltLang="ko-KR" sz="2800" dirty="0">
              <a:ea typeface="맑은 고딕"/>
            </a:endParaRPr>
          </a:p>
          <a:p>
            <a:r>
              <a:rPr lang="en-US" sz="2800" dirty="0"/>
              <a:t>6.3.2 The Multistage Algorithm</a:t>
            </a:r>
            <a:r>
              <a:rPr lang="en-US" altLang="ko-KR" sz="2800" dirty="0">
                <a:ea typeface="맑은 고딕"/>
              </a:rPr>
              <a:t> </a:t>
            </a:r>
            <a:endParaRPr lang="en-US" altLang="ko-KR" sz="2800" dirty="0">
              <a:ea typeface="맑은 고딕"/>
              <a:cs typeface="Calibri"/>
            </a:endParaRPr>
          </a:p>
          <a:p>
            <a:endParaRPr lang="ko-KR" altLang="en-US" sz="2800" dirty="0">
              <a:ea typeface="맑은 고딕"/>
            </a:endParaRPr>
          </a:p>
        </p:txBody>
      </p:sp>
      <p:sp>
        <p:nvSpPr>
          <p:cNvPr id="5" name="Metin kutusu 4">
            <a:extLst>
              <a:ext uri="{FF2B5EF4-FFF2-40B4-BE49-F238E27FC236}">
                <a16:creationId xmlns:a16="http://schemas.microsoft.com/office/drawing/2014/main" id="{6A4B32DF-6393-2CFB-D18E-70ACA90C373E}"/>
              </a:ext>
            </a:extLst>
          </p:cNvPr>
          <p:cNvSpPr txBox="1"/>
          <p:nvPr/>
        </p:nvSpPr>
        <p:spPr>
          <a:xfrm>
            <a:off x="17253" y="762000"/>
            <a:ext cx="12039600" cy="646331"/>
          </a:xfrm>
          <a:prstGeom prst="rect">
            <a:avLst/>
          </a:prstGeom>
          <a:noFill/>
        </p:spPr>
        <p:txBody>
          <a:bodyPr wrap="square" rtlCol="0">
            <a:spAutoFit/>
          </a:bodyPr>
          <a:lstStyle/>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p:txBody>
      </p:sp>
      <p:sp>
        <p:nvSpPr>
          <p:cNvPr id="2" name="Metin kutusu 1">
            <a:extLst>
              <a:ext uri="{FF2B5EF4-FFF2-40B4-BE49-F238E27FC236}">
                <a16:creationId xmlns:a16="http://schemas.microsoft.com/office/drawing/2014/main" id="{DC355ACB-A16A-FD3F-1DA6-BD0E977E8079}"/>
              </a:ext>
            </a:extLst>
          </p:cNvPr>
          <p:cNvSpPr txBox="1"/>
          <p:nvPr/>
        </p:nvSpPr>
        <p:spPr>
          <a:xfrm>
            <a:off x="17253" y="838200"/>
            <a:ext cx="12157494" cy="3693319"/>
          </a:xfrm>
          <a:prstGeom prst="rect">
            <a:avLst/>
          </a:prstGeom>
          <a:noFill/>
        </p:spPr>
        <p:txBody>
          <a:bodyPr wrap="square" rtlCol="0">
            <a:spAutoFit/>
          </a:bodyPr>
          <a:lstStyle/>
          <a:p>
            <a:pPr marL="285750" indent="-285750">
              <a:buFont typeface="Wingdings" panose="05000000000000000000" pitchFamily="2" charset="2"/>
              <a:buChar char="§"/>
            </a:pPr>
            <a:r>
              <a:rPr lang="en-US" dirty="0"/>
              <a:t>The </a:t>
            </a:r>
            <a:r>
              <a:rPr lang="en-US" b="1" dirty="0"/>
              <a:t>Multistage Algorithm</a:t>
            </a:r>
            <a:r>
              <a:rPr lang="en-US" dirty="0"/>
              <a:t> is an enhancement of the PCY Algorithm that uses multiple hashing stages to further reduce the number of candidate pairs that need to be counted. This approach is especially useful when dealing with extremely large datasets, where even the candidate reduction from the PCY Algorithm may still leave too many pairs to process in main memory. By adding additional passes with new hash functions, the Multistage Algorithm iteratively filters out unlikely candidates, thus optimizing memory usage.</a:t>
            </a:r>
          </a:p>
          <a:p>
            <a:pPr marL="285750" indent="-285750">
              <a:buFont typeface="Wingdings" panose="05000000000000000000" pitchFamily="2" charset="2"/>
              <a:buChar char="§"/>
            </a:pPr>
            <a:r>
              <a:rPr lang="en-US" dirty="0"/>
              <a:t>These algorithms extend PCY with additional hashing stages to further narrow down frequent items in very large datasets by filtering out unlikely candidates earlier.</a:t>
            </a:r>
          </a:p>
          <a:p>
            <a:pPr marL="285750" indent="-285750">
              <a:buFont typeface="Wingdings" panose="05000000000000000000" pitchFamily="2" charset="2"/>
              <a:buChar char="§"/>
            </a:pPr>
            <a:r>
              <a:rPr lang="en-US" dirty="0"/>
              <a:t>These are further refinements that involve multiple hashing passes or parallel hash tables, allowing for greater memory optimization by filtering out unlikely candidates in earlier stages.</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p:txBody>
      </p:sp>
    </p:spTree>
    <p:extLst>
      <p:ext uri="{BB962C8B-B14F-4D97-AF65-F5344CB8AC3E}">
        <p14:creationId xmlns:p14="http://schemas.microsoft.com/office/powerpoint/2010/main" val="14817845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A5332-3836-906F-394C-D00503B6B656}"/>
            </a:ext>
          </a:extLst>
        </p:cNvPr>
        <p:cNvGrpSpPr/>
        <p:nvPr/>
      </p:nvGrpSpPr>
      <p:grpSpPr>
        <a:xfrm>
          <a:off x="0" y="0"/>
          <a:ext cx="0" cy="0"/>
          <a:chOff x="0" y="0"/>
          <a:chExt cx="0" cy="0"/>
        </a:xfrm>
      </p:grpSpPr>
      <p:sp>
        <p:nvSpPr>
          <p:cNvPr id="3" name="직사각형 2">
            <a:extLst>
              <a:ext uri="{FF2B5EF4-FFF2-40B4-BE49-F238E27FC236}">
                <a16:creationId xmlns:a16="http://schemas.microsoft.com/office/drawing/2014/main" id="{DA2AEAB0-D294-93C9-EF6F-3958841D9516}"/>
              </a:ext>
            </a:extLst>
          </p:cNvPr>
          <p:cNvSpPr/>
          <p:nvPr/>
        </p:nvSpPr>
        <p:spPr>
          <a:xfrm>
            <a:off x="17253" y="0"/>
            <a:ext cx="121920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ltLang="ko-KR" sz="2800" dirty="0">
              <a:ea typeface="맑은 고딕"/>
            </a:endParaRPr>
          </a:p>
          <a:p>
            <a:r>
              <a:rPr lang="en-US" sz="2800" dirty="0"/>
              <a:t>6.3.2 The Multistage Algorithm</a:t>
            </a:r>
            <a:r>
              <a:rPr lang="en-US" altLang="ko-KR" sz="2800" dirty="0">
                <a:ea typeface="맑은 고딕"/>
              </a:rPr>
              <a:t> </a:t>
            </a:r>
            <a:endParaRPr lang="en-US" altLang="ko-KR" sz="2800" dirty="0">
              <a:ea typeface="맑은 고딕"/>
              <a:cs typeface="Calibri"/>
            </a:endParaRPr>
          </a:p>
          <a:p>
            <a:endParaRPr lang="ko-KR" altLang="en-US" sz="2800" dirty="0">
              <a:ea typeface="맑은 고딕"/>
            </a:endParaRPr>
          </a:p>
        </p:txBody>
      </p:sp>
      <p:sp>
        <p:nvSpPr>
          <p:cNvPr id="5" name="Metin kutusu 4">
            <a:extLst>
              <a:ext uri="{FF2B5EF4-FFF2-40B4-BE49-F238E27FC236}">
                <a16:creationId xmlns:a16="http://schemas.microsoft.com/office/drawing/2014/main" id="{C2AFA9AC-7426-8750-5F6B-D10C64865275}"/>
              </a:ext>
            </a:extLst>
          </p:cNvPr>
          <p:cNvSpPr txBox="1"/>
          <p:nvPr/>
        </p:nvSpPr>
        <p:spPr>
          <a:xfrm>
            <a:off x="17253" y="762000"/>
            <a:ext cx="12039600" cy="646331"/>
          </a:xfrm>
          <a:prstGeom prst="rect">
            <a:avLst/>
          </a:prstGeom>
          <a:noFill/>
        </p:spPr>
        <p:txBody>
          <a:bodyPr wrap="square" rtlCol="0">
            <a:spAutoFit/>
          </a:bodyPr>
          <a:lstStyle/>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p:txBody>
      </p:sp>
      <p:sp>
        <p:nvSpPr>
          <p:cNvPr id="2" name="Metin kutusu 1">
            <a:extLst>
              <a:ext uri="{FF2B5EF4-FFF2-40B4-BE49-F238E27FC236}">
                <a16:creationId xmlns:a16="http://schemas.microsoft.com/office/drawing/2014/main" id="{0BB1800D-B80B-046F-83DF-C389FC8F83C2}"/>
              </a:ext>
            </a:extLst>
          </p:cNvPr>
          <p:cNvSpPr txBox="1"/>
          <p:nvPr/>
        </p:nvSpPr>
        <p:spPr>
          <a:xfrm>
            <a:off x="27317" y="754811"/>
            <a:ext cx="12157494" cy="6186309"/>
          </a:xfrm>
          <a:prstGeom prst="rect">
            <a:avLst/>
          </a:prstGeom>
          <a:noFill/>
        </p:spPr>
        <p:txBody>
          <a:bodyPr wrap="square" rtlCol="0">
            <a:spAutoFit/>
          </a:bodyPr>
          <a:lstStyle/>
          <a:p>
            <a:pPr marL="285750" indent="-285750">
              <a:buFont typeface="Wingdings" panose="05000000000000000000" pitchFamily="2" charset="2"/>
              <a:buChar char="§"/>
            </a:pPr>
            <a:r>
              <a:rPr lang="en-US" b="1" dirty="0"/>
              <a:t>Multiple Hash Tables for Filtering:</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dirty="0"/>
              <a:t>The Multistage Algorithm uses several hash tables, each with a different hash function, across multiple passes. Each pass progressively filters candidate pairs, retaining only those that meet the support threshold across multiple hash tables.</a:t>
            </a:r>
          </a:p>
          <a:p>
            <a:pPr marL="285750" indent="-285750">
              <a:buFont typeface="Wingdings" panose="05000000000000000000" pitchFamily="2" charset="2"/>
              <a:buChar char="§"/>
            </a:pPr>
            <a:r>
              <a:rPr lang="en-US" dirty="0"/>
              <a:t>In the first pass, pairs are hashed into buckets in the first hash table, just like in the PCY algorithm. Subsequent passes use new hash functions and hash tables to further refine the candidate set.</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b="1" dirty="0"/>
              <a:t>Frequent Buckets and Bitmap Summarization:</a:t>
            </a:r>
          </a:p>
          <a:p>
            <a:pPr marL="285750" indent="-285750">
              <a:buFont typeface="Wingdings" panose="05000000000000000000" pitchFamily="2" charset="2"/>
              <a:buChar char="§"/>
            </a:pPr>
            <a:r>
              <a:rPr lang="en-US" dirty="0"/>
              <a:t>After each pass, each hash table is summarized into a bitmap (an array of bits), marking buckets that meet the support threshold as frequent (1) and the rest as infrequent (0).</a:t>
            </a:r>
          </a:p>
          <a:p>
            <a:pPr marL="285750" indent="-285750">
              <a:buFont typeface="Wingdings" panose="05000000000000000000" pitchFamily="2" charset="2"/>
              <a:buChar char="§"/>
            </a:pPr>
            <a:r>
              <a:rPr lang="en-US" dirty="0"/>
              <a:t>Each bitmap represents the frequency information of a hash table, and it is stored in main memory to be used as a filter for candidate pairs in the following pass.</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b="1" dirty="0"/>
              <a:t>Progressive Filtering with New Hash Functions:</a:t>
            </a:r>
          </a:p>
          <a:p>
            <a:pPr marL="285750" indent="-285750">
              <a:buFont typeface="Wingdings" panose="05000000000000000000" pitchFamily="2" charset="2"/>
              <a:buChar char="§"/>
            </a:pPr>
            <a:r>
              <a:rPr lang="en-US" dirty="0"/>
              <a:t>In each successive pass, pairs are hashed into a new hash table only if they passed the frequency test in all previous hash tables (indicated by the bitmap).</a:t>
            </a:r>
          </a:p>
          <a:p>
            <a:pPr marL="285750" indent="-285750">
              <a:buFont typeface="Wingdings" panose="05000000000000000000" pitchFamily="2" charset="2"/>
              <a:buChar char="§"/>
            </a:pPr>
            <a:r>
              <a:rPr lang="en-US" dirty="0"/>
              <a:t>This multi-stage hashing allows the algorithm to reduce the number of candidate pairs significantly by the time it reaches the last pass, where only highly likely candidate pairs remain.</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p:txBody>
      </p:sp>
    </p:spTree>
    <p:extLst>
      <p:ext uri="{BB962C8B-B14F-4D97-AF65-F5344CB8AC3E}">
        <p14:creationId xmlns:p14="http://schemas.microsoft.com/office/powerpoint/2010/main" val="17073975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B655A-5691-024E-0DF9-20D3991E1773}"/>
            </a:ext>
          </a:extLst>
        </p:cNvPr>
        <p:cNvGrpSpPr/>
        <p:nvPr/>
      </p:nvGrpSpPr>
      <p:grpSpPr>
        <a:xfrm>
          <a:off x="0" y="0"/>
          <a:ext cx="0" cy="0"/>
          <a:chOff x="0" y="0"/>
          <a:chExt cx="0" cy="0"/>
        </a:xfrm>
      </p:grpSpPr>
      <p:sp>
        <p:nvSpPr>
          <p:cNvPr id="3" name="직사각형 2">
            <a:extLst>
              <a:ext uri="{FF2B5EF4-FFF2-40B4-BE49-F238E27FC236}">
                <a16:creationId xmlns:a16="http://schemas.microsoft.com/office/drawing/2014/main" id="{AA46B507-3F90-CA44-4218-ADA8343C559F}"/>
              </a:ext>
            </a:extLst>
          </p:cNvPr>
          <p:cNvSpPr/>
          <p:nvPr/>
        </p:nvSpPr>
        <p:spPr>
          <a:xfrm>
            <a:off x="17253" y="0"/>
            <a:ext cx="121920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ltLang="ko-KR" sz="2800" dirty="0">
              <a:ea typeface="맑은 고딕"/>
            </a:endParaRPr>
          </a:p>
          <a:p>
            <a:r>
              <a:rPr lang="en-US" sz="2800" dirty="0"/>
              <a:t>6.3.2 The Multistage Algorithm</a:t>
            </a:r>
            <a:r>
              <a:rPr lang="en-US" altLang="ko-KR" sz="2800" dirty="0">
                <a:ea typeface="맑은 고딕"/>
              </a:rPr>
              <a:t> </a:t>
            </a:r>
            <a:endParaRPr lang="en-US" altLang="ko-KR" sz="2800" dirty="0">
              <a:ea typeface="맑은 고딕"/>
              <a:cs typeface="Calibri"/>
            </a:endParaRPr>
          </a:p>
          <a:p>
            <a:endParaRPr lang="ko-KR" altLang="en-US" sz="2800" dirty="0">
              <a:ea typeface="맑은 고딕"/>
            </a:endParaRPr>
          </a:p>
        </p:txBody>
      </p:sp>
      <p:sp>
        <p:nvSpPr>
          <p:cNvPr id="5" name="Metin kutusu 4">
            <a:extLst>
              <a:ext uri="{FF2B5EF4-FFF2-40B4-BE49-F238E27FC236}">
                <a16:creationId xmlns:a16="http://schemas.microsoft.com/office/drawing/2014/main" id="{451E4A3B-1CD4-6915-2C7D-93E50650CE1A}"/>
              </a:ext>
            </a:extLst>
          </p:cNvPr>
          <p:cNvSpPr txBox="1"/>
          <p:nvPr/>
        </p:nvSpPr>
        <p:spPr>
          <a:xfrm>
            <a:off x="17253" y="762000"/>
            <a:ext cx="12039600" cy="646331"/>
          </a:xfrm>
          <a:prstGeom prst="rect">
            <a:avLst/>
          </a:prstGeom>
          <a:noFill/>
        </p:spPr>
        <p:txBody>
          <a:bodyPr wrap="square" rtlCol="0">
            <a:spAutoFit/>
          </a:bodyPr>
          <a:lstStyle/>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p:txBody>
      </p:sp>
      <p:sp>
        <p:nvSpPr>
          <p:cNvPr id="2" name="Metin kutusu 1">
            <a:extLst>
              <a:ext uri="{FF2B5EF4-FFF2-40B4-BE49-F238E27FC236}">
                <a16:creationId xmlns:a16="http://schemas.microsoft.com/office/drawing/2014/main" id="{372567DD-6B54-1C55-5541-E2801A8F9C33}"/>
              </a:ext>
            </a:extLst>
          </p:cNvPr>
          <p:cNvSpPr txBox="1"/>
          <p:nvPr/>
        </p:nvSpPr>
        <p:spPr>
          <a:xfrm>
            <a:off x="27317" y="754811"/>
            <a:ext cx="12157494" cy="5078313"/>
          </a:xfrm>
          <a:prstGeom prst="rect">
            <a:avLst/>
          </a:prstGeom>
          <a:noFill/>
        </p:spPr>
        <p:txBody>
          <a:bodyPr wrap="square" rtlCol="0">
            <a:spAutoFit/>
          </a:bodyPr>
          <a:lstStyle/>
          <a:p>
            <a:pPr marL="285750" indent="-285750">
              <a:buFont typeface="Wingdings" panose="05000000000000000000" pitchFamily="2" charset="2"/>
              <a:buChar char="§"/>
            </a:pPr>
            <a:r>
              <a:rPr lang="en-US" b="1" dirty="0"/>
              <a:t>Example of the Multistage Algorithm</a:t>
            </a:r>
          </a:p>
          <a:p>
            <a:endParaRPr lang="en-US" b="1" dirty="0"/>
          </a:p>
          <a:p>
            <a:pPr marL="285750" indent="-285750">
              <a:buFont typeface="Wingdings" panose="05000000000000000000" pitchFamily="2" charset="2"/>
              <a:buChar char="§"/>
            </a:pPr>
            <a:r>
              <a:rPr lang="en-US" dirty="0"/>
              <a:t>Suppose we have a dataset with transactions that include various pairs of items, and we want to identify frequent item pairs with a support threshold of 3.</a:t>
            </a:r>
          </a:p>
          <a:p>
            <a:pPr marL="285750" indent="-285750">
              <a:buFont typeface="Wingdings" panose="05000000000000000000" pitchFamily="2" charset="2"/>
              <a:buChar char="§"/>
            </a:pPr>
            <a:r>
              <a:rPr lang="en-US" b="1" dirty="0"/>
              <a:t>First Pass</a:t>
            </a:r>
            <a:r>
              <a:rPr lang="en-US" dirty="0"/>
              <a:t>:</a:t>
            </a:r>
          </a:p>
          <a:p>
            <a:pPr marL="742950" lvl="1" indent="-285750">
              <a:buFont typeface="Wingdings" panose="05000000000000000000" pitchFamily="2" charset="2"/>
              <a:buChar char="§"/>
            </a:pPr>
            <a:r>
              <a:rPr lang="en-US" dirty="0"/>
              <a:t>Each item pair is hashed into a bucket in the first hash table, and counts are accumulated in each bucket.</a:t>
            </a:r>
          </a:p>
          <a:p>
            <a:pPr marL="742950" lvl="1" indent="-285750">
              <a:buFont typeface="Wingdings" panose="05000000000000000000" pitchFamily="2" charset="2"/>
              <a:buChar char="§"/>
            </a:pPr>
            <a:r>
              <a:rPr lang="en-US" dirty="0"/>
              <a:t>At the end of this pass, a bitmap is created to mark buckets with counts ≥ 3 as frequent.</a:t>
            </a:r>
          </a:p>
          <a:p>
            <a:pPr marL="285750" indent="-285750">
              <a:buFont typeface="Wingdings" panose="05000000000000000000" pitchFamily="2" charset="2"/>
              <a:buChar char="§"/>
            </a:pPr>
            <a:r>
              <a:rPr lang="en-US" b="1" dirty="0"/>
              <a:t>Second Pass</a:t>
            </a:r>
            <a:r>
              <a:rPr lang="en-US" dirty="0"/>
              <a:t>:</a:t>
            </a:r>
          </a:p>
          <a:p>
            <a:pPr marL="742950" lvl="1" indent="-285750">
              <a:buFont typeface="Wingdings" panose="05000000000000000000" pitchFamily="2" charset="2"/>
              <a:buChar char="§"/>
            </a:pPr>
            <a:r>
              <a:rPr lang="en-US" dirty="0"/>
              <a:t>Only pairs that hashed to frequent buckets in the first pass are hashed again using a new hash function into the second hash table.</a:t>
            </a:r>
          </a:p>
          <a:p>
            <a:pPr marL="742950" lvl="1" indent="-285750">
              <a:buFont typeface="Wingdings" panose="05000000000000000000" pitchFamily="2" charset="2"/>
              <a:buChar char="§"/>
            </a:pPr>
            <a:r>
              <a:rPr lang="en-US" dirty="0"/>
              <a:t>At the end of the second pass, a second bitmap is created to mark frequent buckets.</a:t>
            </a:r>
          </a:p>
          <a:p>
            <a:pPr marL="285750" indent="-285750">
              <a:buFont typeface="Wingdings" panose="05000000000000000000" pitchFamily="2" charset="2"/>
              <a:buChar char="§"/>
            </a:pPr>
            <a:r>
              <a:rPr lang="en-US" b="1" dirty="0"/>
              <a:t>Final Candidate Counting</a:t>
            </a:r>
            <a:r>
              <a:rPr lang="en-US" dirty="0"/>
              <a:t>:</a:t>
            </a:r>
          </a:p>
          <a:p>
            <a:pPr marL="742950" lvl="1" indent="-285750">
              <a:buFont typeface="Wingdings" panose="05000000000000000000" pitchFamily="2" charset="2"/>
              <a:buChar char="§"/>
            </a:pPr>
            <a:r>
              <a:rPr lang="en-US" dirty="0"/>
              <a:t>After passing through both stages, only pairs that hashed to frequent buckets in both hash tables are retained for final counting to check if they meet the overall support threshold.</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p:txBody>
      </p:sp>
    </p:spTree>
    <p:extLst>
      <p:ext uri="{BB962C8B-B14F-4D97-AF65-F5344CB8AC3E}">
        <p14:creationId xmlns:p14="http://schemas.microsoft.com/office/powerpoint/2010/main" val="28874305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D0E84-1CB8-B61C-0CFF-D2665B687927}"/>
            </a:ext>
          </a:extLst>
        </p:cNvPr>
        <p:cNvGrpSpPr/>
        <p:nvPr/>
      </p:nvGrpSpPr>
      <p:grpSpPr>
        <a:xfrm>
          <a:off x="0" y="0"/>
          <a:ext cx="0" cy="0"/>
          <a:chOff x="0" y="0"/>
          <a:chExt cx="0" cy="0"/>
        </a:xfrm>
      </p:grpSpPr>
      <p:sp>
        <p:nvSpPr>
          <p:cNvPr id="3" name="직사각형 2">
            <a:extLst>
              <a:ext uri="{FF2B5EF4-FFF2-40B4-BE49-F238E27FC236}">
                <a16:creationId xmlns:a16="http://schemas.microsoft.com/office/drawing/2014/main" id="{530F10FB-29AF-31CC-B0C5-E71B42B9EDAA}"/>
              </a:ext>
            </a:extLst>
          </p:cNvPr>
          <p:cNvSpPr/>
          <p:nvPr/>
        </p:nvSpPr>
        <p:spPr>
          <a:xfrm>
            <a:off x="17253" y="0"/>
            <a:ext cx="121920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ltLang="ko-KR" sz="2800" dirty="0">
              <a:ea typeface="맑은 고딕"/>
            </a:endParaRPr>
          </a:p>
          <a:p>
            <a:r>
              <a:rPr lang="en-US" altLang="ko-KR" sz="2800" dirty="0">
                <a:ea typeface="맑은 고딕"/>
                <a:cs typeface="Calibri"/>
              </a:rPr>
              <a:t>6.3.3 The </a:t>
            </a:r>
            <a:r>
              <a:rPr lang="en-US" altLang="ko-KR" sz="2800" dirty="0" err="1">
                <a:ea typeface="맑은 고딕"/>
                <a:cs typeface="Calibri"/>
              </a:rPr>
              <a:t>Multihash</a:t>
            </a:r>
            <a:r>
              <a:rPr lang="en-US" altLang="ko-KR" sz="2800" dirty="0">
                <a:ea typeface="맑은 고딕"/>
                <a:cs typeface="Calibri"/>
              </a:rPr>
              <a:t> Algorithm</a:t>
            </a:r>
          </a:p>
          <a:p>
            <a:endParaRPr lang="ko-KR" altLang="en-US" sz="2800" dirty="0">
              <a:ea typeface="맑은 고딕"/>
            </a:endParaRPr>
          </a:p>
        </p:txBody>
      </p:sp>
      <p:sp>
        <p:nvSpPr>
          <p:cNvPr id="5" name="Metin kutusu 4">
            <a:extLst>
              <a:ext uri="{FF2B5EF4-FFF2-40B4-BE49-F238E27FC236}">
                <a16:creationId xmlns:a16="http://schemas.microsoft.com/office/drawing/2014/main" id="{E20FB470-9D03-2572-A7F4-1EA6AFAAE5D0}"/>
              </a:ext>
            </a:extLst>
          </p:cNvPr>
          <p:cNvSpPr txBox="1"/>
          <p:nvPr/>
        </p:nvSpPr>
        <p:spPr>
          <a:xfrm>
            <a:off x="17253" y="762000"/>
            <a:ext cx="12039600" cy="646331"/>
          </a:xfrm>
          <a:prstGeom prst="rect">
            <a:avLst/>
          </a:prstGeom>
          <a:noFill/>
        </p:spPr>
        <p:txBody>
          <a:bodyPr wrap="square" rtlCol="0">
            <a:spAutoFit/>
          </a:bodyPr>
          <a:lstStyle/>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p:txBody>
      </p:sp>
      <p:sp>
        <p:nvSpPr>
          <p:cNvPr id="2" name="Metin kutusu 1">
            <a:extLst>
              <a:ext uri="{FF2B5EF4-FFF2-40B4-BE49-F238E27FC236}">
                <a16:creationId xmlns:a16="http://schemas.microsoft.com/office/drawing/2014/main" id="{2179089B-A0F9-03A8-10A3-626F801A92DD}"/>
              </a:ext>
            </a:extLst>
          </p:cNvPr>
          <p:cNvSpPr txBox="1"/>
          <p:nvPr/>
        </p:nvSpPr>
        <p:spPr>
          <a:xfrm>
            <a:off x="27317" y="754811"/>
            <a:ext cx="12157494" cy="6740307"/>
          </a:xfrm>
          <a:prstGeom prst="rect">
            <a:avLst/>
          </a:prstGeom>
          <a:noFill/>
        </p:spPr>
        <p:txBody>
          <a:bodyPr wrap="square" rtlCol="0">
            <a:spAutoFit/>
          </a:bodyPr>
          <a:lstStyle/>
          <a:p>
            <a:pPr marL="285750" indent="-285750">
              <a:buFont typeface="Wingdings" panose="05000000000000000000" pitchFamily="2" charset="2"/>
              <a:buChar char="§"/>
            </a:pPr>
            <a:r>
              <a:rPr lang="en-US" dirty="0"/>
              <a:t>The </a:t>
            </a:r>
            <a:r>
              <a:rPr lang="en-US" b="1" dirty="0" err="1"/>
              <a:t>Multihash</a:t>
            </a:r>
            <a:r>
              <a:rPr lang="en-US" b="1" dirty="0"/>
              <a:t> Algorithm</a:t>
            </a:r>
            <a:r>
              <a:rPr lang="en-US" dirty="0"/>
              <a:t> is a variation of the PCY and Multistage algorithms, designed to efficiently handle large datasets in main memory by reducing the number of candidate pairs. Unlike the Multistage Algorithm, which uses multiple passes with different hash tables sequentially, the </a:t>
            </a:r>
            <a:r>
              <a:rPr lang="en-US" dirty="0" err="1"/>
              <a:t>Multihash</a:t>
            </a:r>
            <a:r>
              <a:rPr lang="en-US" dirty="0"/>
              <a:t> Algorithm uses </a:t>
            </a:r>
            <a:r>
              <a:rPr lang="en-US" b="1" dirty="0"/>
              <a:t>multiple hash tables simultaneously in a single pass</a:t>
            </a:r>
            <a:r>
              <a:rPr lang="en-US" dirty="0"/>
              <a:t>. This parallel use of multiple hash tables helps reduce the candidate set more aggressively in a single pass, which can be particularly advantageous when main memory is limited.</a:t>
            </a:r>
          </a:p>
          <a:p>
            <a:pPr marL="285750" indent="-285750">
              <a:buFont typeface="Wingdings" panose="05000000000000000000" pitchFamily="2" charset="2"/>
              <a:buChar char="§"/>
            </a:pPr>
            <a:r>
              <a:rPr lang="en-US" b="1" dirty="0"/>
              <a:t>Key Concepts of the </a:t>
            </a:r>
            <a:r>
              <a:rPr lang="en-US" b="1" dirty="0" err="1"/>
              <a:t>Multihash</a:t>
            </a:r>
            <a:r>
              <a:rPr lang="en-US" b="1" dirty="0"/>
              <a:t> Algorithm</a:t>
            </a:r>
          </a:p>
          <a:p>
            <a:pPr marL="285750" indent="-285750">
              <a:buFont typeface="Wingdings" panose="05000000000000000000" pitchFamily="2" charset="2"/>
              <a:buChar char="§"/>
            </a:pPr>
            <a:r>
              <a:rPr lang="en-US" b="1" dirty="0"/>
              <a:t>Multiple Hash Tables in One Pass</a:t>
            </a:r>
            <a:r>
              <a:rPr lang="en-US" dirty="0"/>
              <a:t>:</a:t>
            </a:r>
          </a:p>
          <a:p>
            <a:pPr marL="742950" lvl="1" indent="-285750">
              <a:buFont typeface="Wingdings" panose="05000000000000000000" pitchFamily="2" charset="2"/>
              <a:buChar char="§"/>
            </a:pPr>
            <a:r>
              <a:rPr lang="en-US" dirty="0"/>
              <a:t>The </a:t>
            </a:r>
            <a:r>
              <a:rPr lang="en-US" dirty="0" err="1"/>
              <a:t>Multihash</a:t>
            </a:r>
            <a:r>
              <a:rPr lang="en-US" dirty="0"/>
              <a:t> Algorithm allocates memory for several hash tables instead of one and uses different hash functions to populate each hash table simultaneously during the first pass.</a:t>
            </a:r>
          </a:p>
          <a:p>
            <a:pPr marL="742950" lvl="1" indent="-285750">
              <a:buFont typeface="Wingdings" panose="05000000000000000000" pitchFamily="2" charset="2"/>
              <a:buChar char="§"/>
            </a:pPr>
            <a:r>
              <a:rPr lang="en-US" dirty="0"/>
              <a:t>Each hash table independently counts pairs of items by hashing them into buckets. Since each table has a unique hash function, pairs are spread across multiple tables, increasing the likelihood that frequent pairs will appear consistently across tables.</a:t>
            </a:r>
          </a:p>
          <a:p>
            <a:pPr marL="285750" indent="-285750">
              <a:buFont typeface="Wingdings" panose="05000000000000000000" pitchFamily="2" charset="2"/>
              <a:buChar char="§"/>
            </a:pPr>
            <a:r>
              <a:rPr lang="en-US" b="1" dirty="0"/>
              <a:t>Bitmap Summarization of Hash Tables</a:t>
            </a:r>
            <a:r>
              <a:rPr lang="en-US" dirty="0"/>
              <a:t>:</a:t>
            </a:r>
          </a:p>
          <a:p>
            <a:pPr marL="742950" lvl="1" indent="-285750">
              <a:buFont typeface="Wingdings" panose="05000000000000000000" pitchFamily="2" charset="2"/>
              <a:buChar char="§"/>
            </a:pPr>
            <a:r>
              <a:rPr lang="en-US" dirty="0"/>
              <a:t>After the first pass, each hash table is summarized into a </a:t>
            </a:r>
            <a:r>
              <a:rPr lang="en-US" b="1" dirty="0"/>
              <a:t>bitmap</a:t>
            </a:r>
            <a:r>
              <a:rPr lang="en-US" dirty="0"/>
              <a:t>. In these bitmaps, each bucket is marked as frequent (1) if its count meets or exceeds the support threshold, and infrequent (0) otherwise.</a:t>
            </a:r>
          </a:p>
          <a:p>
            <a:pPr marL="742950" lvl="1" indent="-285750">
              <a:buFont typeface="Wingdings" panose="05000000000000000000" pitchFamily="2" charset="2"/>
              <a:buChar char="§"/>
            </a:pPr>
            <a:r>
              <a:rPr lang="en-US" dirty="0"/>
              <a:t>These bitmaps are stored in main memory and used as filters for candidate pairs in subsequent passes, only retaining pairs that consistently hash to frequent buckets across all hash tables.</a:t>
            </a:r>
          </a:p>
          <a:p>
            <a:pPr marL="285750" indent="-285750">
              <a:buFont typeface="Wingdings" panose="05000000000000000000" pitchFamily="2" charset="2"/>
              <a:buChar char="§"/>
            </a:pPr>
            <a:r>
              <a:rPr lang="en-US" b="1" dirty="0"/>
              <a:t>Candidate Pair Filtering Across Multiple Hash Tables</a:t>
            </a:r>
            <a:r>
              <a:rPr lang="en-US" dirty="0"/>
              <a:t>:</a:t>
            </a:r>
          </a:p>
          <a:p>
            <a:pPr marL="742950" lvl="1" indent="-285750">
              <a:buFont typeface="Wingdings" panose="05000000000000000000" pitchFamily="2" charset="2"/>
              <a:buChar char="§"/>
            </a:pPr>
            <a:r>
              <a:rPr lang="en-US" dirty="0"/>
              <a:t>For a pair to be considered a </a:t>
            </a:r>
            <a:r>
              <a:rPr lang="en-US" b="1" dirty="0"/>
              <a:t>candidate pair</a:t>
            </a:r>
            <a:r>
              <a:rPr lang="en-US" dirty="0"/>
              <a:t>, it must hash to a frequent bucket in all hash tables. This multi-hash filtering approach effectively reduces the candidate set, as only pairs that consistently appear in frequent buckets across tables are retained.</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p:txBody>
      </p:sp>
    </p:spTree>
    <p:extLst>
      <p:ext uri="{BB962C8B-B14F-4D97-AF65-F5344CB8AC3E}">
        <p14:creationId xmlns:p14="http://schemas.microsoft.com/office/powerpoint/2010/main" val="19933346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90761-DC0E-7A73-9AD2-308569D82398}"/>
            </a:ext>
          </a:extLst>
        </p:cNvPr>
        <p:cNvGrpSpPr/>
        <p:nvPr/>
      </p:nvGrpSpPr>
      <p:grpSpPr>
        <a:xfrm>
          <a:off x="0" y="0"/>
          <a:ext cx="0" cy="0"/>
          <a:chOff x="0" y="0"/>
          <a:chExt cx="0" cy="0"/>
        </a:xfrm>
      </p:grpSpPr>
      <p:sp>
        <p:nvSpPr>
          <p:cNvPr id="3" name="직사각형 2">
            <a:extLst>
              <a:ext uri="{FF2B5EF4-FFF2-40B4-BE49-F238E27FC236}">
                <a16:creationId xmlns:a16="http://schemas.microsoft.com/office/drawing/2014/main" id="{29994399-0D4E-F77C-EF5C-20C46179A7A8}"/>
              </a:ext>
            </a:extLst>
          </p:cNvPr>
          <p:cNvSpPr/>
          <p:nvPr/>
        </p:nvSpPr>
        <p:spPr>
          <a:xfrm>
            <a:off x="17253" y="0"/>
            <a:ext cx="121920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ltLang="ko-KR" sz="2800" dirty="0">
              <a:ea typeface="맑은 고딕"/>
            </a:endParaRPr>
          </a:p>
          <a:p>
            <a:r>
              <a:rPr lang="en-US" altLang="ko-KR" sz="2800" dirty="0">
                <a:ea typeface="맑은 고딕"/>
                <a:cs typeface="Calibri"/>
              </a:rPr>
              <a:t>6.3.3 The </a:t>
            </a:r>
            <a:r>
              <a:rPr lang="en-US" altLang="ko-KR" sz="2800" dirty="0" err="1">
                <a:ea typeface="맑은 고딕"/>
                <a:cs typeface="Calibri"/>
              </a:rPr>
              <a:t>Multihash</a:t>
            </a:r>
            <a:r>
              <a:rPr lang="en-US" altLang="ko-KR" sz="2800" dirty="0">
                <a:ea typeface="맑은 고딕"/>
                <a:cs typeface="Calibri"/>
              </a:rPr>
              <a:t> Algorithm</a:t>
            </a:r>
          </a:p>
          <a:p>
            <a:endParaRPr lang="ko-KR" altLang="en-US" sz="2800" dirty="0">
              <a:ea typeface="맑은 고딕"/>
            </a:endParaRPr>
          </a:p>
        </p:txBody>
      </p:sp>
      <p:sp>
        <p:nvSpPr>
          <p:cNvPr id="5" name="Metin kutusu 4">
            <a:extLst>
              <a:ext uri="{FF2B5EF4-FFF2-40B4-BE49-F238E27FC236}">
                <a16:creationId xmlns:a16="http://schemas.microsoft.com/office/drawing/2014/main" id="{92A90518-D190-88B5-08A7-B7ED885D2878}"/>
              </a:ext>
            </a:extLst>
          </p:cNvPr>
          <p:cNvSpPr txBox="1"/>
          <p:nvPr/>
        </p:nvSpPr>
        <p:spPr>
          <a:xfrm>
            <a:off x="17253" y="762000"/>
            <a:ext cx="12039600" cy="646331"/>
          </a:xfrm>
          <a:prstGeom prst="rect">
            <a:avLst/>
          </a:prstGeom>
          <a:noFill/>
        </p:spPr>
        <p:txBody>
          <a:bodyPr wrap="square" rtlCol="0">
            <a:spAutoFit/>
          </a:bodyPr>
          <a:lstStyle/>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p:txBody>
      </p:sp>
      <p:sp>
        <p:nvSpPr>
          <p:cNvPr id="2" name="Metin kutusu 1">
            <a:extLst>
              <a:ext uri="{FF2B5EF4-FFF2-40B4-BE49-F238E27FC236}">
                <a16:creationId xmlns:a16="http://schemas.microsoft.com/office/drawing/2014/main" id="{75764F4B-CB65-E906-F12A-ED90751B8B2E}"/>
              </a:ext>
            </a:extLst>
          </p:cNvPr>
          <p:cNvSpPr txBox="1"/>
          <p:nvPr/>
        </p:nvSpPr>
        <p:spPr>
          <a:xfrm>
            <a:off x="27317" y="754811"/>
            <a:ext cx="12157494" cy="5909310"/>
          </a:xfrm>
          <a:prstGeom prst="rect">
            <a:avLst/>
          </a:prstGeom>
          <a:noFill/>
        </p:spPr>
        <p:txBody>
          <a:bodyPr wrap="square" rtlCol="0">
            <a:spAutoFit/>
          </a:bodyPr>
          <a:lstStyle/>
          <a:p>
            <a:pPr marL="285750" indent="-285750">
              <a:buFont typeface="Wingdings" panose="05000000000000000000" pitchFamily="2" charset="2"/>
              <a:buChar char="§"/>
            </a:pPr>
            <a:r>
              <a:rPr lang="en-US" b="1" dirty="0"/>
              <a:t>Steps in the </a:t>
            </a:r>
            <a:r>
              <a:rPr lang="en-US" b="1" dirty="0" err="1"/>
              <a:t>Multihash</a:t>
            </a:r>
            <a:r>
              <a:rPr lang="en-US" b="1" dirty="0"/>
              <a:t> Algorithm</a:t>
            </a:r>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r>
              <a:rPr lang="en-US" b="1" dirty="0"/>
              <a:t>First Pass with Multiple Hash Tables</a:t>
            </a:r>
            <a:r>
              <a:rPr lang="en-US" dirty="0"/>
              <a:t>:</a:t>
            </a:r>
          </a:p>
          <a:p>
            <a:pPr marL="742950" lvl="1" indent="-285750">
              <a:buFont typeface="Wingdings" panose="05000000000000000000" pitchFamily="2" charset="2"/>
              <a:buChar char="§"/>
            </a:pPr>
            <a:r>
              <a:rPr lang="en-US" b="1" dirty="0"/>
              <a:t>Single Item Counting</a:t>
            </a:r>
            <a:r>
              <a:rPr lang="en-US" dirty="0"/>
              <a:t>: Every individual item in the transaction is counted to check if it meets the support threshold.</a:t>
            </a:r>
          </a:p>
          <a:p>
            <a:pPr marL="742950" lvl="1" indent="-285750">
              <a:buFont typeface="Wingdings" panose="05000000000000000000" pitchFamily="2" charset="2"/>
              <a:buChar char="§"/>
            </a:pPr>
            <a:r>
              <a:rPr lang="en-US" b="1" dirty="0"/>
              <a:t>Simultaneous Pair Hashing</a:t>
            </a:r>
            <a:r>
              <a:rPr lang="en-US" dirty="0"/>
              <a:t>: For each pair of items in a transaction, each pair is hashed into buckets in each hash table simultaneously using different hash functions. Each hash table maintains its own count for each bucket.</a:t>
            </a:r>
          </a:p>
          <a:p>
            <a:pPr marL="742950" lvl="1"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b="1" dirty="0"/>
              <a:t>Create Bitmaps for Each Hash Table</a:t>
            </a:r>
            <a:r>
              <a:rPr lang="en-US" dirty="0"/>
              <a:t>:</a:t>
            </a:r>
          </a:p>
          <a:p>
            <a:pPr marL="742950" lvl="1" indent="-285750">
              <a:buFont typeface="Wingdings" panose="05000000000000000000" pitchFamily="2" charset="2"/>
              <a:buChar char="§"/>
            </a:pPr>
            <a:r>
              <a:rPr lang="en-US" dirty="0"/>
              <a:t>At the end of the first pass, each hash table is transformed into a bitmap. Buckets with counts meeting the support threshold are marked as frequent in their respective bitmaps.</a:t>
            </a:r>
          </a:p>
          <a:p>
            <a:pPr marL="742950" lvl="1"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b="1" dirty="0"/>
              <a:t>Second Pass – Candidate Pair Filtering</a:t>
            </a:r>
            <a:r>
              <a:rPr lang="en-US" dirty="0"/>
              <a:t>:</a:t>
            </a:r>
          </a:p>
          <a:p>
            <a:pPr marL="742950" lvl="1" indent="-285750">
              <a:buFont typeface="Wingdings" panose="05000000000000000000" pitchFamily="2" charset="2"/>
              <a:buChar char="§"/>
            </a:pPr>
            <a:r>
              <a:rPr lang="en-US" dirty="0"/>
              <a:t>Using the bitmaps from all hash tables, only pairs that hash to frequent buckets in each hash table are counted as candidate pairs in the second pass. This significantly reduces the number of pairs needing counting.</a:t>
            </a:r>
          </a:p>
          <a:p>
            <a:pPr marL="742950" lvl="1"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b="1" dirty="0"/>
              <a:t>Final Count of Frequent Pairs</a:t>
            </a:r>
            <a:r>
              <a:rPr lang="en-US" dirty="0"/>
              <a:t>:</a:t>
            </a:r>
          </a:p>
          <a:p>
            <a:pPr marL="742950" lvl="1" indent="-285750">
              <a:buFont typeface="Wingdings" panose="05000000000000000000" pitchFamily="2" charset="2"/>
              <a:buChar char="§"/>
            </a:pPr>
            <a:r>
              <a:rPr lang="en-US" dirty="0"/>
              <a:t>In the final pass, the algorithm counts occurrences of each candidate pair across all transactions to determine if they meet the support threshold and are thus frequent.</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p:txBody>
      </p:sp>
    </p:spTree>
    <p:extLst>
      <p:ext uri="{BB962C8B-B14F-4D97-AF65-F5344CB8AC3E}">
        <p14:creationId xmlns:p14="http://schemas.microsoft.com/office/powerpoint/2010/main" val="29801063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E9988-FEB5-D7ED-3349-F9014FEF70B9}"/>
            </a:ext>
          </a:extLst>
        </p:cNvPr>
        <p:cNvGrpSpPr/>
        <p:nvPr/>
      </p:nvGrpSpPr>
      <p:grpSpPr>
        <a:xfrm>
          <a:off x="0" y="0"/>
          <a:ext cx="0" cy="0"/>
          <a:chOff x="0" y="0"/>
          <a:chExt cx="0" cy="0"/>
        </a:xfrm>
      </p:grpSpPr>
      <p:sp>
        <p:nvSpPr>
          <p:cNvPr id="3" name="직사각형 2">
            <a:extLst>
              <a:ext uri="{FF2B5EF4-FFF2-40B4-BE49-F238E27FC236}">
                <a16:creationId xmlns:a16="http://schemas.microsoft.com/office/drawing/2014/main" id="{6EE83A3F-8244-ECAE-150C-65885A615C32}"/>
              </a:ext>
            </a:extLst>
          </p:cNvPr>
          <p:cNvSpPr/>
          <p:nvPr/>
        </p:nvSpPr>
        <p:spPr>
          <a:xfrm>
            <a:off x="17253" y="0"/>
            <a:ext cx="121920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ltLang="ko-KR" sz="2800" dirty="0">
              <a:ea typeface="맑은 고딕"/>
            </a:endParaRPr>
          </a:p>
          <a:p>
            <a:r>
              <a:rPr lang="en-US" altLang="ko-KR" sz="2800" dirty="0">
                <a:ea typeface="맑은 고딕"/>
                <a:cs typeface="Calibri"/>
              </a:rPr>
              <a:t>6.3.3 The </a:t>
            </a:r>
            <a:r>
              <a:rPr lang="en-US" altLang="ko-KR" sz="2800" dirty="0" err="1">
                <a:ea typeface="맑은 고딕"/>
                <a:cs typeface="Calibri"/>
              </a:rPr>
              <a:t>Multihash</a:t>
            </a:r>
            <a:r>
              <a:rPr lang="en-US" altLang="ko-KR" sz="2800" dirty="0">
                <a:ea typeface="맑은 고딕"/>
                <a:cs typeface="Calibri"/>
              </a:rPr>
              <a:t> Algorithm</a:t>
            </a:r>
          </a:p>
          <a:p>
            <a:endParaRPr lang="ko-KR" altLang="en-US" sz="2800" dirty="0">
              <a:ea typeface="맑은 고딕"/>
            </a:endParaRPr>
          </a:p>
        </p:txBody>
      </p:sp>
      <p:sp>
        <p:nvSpPr>
          <p:cNvPr id="5" name="Metin kutusu 4">
            <a:extLst>
              <a:ext uri="{FF2B5EF4-FFF2-40B4-BE49-F238E27FC236}">
                <a16:creationId xmlns:a16="http://schemas.microsoft.com/office/drawing/2014/main" id="{66A1744B-D980-E4BD-E722-14D950C4E0EF}"/>
              </a:ext>
            </a:extLst>
          </p:cNvPr>
          <p:cNvSpPr txBox="1"/>
          <p:nvPr/>
        </p:nvSpPr>
        <p:spPr>
          <a:xfrm>
            <a:off x="17253" y="762000"/>
            <a:ext cx="12039600" cy="646331"/>
          </a:xfrm>
          <a:prstGeom prst="rect">
            <a:avLst/>
          </a:prstGeom>
          <a:noFill/>
        </p:spPr>
        <p:txBody>
          <a:bodyPr wrap="square" rtlCol="0">
            <a:spAutoFit/>
          </a:bodyPr>
          <a:lstStyle/>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endParaRPr lang="en-US" b="1" dirty="0"/>
          </a:p>
        </p:txBody>
      </p:sp>
      <p:sp>
        <p:nvSpPr>
          <p:cNvPr id="2" name="Metin kutusu 1">
            <a:extLst>
              <a:ext uri="{FF2B5EF4-FFF2-40B4-BE49-F238E27FC236}">
                <a16:creationId xmlns:a16="http://schemas.microsoft.com/office/drawing/2014/main" id="{2896D381-005A-4DE7-4AD1-70A7818D0701}"/>
              </a:ext>
            </a:extLst>
          </p:cNvPr>
          <p:cNvSpPr txBox="1"/>
          <p:nvPr/>
        </p:nvSpPr>
        <p:spPr>
          <a:xfrm>
            <a:off x="27317" y="754811"/>
            <a:ext cx="12157494" cy="6186309"/>
          </a:xfrm>
          <a:prstGeom prst="rect">
            <a:avLst/>
          </a:prstGeom>
          <a:noFill/>
        </p:spPr>
        <p:txBody>
          <a:bodyPr wrap="square" rtlCol="0">
            <a:spAutoFit/>
          </a:bodyPr>
          <a:lstStyle/>
          <a:p>
            <a:pPr marL="285750" indent="-285750">
              <a:buFont typeface="Wingdings" panose="05000000000000000000" pitchFamily="2" charset="2"/>
              <a:buChar char="§"/>
            </a:pPr>
            <a:r>
              <a:rPr lang="en-US" b="1" dirty="0"/>
              <a:t>Example of the </a:t>
            </a:r>
            <a:r>
              <a:rPr lang="en-US" b="1" dirty="0" err="1"/>
              <a:t>Multihash</a:t>
            </a:r>
            <a:r>
              <a:rPr lang="en-US" b="1" dirty="0"/>
              <a:t> Algorithm</a:t>
            </a:r>
          </a:p>
          <a:p>
            <a:pPr marL="285750" indent="-285750">
              <a:buFont typeface="Wingdings" panose="05000000000000000000" pitchFamily="2" charset="2"/>
              <a:buChar char="§"/>
            </a:pPr>
            <a:r>
              <a:rPr lang="en-US" dirty="0"/>
              <a:t>Suppose we have a dataset with transactions and we want to find frequent pairs with a support threshold of 3.</a:t>
            </a:r>
          </a:p>
          <a:p>
            <a:pPr marL="285750" indent="-285750">
              <a:buFont typeface="Wingdings" panose="05000000000000000000" pitchFamily="2" charset="2"/>
              <a:buChar char="§"/>
            </a:pPr>
            <a:r>
              <a:rPr lang="en-US" b="1" dirty="0"/>
              <a:t>First Pass with Multiple Hash Tables</a:t>
            </a:r>
            <a:r>
              <a:rPr lang="en-US" dirty="0"/>
              <a:t>:</a:t>
            </a:r>
          </a:p>
          <a:p>
            <a:pPr marL="742950" lvl="1" indent="-285750">
              <a:buFont typeface="Wingdings" panose="05000000000000000000" pitchFamily="2" charset="2"/>
              <a:buChar char="§"/>
            </a:pPr>
            <a:r>
              <a:rPr lang="en-US" dirty="0"/>
              <a:t>For each transaction, every item pair is hashed into buckets across multiple hash tables using different hash functions. Each table updates the count for its respective buckets.</a:t>
            </a:r>
          </a:p>
          <a:p>
            <a:pPr marL="285750" indent="-285750">
              <a:buFont typeface="Wingdings" panose="05000000000000000000" pitchFamily="2" charset="2"/>
              <a:buChar char="§"/>
            </a:pPr>
            <a:r>
              <a:rPr lang="en-US" b="1" dirty="0"/>
              <a:t>Bitmap Creation</a:t>
            </a:r>
            <a:r>
              <a:rPr lang="en-US" dirty="0"/>
              <a:t>:</a:t>
            </a:r>
          </a:p>
          <a:p>
            <a:pPr marL="742950" lvl="1" indent="-285750">
              <a:buFont typeface="Wingdings" panose="05000000000000000000" pitchFamily="2" charset="2"/>
              <a:buChar char="§"/>
            </a:pPr>
            <a:r>
              <a:rPr lang="en-US" dirty="0"/>
              <a:t>At the end of the pass, each hash table is converted into a bitmap that marks frequent buckets (with counts ≥ 3) as 1 and infrequent ones as 0.</a:t>
            </a:r>
          </a:p>
          <a:p>
            <a:pPr marL="285750" indent="-285750">
              <a:buFont typeface="Wingdings" panose="05000000000000000000" pitchFamily="2" charset="2"/>
              <a:buChar char="§"/>
            </a:pPr>
            <a:r>
              <a:rPr lang="en-US" b="1" dirty="0"/>
              <a:t>Candidate Filtering Using Bitmaps</a:t>
            </a:r>
            <a:r>
              <a:rPr lang="en-US" dirty="0"/>
              <a:t>:</a:t>
            </a:r>
          </a:p>
          <a:p>
            <a:pPr marL="742950" lvl="1" indent="-285750">
              <a:buFont typeface="Wingdings" panose="05000000000000000000" pitchFamily="2" charset="2"/>
              <a:buChar char="§"/>
            </a:pPr>
            <a:r>
              <a:rPr lang="en-US" dirty="0"/>
              <a:t>For a pair to be a candidate, it must hash to a frequent bucket in each bitmap. Only these candidate pairs will be counted in the final pass.</a:t>
            </a:r>
          </a:p>
          <a:p>
            <a:pPr marL="742950" lvl="1" indent="-285750">
              <a:buFont typeface="Wingdings" panose="05000000000000000000" pitchFamily="2" charset="2"/>
              <a:buChar char="§"/>
            </a:pPr>
            <a:endParaRPr lang="en-US" dirty="0"/>
          </a:p>
          <a:p>
            <a:pPr marL="742950" lvl="1"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b="1" dirty="0"/>
              <a:t>Comparison to PCY and Multistage Algorithms</a:t>
            </a:r>
          </a:p>
          <a:p>
            <a:pPr marL="285750" indent="-285750">
              <a:buFont typeface="Wingdings" panose="05000000000000000000" pitchFamily="2" charset="2"/>
              <a:buChar char="§"/>
            </a:pPr>
            <a:r>
              <a:rPr lang="en-US" b="1" dirty="0"/>
              <a:t>PCY Algorithm</a:t>
            </a:r>
            <a:r>
              <a:rPr lang="en-US" dirty="0"/>
              <a:t>: The </a:t>
            </a:r>
            <a:r>
              <a:rPr lang="en-US" dirty="0" err="1"/>
              <a:t>Multihash</a:t>
            </a:r>
            <a:r>
              <a:rPr lang="en-US" dirty="0"/>
              <a:t> Algorithm is more aggressive in candidate filtering than PCY, as it uses multiple hash functions in parallel rather than a single hash table.</a:t>
            </a:r>
          </a:p>
          <a:p>
            <a:pPr marL="285750" indent="-285750">
              <a:buFont typeface="Wingdings" panose="05000000000000000000" pitchFamily="2" charset="2"/>
              <a:buChar char="§"/>
            </a:pPr>
            <a:r>
              <a:rPr lang="en-US" b="1" dirty="0"/>
              <a:t>Multistage Algorithm</a:t>
            </a:r>
            <a:r>
              <a:rPr lang="en-US" dirty="0"/>
              <a:t>: The </a:t>
            </a:r>
            <a:r>
              <a:rPr lang="en-US" dirty="0" err="1"/>
              <a:t>Multihash</a:t>
            </a:r>
            <a:r>
              <a:rPr lang="en-US" dirty="0"/>
              <a:t> Algorithm achieves similar filtering in a single pass as the Multistage Algorithm does in multiple passes. This makes it faster but potentially more memory-intensive since all hash tables are used at once.</a:t>
            </a:r>
          </a:p>
          <a:p>
            <a:pPr lvl="1"/>
            <a:endParaRPr lang="en-US" dirty="0"/>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p:txBody>
      </p:sp>
    </p:spTree>
    <p:extLst>
      <p:ext uri="{BB962C8B-B14F-4D97-AF65-F5344CB8AC3E}">
        <p14:creationId xmlns:p14="http://schemas.microsoft.com/office/powerpoint/2010/main" val="11116300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366DE83-661B-4F83-900B-7B381CE2BE43}"/>
              </a:ext>
            </a:extLst>
          </p:cNvPr>
          <p:cNvSpPr>
            <a:spLocks noGrp="1"/>
          </p:cNvSpPr>
          <p:nvPr>
            <p:ph type="body" idx="1"/>
          </p:nvPr>
        </p:nvSpPr>
        <p:spPr/>
        <p:txBody>
          <a:bodyPr/>
          <a:lstStyle/>
          <a:p>
            <a:endParaRPr lang="en-US"/>
          </a:p>
        </p:txBody>
      </p:sp>
      <p:sp>
        <p:nvSpPr>
          <p:cNvPr id="5" name="object 2">
            <a:extLst>
              <a:ext uri="{FF2B5EF4-FFF2-40B4-BE49-F238E27FC236}">
                <a16:creationId xmlns:a16="http://schemas.microsoft.com/office/drawing/2014/main" id="{19164182-8FCC-47DD-955F-DDF95FE76526}"/>
              </a:ext>
            </a:extLst>
          </p:cNvPr>
          <p:cNvSpPr/>
          <p:nvPr/>
        </p:nvSpPr>
        <p:spPr>
          <a:xfrm>
            <a:off x="-381" y="0"/>
            <a:ext cx="12192000" cy="5260975"/>
          </a:xfrm>
          <a:custGeom>
            <a:avLst/>
            <a:gdLst/>
            <a:ahLst/>
            <a:cxnLst/>
            <a:rect l="l" t="t" r="r" b="b"/>
            <a:pathLst>
              <a:path w="12192000" h="5260975">
                <a:moveTo>
                  <a:pt x="0" y="5260848"/>
                </a:moveTo>
                <a:lnTo>
                  <a:pt x="12192000" y="5260848"/>
                </a:lnTo>
                <a:lnTo>
                  <a:pt x="12192000" y="0"/>
                </a:lnTo>
                <a:lnTo>
                  <a:pt x="0" y="0"/>
                </a:lnTo>
                <a:lnTo>
                  <a:pt x="0" y="5260848"/>
                </a:lnTo>
                <a:close/>
              </a:path>
            </a:pathLst>
          </a:custGeom>
          <a:solidFill>
            <a:srgbClr val="204767"/>
          </a:solidFill>
        </p:spPr>
        <p:txBody>
          <a:bodyPr wrap="square" lIns="0" tIns="0" rIns="0" bIns="0" rtlCol="0"/>
          <a:lstStyle/>
          <a:p>
            <a:endParaRPr>
              <a:latin typeface="나눔스퀘어" panose="020B0600000101010101" pitchFamily="50" charset="-127"/>
              <a:ea typeface="나눔스퀘어" panose="020B0600000101010101" pitchFamily="50" charset="-127"/>
            </a:endParaRPr>
          </a:p>
        </p:txBody>
      </p:sp>
      <p:sp>
        <p:nvSpPr>
          <p:cNvPr id="6" name="TextBox 5">
            <a:extLst>
              <a:ext uri="{FF2B5EF4-FFF2-40B4-BE49-F238E27FC236}">
                <a16:creationId xmlns:a16="http://schemas.microsoft.com/office/drawing/2014/main" id="{15A21CA0-8976-45E3-9815-AC0DDB9DACCA}"/>
              </a:ext>
            </a:extLst>
          </p:cNvPr>
          <p:cNvSpPr txBox="1"/>
          <p:nvPr/>
        </p:nvSpPr>
        <p:spPr>
          <a:xfrm>
            <a:off x="3656230" y="2568212"/>
            <a:ext cx="4435510" cy="1169551"/>
          </a:xfrm>
          <a:prstGeom prst="rect">
            <a:avLst/>
          </a:prstGeom>
          <a:noFill/>
        </p:spPr>
        <p:txBody>
          <a:bodyPr wrap="none" rtlCol="0">
            <a:spAutoFit/>
          </a:bodyPr>
          <a:lstStyle/>
          <a:p>
            <a:r>
              <a:rPr lang="en-US" altLang="ko-KR" sz="7000">
                <a:solidFill>
                  <a:schemeClr val="bg1"/>
                </a:solidFill>
                <a:latin typeface="나눔스퀘어" panose="020B0600000101010101" pitchFamily="50" charset="-127"/>
                <a:ea typeface="나눔스퀘어" panose="020B0600000101010101" pitchFamily="50" charset="-127"/>
              </a:rPr>
              <a:t>Thank You</a:t>
            </a:r>
            <a:endParaRPr lang="ko-KR" altLang="en-US" sz="7000">
              <a:solidFill>
                <a:schemeClr val="bg1"/>
              </a:solidFill>
              <a:latin typeface="나눔스퀘어" panose="020B0600000101010101" pitchFamily="50" charset="-127"/>
              <a:ea typeface="나눔스퀘어" panose="020B0600000101010101" pitchFamily="50" charset="-127"/>
            </a:endParaRPr>
          </a:p>
        </p:txBody>
      </p:sp>
      <p:sp>
        <p:nvSpPr>
          <p:cNvPr id="8" name="Slide Number Placeholder 7">
            <a:extLst>
              <a:ext uri="{FF2B5EF4-FFF2-40B4-BE49-F238E27FC236}">
                <a16:creationId xmlns:a16="http://schemas.microsoft.com/office/drawing/2014/main" id="{9E91EFFB-394B-4C63-8DC0-D966D0EE0FC7}"/>
              </a:ext>
            </a:extLst>
          </p:cNvPr>
          <p:cNvSpPr>
            <a:spLocks noGrp="1"/>
          </p:cNvSpPr>
          <p:nvPr>
            <p:ph type="sldNum" sz="quarter" idx="7"/>
          </p:nvPr>
        </p:nvSpPr>
        <p:spPr/>
        <p:txBody>
          <a:bodyPr/>
          <a:lstStyle/>
          <a:p>
            <a:fld id="{B6F15528-21DE-4FAA-801E-634DDDAF4B2B}" type="slidenum">
              <a:rPr lang="en-US" smtClean="0"/>
              <a:t>25</a:t>
            </a:fld>
            <a:endParaRPr lang="en-US"/>
          </a:p>
        </p:txBody>
      </p:sp>
    </p:spTree>
    <p:extLst>
      <p:ext uri="{BB962C8B-B14F-4D97-AF65-F5344CB8AC3E}">
        <p14:creationId xmlns:p14="http://schemas.microsoft.com/office/powerpoint/2010/main" val="33703446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43940</TotalTime>
  <Words>4490</Words>
  <Application>Microsoft Office PowerPoint</Application>
  <PresentationFormat>Geniş ekran</PresentationFormat>
  <Paragraphs>391</Paragraphs>
  <Slides>25</Slides>
  <Notes>1</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25</vt:i4>
      </vt:variant>
    </vt:vector>
  </HeadingPairs>
  <TitlesOfParts>
    <vt:vector size="31" baseType="lpstr">
      <vt:lpstr>맑은 고딕</vt:lpstr>
      <vt:lpstr>나눔스퀘어</vt:lpstr>
      <vt:lpstr>Arial</vt:lpstr>
      <vt:lpstr>Calibri</vt:lpstr>
      <vt:lpstr>Wingdings</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조현석</dc:creator>
  <cp:lastModifiedBy>ERCELIK UGUR</cp:lastModifiedBy>
  <cp:revision>3088</cp:revision>
  <dcterms:created xsi:type="dcterms:W3CDTF">2020-08-25T05:40:20Z</dcterms:created>
  <dcterms:modified xsi:type="dcterms:W3CDTF">2024-11-16T06:39:20Z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2020-08-21T00:00:00Z</vt:filetime>
  </property>
  <property fmtid="{D5CDD505-2E9C-101B-9397-08002B2CF9AE}" pid="3" name="Creator">
    <vt:lpwstr>Microsoft® PowerPoint® Microsoft 365용</vt:lpwstr>
  </property>
  <property fmtid="{D5CDD505-2E9C-101B-9397-08002B2CF9AE}" pid="4" name="LastSaved">
    <vt:filetime>2020-08-25T00:00:00Z</vt:filetime>
  </property>
</Properties>
</file>