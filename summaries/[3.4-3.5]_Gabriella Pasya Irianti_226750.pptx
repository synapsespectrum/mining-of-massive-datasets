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1" r:id="rId1"/>
  </p:sldMasterIdLst>
  <p:notesMasterIdLst>
    <p:notesMasterId r:id="rId15"/>
  </p:notesMasterIdLst>
  <p:sldIdLst>
    <p:sldId id="256" r:id="rId2"/>
    <p:sldId id="312" r:id="rId3"/>
    <p:sldId id="268" r:id="rId4"/>
    <p:sldId id="314" r:id="rId5"/>
    <p:sldId id="316" r:id="rId6"/>
    <p:sldId id="315" r:id="rId7"/>
    <p:sldId id="317" r:id="rId8"/>
    <p:sldId id="319" r:id="rId9"/>
    <p:sldId id="318" r:id="rId10"/>
    <p:sldId id="320" r:id="rId11"/>
    <p:sldId id="321" r:id="rId12"/>
    <p:sldId id="322" r:id="rId13"/>
    <p:sldId id="259" r:id="rId14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16"/>
    </p:embeddedFont>
    <p:embeddedFont>
      <p:font typeface="DM Sans" pitchFamily="2" charset="0"/>
      <p:regular r:id="rId17"/>
      <p:bold r:id="rId18"/>
      <p:italic r:id="rId19"/>
      <p:boldItalic r:id="rId20"/>
    </p:embeddedFont>
    <p:embeddedFont>
      <p:font typeface="Lucida Sans Unicode" panose="020B0602030504020204" pitchFamily="34" charset="0"/>
      <p:regular r:id="rId21"/>
    </p:embeddedFont>
    <p:embeddedFont>
      <p:font typeface="Outfit" panose="020B0604020202020204" charset="0"/>
      <p:regular r:id="rId22"/>
      <p:bold r:id="rId23"/>
    </p:embeddedFont>
    <p:embeddedFont>
      <p:font typeface="Tahoma" panose="020B0604030504040204" pitchFamily="34" charset="0"/>
      <p:regular r:id="rId24"/>
      <p:bold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83FE5E6-F06E-4AB0-92B3-4332B656FA1A}">
  <a:tblStyle styleId="{D83FE5E6-F06E-4AB0-92B3-4332B656FA1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265" autoAdjust="0"/>
    <p:restoredTop sz="94660"/>
  </p:normalViewPr>
  <p:slideViewPr>
    <p:cSldViewPr snapToGrid="0">
      <p:cViewPr>
        <p:scale>
          <a:sx n="75" d="100"/>
          <a:sy n="75" d="100"/>
        </p:scale>
        <p:origin x="1013" y="4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231073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g54ff9c4cb4_3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2" name="Google Shape;642;g54ff9c4cb4_3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g54ff9c4cb4_3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2" name="Google Shape;642;g54ff9c4cb4_3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538864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g54ff9c4cb4_3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2" name="Google Shape;642;g54ff9c4cb4_3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216742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g54ff9c4cb4_3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2" name="Google Shape;642;g54ff9c4cb4_3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737232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g54ff9c4cb4_3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2" name="Google Shape;642;g54ff9c4cb4_3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262061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g54ff9c4cb4_3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2" name="Google Shape;642;g54ff9c4cb4_3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333638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g54ff9c4cb4_3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2" name="Google Shape;642;g54ff9c4cb4_3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191877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g54ff9c4cb4_3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2" name="Google Shape;642;g54ff9c4cb4_3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253536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g54ff9c4cb4_3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2" name="Google Shape;642;g54ff9c4cb4_3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156078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g54ff9c4cb4_3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2" name="Google Shape;642;g54ff9c4cb4_3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684490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54dda1946d_6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54dda1946d_6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25" y="1156000"/>
            <a:ext cx="4160700" cy="238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225" y="3541600"/>
            <a:ext cx="4160700" cy="42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3862975" y="1655500"/>
            <a:ext cx="4567800" cy="116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500"/>
              <a:buNone/>
              <a:defRPr sz="6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ubTitle" idx="1"/>
          </p:nvPr>
        </p:nvSpPr>
        <p:spPr>
          <a:xfrm>
            <a:off x="3862975" y="2816925"/>
            <a:ext cx="45678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" name="Google Shape;98;p14"/>
          <p:cNvGrpSpPr/>
          <p:nvPr/>
        </p:nvGrpSpPr>
        <p:grpSpPr>
          <a:xfrm>
            <a:off x="-247298" y="-446215"/>
            <a:ext cx="9638600" cy="6030088"/>
            <a:chOff x="-247298" y="-446215"/>
            <a:chExt cx="9638600" cy="6030088"/>
          </a:xfrm>
        </p:grpSpPr>
        <p:sp>
          <p:nvSpPr>
            <p:cNvPr id="99" name="Google Shape;99;p14"/>
            <p:cNvSpPr/>
            <p:nvPr/>
          </p:nvSpPr>
          <p:spPr>
            <a:xfrm>
              <a:off x="-247298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14"/>
            <p:cNvSpPr/>
            <p:nvPr/>
          </p:nvSpPr>
          <p:spPr>
            <a:xfrm>
              <a:off x="293542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14"/>
            <p:cNvSpPr/>
            <p:nvPr/>
          </p:nvSpPr>
          <p:spPr>
            <a:xfrm flipH="1">
              <a:off x="8552592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4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14"/>
            <p:cNvSpPr/>
            <p:nvPr/>
          </p:nvSpPr>
          <p:spPr>
            <a:xfrm rot="10800000" flipH="1">
              <a:off x="-247298" y="4960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14"/>
            <p:cNvSpPr/>
            <p:nvPr/>
          </p:nvSpPr>
          <p:spPr>
            <a:xfrm rot="10800000" flipH="1">
              <a:off x="293542" y="-44621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14"/>
            <p:cNvSpPr/>
            <p:nvPr/>
          </p:nvSpPr>
          <p:spPr>
            <a:xfrm rot="10800000">
              <a:off x="8552592" y="4960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14"/>
            <p:cNvSpPr/>
            <p:nvPr/>
          </p:nvSpPr>
          <p:spPr>
            <a:xfrm rot="10800000">
              <a:off x="8011752" y="-44621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7" name="Google Shape;107;p14"/>
          <p:cNvSpPr txBox="1">
            <a:spLocks noGrp="1"/>
          </p:cNvSpPr>
          <p:nvPr>
            <p:ph type="title"/>
          </p:nvPr>
        </p:nvSpPr>
        <p:spPr>
          <a:xfrm>
            <a:off x="1226425" y="3229500"/>
            <a:ext cx="6691200" cy="54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08" name="Google Shape;108;p14"/>
          <p:cNvSpPr txBox="1">
            <a:spLocks noGrp="1"/>
          </p:cNvSpPr>
          <p:nvPr>
            <p:ph type="subTitle" idx="1"/>
          </p:nvPr>
        </p:nvSpPr>
        <p:spPr>
          <a:xfrm>
            <a:off x="1226413" y="1366200"/>
            <a:ext cx="6691200" cy="186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1"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1" name="Google Shape;231;p25"/>
          <p:cNvGrpSpPr/>
          <p:nvPr/>
        </p:nvGrpSpPr>
        <p:grpSpPr>
          <a:xfrm>
            <a:off x="-655296" y="3436585"/>
            <a:ext cx="10454595" cy="2311221"/>
            <a:chOff x="-655296" y="3436585"/>
            <a:chExt cx="10454595" cy="2311221"/>
          </a:xfrm>
        </p:grpSpPr>
        <p:sp>
          <p:nvSpPr>
            <p:cNvPr id="232" name="Google Shape;232;p25"/>
            <p:cNvSpPr/>
            <p:nvPr/>
          </p:nvSpPr>
          <p:spPr>
            <a:xfrm rot="10800000" flipH="1">
              <a:off x="-136836" y="343658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25"/>
            <p:cNvSpPr/>
            <p:nvPr/>
          </p:nvSpPr>
          <p:spPr>
            <a:xfrm>
              <a:off x="183414" y="454091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25"/>
            <p:cNvSpPr/>
            <p:nvPr/>
          </p:nvSpPr>
          <p:spPr>
            <a:xfrm rot="10800000" flipH="1">
              <a:off x="-655296" y="390306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25"/>
            <p:cNvSpPr/>
            <p:nvPr/>
          </p:nvSpPr>
          <p:spPr>
            <a:xfrm rot="10800000">
              <a:off x="8442129" y="343658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25"/>
            <p:cNvSpPr/>
            <p:nvPr/>
          </p:nvSpPr>
          <p:spPr>
            <a:xfrm flipH="1">
              <a:off x="8121879" y="454091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25"/>
            <p:cNvSpPr/>
            <p:nvPr/>
          </p:nvSpPr>
          <p:spPr>
            <a:xfrm rot="10800000">
              <a:off x="8960589" y="390306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25"/>
            <p:cNvSpPr/>
            <p:nvPr/>
          </p:nvSpPr>
          <p:spPr>
            <a:xfrm rot="10800000">
              <a:off x="7718714" y="477968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25"/>
            <p:cNvSpPr/>
            <p:nvPr/>
          </p:nvSpPr>
          <p:spPr>
            <a:xfrm rot="10800000">
              <a:off x="586589" y="477968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0" name="Google Shape;240;p2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41" name="Google Shape;241;p25"/>
          <p:cNvSpPr txBox="1">
            <a:spLocks noGrp="1"/>
          </p:cNvSpPr>
          <p:nvPr>
            <p:ph type="subTitle" idx="1"/>
          </p:nvPr>
        </p:nvSpPr>
        <p:spPr>
          <a:xfrm>
            <a:off x="4646250" y="1667625"/>
            <a:ext cx="3398400" cy="18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2" name="Google Shape;242;p25"/>
          <p:cNvSpPr txBox="1">
            <a:spLocks noGrp="1"/>
          </p:cNvSpPr>
          <p:nvPr>
            <p:ph type="subTitle" idx="2"/>
          </p:nvPr>
        </p:nvSpPr>
        <p:spPr>
          <a:xfrm>
            <a:off x="1099338" y="1667625"/>
            <a:ext cx="3398400" cy="18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4" name="Google Shape;314;p31"/>
          <p:cNvGrpSpPr/>
          <p:nvPr/>
        </p:nvGrpSpPr>
        <p:grpSpPr>
          <a:xfrm>
            <a:off x="-247298" y="-446215"/>
            <a:ext cx="9638610" cy="6030088"/>
            <a:chOff x="-247298" y="-446215"/>
            <a:chExt cx="9638610" cy="6030088"/>
          </a:xfrm>
        </p:grpSpPr>
        <p:sp>
          <p:nvSpPr>
            <p:cNvPr id="315" name="Google Shape;315;p31"/>
            <p:cNvSpPr/>
            <p:nvPr/>
          </p:nvSpPr>
          <p:spPr>
            <a:xfrm>
              <a:off x="-125573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31"/>
            <p:cNvSpPr/>
            <p:nvPr/>
          </p:nvSpPr>
          <p:spPr>
            <a:xfrm>
              <a:off x="-125583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31"/>
            <p:cNvSpPr/>
            <p:nvPr/>
          </p:nvSpPr>
          <p:spPr>
            <a:xfrm rot="10800000" flipH="1">
              <a:off x="-247298" y="4960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31"/>
            <p:cNvSpPr/>
            <p:nvPr/>
          </p:nvSpPr>
          <p:spPr>
            <a:xfrm rot="10800000" flipH="1">
              <a:off x="346967" y="-44621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31"/>
            <p:cNvSpPr/>
            <p:nvPr/>
          </p:nvSpPr>
          <p:spPr>
            <a:xfrm rot="10800000">
              <a:off x="7958317" y="-428623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31"/>
            <p:cNvSpPr/>
            <p:nvPr/>
          </p:nvSpPr>
          <p:spPr>
            <a:xfrm rot="10800000">
              <a:off x="8552602" y="4960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31"/>
            <p:cNvSpPr/>
            <p:nvPr/>
          </p:nvSpPr>
          <p:spPr>
            <a:xfrm>
              <a:off x="8430777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31"/>
            <p:cNvSpPr/>
            <p:nvPr/>
          </p:nvSpPr>
          <p:spPr>
            <a:xfrm>
              <a:off x="8430767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4" name="Google Shape;324;p32"/>
          <p:cNvGrpSpPr/>
          <p:nvPr/>
        </p:nvGrpSpPr>
        <p:grpSpPr>
          <a:xfrm>
            <a:off x="-476796" y="2900252"/>
            <a:ext cx="10097585" cy="2865204"/>
            <a:chOff x="-476796" y="2900252"/>
            <a:chExt cx="10097585" cy="2865204"/>
          </a:xfrm>
        </p:grpSpPr>
        <p:grpSp>
          <p:nvGrpSpPr>
            <p:cNvPr id="325" name="Google Shape;325;p32"/>
            <p:cNvGrpSpPr/>
            <p:nvPr/>
          </p:nvGrpSpPr>
          <p:grpSpPr>
            <a:xfrm>
              <a:off x="-476796" y="2900252"/>
              <a:ext cx="10097585" cy="2865204"/>
              <a:chOff x="-476796" y="2900252"/>
              <a:chExt cx="10097585" cy="2865204"/>
            </a:xfrm>
          </p:grpSpPr>
          <p:sp>
            <p:nvSpPr>
              <p:cNvPr id="326" name="Google Shape;326;p32"/>
              <p:cNvSpPr/>
              <p:nvPr/>
            </p:nvSpPr>
            <p:spPr>
              <a:xfrm rot="10800000" flipH="1">
                <a:off x="-266661" y="2900252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Google Shape;327;p32"/>
              <p:cNvSpPr/>
              <p:nvPr/>
            </p:nvSpPr>
            <p:spPr>
              <a:xfrm>
                <a:off x="-90736" y="4425247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dk2"/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Google Shape;328;p32"/>
              <p:cNvSpPr/>
              <p:nvPr/>
            </p:nvSpPr>
            <p:spPr>
              <a:xfrm>
                <a:off x="-476796" y="3522814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AFC7FF">
                  <a:alpha val="25000"/>
                </a:srgbClr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Google Shape;329;p32"/>
              <p:cNvSpPr/>
              <p:nvPr/>
            </p:nvSpPr>
            <p:spPr>
              <a:xfrm rot="10800000">
                <a:off x="8571944" y="2900252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Google Shape;330;p32"/>
              <p:cNvSpPr/>
              <p:nvPr/>
            </p:nvSpPr>
            <p:spPr>
              <a:xfrm flipH="1">
                <a:off x="8396019" y="4425247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Google Shape;331;p32"/>
              <p:cNvSpPr/>
              <p:nvPr/>
            </p:nvSpPr>
            <p:spPr>
              <a:xfrm flipH="1">
                <a:off x="8782079" y="3522814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9FCBFD">
                  <a:alpha val="41140"/>
                </a:srgbClr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Google Shape;332;p32"/>
              <p:cNvSpPr/>
              <p:nvPr/>
            </p:nvSpPr>
            <p:spPr>
              <a:xfrm rot="10800000">
                <a:off x="8009979" y="4797335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68DAF8">
                  <a:alpha val="34180"/>
                </a:srgbClr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33" name="Google Shape;333;p32"/>
            <p:cNvSpPr/>
            <p:nvPr/>
          </p:nvSpPr>
          <p:spPr>
            <a:xfrm rot="10800000" flipH="1">
              <a:off x="293867" y="47973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"/>
              <a:buNone/>
              <a:defRPr sz="35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5" r:id="rId2"/>
    <p:sldLayoutId id="2147483658" r:id="rId3"/>
    <p:sldLayoutId id="2147483660" r:id="rId4"/>
    <p:sldLayoutId id="2147483671" r:id="rId5"/>
    <p:sldLayoutId id="2147483677" r:id="rId6"/>
    <p:sldLayoutId id="2147483678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3.wmf"/><Relationship Id="rId4" Type="http://schemas.openxmlformats.org/officeDocument/2006/relationships/oleObject" Target="../embeddings/oleObject1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6"/>
          <p:cNvSpPr txBox="1">
            <a:spLocks noGrp="1"/>
          </p:cNvSpPr>
          <p:nvPr>
            <p:ph type="ctrTitle"/>
          </p:nvPr>
        </p:nvSpPr>
        <p:spPr>
          <a:xfrm>
            <a:off x="713225" y="970644"/>
            <a:ext cx="4160700" cy="238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300" dirty="0"/>
              <a:t>Chap 3. </a:t>
            </a:r>
            <a:br>
              <a:rPr lang="en" sz="4300" dirty="0"/>
            </a:br>
            <a:r>
              <a:rPr lang="en" sz="4300" dirty="0"/>
              <a:t>Finding Similar Items </a:t>
            </a:r>
            <a:r>
              <a:rPr lang="en" b="1" dirty="0"/>
              <a:t> </a:t>
            </a:r>
            <a:endParaRPr sz="4800" dirty="0"/>
          </a:p>
        </p:txBody>
      </p:sp>
      <p:sp>
        <p:nvSpPr>
          <p:cNvPr id="345" name="Google Shape;345;p36"/>
          <p:cNvSpPr txBox="1">
            <a:spLocks noGrp="1"/>
          </p:cNvSpPr>
          <p:nvPr>
            <p:ph type="subTitle" idx="1"/>
          </p:nvPr>
        </p:nvSpPr>
        <p:spPr>
          <a:xfrm>
            <a:off x="720523" y="3359391"/>
            <a:ext cx="4295022" cy="42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3.4  Locality-Sensitive Hashing for Documents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3.5  Distance Measures</a:t>
            </a:r>
            <a:endParaRPr dirty="0"/>
          </a:p>
        </p:txBody>
      </p:sp>
      <p:cxnSp>
        <p:nvCxnSpPr>
          <p:cNvPr id="346" name="Google Shape;346;p36"/>
          <p:cNvCxnSpPr/>
          <p:nvPr/>
        </p:nvCxnSpPr>
        <p:spPr>
          <a:xfrm>
            <a:off x="828313" y="1159071"/>
            <a:ext cx="3735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47" name="Google Shape;347;p36"/>
          <p:cNvGrpSpPr/>
          <p:nvPr/>
        </p:nvGrpSpPr>
        <p:grpSpPr>
          <a:xfrm>
            <a:off x="5115337" y="-428624"/>
            <a:ext cx="4275118" cy="6450405"/>
            <a:chOff x="5115337" y="-428624"/>
            <a:chExt cx="4275118" cy="6450405"/>
          </a:xfrm>
        </p:grpSpPr>
        <p:sp>
          <p:nvSpPr>
            <p:cNvPr id="348" name="Google Shape;348;p36"/>
            <p:cNvSpPr/>
            <p:nvPr/>
          </p:nvSpPr>
          <p:spPr>
            <a:xfrm rot="10800000" flipH="1">
              <a:off x="8492525" y="-19272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36"/>
            <p:cNvSpPr/>
            <p:nvPr/>
          </p:nvSpPr>
          <p:spPr>
            <a:xfrm>
              <a:off x="8551745" y="326783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36"/>
            <p:cNvSpPr/>
            <p:nvPr/>
          </p:nvSpPr>
          <p:spPr>
            <a:xfrm>
              <a:off x="6606686" y="254737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36"/>
            <p:cNvSpPr/>
            <p:nvPr/>
          </p:nvSpPr>
          <p:spPr>
            <a:xfrm>
              <a:off x="7103477" y="-15337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36"/>
            <p:cNvSpPr/>
            <p:nvPr/>
          </p:nvSpPr>
          <p:spPr>
            <a:xfrm>
              <a:off x="6684072" y="318466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36"/>
            <p:cNvSpPr/>
            <p:nvPr/>
          </p:nvSpPr>
          <p:spPr>
            <a:xfrm>
              <a:off x="6109895" y="1194084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36"/>
            <p:cNvSpPr/>
            <p:nvPr/>
          </p:nvSpPr>
          <p:spPr>
            <a:xfrm>
              <a:off x="6109895" y="697741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36"/>
            <p:cNvSpPr/>
            <p:nvPr/>
          </p:nvSpPr>
          <p:spPr>
            <a:xfrm>
              <a:off x="7587339" y="119407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36"/>
            <p:cNvSpPr/>
            <p:nvPr/>
          </p:nvSpPr>
          <p:spPr>
            <a:xfrm>
              <a:off x="5634170" y="-428624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36"/>
            <p:cNvSpPr/>
            <p:nvPr/>
          </p:nvSpPr>
          <p:spPr>
            <a:xfrm>
              <a:off x="7017892" y="207505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36"/>
            <p:cNvSpPr/>
            <p:nvPr/>
          </p:nvSpPr>
          <p:spPr>
            <a:xfrm>
              <a:off x="5193798" y="1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36"/>
            <p:cNvSpPr/>
            <p:nvPr/>
          </p:nvSpPr>
          <p:spPr>
            <a:xfrm>
              <a:off x="8068891" y="162220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36"/>
            <p:cNvSpPr/>
            <p:nvPr/>
          </p:nvSpPr>
          <p:spPr>
            <a:xfrm rot="10800000" flipH="1">
              <a:off x="5115337" y="365597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36"/>
            <p:cNvSpPr/>
            <p:nvPr/>
          </p:nvSpPr>
          <p:spPr>
            <a:xfrm rot="10800000" flipH="1">
              <a:off x="6606680" y="392470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36"/>
            <p:cNvSpPr/>
            <p:nvPr/>
          </p:nvSpPr>
          <p:spPr>
            <a:xfrm rot="10800000" flipH="1">
              <a:off x="5983934" y="505366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36"/>
            <p:cNvSpPr/>
            <p:nvPr/>
          </p:nvSpPr>
          <p:spPr>
            <a:xfrm rot="10800000" flipH="1">
              <a:off x="7178797" y="353334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36"/>
            <p:cNvSpPr/>
            <p:nvPr/>
          </p:nvSpPr>
          <p:spPr>
            <a:xfrm rot="10800000" flipH="1">
              <a:off x="6606686" y="4609409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36"/>
            <p:cNvSpPr/>
            <p:nvPr/>
          </p:nvSpPr>
          <p:spPr>
            <a:xfrm rot="10800000" flipH="1">
              <a:off x="5526543" y="412830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36"/>
            <p:cNvSpPr/>
            <p:nvPr/>
          </p:nvSpPr>
          <p:spPr>
            <a:xfrm>
              <a:off x="8117298" y="285223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36"/>
            <p:cNvSpPr/>
            <p:nvPr/>
          </p:nvSpPr>
          <p:spPr>
            <a:xfrm>
              <a:off x="8172542" y="30360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Google Shape;345;p36">
            <a:extLst>
              <a:ext uri="{FF2B5EF4-FFF2-40B4-BE49-F238E27FC236}">
                <a16:creationId xmlns:a16="http://schemas.microsoft.com/office/drawing/2014/main" id="{F7D52752-3C28-5D6E-7997-F4BCED7338D3}"/>
              </a:ext>
            </a:extLst>
          </p:cNvPr>
          <p:cNvSpPr txBox="1">
            <a:spLocks/>
          </p:cNvSpPr>
          <p:nvPr/>
        </p:nvSpPr>
        <p:spPr>
          <a:xfrm>
            <a:off x="123889" y="4399109"/>
            <a:ext cx="4295022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5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"/>
              <a:buNone/>
              <a:def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"/>
              <a:buNone/>
              <a:def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"/>
              <a:buNone/>
              <a:def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"/>
              <a:buNone/>
              <a:def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"/>
              <a:buNone/>
              <a:def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"/>
              <a:buNone/>
              <a:def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"/>
              <a:buNone/>
              <a:def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"/>
              <a:buNone/>
              <a:def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/>
            <a:r>
              <a:rPr lang="en-US" sz="1200" dirty="0"/>
              <a:t>Gabriella Pasya Irianti</a:t>
            </a:r>
          </a:p>
          <a:p>
            <a:pPr marL="0" indent="0"/>
            <a:r>
              <a:rPr lang="en-US" sz="1200" dirty="0"/>
              <a:t>226750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4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Why we need to extend Minhashing? </a:t>
            </a:r>
            <a:endParaRPr dirty="0"/>
          </a:p>
        </p:txBody>
      </p: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0EED21C7-1091-1A60-8FE0-9D14CC462439}"/>
              </a:ext>
            </a:extLst>
          </p:cNvPr>
          <p:cNvSpPr txBox="1">
            <a:spLocks/>
          </p:cNvSpPr>
          <p:nvPr/>
        </p:nvSpPr>
        <p:spPr>
          <a:xfrm>
            <a:off x="8051996" y="5607288"/>
            <a:ext cx="733864" cy="27432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E3C3BF69-412C-40FF-B67E-488F1482FCFF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B4859B4D-4D33-9611-3F2B-26C4994E9F2B}"/>
              </a:ext>
            </a:extLst>
          </p:cNvPr>
          <p:cNvSpPr>
            <a:spLocks noChangeArrowheads="1"/>
          </p:cNvSpPr>
          <p:nvPr/>
        </p:nvSpPr>
        <p:spPr bwMode="auto">
          <a:xfrm rot="-5394873">
            <a:off x="1104900" y="1576308"/>
            <a:ext cx="1371600" cy="990600"/>
          </a:xfrm>
          <a:custGeom>
            <a:avLst/>
            <a:gdLst>
              <a:gd name="G0" fmla="+- 5400 0 0"/>
              <a:gd name="G1" fmla="+- 21600 0 5400"/>
              <a:gd name="G2" fmla="*/ 5400 1 2"/>
              <a:gd name="G3" fmla="+- 21600 0 G2"/>
              <a:gd name="G4" fmla="+/ 5400 21600 2"/>
              <a:gd name="G5" fmla="+/ G1 0 2"/>
              <a:gd name="G6" fmla="*/ 21600 21600 5400"/>
              <a:gd name="G7" fmla="*/ G6 1 2"/>
              <a:gd name="G8" fmla="+- 21600 0 G7"/>
              <a:gd name="G9" fmla="*/ 21600 1 2"/>
              <a:gd name="G10" fmla="+- 5400 0 G9"/>
              <a:gd name="G11" fmla="?: G10 G8 0"/>
              <a:gd name="G12" fmla="?: G10 G7 21600"/>
              <a:gd name="T0" fmla="*/ 18900 w 21600"/>
              <a:gd name="T1" fmla="*/ 10800 h 21600"/>
              <a:gd name="T2" fmla="*/ 10800 w 21600"/>
              <a:gd name="T3" fmla="*/ 21600 h 21600"/>
              <a:gd name="T4" fmla="*/ 2700 w 21600"/>
              <a:gd name="T5" fmla="*/ 10800 h 21600"/>
              <a:gd name="T6" fmla="*/ 10800 w 21600"/>
              <a:gd name="T7" fmla="*/ 0 h 21600"/>
              <a:gd name="T8" fmla="*/ 4500 w 21600"/>
              <a:gd name="T9" fmla="*/ 4500 h 21600"/>
              <a:gd name="T10" fmla="*/ 17100 w 21600"/>
              <a:gd name="T11" fmla="*/ 171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FFCC99">
              <a:alpha val="50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pPr algn="ctr"/>
            <a:r>
              <a:rPr lang="en-US" sz="1800" dirty="0">
                <a:latin typeface="Arial" pitchFamily="34" charset="0"/>
                <a:cs typeface="Arial" pitchFamily="34" charset="0"/>
              </a:rPr>
              <a:t>Shingling</a:t>
            </a:r>
          </a:p>
        </p:txBody>
      </p:sp>
      <p:sp>
        <p:nvSpPr>
          <p:cNvPr id="4" name="Text Box 6">
            <a:extLst>
              <a:ext uri="{FF2B5EF4-FFF2-40B4-BE49-F238E27FC236}">
                <a16:creationId xmlns:a16="http://schemas.microsoft.com/office/drawing/2014/main" id="{CF04F74C-8304-46BF-6AA2-5A75F40CDA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766808"/>
            <a:ext cx="800219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dirty="0" err="1">
                <a:latin typeface="Arial" pitchFamily="34" charset="0"/>
                <a:cs typeface="Arial" pitchFamily="34" charset="0"/>
              </a:rPr>
              <a:t>Docu</a:t>
            </a:r>
            <a:r>
              <a:rPr lang="en-US" sz="1800" dirty="0">
                <a:latin typeface="Arial" pitchFamily="34" charset="0"/>
                <a:cs typeface="Arial" pitchFamily="34" charset="0"/>
              </a:rPr>
              <a:t>-</a:t>
            </a:r>
          </a:p>
          <a:p>
            <a:r>
              <a:rPr lang="en-US" sz="1800" dirty="0" err="1">
                <a:latin typeface="Arial" pitchFamily="34" charset="0"/>
                <a:cs typeface="Arial" pitchFamily="34" charset="0"/>
              </a:rPr>
              <a:t>ment</a:t>
            </a:r>
            <a:endParaRPr lang="en-US" sz="1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Line 7">
            <a:extLst>
              <a:ext uri="{FF2B5EF4-FFF2-40B4-BE49-F238E27FC236}">
                <a16:creationId xmlns:a16="http://schemas.microsoft.com/office/drawing/2014/main" id="{856A5959-A058-78EA-34B4-C825274020C7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00" y="2071608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6" name="Group 19">
            <a:extLst>
              <a:ext uri="{FF2B5EF4-FFF2-40B4-BE49-F238E27FC236}">
                <a16:creationId xmlns:a16="http://schemas.microsoft.com/office/drawing/2014/main" id="{2298EF9F-C610-C491-9008-D6F2DAE5316A}"/>
              </a:ext>
            </a:extLst>
          </p:cNvPr>
          <p:cNvGrpSpPr>
            <a:grpSpLocks/>
          </p:cNvGrpSpPr>
          <p:nvPr/>
        </p:nvGrpSpPr>
        <p:grpSpPr bwMode="auto">
          <a:xfrm>
            <a:off x="2209800" y="2071608"/>
            <a:ext cx="1354138" cy="2578100"/>
            <a:chOff x="1488" y="1920"/>
            <a:chExt cx="853" cy="1624"/>
          </a:xfrm>
        </p:grpSpPr>
        <p:sp>
          <p:nvSpPr>
            <p:cNvPr id="9" name="Line 8">
              <a:extLst>
                <a:ext uri="{FF2B5EF4-FFF2-40B4-BE49-F238E27FC236}">
                  <a16:creationId xmlns:a16="http://schemas.microsoft.com/office/drawing/2014/main" id="{02623BD8-F2E0-36D5-2257-C2BA6024A7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1920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" name="Text Box 9">
              <a:extLst>
                <a:ext uri="{FF2B5EF4-FFF2-40B4-BE49-F238E27FC236}">
                  <a16:creationId xmlns:a16="http://schemas.microsoft.com/office/drawing/2014/main" id="{3FE6E34C-BDC1-1BF8-CDC6-F9A3BE7D51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8" y="2448"/>
              <a:ext cx="853" cy="10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800" dirty="0">
                  <a:latin typeface="Arial" pitchFamily="34" charset="0"/>
                  <a:cs typeface="Arial" pitchFamily="34" charset="0"/>
                </a:rPr>
                <a:t>The set</a:t>
              </a:r>
            </a:p>
            <a:p>
              <a:r>
                <a:rPr lang="en-US" sz="1800" dirty="0">
                  <a:latin typeface="Arial" pitchFamily="34" charset="0"/>
                  <a:cs typeface="Arial" pitchFamily="34" charset="0"/>
                </a:rPr>
                <a:t>of strings</a:t>
              </a:r>
            </a:p>
            <a:p>
              <a:r>
                <a:rPr lang="en-US" sz="1800" dirty="0">
                  <a:latin typeface="Arial" pitchFamily="34" charset="0"/>
                  <a:cs typeface="Arial" pitchFamily="34" charset="0"/>
                </a:rPr>
                <a:t>of length </a:t>
              </a:r>
              <a:r>
                <a:rPr lang="en-US" sz="1800" b="1" i="1" dirty="0">
                  <a:latin typeface="Arial" pitchFamily="34" charset="0"/>
                  <a:cs typeface="Arial" pitchFamily="34" charset="0"/>
                </a:rPr>
                <a:t>k</a:t>
              </a:r>
            </a:p>
            <a:p>
              <a:r>
                <a:rPr lang="en-US" sz="1800" dirty="0">
                  <a:latin typeface="Arial" pitchFamily="34" charset="0"/>
                  <a:cs typeface="Arial" pitchFamily="34" charset="0"/>
                </a:rPr>
                <a:t>that appear</a:t>
              </a:r>
            </a:p>
            <a:p>
              <a:r>
                <a:rPr lang="en-US" sz="1800" dirty="0">
                  <a:latin typeface="Arial" pitchFamily="34" charset="0"/>
                  <a:cs typeface="Arial" pitchFamily="34" charset="0"/>
                </a:rPr>
                <a:t>in the doc-</a:t>
              </a:r>
            </a:p>
            <a:p>
              <a:r>
                <a:rPr lang="en-US" sz="1800" dirty="0" err="1">
                  <a:latin typeface="Arial" pitchFamily="34" charset="0"/>
                  <a:cs typeface="Arial" pitchFamily="34" charset="0"/>
                </a:rPr>
                <a:t>ument</a:t>
              </a:r>
              <a:endParaRPr lang="en-US" sz="1800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" name="Line 10">
              <a:extLst>
                <a:ext uri="{FF2B5EF4-FFF2-40B4-BE49-F238E27FC236}">
                  <a16:creationId xmlns:a16="http://schemas.microsoft.com/office/drawing/2014/main" id="{E4FBB901-D708-D9F8-76FD-F9A3F4BFB10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72" y="1920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12" name="Group 20">
            <a:extLst>
              <a:ext uri="{FF2B5EF4-FFF2-40B4-BE49-F238E27FC236}">
                <a16:creationId xmlns:a16="http://schemas.microsoft.com/office/drawing/2014/main" id="{381EB6B4-19A9-6C24-7166-CEABDC9F60DF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385808"/>
            <a:ext cx="2376488" cy="3538538"/>
            <a:chOff x="2256" y="1488"/>
            <a:chExt cx="1497" cy="2229"/>
          </a:xfrm>
        </p:grpSpPr>
        <p:sp>
          <p:nvSpPr>
            <p:cNvPr id="22" name="AutoShape 4">
              <a:extLst>
                <a:ext uri="{FF2B5EF4-FFF2-40B4-BE49-F238E27FC236}">
                  <a16:creationId xmlns:a16="http://schemas.microsoft.com/office/drawing/2014/main" id="{332C0A2D-FAC5-7EF0-4676-6996031C6FB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394873">
              <a:off x="2136" y="1608"/>
              <a:ext cx="864" cy="624"/>
            </a:xfrm>
            <a:custGeom>
              <a:avLst/>
              <a:gdLst>
                <a:gd name="G0" fmla="+- 5400 0 0"/>
                <a:gd name="G1" fmla="+- 21600 0 5400"/>
                <a:gd name="G2" fmla="*/ 5400 1 2"/>
                <a:gd name="G3" fmla="+- 21600 0 G2"/>
                <a:gd name="G4" fmla="+/ 5400 21600 2"/>
                <a:gd name="G5" fmla="+/ G1 0 2"/>
                <a:gd name="G6" fmla="*/ 21600 21600 5400"/>
                <a:gd name="G7" fmla="*/ G6 1 2"/>
                <a:gd name="G8" fmla="+- 21600 0 G7"/>
                <a:gd name="G9" fmla="*/ 21600 1 2"/>
                <a:gd name="G10" fmla="+- 5400 0 G9"/>
                <a:gd name="G11" fmla="?: G10 G8 0"/>
                <a:gd name="G12" fmla="?: G10 G7 21600"/>
                <a:gd name="T0" fmla="*/ 18900 w 21600"/>
                <a:gd name="T1" fmla="*/ 10800 h 21600"/>
                <a:gd name="T2" fmla="*/ 10800 w 21600"/>
                <a:gd name="T3" fmla="*/ 21600 h 21600"/>
                <a:gd name="T4" fmla="*/ 2700 w 21600"/>
                <a:gd name="T5" fmla="*/ 10800 h 21600"/>
                <a:gd name="T6" fmla="*/ 10800 w 21600"/>
                <a:gd name="T7" fmla="*/ 0 h 21600"/>
                <a:gd name="T8" fmla="*/ 4500 w 21600"/>
                <a:gd name="T9" fmla="*/ 4500 h 21600"/>
                <a:gd name="T10" fmla="*/ 17100 w 21600"/>
                <a:gd name="T11" fmla="*/ 171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FF99CC">
                <a:alpha val="50000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vert="eaVert" wrap="none" anchor="ctr"/>
            <a:lstStyle/>
            <a:p>
              <a:pPr algn="ctr"/>
              <a:r>
                <a:rPr lang="en-US" sz="1800" dirty="0">
                  <a:latin typeface="Arial" pitchFamily="34" charset="0"/>
                  <a:cs typeface="Arial" pitchFamily="34" charset="0"/>
                </a:rPr>
                <a:t>Min </a:t>
              </a:r>
              <a:br>
                <a:rPr lang="en-US" sz="1800" dirty="0">
                  <a:latin typeface="Arial" pitchFamily="34" charset="0"/>
                  <a:cs typeface="Arial" pitchFamily="34" charset="0"/>
                </a:rPr>
              </a:br>
              <a:r>
                <a:rPr lang="en-US" sz="1800" dirty="0">
                  <a:latin typeface="Arial" pitchFamily="34" charset="0"/>
                  <a:cs typeface="Arial" pitchFamily="34" charset="0"/>
                </a:rPr>
                <a:t>Hashing</a:t>
              </a:r>
            </a:p>
          </p:txBody>
        </p:sp>
        <p:sp>
          <p:nvSpPr>
            <p:cNvPr id="23" name="Line 12">
              <a:extLst>
                <a:ext uri="{FF2B5EF4-FFF2-40B4-BE49-F238E27FC236}">
                  <a16:creationId xmlns:a16="http://schemas.microsoft.com/office/drawing/2014/main" id="{FB27B75C-B960-E9C1-80E9-DB3D5252D4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1920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4" name="Text Box 14">
              <a:extLst>
                <a:ext uri="{FF2B5EF4-FFF2-40B4-BE49-F238E27FC236}">
                  <a16:creationId xmlns:a16="http://schemas.microsoft.com/office/drawing/2014/main" id="{C8D4E0DC-B848-8001-94D9-D75A5694D8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4" y="2448"/>
              <a:ext cx="969" cy="12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800" b="1" i="1" dirty="0">
                  <a:solidFill>
                    <a:srgbClr val="FF0066"/>
                  </a:solidFill>
                  <a:latin typeface="Arial" pitchFamily="34" charset="0"/>
                  <a:cs typeface="Arial" pitchFamily="34" charset="0"/>
                </a:rPr>
                <a:t>Signatures</a:t>
              </a:r>
              <a:r>
                <a:rPr lang="en-US" sz="1800" dirty="0">
                  <a:latin typeface="Arial" pitchFamily="34" charset="0"/>
                  <a:cs typeface="Arial" pitchFamily="34" charset="0"/>
                </a:rPr>
                <a:t>:</a:t>
              </a:r>
            </a:p>
            <a:p>
              <a:r>
                <a:rPr lang="en-US" sz="1800" dirty="0">
                  <a:latin typeface="Arial" pitchFamily="34" charset="0"/>
                  <a:cs typeface="Arial" pitchFamily="34" charset="0"/>
                </a:rPr>
                <a:t>short integer</a:t>
              </a:r>
            </a:p>
            <a:p>
              <a:r>
                <a:rPr lang="en-US" sz="1800" dirty="0">
                  <a:latin typeface="Arial" pitchFamily="34" charset="0"/>
                  <a:cs typeface="Arial" pitchFamily="34" charset="0"/>
                </a:rPr>
                <a:t>vectors that</a:t>
              </a:r>
            </a:p>
            <a:p>
              <a:r>
                <a:rPr lang="en-US" sz="1800" dirty="0">
                  <a:latin typeface="Arial" pitchFamily="34" charset="0"/>
                  <a:cs typeface="Arial" pitchFamily="34" charset="0"/>
                </a:rPr>
                <a:t>represent the</a:t>
              </a:r>
            </a:p>
            <a:p>
              <a:r>
                <a:rPr lang="en-US" sz="1800" dirty="0">
                  <a:latin typeface="Arial" pitchFamily="34" charset="0"/>
                  <a:cs typeface="Arial" pitchFamily="34" charset="0"/>
                </a:rPr>
                <a:t>sets, and</a:t>
              </a:r>
            </a:p>
            <a:p>
              <a:r>
                <a:rPr lang="en-US" sz="1800" dirty="0">
                  <a:latin typeface="Arial" pitchFamily="34" charset="0"/>
                  <a:cs typeface="Arial" pitchFamily="34" charset="0"/>
                </a:rPr>
                <a:t>reflect their</a:t>
              </a:r>
            </a:p>
            <a:p>
              <a:r>
                <a:rPr lang="en-US" sz="1800" dirty="0">
                  <a:latin typeface="Arial" pitchFamily="34" charset="0"/>
                  <a:cs typeface="Arial" pitchFamily="34" charset="0"/>
                </a:rPr>
                <a:t>similarity</a:t>
              </a:r>
            </a:p>
          </p:txBody>
        </p:sp>
        <p:sp>
          <p:nvSpPr>
            <p:cNvPr id="25" name="Line 16">
              <a:extLst>
                <a:ext uri="{FF2B5EF4-FFF2-40B4-BE49-F238E27FC236}">
                  <a16:creationId xmlns:a16="http://schemas.microsoft.com/office/drawing/2014/main" id="{546CEB8E-EC4B-3443-6FE5-373A36955BF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16" y="1920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26" name="Group 21">
            <a:extLst>
              <a:ext uri="{FF2B5EF4-FFF2-40B4-BE49-F238E27FC236}">
                <a16:creationId xmlns:a16="http://schemas.microsoft.com/office/drawing/2014/main" id="{79008158-6477-7BC2-18AB-D2A9AFA5FE0F}"/>
              </a:ext>
            </a:extLst>
          </p:cNvPr>
          <p:cNvGrpSpPr>
            <a:grpSpLocks/>
          </p:cNvGrpSpPr>
          <p:nvPr/>
        </p:nvGrpSpPr>
        <p:grpSpPr bwMode="auto">
          <a:xfrm>
            <a:off x="5562600" y="1188958"/>
            <a:ext cx="3402013" cy="2014538"/>
            <a:chOff x="3600" y="1364"/>
            <a:chExt cx="2143" cy="1269"/>
          </a:xfrm>
        </p:grpSpPr>
        <p:sp>
          <p:nvSpPr>
            <p:cNvPr id="27" name="Rectangle 11">
              <a:extLst>
                <a:ext uri="{FF2B5EF4-FFF2-40B4-BE49-F238E27FC236}">
                  <a16:creationId xmlns:a16="http://schemas.microsoft.com/office/drawing/2014/main" id="{A995F1E6-B0D4-B6EC-4483-EA9A524F6B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1536"/>
              <a:ext cx="816" cy="768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800" dirty="0">
                  <a:latin typeface="Arial" pitchFamily="34" charset="0"/>
                  <a:cs typeface="Arial" pitchFamily="34" charset="0"/>
                </a:rPr>
                <a:t>Locality-</a:t>
              </a:r>
            </a:p>
            <a:p>
              <a:pPr algn="ctr"/>
              <a:r>
                <a:rPr lang="en-US" sz="1800" dirty="0">
                  <a:latin typeface="Arial" pitchFamily="34" charset="0"/>
                  <a:cs typeface="Arial" pitchFamily="34" charset="0"/>
                </a:rPr>
                <a:t>Sensitive</a:t>
              </a:r>
            </a:p>
            <a:p>
              <a:pPr algn="ctr"/>
              <a:r>
                <a:rPr lang="en-US" sz="1800" dirty="0">
                  <a:latin typeface="Arial" pitchFamily="34" charset="0"/>
                  <a:cs typeface="Arial" pitchFamily="34" charset="0"/>
                </a:rPr>
                <a:t>Hashing</a:t>
              </a:r>
            </a:p>
          </p:txBody>
        </p:sp>
        <p:sp>
          <p:nvSpPr>
            <p:cNvPr id="28" name="Line 17">
              <a:extLst>
                <a:ext uri="{FF2B5EF4-FFF2-40B4-BE49-F238E27FC236}">
                  <a16:creationId xmlns:a16="http://schemas.microsoft.com/office/drawing/2014/main" id="{2170D6AB-34ED-4140-2D88-3DC740D1B6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6" y="1920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9" name="Text Box 18">
              <a:extLst>
                <a:ext uri="{FF2B5EF4-FFF2-40B4-BE49-F238E27FC236}">
                  <a16:creationId xmlns:a16="http://schemas.microsoft.com/office/drawing/2014/main" id="{8CA64A6E-394B-83F5-B89B-1D848B31BC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90" y="1364"/>
              <a:ext cx="953" cy="12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800" b="1" i="1" dirty="0">
                  <a:solidFill>
                    <a:srgbClr val="FF0066"/>
                  </a:solidFill>
                  <a:latin typeface="Arial" pitchFamily="34" charset="0"/>
                  <a:cs typeface="Arial" pitchFamily="34" charset="0"/>
                </a:rPr>
                <a:t>Candidate</a:t>
              </a:r>
            </a:p>
            <a:p>
              <a:r>
                <a:rPr lang="en-US" sz="1800" b="1" i="1" dirty="0">
                  <a:solidFill>
                    <a:srgbClr val="FF0066"/>
                  </a:solidFill>
                  <a:latin typeface="Arial" pitchFamily="34" charset="0"/>
                  <a:cs typeface="Arial" pitchFamily="34" charset="0"/>
                </a:rPr>
                <a:t>pairs</a:t>
              </a:r>
              <a:r>
                <a:rPr lang="en-US" sz="1800" b="1" dirty="0">
                  <a:latin typeface="Arial" pitchFamily="34" charset="0"/>
                  <a:cs typeface="Arial" pitchFamily="34" charset="0"/>
                </a:rPr>
                <a:t>:</a:t>
              </a:r>
            </a:p>
            <a:p>
              <a:r>
                <a:rPr lang="en-US" sz="1800" dirty="0">
                  <a:latin typeface="Arial" pitchFamily="34" charset="0"/>
                  <a:cs typeface="Arial" pitchFamily="34" charset="0"/>
                </a:rPr>
                <a:t>those pairs</a:t>
              </a:r>
            </a:p>
            <a:p>
              <a:r>
                <a:rPr lang="en-US" sz="1800" dirty="0">
                  <a:latin typeface="Arial" pitchFamily="34" charset="0"/>
                  <a:cs typeface="Arial" pitchFamily="34" charset="0"/>
                </a:rPr>
                <a:t>of signatures</a:t>
              </a:r>
            </a:p>
            <a:p>
              <a:r>
                <a:rPr lang="en-US" sz="1800" dirty="0">
                  <a:latin typeface="Arial" pitchFamily="34" charset="0"/>
                  <a:cs typeface="Arial" pitchFamily="34" charset="0"/>
                </a:rPr>
                <a:t>that we need</a:t>
              </a:r>
            </a:p>
            <a:p>
              <a:r>
                <a:rPr lang="en-US" sz="1800" dirty="0">
                  <a:latin typeface="Arial" pitchFamily="34" charset="0"/>
                  <a:cs typeface="Arial" pitchFamily="34" charset="0"/>
                </a:rPr>
                <a:t>to test for</a:t>
              </a:r>
            </a:p>
            <a:p>
              <a:r>
                <a:rPr lang="en-US" sz="1800" dirty="0">
                  <a:latin typeface="Arial" pitchFamily="34" charset="0"/>
                  <a:cs typeface="Arial" pitchFamily="34" charset="0"/>
                </a:rPr>
                <a:t>similarity</a:t>
              </a:r>
            </a:p>
          </p:txBody>
        </p:sp>
      </p:grpSp>
      <p:sp>
        <p:nvSpPr>
          <p:cNvPr id="30" name="Footer Placeholder 20">
            <a:extLst>
              <a:ext uri="{FF2B5EF4-FFF2-40B4-BE49-F238E27FC236}">
                <a16:creationId xmlns:a16="http://schemas.microsoft.com/office/drawing/2014/main" id="{F8998820-8DC7-5ED9-4D79-6187F6A11266}"/>
              </a:ext>
            </a:extLst>
          </p:cNvPr>
          <p:cNvSpPr txBox="1">
            <a:spLocks/>
          </p:cNvSpPr>
          <p:nvPr/>
        </p:nvSpPr>
        <p:spPr>
          <a:xfrm>
            <a:off x="-4520" y="4878626"/>
            <a:ext cx="6214820" cy="27432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100" dirty="0"/>
              <a:t>J. </a:t>
            </a:r>
            <a:r>
              <a:rPr lang="en-US" sz="1100" dirty="0" err="1"/>
              <a:t>Leskovec</a:t>
            </a:r>
            <a:r>
              <a:rPr lang="en-US" sz="1100" dirty="0"/>
              <a:t>, A. Rajaraman, J. Ullman: Mining of Massive Datasets, http://www.mmds.org</a:t>
            </a:r>
          </a:p>
        </p:txBody>
      </p:sp>
    </p:spTree>
    <p:extLst>
      <p:ext uri="{BB962C8B-B14F-4D97-AF65-F5344CB8AC3E}">
        <p14:creationId xmlns:p14="http://schemas.microsoft.com/office/powerpoint/2010/main" val="2950825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72;p37">
            <a:extLst>
              <a:ext uri="{FF2B5EF4-FFF2-40B4-BE49-F238E27FC236}">
                <a16:creationId xmlns:a16="http://schemas.microsoft.com/office/drawing/2014/main" id="{53DFD194-7053-3F38-D38B-ABA2D448300B}"/>
              </a:ext>
            </a:extLst>
          </p:cNvPr>
          <p:cNvSpPr txBox="1">
            <a:spLocks/>
          </p:cNvSpPr>
          <p:nvPr/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2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 Medium"/>
              <a:buNone/>
              <a:defRPr sz="30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 Medium"/>
              <a:buNone/>
              <a:defRPr sz="30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 Medium"/>
              <a:buNone/>
              <a:defRPr sz="30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 Medium"/>
              <a:buNone/>
              <a:defRPr sz="30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 Medium"/>
              <a:buNone/>
              <a:defRPr sz="30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 Medium"/>
              <a:buNone/>
              <a:defRPr sz="30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 Medium"/>
              <a:buNone/>
              <a:defRPr sz="30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 Medium"/>
              <a:buNone/>
              <a:defRPr sz="30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9pPr>
          </a:lstStyle>
          <a:p>
            <a:pPr algn="l"/>
            <a:r>
              <a:rPr lang="en-US"/>
              <a:t>3.4.1 LSH for Minhash Signatures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B377C0-D86D-0C53-EA5C-23DF8D6E8F5F}"/>
              </a:ext>
            </a:extLst>
          </p:cNvPr>
          <p:cNvSpPr txBox="1"/>
          <p:nvPr/>
        </p:nvSpPr>
        <p:spPr>
          <a:xfrm>
            <a:off x="422330" y="1089205"/>
            <a:ext cx="4894531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8000"/>
                </a:solidFill>
              </a:rPr>
              <a:t>For Min-Hash matrices: </a:t>
            </a:r>
          </a:p>
          <a:p>
            <a:pPr lvl="1"/>
            <a:r>
              <a:rPr lang="en-US" dirty="0"/>
              <a:t>Hash columns of </a:t>
            </a:r>
            <a:r>
              <a:rPr lang="en-US" dirty="0">
                <a:solidFill>
                  <a:srgbClr val="FF0066"/>
                </a:solidFill>
              </a:rPr>
              <a:t>signature matrix </a:t>
            </a:r>
            <a:r>
              <a:rPr lang="en-US" b="1" i="1" dirty="0">
                <a:solidFill>
                  <a:srgbClr val="FF0066"/>
                </a:solidFill>
              </a:rPr>
              <a:t>M</a:t>
            </a:r>
            <a:r>
              <a:rPr lang="en-US" dirty="0"/>
              <a:t> to many buckets</a:t>
            </a:r>
          </a:p>
          <a:p>
            <a:pPr lvl="1"/>
            <a:r>
              <a:rPr lang="en-US" dirty="0"/>
              <a:t>Each pair of documents that hashes into the </a:t>
            </a:r>
            <a:br>
              <a:rPr lang="en-US" dirty="0"/>
            </a:br>
            <a:r>
              <a:rPr lang="en-US" dirty="0"/>
              <a:t>same bucket is a </a:t>
            </a:r>
            <a:r>
              <a:rPr lang="en-US" b="1" dirty="0">
                <a:solidFill>
                  <a:srgbClr val="FF0066"/>
                </a:solidFill>
              </a:rPr>
              <a:t>candidate pair</a:t>
            </a:r>
          </a:p>
          <a:p>
            <a:pPr lvl="1"/>
            <a:endParaRPr lang="en-US" b="1" dirty="0">
              <a:solidFill>
                <a:schemeClr val="bg2">
                  <a:lumMod val="10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Pick a similarity threshold </a:t>
            </a:r>
            <a:r>
              <a:rPr lang="en-US" b="1" i="1" dirty="0">
                <a:solidFill>
                  <a:schemeClr val="bg2">
                    <a:lumMod val="10000"/>
                  </a:schemeClr>
                </a:solidFill>
              </a:rPr>
              <a:t>s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(0 &lt; s &lt; 1)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Columns </a:t>
            </a:r>
            <a:r>
              <a:rPr lang="en-US" b="1" i="1" dirty="0">
                <a:solidFill>
                  <a:schemeClr val="bg2">
                    <a:lumMod val="10000"/>
                  </a:schemeClr>
                </a:solidFill>
              </a:rPr>
              <a:t>x</a:t>
            </a:r>
            <a:r>
              <a:rPr lang="en-US" i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and </a:t>
            </a:r>
            <a:r>
              <a:rPr lang="en-US" b="1" i="1" dirty="0">
                <a:solidFill>
                  <a:schemeClr val="bg2">
                    <a:lumMod val="10000"/>
                  </a:schemeClr>
                </a:solidFill>
              </a:rPr>
              <a:t>y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 of </a:t>
            </a:r>
            <a:r>
              <a:rPr lang="en-US" b="1" i="1" dirty="0">
                <a:solidFill>
                  <a:schemeClr val="bg2">
                    <a:lumMod val="10000"/>
                  </a:schemeClr>
                </a:solidFill>
              </a:rPr>
              <a:t>M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 are a 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candidate pair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 if their signatures agree on at least fraction </a:t>
            </a:r>
            <a:r>
              <a:rPr lang="en-US" b="1" i="1" dirty="0">
                <a:solidFill>
                  <a:schemeClr val="bg2">
                    <a:lumMod val="10000"/>
                  </a:schemeClr>
                </a:solidFill>
              </a:rPr>
              <a:t>s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 of their rows: </a:t>
            </a:r>
            <a:br>
              <a:rPr lang="en-US" dirty="0">
                <a:solidFill>
                  <a:schemeClr val="bg2">
                    <a:lumMod val="10000"/>
                  </a:schemeClr>
                </a:solidFill>
              </a:rPr>
            </a:br>
            <a:r>
              <a:rPr lang="en-US" b="1" i="1" dirty="0">
                <a:solidFill>
                  <a:schemeClr val="bg2">
                    <a:lumMod val="10000"/>
                  </a:schemeClr>
                </a:solidFill>
              </a:rPr>
              <a:t>M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(</a:t>
            </a:r>
            <a:r>
              <a:rPr lang="en-US" b="1" i="1" dirty="0" err="1">
                <a:solidFill>
                  <a:schemeClr val="bg2">
                    <a:lumMod val="10000"/>
                  </a:schemeClr>
                </a:solidFill>
              </a:rPr>
              <a:t>i</a:t>
            </a:r>
            <a:r>
              <a:rPr lang="en-US" b="1" i="1" dirty="0">
                <a:solidFill>
                  <a:schemeClr val="bg2">
                    <a:lumMod val="10000"/>
                  </a:schemeClr>
                </a:solidFill>
              </a:rPr>
              <a:t>, x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) = </a:t>
            </a:r>
            <a:r>
              <a:rPr lang="en-US" b="1" i="1" dirty="0">
                <a:solidFill>
                  <a:schemeClr val="bg2">
                    <a:lumMod val="10000"/>
                  </a:schemeClr>
                </a:solidFill>
              </a:rPr>
              <a:t>M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(</a:t>
            </a:r>
            <a:r>
              <a:rPr lang="en-US" b="1" i="1" dirty="0" err="1">
                <a:solidFill>
                  <a:schemeClr val="bg2">
                    <a:lumMod val="10000"/>
                  </a:schemeClr>
                </a:solidFill>
              </a:rPr>
              <a:t>i</a:t>
            </a:r>
            <a:r>
              <a:rPr lang="en-US" b="1" i="1" dirty="0">
                <a:solidFill>
                  <a:schemeClr val="bg2">
                    <a:lumMod val="10000"/>
                  </a:schemeClr>
                </a:solidFill>
              </a:rPr>
              <a:t>, y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)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 for at least frac. </a:t>
            </a:r>
            <a:r>
              <a:rPr lang="en-US" b="1" i="1" dirty="0">
                <a:solidFill>
                  <a:schemeClr val="bg2">
                    <a:lumMod val="10000"/>
                  </a:schemeClr>
                </a:solidFill>
              </a:rPr>
              <a:t>s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 values of </a:t>
            </a:r>
            <a:r>
              <a:rPr lang="en-US" b="1" i="1" dirty="0">
                <a:solidFill>
                  <a:schemeClr val="bg2">
                    <a:lumMod val="10000"/>
                  </a:schemeClr>
                </a:solidFill>
              </a:rPr>
              <a:t>I. 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We expect documents </a:t>
            </a:r>
            <a:r>
              <a:rPr lang="en-US" b="1" i="1" dirty="0">
                <a:solidFill>
                  <a:schemeClr val="bg2">
                    <a:lumMod val="10000"/>
                  </a:schemeClr>
                </a:solidFill>
              </a:rPr>
              <a:t>x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 and </a:t>
            </a:r>
            <a:r>
              <a:rPr lang="en-US" b="1" i="1" dirty="0">
                <a:solidFill>
                  <a:schemeClr val="bg2">
                    <a:lumMod val="10000"/>
                  </a:schemeClr>
                </a:solidFill>
              </a:rPr>
              <a:t>y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 to have the same (Jaccard) similarity as their signatures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Arrange that (only) 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similar columns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 are likely to 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hash to the same bucket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, with high probability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Candidate pairs are those that hash to the same bucket</a:t>
            </a:r>
          </a:p>
          <a:p>
            <a:pPr lvl="1"/>
            <a:endParaRPr lang="en-US" dirty="0"/>
          </a:p>
          <a:p>
            <a:pPr lvl="1"/>
            <a:endParaRPr lang="en-US" b="1" dirty="0">
              <a:solidFill>
                <a:srgbClr val="FF0066"/>
              </a:solidFill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95B57689-3239-ABA2-2688-E4DBB7D3BE49}"/>
              </a:ext>
            </a:extLst>
          </p:cNvPr>
          <p:cNvGrpSpPr/>
          <p:nvPr/>
        </p:nvGrpSpPr>
        <p:grpSpPr>
          <a:xfrm>
            <a:off x="5600657" y="1669263"/>
            <a:ext cx="3543343" cy="2714717"/>
            <a:chOff x="1915047" y="1905000"/>
            <a:chExt cx="7358222" cy="4753853"/>
          </a:xfrm>
        </p:grpSpPr>
        <p:sp>
          <p:nvSpPr>
            <p:cNvPr id="11" name="Rectangle 3">
              <a:extLst>
                <a:ext uri="{FF2B5EF4-FFF2-40B4-BE49-F238E27FC236}">
                  <a16:creationId xmlns:a16="http://schemas.microsoft.com/office/drawing/2014/main" id="{CC2C1033-742E-4088-F13F-5B6F4DBCEC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0800" y="1905000"/>
              <a:ext cx="4343400" cy="4191000"/>
            </a:xfrm>
            <a:prstGeom prst="rect">
              <a:avLst/>
            </a:prstGeom>
            <a:solidFill>
              <a:srgbClr val="FFFF99">
                <a:alpha val="50000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200"/>
            </a:p>
          </p:txBody>
        </p:sp>
        <p:sp>
          <p:nvSpPr>
            <p:cNvPr id="12" name="Line 4">
              <a:extLst>
                <a:ext uri="{FF2B5EF4-FFF2-40B4-BE49-F238E27FC236}">
                  <a16:creationId xmlns:a16="http://schemas.microsoft.com/office/drawing/2014/main" id="{B04CBCDC-C3A2-9532-7BC8-79A96C1035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0800" y="2743200"/>
              <a:ext cx="434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13" name="Line 5">
              <a:extLst>
                <a:ext uri="{FF2B5EF4-FFF2-40B4-BE49-F238E27FC236}">
                  <a16:creationId xmlns:a16="http://schemas.microsoft.com/office/drawing/2014/main" id="{085286AB-DD41-37CD-FDC5-97A5B13F58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0800" y="3581400"/>
              <a:ext cx="434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14" name="Line 6">
              <a:extLst>
                <a:ext uri="{FF2B5EF4-FFF2-40B4-BE49-F238E27FC236}">
                  <a16:creationId xmlns:a16="http://schemas.microsoft.com/office/drawing/2014/main" id="{741DBE77-10AC-F168-D307-607323F445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0800" y="4419600"/>
              <a:ext cx="434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15" name="Line 7">
              <a:extLst>
                <a:ext uri="{FF2B5EF4-FFF2-40B4-BE49-F238E27FC236}">
                  <a16:creationId xmlns:a16="http://schemas.microsoft.com/office/drawing/2014/main" id="{B622AD33-FE52-BA13-B72A-7E992B946A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0800" y="5257800"/>
              <a:ext cx="434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16" name="Text Box 8">
              <a:extLst>
                <a:ext uri="{FF2B5EF4-FFF2-40B4-BE49-F238E27FC236}">
                  <a16:creationId xmlns:a16="http://schemas.microsoft.com/office/drawing/2014/main" id="{3E91335A-D124-16F1-B50E-5FEDA8D3E8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90117" y="6173789"/>
              <a:ext cx="3349485" cy="485064"/>
            </a:xfrm>
            <a:prstGeom prst="rect">
              <a:avLst/>
            </a:prstGeom>
            <a:noFill/>
            <a:ln w="9525">
              <a:noFill/>
              <a:prstDash val="dash"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08000"/>
                  </a:solidFill>
                </a:rPr>
                <a:t>Signature matrix  </a:t>
              </a:r>
              <a:r>
                <a:rPr lang="en-US" sz="1200" b="1" i="1" dirty="0">
                  <a:solidFill>
                    <a:srgbClr val="008000"/>
                  </a:solidFill>
                </a:rPr>
                <a:t>M</a:t>
              </a:r>
            </a:p>
          </p:txBody>
        </p:sp>
        <p:sp>
          <p:nvSpPr>
            <p:cNvPr id="17" name="Text Box 9">
              <a:extLst>
                <a:ext uri="{FF2B5EF4-FFF2-40B4-BE49-F238E27FC236}">
                  <a16:creationId xmlns:a16="http://schemas.microsoft.com/office/drawing/2014/main" id="{830121E5-D041-0DDE-9CB3-B5EA29DD61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44616" y="2744788"/>
              <a:ext cx="1734994" cy="808441"/>
            </a:xfrm>
            <a:prstGeom prst="rect">
              <a:avLst/>
            </a:prstGeom>
            <a:noFill/>
            <a:ln w="9525">
              <a:noFill/>
              <a:prstDash val="dash"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lang="en-US" sz="1200" b="1" i="1" dirty="0">
                  <a:solidFill>
                    <a:srgbClr val="008000"/>
                  </a:solidFill>
                </a:rPr>
                <a:t>r </a:t>
              </a:r>
              <a:r>
                <a:rPr lang="en-US" sz="1200" b="1" dirty="0">
                  <a:solidFill>
                    <a:srgbClr val="008000"/>
                  </a:solidFill>
                </a:rPr>
                <a:t> rows</a:t>
              </a:r>
            </a:p>
            <a:p>
              <a:pPr algn="ctr"/>
              <a:r>
                <a:rPr lang="en-US" sz="1200" b="1" dirty="0">
                  <a:solidFill>
                    <a:srgbClr val="008000"/>
                  </a:solidFill>
                </a:rPr>
                <a:t>per band</a:t>
              </a:r>
            </a:p>
          </p:txBody>
        </p:sp>
        <p:sp>
          <p:nvSpPr>
            <p:cNvPr id="18" name="Line 10">
              <a:extLst>
                <a:ext uri="{FF2B5EF4-FFF2-40B4-BE49-F238E27FC236}">
                  <a16:creationId xmlns:a16="http://schemas.microsoft.com/office/drawing/2014/main" id="{11C68176-C85A-594F-D40A-7ABCC7515B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65975" y="2741613"/>
              <a:ext cx="0" cy="8413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19" name="Line 11">
              <a:extLst>
                <a:ext uri="{FF2B5EF4-FFF2-40B4-BE49-F238E27FC236}">
                  <a16:creationId xmlns:a16="http://schemas.microsoft.com/office/drawing/2014/main" id="{4463B349-9B7A-554F-3B32-0F7A9A1708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11419" y="1905000"/>
              <a:ext cx="0" cy="419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20" name="Text Box 12">
              <a:extLst>
                <a:ext uri="{FF2B5EF4-FFF2-40B4-BE49-F238E27FC236}">
                  <a16:creationId xmlns:a16="http://schemas.microsoft.com/office/drawing/2014/main" id="{2A7ED8F4-DC8A-44EB-6587-1F35142C00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1485169" y="3578886"/>
              <a:ext cx="1434982" cy="575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lang="en-US" sz="1200" b="1" i="1" dirty="0">
                  <a:solidFill>
                    <a:srgbClr val="008000"/>
                  </a:solidFill>
                </a:rPr>
                <a:t>b</a:t>
              </a:r>
              <a:r>
                <a:rPr lang="en-US" sz="1200" b="1" dirty="0">
                  <a:solidFill>
                    <a:srgbClr val="008000"/>
                  </a:solidFill>
                </a:rPr>
                <a:t>  bands</a:t>
              </a:r>
            </a:p>
          </p:txBody>
        </p:sp>
        <p:sp>
          <p:nvSpPr>
            <p:cNvPr id="21" name="Rectangle 13">
              <a:extLst>
                <a:ext uri="{FF2B5EF4-FFF2-40B4-BE49-F238E27FC236}">
                  <a16:creationId xmlns:a16="http://schemas.microsoft.com/office/drawing/2014/main" id="{0F8C3DF2-AD73-43D5-3B86-969336E31D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5800" y="1905000"/>
              <a:ext cx="228600" cy="4191000"/>
            </a:xfrm>
            <a:prstGeom prst="rect">
              <a:avLst/>
            </a:prstGeom>
            <a:solidFill>
              <a:srgbClr val="CC99FF">
                <a:alpha val="50000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200"/>
            </a:p>
          </p:txBody>
        </p:sp>
        <p:sp>
          <p:nvSpPr>
            <p:cNvPr id="22" name="Line 15">
              <a:extLst>
                <a:ext uri="{FF2B5EF4-FFF2-40B4-BE49-F238E27FC236}">
                  <a16:creationId xmlns:a16="http://schemas.microsoft.com/office/drawing/2014/main" id="{B8F73DDC-8355-D4FB-AEC0-D551E710CD2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724400" y="3276600"/>
              <a:ext cx="2590800" cy="2057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23" name="Text Box 16">
              <a:extLst>
                <a:ext uri="{FF2B5EF4-FFF2-40B4-BE49-F238E27FC236}">
                  <a16:creationId xmlns:a16="http://schemas.microsoft.com/office/drawing/2014/main" id="{3C61237C-6E6E-F506-5D0B-C65F332071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51725" y="5060951"/>
              <a:ext cx="1821544" cy="8084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200" b="1">
                  <a:solidFill>
                    <a:srgbClr val="008000"/>
                  </a:solidFill>
                </a:rPr>
                <a:t>   One</a:t>
              </a:r>
            </a:p>
            <a:p>
              <a:r>
                <a:rPr lang="en-US" sz="1200" b="1">
                  <a:solidFill>
                    <a:srgbClr val="008000"/>
                  </a:solidFill>
                </a:rPr>
                <a:t>signature</a:t>
              </a: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D05A850B-B085-1F33-96B6-D3C08136C0BA}"/>
              </a:ext>
            </a:extLst>
          </p:cNvPr>
          <p:cNvSpPr txBox="1"/>
          <p:nvPr/>
        </p:nvSpPr>
        <p:spPr>
          <a:xfrm>
            <a:off x="5944420" y="1362421"/>
            <a:ext cx="20915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Partition </a:t>
            </a:r>
            <a:r>
              <a:rPr lang="en-US" b="1" dirty="0"/>
              <a:t>M</a:t>
            </a:r>
            <a:r>
              <a:rPr lang="en-US" dirty="0"/>
              <a:t> into </a:t>
            </a:r>
            <a:r>
              <a:rPr lang="en-US" i="1" dirty="0"/>
              <a:t>b</a:t>
            </a:r>
            <a:r>
              <a:rPr lang="en-US" dirty="0"/>
              <a:t> bands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72;p37">
            <a:extLst>
              <a:ext uri="{FF2B5EF4-FFF2-40B4-BE49-F238E27FC236}">
                <a16:creationId xmlns:a16="http://schemas.microsoft.com/office/drawing/2014/main" id="{53DFD194-7053-3F38-D38B-ABA2D448300B}"/>
              </a:ext>
            </a:extLst>
          </p:cNvPr>
          <p:cNvSpPr txBox="1">
            <a:spLocks/>
          </p:cNvSpPr>
          <p:nvPr/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2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 Medium"/>
              <a:buNone/>
              <a:defRPr sz="30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 Medium"/>
              <a:buNone/>
              <a:defRPr sz="30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 Medium"/>
              <a:buNone/>
              <a:defRPr sz="30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 Medium"/>
              <a:buNone/>
              <a:defRPr sz="30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 Medium"/>
              <a:buNone/>
              <a:defRPr sz="30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 Medium"/>
              <a:buNone/>
              <a:defRPr sz="30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 Medium"/>
              <a:buNone/>
              <a:defRPr sz="30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 Medium"/>
              <a:buNone/>
              <a:defRPr sz="30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9pPr>
          </a:lstStyle>
          <a:p>
            <a:pPr algn="l"/>
            <a:r>
              <a:rPr lang="en-US" dirty="0"/>
              <a:t>3.4.2 Analyses of the Banding Techniques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B377C0-D86D-0C53-EA5C-23DF8D6E8F5F}"/>
              </a:ext>
            </a:extLst>
          </p:cNvPr>
          <p:cNvSpPr txBox="1"/>
          <p:nvPr/>
        </p:nvSpPr>
        <p:spPr>
          <a:xfrm>
            <a:off x="422331" y="1244185"/>
            <a:ext cx="4000331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/>
              <a:t>We can calculate the probability that these documents (or rather their signatures) become a candidate pair as follows: 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dirty="0"/>
              <a:t>The probability that the signatures agree in all rows of one particular band is </a:t>
            </a:r>
            <a:r>
              <a:rPr lang="en-US" dirty="0" err="1"/>
              <a:t>s</a:t>
            </a:r>
            <a:r>
              <a:rPr lang="en-US" baseline="30000" dirty="0" err="1"/>
              <a:t>r</a:t>
            </a:r>
            <a:r>
              <a:rPr lang="en-US" dirty="0"/>
              <a:t> 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dirty="0"/>
              <a:t>The probability that the signatures disagree in at least one row of a particular band is 1 − </a:t>
            </a:r>
            <a:r>
              <a:rPr lang="en-US" dirty="0" err="1"/>
              <a:t>s</a:t>
            </a:r>
            <a:r>
              <a:rPr lang="en-US" baseline="30000" dirty="0" err="1"/>
              <a:t>r</a:t>
            </a:r>
            <a:endParaRPr lang="en-US" dirty="0"/>
          </a:p>
          <a:p>
            <a:pPr marL="342900" indent="-342900" algn="just">
              <a:buFont typeface="+mj-lt"/>
              <a:buAutoNum type="arabicPeriod"/>
            </a:pPr>
            <a:r>
              <a:rPr lang="en-US" dirty="0"/>
              <a:t>The probability that the signatures disagree in at least one row of each of the bands is (1 − </a:t>
            </a:r>
            <a:r>
              <a:rPr lang="en-US" dirty="0" err="1"/>
              <a:t>s</a:t>
            </a:r>
            <a:r>
              <a:rPr lang="en-US" baseline="30000" dirty="0" err="1"/>
              <a:t>r</a:t>
            </a:r>
            <a:r>
              <a:rPr lang="en-US" dirty="0"/>
              <a:t>)</a:t>
            </a:r>
            <a:r>
              <a:rPr lang="en-US" baseline="30000" dirty="0"/>
              <a:t>b</a:t>
            </a:r>
            <a:r>
              <a:rPr lang="en-US" dirty="0"/>
              <a:t> 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dirty="0"/>
              <a:t>The probability that the signatures agree in all the rows of at least one band, and therefore become a candidate pair, is 1 − (1 − </a:t>
            </a:r>
            <a:r>
              <a:rPr lang="en-US" dirty="0" err="1"/>
              <a:t>s</a:t>
            </a:r>
            <a:r>
              <a:rPr lang="en-US" baseline="30000" dirty="0" err="1"/>
              <a:t>r</a:t>
            </a:r>
            <a:r>
              <a:rPr lang="en-US" dirty="0"/>
              <a:t>)</a:t>
            </a:r>
            <a:r>
              <a:rPr lang="en-US" baseline="30000" dirty="0"/>
              <a:t>b</a:t>
            </a:r>
            <a:r>
              <a:rPr lang="en-US" dirty="0"/>
              <a:t> </a:t>
            </a:r>
            <a:endParaRPr lang="en-US" b="1" dirty="0">
              <a:solidFill>
                <a:srgbClr val="FF0066"/>
              </a:solidFill>
            </a:endParaRP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B4571F13-20A0-D857-243B-1A8B3DC8FBB9}"/>
              </a:ext>
            </a:extLst>
          </p:cNvPr>
          <p:cNvGrpSpPr/>
          <p:nvPr/>
        </p:nvGrpSpPr>
        <p:grpSpPr>
          <a:xfrm>
            <a:off x="4469300" y="1360024"/>
            <a:ext cx="4443180" cy="3208148"/>
            <a:chOff x="1678584" y="1752600"/>
            <a:chExt cx="7259676" cy="5105400"/>
          </a:xfrm>
        </p:grpSpPr>
        <p:sp>
          <p:nvSpPr>
            <p:cNvPr id="11" name="Rectangle 3">
              <a:extLst>
                <a:ext uri="{FF2B5EF4-FFF2-40B4-BE49-F238E27FC236}">
                  <a16:creationId xmlns:a16="http://schemas.microsoft.com/office/drawing/2014/main" id="{3CF63F3F-186E-9C7B-728E-1CDB7E05E8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62200" y="1828800"/>
              <a:ext cx="4267200" cy="35814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200"/>
            </a:p>
          </p:txBody>
        </p:sp>
        <p:sp>
          <p:nvSpPr>
            <p:cNvPr id="12" name="Line 9">
              <a:extLst>
                <a:ext uri="{FF2B5EF4-FFF2-40B4-BE49-F238E27FC236}">
                  <a16:creationId xmlns:a16="http://schemas.microsoft.com/office/drawing/2014/main" id="{66AE85A5-B2E1-4BA2-A929-32F05D3F0F4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62200" y="5334000"/>
              <a:ext cx="2057400" cy="7620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C7F478CF-4F19-3FAA-3636-5C5C02CC8EB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9600" y="5105400"/>
              <a:ext cx="88900" cy="228600"/>
            </a:xfrm>
            <a:custGeom>
              <a:avLst/>
              <a:gdLst>
                <a:gd name="T0" fmla="*/ 0 w 56"/>
                <a:gd name="T1" fmla="*/ 144 h 144"/>
                <a:gd name="T2" fmla="*/ 48 w 56"/>
                <a:gd name="T3" fmla="*/ 96 h 144"/>
                <a:gd name="T4" fmla="*/ 48 w 56"/>
                <a:gd name="T5" fmla="*/ 0 h 144"/>
                <a:gd name="T6" fmla="*/ 0 60000 65536"/>
                <a:gd name="T7" fmla="*/ 0 60000 65536"/>
                <a:gd name="T8" fmla="*/ 0 60000 65536"/>
                <a:gd name="T9" fmla="*/ 0 w 56"/>
                <a:gd name="T10" fmla="*/ 0 h 144"/>
                <a:gd name="T11" fmla="*/ 56 w 56"/>
                <a:gd name="T12" fmla="*/ 144 h 14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6" h="144">
                  <a:moveTo>
                    <a:pt x="0" y="144"/>
                  </a:moveTo>
                  <a:cubicBezTo>
                    <a:pt x="20" y="132"/>
                    <a:pt x="40" y="120"/>
                    <a:pt x="48" y="96"/>
                  </a:cubicBezTo>
                  <a:cubicBezTo>
                    <a:pt x="56" y="72"/>
                    <a:pt x="52" y="36"/>
                    <a:pt x="48" y="0"/>
                  </a:cubicBez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14" name="Line 11">
              <a:extLst>
                <a:ext uri="{FF2B5EF4-FFF2-40B4-BE49-F238E27FC236}">
                  <a16:creationId xmlns:a16="http://schemas.microsoft.com/office/drawing/2014/main" id="{456770F5-D82C-F175-A8EB-4DE3D91A0F8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95800" y="2057400"/>
              <a:ext cx="76200" cy="304800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15" name="Freeform 12">
              <a:extLst>
                <a:ext uri="{FF2B5EF4-FFF2-40B4-BE49-F238E27FC236}">
                  <a16:creationId xmlns:a16="http://schemas.microsoft.com/office/drawing/2014/main" id="{1B2F6FC0-1A01-687A-A3F9-C081E54F84B9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2000" y="1879600"/>
              <a:ext cx="152400" cy="177800"/>
            </a:xfrm>
            <a:custGeom>
              <a:avLst/>
              <a:gdLst>
                <a:gd name="T0" fmla="*/ 0 w 96"/>
                <a:gd name="T1" fmla="*/ 112 h 112"/>
                <a:gd name="T2" fmla="*/ 48 w 96"/>
                <a:gd name="T3" fmla="*/ 16 h 112"/>
                <a:gd name="T4" fmla="*/ 96 w 96"/>
                <a:gd name="T5" fmla="*/ 16 h 112"/>
                <a:gd name="T6" fmla="*/ 0 60000 65536"/>
                <a:gd name="T7" fmla="*/ 0 60000 65536"/>
                <a:gd name="T8" fmla="*/ 0 60000 65536"/>
                <a:gd name="T9" fmla="*/ 0 w 96"/>
                <a:gd name="T10" fmla="*/ 0 h 112"/>
                <a:gd name="T11" fmla="*/ 96 w 96"/>
                <a:gd name="T12" fmla="*/ 112 h 1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6" h="112">
                  <a:moveTo>
                    <a:pt x="0" y="112"/>
                  </a:moveTo>
                  <a:cubicBezTo>
                    <a:pt x="16" y="72"/>
                    <a:pt x="32" y="32"/>
                    <a:pt x="48" y="16"/>
                  </a:cubicBezTo>
                  <a:cubicBezTo>
                    <a:pt x="64" y="0"/>
                    <a:pt x="80" y="8"/>
                    <a:pt x="96" y="16"/>
                  </a:cubicBez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16" name="Line 13">
              <a:extLst>
                <a:ext uri="{FF2B5EF4-FFF2-40B4-BE49-F238E27FC236}">
                  <a16:creationId xmlns:a16="http://schemas.microsoft.com/office/drawing/2014/main" id="{31E1E596-AB69-BC76-6123-2874BD7512B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24400" y="1828800"/>
              <a:ext cx="1905000" cy="7620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200"/>
            </a:p>
          </p:txBody>
        </p:sp>
        <p:grpSp>
          <p:nvGrpSpPr>
            <p:cNvPr id="17" name="Group 14">
              <a:extLst>
                <a:ext uri="{FF2B5EF4-FFF2-40B4-BE49-F238E27FC236}">
                  <a16:creationId xmlns:a16="http://schemas.microsoft.com/office/drawing/2014/main" id="{DB61850C-F15F-783C-46D5-4D47C2AAFEC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40654" y="3409952"/>
              <a:ext cx="1011238" cy="1958976"/>
              <a:chOff x="4866" y="2169"/>
              <a:chExt cx="637" cy="1234"/>
            </a:xfrm>
          </p:grpSpPr>
          <p:sp>
            <p:nvSpPr>
              <p:cNvPr id="18" name="Text Box 15">
                <a:extLst>
                  <a:ext uri="{FF2B5EF4-FFF2-40B4-BE49-F238E27FC236}">
                    <a16:creationId xmlns:a16="http://schemas.microsoft.com/office/drawing/2014/main" id="{8A01A20C-38F7-0964-662A-63F0EC7AB29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66" y="2169"/>
                <a:ext cx="232" cy="17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sz="1200" b="1" i="1" dirty="0">
                    <a:latin typeface="Tahoma" pitchFamily="34" charset="0"/>
                  </a:rPr>
                  <a:t>t</a:t>
                </a:r>
                <a:r>
                  <a:rPr lang="en-US" sz="1200" b="1" dirty="0">
                    <a:latin typeface="Tahoma" pitchFamily="34" charset="0"/>
                  </a:rPr>
                  <a:t> </a:t>
                </a:r>
                <a:r>
                  <a:rPr lang="en-US" sz="1200" b="1" i="1" baseline="30000" dirty="0">
                    <a:latin typeface="Tahoma" pitchFamily="34" charset="0"/>
                  </a:rPr>
                  <a:t>r </a:t>
                </a:r>
              </a:p>
            </p:txBody>
          </p:sp>
          <p:sp>
            <p:nvSpPr>
              <p:cNvPr id="19" name="Text Box 16">
                <a:extLst>
                  <a:ext uri="{FF2B5EF4-FFF2-40B4-BE49-F238E27FC236}">
                    <a16:creationId xmlns:a16="http://schemas.microsoft.com/office/drawing/2014/main" id="{70CD3546-967B-71BF-A070-692C14BED84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80" y="2996"/>
                <a:ext cx="523" cy="40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sz="1200" dirty="0">
                    <a:solidFill>
                      <a:srgbClr val="008000"/>
                    </a:solidFill>
                    <a:latin typeface="Tahoma" pitchFamily="34" charset="0"/>
                  </a:rPr>
                  <a:t>All rows</a:t>
                </a:r>
              </a:p>
              <a:p>
                <a:pPr eaLnBrk="0" hangingPunct="0"/>
                <a:r>
                  <a:rPr lang="en-US" sz="1200" dirty="0">
                    <a:solidFill>
                      <a:srgbClr val="008000"/>
                    </a:solidFill>
                    <a:latin typeface="Tahoma" pitchFamily="34" charset="0"/>
                  </a:rPr>
                  <a:t>of a band</a:t>
                </a:r>
              </a:p>
              <a:p>
                <a:pPr eaLnBrk="0" hangingPunct="0"/>
                <a:r>
                  <a:rPr lang="en-US" sz="1200" dirty="0">
                    <a:solidFill>
                      <a:srgbClr val="008000"/>
                    </a:solidFill>
                    <a:latin typeface="Tahoma" pitchFamily="34" charset="0"/>
                  </a:rPr>
                  <a:t>are equal</a:t>
                </a:r>
              </a:p>
            </p:txBody>
          </p:sp>
          <p:sp>
            <p:nvSpPr>
              <p:cNvPr id="20" name="Line 17">
                <a:extLst>
                  <a:ext uri="{FF2B5EF4-FFF2-40B4-BE49-F238E27FC236}">
                    <a16:creationId xmlns:a16="http://schemas.microsoft.com/office/drawing/2014/main" id="{7B35CBB5-786B-4BAE-53B6-849766FAF7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992" y="2425"/>
                <a:ext cx="192" cy="6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1200"/>
              </a:p>
            </p:txBody>
          </p:sp>
        </p:grpSp>
        <p:grpSp>
          <p:nvGrpSpPr>
            <p:cNvPr id="21" name="Group 18">
              <a:extLst>
                <a:ext uri="{FF2B5EF4-FFF2-40B4-BE49-F238E27FC236}">
                  <a16:creationId xmlns:a16="http://schemas.microsoft.com/office/drawing/2014/main" id="{DA8B23D3-4EEE-A085-02E5-AE616C902D6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613522" y="3398838"/>
              <a:ext cx="1098550" cy="2155825"/>
              <a:chOff x="4166" y="2141"/>
              <a:chExt cx="692" cy="1358"/>
            </a:xfrm>
          </p:grpSpPr>
          <p:sp>
            <p:nvSpPr>
              <p:cNvPr id="22" name="Text Box 19">
                <a:extLst>
                  <a:ext uri="{FF2B5EF4-FFF2-40B4-BE49-F238E27FC236}">
                    <a16:creationId xmlns:a16="http://schemas.microsoft.com/office/drawing/2014/main" id="{B2641262-B53A-144F-8A17-E9EDBCD2576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10" y="2141"/>
                <a:ext cx="248" cy="17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sz="1200" b="1" dirty="0">
                    <a:latin typeface="Tahoma" pitchFamily="34" charset="0"/>
                  </a:rPr>
                  <a:t>1 -</a:t>
                </a:r>
              </a:p>
            </p:txBody>
          </p:sp>
          <p:sp>
            <p:nvSpPr>
              <p:cNvPr id="23" name="Text Box 20">
                <a:extLst>
                  <a:ext uri="{FF2B5EF4-FFF2-40B4-BE49-F238E27FC236}">
                    <a16:creationId xmlns:a16="http://schemas.microsoft.com/office/drawing/2014/main" id="{9D35FCC6-A337-F7C3-E9DE-1E6ED1511A4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66" y="3092"/>
                <a:ext cx="545" cy="40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sz="1200" dirty="0">
                    <a:solidFill>
                      <a:srgbClr val="008000"/>
                    </a:solidFill>
                    <a:latin typeface="Tahoma" pitchFamily="34" charset="0"/>
                  </a:rPr>
                  <a:t>Some row</a:t>
                </a:r>
              </a:p>
              <a:p>
                <a:pPr eaLnBrk="0" hangingPunct="0"/>
                <a:r>
                  <a:rPr lang="en-US" sz="1200" dirty="0">
                    <a:solidFill>
                      <a:srgbClr val="008000"/>
                    </a:solidFill>
                    <a:latin typeface="Tahoma" pitchFamily="34" charset="0"/>
                  </a:rPr>
                  <a:t>of a band</a:t>
                </a:r>
              </a:p>
              <a:p>
                <a:pPr eaLnBrk="0" hangingPunct="0"/>
                <a:r>
                  <a:rPr lang="en-US" sz="1200" dirty="0">
                    <a:solidFill>
                      <a:srgbClr val="008000"/>
                    </a:solidFill>
                    <a:latin typeface="Tahoma" pitchFamily="34" charset="0"/>
                  </a:rPr>
                  <a:t>unequal</a:t>
                </a:r>
              </a:p>
            </p:txBody>
          </p:sp>
          <p:sp>
            <p:nvSpPr>
              <p:cNvPr id="24" name="Line 21">
                <a:extLst>
                  <a:ext uri="{FF2B5EF4-FFF2-40B4-BE49-F238E27FC236}">
                    <a16:creationId xmlns:a16="http://schemas.microsoft.com/office/drawing/2014/main" id="{261D83B0-B04C-340C-94CB-63B66C393F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512" y="2421"/>
                <a:ext cx="336" cy="65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1200"/>
              </a:p>
            </p:txBody>
          </p:sp>
        </p:grpSp>
        <p:grpSp>
          <p:nvGrpSpPr>
            <p:cNvPr id="26" name="Group 22">
              <a:extLst>
                <a:ext uri="{FF2B5EF4-FFF2-40B4-BE49-F238E27FC236}">
                  <a16:creationId xmlns:a16="http://schemas.microsoft.com/office/drawing/2014/main" id="{05A20C67-DDC0-CA3B-2221-E27176DE341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23125" y="1752600"/>
              <a:ext cx="1501775" cy="1909763"/>
              <a:chOff x="4550" y="1104"/>
              <a:chExt cx="946" cy="1203"/>
            </a:xfrm>
          </p:grpSpPr>
          <p:sp>
            <p:nvSpPr>
              <p:cNvPr id="35" name="Text Box 23">
                <a:extLst>
                  <a:ext uri="{FF2B5EF4-FFF2-40B4-BE49-F238E27FC236}">
                    <a16:creationId xmlns:a16="http://schemas.microsoft.com/office/drawing/2014/main" id="{26918BB7-DF8E-E92A-2664-7291DF2EADE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50" y="2133"/>
                <a:ext cx="161" cy="17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sz="1200" b="1" dirty="0">
                    <a:latin typeface="Tahoma" pitchFamily="34" charset="0"/>
                  </a:rPr>
                  <a:t>(</a:t>
                </a:r>
              </a:p>
            </p:txBody>
          </p:sp>
          <p:sp>
            <p:nvSpPr>
              <p:cNvPr id="36" name="Text Box 24">
                <a:extLst>
                  <a:ext uri="{FF2B5EF4-FFF2-40B4-BE49-F238E27FC236}">
                    <a16:creationId xmlns:a16="http://schemas.microsoft.com/office/drawing/2014/main" id="{0DAA50D6-D8A3-D921-B427-5EFE2CFBB7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78" y="2133"/>
                <a:ext cx="220" cy="17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sz="1200" b="1" dirty="0">
                    <a:latin typeface="Tahoma" pitchFamily="34" charset="0"/>
                  </a:rPr>
                  <a:t>)</a:t>
                </a:r>
                <a:r>
                  <a:rPr lang="en-US" sz="1200" b="1" i="1" baseline="30000" dirty="0">
                    <a:latin typeface="Tahoma" pitchFamily="34" charset="0"/>
                  </a:rPr>
                  <a:t>b </a:t>
                </a:r>
              </a:p>
            </p:txBody>
          </p:sp>
          <p:sp>
            <p:nvSpPr>
              <p:cNvPr id="37" name="Text Box 25">
                <a:extLst>
                  <a:ext uri="{FF2B5EF4-FFF2-40B4-BE49-F238E27FC236}">
                    <a16:creationId xmlns:a16="http://schemas.microsoft.com/office/drawing/2014/main" id="{B67577ED-AF6B-3421-4EFC-172FB4D81E9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77" y="1104"/>
                <a:ext cx="519" cy="40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0" hangingPunct="0"/>
                <a:endParaRPr lang="en-US" sz="1200" dirty="0">
                  <a:solidFill>
                    <a:srgbClr val="008000"/>
                  </a:solidFill>
                  <a:latin typeface="Tahoma" pitchFamily="34" charset="0"/>
                </a:endParaRPr>
              </a:p>
              <a:p>
                <a:pPr eaLnBrk="0" hangingPunct="0"/>
                <a:r>
                  <a:rPr lang="en-US" sz="1200" dirty="0">
                    <a:solidFill>
                      <a:srgbClr val="008000"/>
                    </a:solidFill>
                    <a:latin typeface="Tahoma" pitchFamily="34" charset="0"/>
                  </a:rPr>
                  <a:t>No bands</a:t>
                </a:r>
              </a:p>
              <a:p>
                <a:pPr eaLnBrk="0" hangingPunct="0"/>
                <a:r>
                  <a:rPr lang="en-US" sz="1200" dirty="0">
                    <a:solidFill>
                      <a:srgbClr val="008000"/>
                    </a:solidFill>
                    <a:latin typeface="Tahoma" pitchFamily="34" charset="0"/>
                  </a:rPr>
                  <a:t>identical</a:t>
                </a:r>
              </a:p>
            </p:txBody>
          </p:sp>
          <p:sp>
            <p:nvSpPr>
              <p:cNvPr id="38" name="Line 26">
                <a:extLst>
                  <a:ext uri="{FF2B5EF4-FFF2-40B4-BE49-F238E27FC236}">
                    <a16:creationId xmlns:a16="http://schemas.microsoft.com/office/drawing/2014/main" id="{921691B1-D220-8344-66FB-B44E4C1BF1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228" y="1680"/>
                <a:ext cx="52" cy="46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1200"/>
              </a:p>
            </p:txBody>
          </p:sp>
        </p:grpSp>
        <p:grpSp>
          <p:nvGrpSpPr>
            <p:cNvPr id="39" name="Group 27">
              <a:extLst>
                <a:ext uri="{FF2B5EF4-FFF2-40B4-BE49-F238E27FC236}">
                  <a16:creationId xmlns:a16="http://schemas.microsoft.com/office/drawing/2014/main" id="{7EF78E76-4F6C-23E7-9356-8057FD403F2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705601" y="1903413"/>
              <a:ext cx="820738" cy="1770063"/>
              <a:chOff x="4214" y="1171"/>
              <a:chExt cx="517" cy="1115"/>
            </a:xfrm>
          </p:grpSpPr>
          <p:sp>
            <p:nvSpPr>
              <p:cNvPr id="40" name="Text Box 28">
                <a:extLst>
                  <a:ext uri="{FF2B5EF4-FFF2-40B4-BE49-F238E27FC236}">
                    <a16:creationId xmlns:a16="http://schemas.microsoft.com/office/drawing/2014/main" id="{3596BAB1-2B8E-3238-A142-A95D0666B7F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72" y="2112"/>
                <a:ext cx="248" cy="17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sz="1200" b="1" dirty="0">
                    <a:latin typeface="Tahoma" pitchFamily="34" charset="0"/>
                  </a:rPr>
                  <a:t>1 -</a:t>
                </a:r>
              </a:p>
            </p:txBody>
          </p:sp>
          <p:sp>
            <p:nvSpPr>
              <p:cNvPr id="41" name="Text Box 29">
                <a:extLst>
                  <a:ext uri="{FF2B5EF4-FFF2-40B4-BE49-F238E27FC236}">
                    <a16:creationId xmlns:a16="http://schemas.microsoft.com/office/drawing/2014/main" id="{367A3174-6C31-32F3-3C93-F8E70B4B3EA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14" y="1171"/>
                <a:ext cx="517" cy="40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sz="1200" dirty="0">
                    <a:solidFill>
                      <a:srgbClr val="008000"/>
                    </a:solidFill>
                    <a:latin typeface="Tahoma" pitchFamily="34" charset="0"/>
                  </a:rPr>
                  <a:t>At least</a:t>
                </a:r>
              </a:p>
              <a:p>
                <a:pPr eaLnBrk="0" hangingPunct="0"/>
                <a:r>
                  <a:rPr lang="en-US" sz="1200" dirty="0">
                    <a:solidFill>
                      <a:srgbClr val="008000"/>
                    </a:solidFill>
                    <a:latin typeface="Tahoma" pitchFamily="34" charset="0"/>
                  </a:rPr>
                  <a:t>one band</a:t>
                </a:r>
              </a:p>
              <a:p>
                <a:pPr eaLnBrk="0" hangingPunct="0"/>
                <a:r>
                  <a:rPr lang="en-US" sz="1200" dirty="0">
                    <a:solidFill>
                      <a:srgbClr val="008000"/>
                    </a:solidFill>
                    <a:latin typeface="Tahoma" pitchFamily="34" charset="0"/>
                  </a:rPr>
                  <a:t>identical</a:t>
                </a:r>
              </a:p>
            </p:txBody>
          </p:sp>
          <p:sp>
            <p:nvSpPr>
              <p:cNvPr id="42" name="Line 30">
                <a:extLst>
                  <a:ext uri="{FF2B5EF4-FFF2-40B4-BE49-F238E27FC236}">
                    <a16:creationId xmlns:a16="http://schemas.microsoft.com/office/drawing/2014/main" id="{DA84B855-F391-AC6F-9F97-E03CC4B64FC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83" y="1728"/>
                <a:ext cx="105" cy="3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1200"/>
              </a:p>
            </p:txBody>
          </p:sp>
        </p:grpSp>
        <p:grpSp>
          <p:nvGrpSpPr>
            <p:cNvPr id="43" name="Group 31">
              <a:extLst>
                <a:ext uri="{FF2B5EF4-FFF2-40B4-BE49-F238E27FC236}">
                  <a16:creationId xmlns:a16="http://schemas.microsoft.com/office/drawing/2014/main" id="{F106747F-6DA6-464F-6AD1-10412C32E43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95799" y="3429000"/>
              <a:ext cx="1276350" cy="762000"/>
              <a:chOff x="2832" y="2160"/>
              <a:chExt cx="804" cy="480"/>
            </a:xfrm>
          </p:grpSpPr>
          <p:sp>
            <p:nvSpPr>
              <p:cNvPr id="44" name="Text Box 32">
                <a:extLst>
                  <a:ext uri="{FF2B5EF4-FFF2-40B4-BE49-F238E27FC236}">
                    <a16:creationId xmlns:a16="http://schemas.microsoft.com/office/drawing/2014/main" id="{6065B628-169E-EB88-335D-61E7B5A650A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24" y="2160"/>
                <a:ext cx="612" cy="17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sz="1200" dirty="0">
                    <a:latin typeface="Tahoma" pitchFamily="34" charset="0"/>
                  </a:rPr>
                  <a:t>s ~ (1/b)</a:t>
                </a:r>
                <a:r>
                  <a:rPr lang="en-US" sz="1200" baseline="30000" dirty="0">
                    <a:latin typeface="Tahoma" pitchFamily="34" charset="0"/>
                  </a:rPr>
                  <a:t>1/r </a:t>
                </a:r>
              </a:p>
            </p:txBody>
          </p:sp>
          <p:sp>
            <p:nvSpPr>
              <p:cNvPr id="45" name="Line 33">
                <a:extLst>
                  <a:ext uri="{FF2B5EF4-FFF2-40B4-BE49-F238E27FC236}">
                    <a16:creationId xmlns:a16="http://schemas.microsoft.com/office/drawing/2014/main" id="{3107FDC6-0A37-A046-E35C-A324ED490D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832" y="2496"/>
                <a:ext cx="432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1200"/>
              </a:p>
            </p:txBody>
          </p:sp>
        </p:grpSp>
        <p:sp>
          <p:nvSpPr>
            <p:cNvPr id="46" name="Slide Number Placeholder 35">
              <a:extLst>
                <a:ext uri="{FF2B5EF4-FFF2-40B4-BE49-F238E27FC236}">
                  <a16:creationId xmlns:a16="http://schemas.microsoft.com/office/drawing/2014/main" id="{DC43CAA3-ED83-8E08-EC1D-00B9AEB3960F}"/>
                </a:ext>
              </a:extLst>
            </p:cNvPr>
            <p:cNvSpPr txBox="1">
              <a:spLocks/>
            </p:cNvSpPr>
            <p:nvPr/>
          </p:nvSpPr>
          <p:spPr>
            <a:xfrm>
              <a:off x="8204396" y="6583680"/>
              <a:ext cx="733864" cy="274320"/>
            </a:xfrm>
            <a:prstGeom prst="rect">
              <a:avLst/>
            </a:prstGeom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fld id="{19B12225-5612-419B-A8D5-4B8EEE4C217E}" type="slidenum">
                <a:rPr lang="en-US" sz="1200" smtClean="0"/>
                <a:pPr/>
                <a:t>4</a:t>
              </a:fld>
              <a:endParaRPr lang="en-US" sz="1200"/>
            </a:p>
          </p:txBody>
        </p:sp>
        <p:sp>
          <p:nvSpPr>
            <p:cNvPr id="47" name="Text Box 4">
              <a:extLst>
                <a:ext uri="{FF2B5EF4-FFF2-40B4-BE49-F238E27FC236}">
                  <a16:creationId xmlns:a16="http://schemas.microsoft.com/office/drawing/2014/main" id="{6C09ACAA-5AA9-2959-8C4F-5FDD92F9DC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78584" y="5562600"/>
              <a:ext cx="4341216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 eaLnBrk="0" hangingPunct="0"/>
              <a:r>
                <a:rPr lang="en-US" sz="1200" dirty="0">
                  <a:solidFill>
                    <a:srgbClr val="008000"/>
                  </a:solidFill>
                  <a:latin typeface="Tahoma" pitchFamily="34" charset="0"/>
                </a:rPr>
                <a:t>       Similarity </a:t>
              </a:r>
              <a:r>
                <a:rPr lang="en-US" sz="1200" i="1" dirty="0">
                  <a:latin typeface="Tahoma" pitchFamily="34" charset="0"/>
                </a:rPr>
                <a:t>t=</a:t>
              </a:r>
              <a:r>
                <a:rPr lang="en-US" sz="1200" i="1" dirty="0" err="1">
                  <a:latin typeface="Tahoma" pitchFamily="34" charset="0"/>
                </a:rPr>
                <a:t>sim</a:t>
              </a:r>
              <a:r>
                <a:rPr lang="en-US" sz="1200" i="1" dirty="0">
                  <a:latin typeface="Tahoma" pitchFamily="34" charset="0"/>
                </a:rPr>
                <a:t>(C</a:t>
              </a:r>
              <a:r>
                <a:rPr lang="en-US" sz="1200" i="1" baseline="-25000" dirty="0">
                  <a:latin typeface="Tahoma" pitchFamily="34" charset="0"/>
                </a:rPr>
                <a:t>1</a:t>
              </a:r>
              <a:r>
                <a:rPr lang="en-US" sz="1200" i="1" dirty="0">
                  <a:latin typeface="Tahoma" pitchFamily="34" charset="0"/>
                </a:rPr>
                <a:t>, C</a:t>
              </a:r>
              <a:r>
                <a:rPr lang="en-US" sz="1200" i="1" baseline="-25000" dirty="0">
                  <a:latin typeface="Tahoma" pitchFamily="34" charset="0"/>
                </a:rPr>
                <a:t>2</a:t>
              </a:r>
              <a:r>
                <a:rPr lang="en-US" sz="1200" i="1" dirty="0">
                  <a:latin typeface="Tahoma" pitchFamily="34" charset="0"/>
                </a:rPr>
                <a:t>)</a:t>
              </a:r>
              <a:r>
                <a:rPr lang="en-US" sz="1200" dirty="0">
                  <a:solidFill>
                    <a:srgbClr val="008000"/>
                  </a:solidFill>
                  <a:latin typeface="Tahoma" pitchFamily="34" charset="0"/>
                </a:rPr>
                <a:t> of two sets</a:t>
              </a:r>
            </a:p>
          </p:txBody>
        </p:sp>
        <p:sp>
          <p:nvSpPr>
            <p:cNvPr id="48" name="Text Box 5">
              <a:extLst>
                <a:ext uri="{FF2B5EF4-FFF2-40B4-BE49-F238E27FC236}">
                  <a16:creationId xmlns:a16="http://schemas.microsoft.com/office/drawing/2014/main" id="{8A5E40A1-E2E2-4238-A57E-4F6FA18451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71374" y="3160451"/>
              <a:ext cx="811994" cy="646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sz="1200" dirty="0">
                  <a:solidFill>
                    <a:srgbClr val="008000"/>
                  </a:solidFill>
                  <a:latin typeface="Tahoma" pitchFamily="34" charset="0"/>
                </a:rPr>
                <a:t>Probability</a:t>
              </a:r>
            </a:p>
            <a:p>
              <a:pPr algn="ctr" eaLnBrk="0" hangingPunct="0"/>
              <a:r>
                <a:rPr lang="en-US" sz="1200" dirty="0">
                  <a:solidFill>
                    <a:srgbClr val="008000"/>
                  </a:solidFill>
                  <a:latin typeface="Tahoma" pitchFamily="34" charset="0"/>
                </a:rPr>
                <a:t>of sharing</a:t>
              </a:r>
            </a:p>
            <a:p>
              <a:pPr algn="ctr" eaLnBrk="0" hangingPunct="0"/>
              <a:r>
                <a:rPr lang="en-US" sz="1200" dirty="0">
                  <a:solidFill>
                    <a:srgbClr val="008000"/>
                  </a:solidFill>
                  <a:latin typeface="Tahoma" pitchFamily="34" charset="0"/>
                </a:rPr>
                <a:t>a bucket</a:t>
              </a:r>
            </a:p>
          </p:txBody>
        </p:sp>
        <p:sp>
          <p:nvSpPr>
            <p:cNvPr id="49" name="Line 6">
              <a:extLst>
                <a:ext uri="{FF2B5EF4-FFF2-40B4-BE49-F238E27FC236}">
                  <a16:creationId xmlns:a16="http://schemas.microsoft.com/office/drawing/2014/main" id="{818D1F33-FACF-974E-303B-080426F72E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43600" y="5779532"/>
              <a:ext cx="56673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50" name="Line 7">
              <a:extLst>
                <a:ext uri="{FF2B5EF4-FFF2-40B4-BE49-F238E27FC236}">
                  <a16:creationId xmlns:a16="http://schemas.microsoft.com/office/drawing/2014/main" id="{40039ED4-25C2-CFEA-5A59-8CFF3516F3D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08403" y="3276600"/>
              <a:ext cx="0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 sz="1200"/>
            </a:p>
          </p:txBody>
        </p:sp>
      </p:grpSp>
    </p:spTree>
    <p:extLst>
      <p:ext uri="{BB962C8B-B14F-4D97-AF65-F5344CB8AC3E}">
        <p14:creationId xmlns:p14="http://schemas.microsoft.com/office/powerpoint/2010/main" val="7872525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72;p37">
            <a:extLst>
              <a:ext uri="{FF2B5EF4-FFF2-40B4-BE49-F238E27FC236}">
                <a16:creationId xmlns:a16="http://schemas.microsoft.com/office/drawing/2014/main" id="{53DFD194-7053-3F38-D38B-ABA2D448300B}"/>
              </a:ext>
            </a:extLst>
          </p:cNvPr>
          <p:cNvSpPr txBox="1">
            <a:spLocks/>
          </p:cNvSpPr>
          <p:nvPr/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2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 Medium"/>
              <a:buNone/>
              <a:defRPr sz="30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 Medium"/>
              <a:buNone/>
              <a:defRPr sz="30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 Medium"/>
              <a:buNone/>
              <a:defRPr sz="30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 Medium"/>
              <a:buNone/>
              <a:defRPr sz="30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 Medium"/>
              <a:buNone/>
              <a:defRPr sz="30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 Medium"/>
              <a:buNone/>
              <a:defRPr sz="30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 Medium"/>
              <a:buNone/>
              <a:defRPr sz="30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 Medium"/>
              <a:buNone/>
              <a:defRPr sz="30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9pPr>
          </a:lstStyle>
          <a:p>
            <a:pPr algn="l"/>
            <a:r>
              <a:rPr lang="en-US" dirty="0"/>
              <a:t>3.4.3 Combining the Techniques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B377C0-D86D-0C53-EA5C-23DF8D6E8F5F}"/>
              </a:ext>
            </a:extLst>
          </p:cNvPr>
          <p:cNvSpPr txBox="1"/>
          <p:nvPr/>
        </p:nvSpPr>
        <p:spPr>
          <a:xfrm>
            <a:off x="445480" y="1501190"/>
            <a:ext cx="4226887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Pick a value of k and construct from each document the set of k-shingles. Optionally, hash the k-shingles to shorter bucket numbers.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Sort the document-shingle pairs to order them by shingle.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Pick a length n for the </a:t>
            </a:r>
            <a:r>
              <a:rPr lang="en-US" dirty="0" err="1"/>
              <a:t>minhash</a:t>
            </a:r>
            <a:r>
              <a:rPr lang="en-US" dirty="0"/>
              <a:t> signatures. Feed the sorted list to compute the </a:t>
            </a:r>
            <a:r>
              <a:rPr lang="en-US" dirty="0" err="1"/>
              <a:t>minhash</a:t>
            </a:r>
            <a:r>
              <a:rPr lang="en-US" dirty="0"/>
              <a:t> signatures for all the documents.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Choose a threshold t that defines how similar documents have to be in order for them to be regarded as a desired “similar pair.”</a:t>
            </a:r>
            <a:endParaRPr lang="en-US" b="1" dirty="0">
              <a:solidFill>
                <a:srgbClr val="FF0066"/>
              </a:solidFill>
            </a:endParaRPr>
          </a:p>
        </p:txBody>
      </p:sp>
      <p:sp>
        <p:nvSpPr>
          <p:cNvPr id="48" name="AutoShape 3">
            <a:extLst>
              <a:ext uri="{FF2B5EF4-FFF2-40B4-BE49-F238E27FC236}">
                <a16:creationId xmlns:a16="http://schemas.microsoft.com/office/drawing/2014/main" id="{F9C2D949-4962-EC5C-5FDE-5D18DCDBC9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2217" y="1447553"/>
            <a:ext cx="1371600" cy="646959"/>
          </a:xfrm>
          <a:custGeom>
            <a:avLst/>
            <a:gdLst>
              <a:gd name="G0" fmla="+- 5400 0 0"/>
              <a:gd name="G1" fmla="+- 21600 0 5400"/>
              <a:gd name="G2" fmla="*/ 5400 1 2"/>
              <a:gd name="G3" fmla="+- 21600 0 G2"/>
              <a:gd name="G4" fmla="+/ 5400 21600 2"/>
              <a:gd name="G5" fmla="+/ G1 0 2"/>
              <a:gd name="G6" fmla="*/ 21600 21600 5400"/>
              <a:gd name="G7" fmla="*/ G6 1 2"/>
              <a:gd name="G8" fmla="+- 21600 0 G7"/>
              <a:gd name="G9" fmla="*/ 21600 1 2"/>
              <a:gd name="G10" fmla="+- 5400 0 G9"/>
              <a:gd name="G11" fmla="?: G10 G8 0"/>
              <a:gd name="G12" fmla="?: G10 G7 21600"/>
              <a:gd name="T0" fmla="*/ 18900 w 21600"/>
              <a:gd name="T1" fmla="*/ 10800 h 21600"/>
              <a:gd name="T2" fmla="*/ 10800 w 21600"/>
              <a:gd name="T3" fmla="*/ 21600 h 21600"/>
              <a:gd name="T4" fmla="*/ 2700 w 21600"/>
              <a:gd name="T5" fmla="*/ 10800 h 21600"/>
              <a:gd name="T6" fmla="*/ 10800 w 21600"/>
              <a:gd name="T7" fmla="*/ 0 h 21600"/>
              <a:gd name="T8" fmla="*/ 4500 w 21600"/>
              <a:gd name="T9" fmla="*/ 4500 h 21600"/>
              <a:gd name="T10" fmla="*/ 17100 w 21600"/>
              <a:gd name="T11" fmla="*/ 171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FFCC99">
              <a:alpha val="50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pPr algn="ctr"/>
            <a:endParaRPr lang="en-US" sz="1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9" name="Text Box 6">
            <a:extLst>
              <a:ext uri="{FF2B5EF4-FFF2-40B4-BE49-F238E27FC236}">
                <a16:creationId xmlns:a16="http://schemas.microsoft.com/office/drawing/2014/main" id="{CBFFC6CE-2CF1-7315-CFC7-8145E7EDEB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18889" y="909259"/>
            <a:ext cx="129437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800" dirty="0">
                <a:latin typeface="Arial" pitchFamily="34" charset="0"/>
                <a:cs typeface="Arial" pitchFamily="34" charset="0"/>
              </a:rPr>
              <a:t>Document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C6C017D-08EF-E35B-A2A0-97B63FFC59C9}"/>
              </a:ext>
            </a:extLst>
          </p:cNvPr>
          <p:cNvSpPr txBox="1"/>
          <p:nvPr/>
        </p:nvSpPr>
        <p:spPr>
          <a:xfrm>
            <a:off x="6440543" y="1609716"/>
            <a:ext cx="1054949" cy="3210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/>
              <a:t>Shingling</a:t>
            </a:r>
          </a:p>
        </p:txBody>
      </p:sp>
      <p:sp>
        <p:nvSpPr>
          <p:cNvPr id="51" name="AutoShape 3">
            <a:extLst>
              <a:ext uri="{FF2B5EF4-FFF2-40B4-BE49-F238E27FC236}">
                <a16:creationId xmlns:a16="http://schemas.microsoft.com/office/drawing/2014/main" id="{C47B4FB1-4605-4014-27DC-041CA227D8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2217" y="2609231"/>
            <a:ext cx="1371600" cy="646959"/>
          </a:xfrm>
          <a:custGeom>
            <a:avLst/>
            <a:gdLst>
              <a:gd name="G0" fmla="+- 5400 0 0"/>
              <a:gd name="G1" fmla="+- 21600 0 5400"/>
              <a:gd name="G2" fmla="*/ 5400 1 2"/>
              <a:gd name="G3" fmla="+- 21600 0 G2"/>
              <a:gd name="G4" fmla="+/ 5400 21600 2"/>
              <a:gd name="G5" fmla="+/ G1 0 2"/>
              <a:gd name="G6" fmla="*/ 21600 21600 5400"/>
              <a:gd name="G7" fmla="*/ G6 1 2"/>
              <a:gd name="G8" fmla="+- 21600 0 G7"/>
              <a:gd name="G9" fmla="*/ 21600 1 2"/>
              <a:gd name="G10" fmla="+- 5400 0 G9"/>
              <a:gd name="G11" fmla="?: G10 G8 0"/>
              <a:gd name="G12" fmla="?: G10 G7 21600"/>
              <a:gd name="T0" fmla="*/ 18900 w 21600"/>
              <a:gd name="T1" fmla="*/ 10800 h 21600"/>
              <a:gd name="T2" fmla="*/ 10800 w 21600"/>
              <a:gd name="T3" fmla="*/ 21600 h 21600"/>
              <a:gd name="T4" fmla="*/ 2700 w 21600"/>
              <a:gd name="T5" fmla="*/ 10800 h 21600"/>
              <a:gd name="T6" fmla="*/ 10800 w 21600"/>
              <a:gd name="T7" fmla="*/ 0 h 21600"/>
              <a:gd name="T8" fmla="*/ 4500 w 21600"/>
              <a:gd name="T9" fmla="*/ 4500 h 21600"/>
              <a:gd name="T10" fmla="*/ 17100 w 21600"/>
              <a:gd name="T11" fmla="*/ 171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FFCC99">
              <a:alpha val="50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pPr algn="ctr"/>
            <a:endParaRPr lang="en-US" sz="1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7BA8B50-6816-AA33-9527-DE27A78FBB0D}"/>
              </a:ext>
            </a:extLst>
          </p:cNvPr>
          <p:cNvSpPr txBox="1"/>
          <p:nvPr/>
        </p:nvSpPr>
        <p:spPr>
          <a:xfrm>
            <a:off x="6396517" y="2650371"/>
            <a:ext cx="1143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Min</a:t>
            </a:r>
          </a:p>
          <a:p>
            <a:pPr algn="ctr"/>
            <a:r>
              <a:rPr lang="en-US" dirty="0"/>
              <a:t>hashing</a:t>
            </a:r>
          </a:p>
        </p:txBody>
      </p:sp>
      <p:sp>
        <p:nvSpPr>
          <p:cNvPr id="56" name="Rectangle 11">
            <a:extLst>
              <a:ext uri="{FF2B5EF4-FFF2-40B4-BE49-F238E27FC236}">
                <a16:creationId xmlns:a16="http://schemas.microsoft.com/office/drawing/2014/main" id="{8FA63AC4-C4E2-82AD-5559-A6C0452F2D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48010" y="3747959"/>
            <a:ext cx="840015" cy="722933"/>
          </a:xfrm>
          <a:prstGeom prst="rect">
            <a:avLst/>
          </a:prstGeom>
          <a:solidFill>
            <a:schemeClr val="accent1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200" dirty="0">
                <a:latin typeface="Arial" pitchFamily="34" charset="0"/>
                <a:cs typeface="Arial" pitchFamily="34" charset="0"/>
              </a:rPr>
              <a:t>Locality-</a:t>
            </a:r>
          </a:p>
          <a:p>
            <a:pPr algn="ctr"/>
            <a:r>
              <a:rPr lang="en-US" sz="1200" dirty="0">
                <a:latin typeface="Arial" pitchFamily="34" charset="0"/>
                <a:cs typeface="Arial" pitchFamily="34" charset="0"/>
              </a:rPr>
              <a:t>Sensitive</a:t>
            </a:r>
          </a:p>
          <a:p>
            <a:pPr algn="ctr"/>
            <a:r>
              <a:rPr lang="en-US" sz="1200" dirty="0">
                <a:latin typeface="Arial" pitchFamily="34" charset="0"/>
                <a:cs typeface="Arial" pitchFamily="34" charset="0"/>
              </a:rPr>
              <a:t>Hashing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8520F485-B315-38C0-28F1-85D20FE86E60}"/>
              </a:ext>
            </a:extLst>
          </p:cNvPr>
          <p:cNvCxnSpPr>
            <a:cxnSpLocks/>
          </p:cNvCxnSpPr>
          <p:nvPr/>
        </p:nvCxnSpPr>
        <p:spPr>
          <a:xfrm>
            <a:off x="6967959" y="2116895"/>
            <a:ext cx="0" cy="492336"/>
          </a:xfrm>
          <a:prstGeom prst="straightConnector1">
            <a:avLst/>
          </a:prstGeom>
          <a:ln w="38100">
            <a:solidFill>
              <a:schemeClr val="tx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4D5A7DAD-4F4D-45DF-17DF-BC580B4E747F}"/>
              </a:ext>
            </a:extLst>
          </p:cNvPr>
          <p:cNvCxnSpPr>
            <a:cxnSpLocks/>
          </p:cNvCxnSpPr>
          <p:nvPr/>
        </p:nvCxnSpPr>
        <p:spPr>
          <a:xfrm>
            <a:off x="6967959" y="3256190"/>
            <a:ext cx="0" cy="492336"/>
          </a:xfrm>
          <a:prstGeom prst="straightConnector1">
            <a:avLst/>
          </a:prstGeom>
          <a:ln w="38100">
            <a:solidFill>
              <a:schemeClr val="tx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52849BB6-A3DE-9D22-A5F8-A498450C0A71}"/>
              </a:ext>
            </a:extLst>
          </p:cNvPr>
          <p:cNvCxnSpPr>
            <a:cxnSpLocks/>
            <a:endCxn id="48" idx="3"/>
          </p:cNvCxnSpPr>
          <p:nvPr/>
        </p:nvCxnSpPr>
        <p:spPr>
          <a:xfrm flipH="1">
            <a:off x="6968017" y="1201385"/>
            <a:ext cx="1871" cy="246168"/>
          </a:xfrm>
          <a:prstGeom prst="straightConnector1">
            <a:avLst/>
          </a:prstGeom>
          <a:ln w="38100">
            <a:solidFill>
              <a:schemeClr val="tx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45776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72;p37">
            <a:extLst>
              <a:ext uri="{FF2B5EF4-FFF2-40B4-BE49-F238E27FC236}">
                <a16:creationId xmlns:a16="http://schemas.microsoft.com/office/drawing/2014/main" id="{53DFD194-7053-3F38-D38B-ABA2D448300B}"/>
              </a:ext>
            </a:extLst>
          </p:cNvPr>
          <p:cNvSpPr txBox="1">
            <a:spLocks/>
          </p:cNvSpPr>
          <p:nvPr/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2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 Medium"/>
              <a:buNone/>
              <a:defRPr sz="30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 Medium"/>
              <a:buNone/>
              <a:defRPr sz="30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 Medium"/>
              <a:buNone/>
              <a:defRPr sz="30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 Medium"/>
              <a:buNone/>
              <a:defRPr sz="30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 Medium"/>
              <a:buNone/>
              <a:defRPr sz="30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 Medium"/>
              <a:buNone/>
              <a:defRPr sz="30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 Medium"/>
              <a:buNone/>
              <a:defRPr sz="30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 Medium"/>
              <a:buNone/>
              <a:defRPr sz="30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9pPr>
          </a:lstStyle>
          <a:p>
            <a:pPr algn="l"/>
            <a:r>
              <a:rPr lang="en-US" dirty="0"/>
              <a:t>3.4.3 Combining the Techniques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B377C0-D86D-0C53-EA5C-23DF8D6E8F5F}"/>
              </a:ext>
            </a:extLst>
          </p:cNvPr>
          <p:cNvSpPr txBox="1"/>
          <p:nvPr/>
        </p:nvSpPr>
        <p:spPr>
          <a:xfrm>
            <a:off x="445480" y="1501190"/>
            <a:ext cx="504915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Divide matrix </a:t>
            </a:r>
            <a:r>
              <a:rPr lang="en-US" b="1" i="1" dirty="0"/>
              <a:t>M</a:t>
            </a:r>
            <a:r>
              <a:rPr lang="en-US" dirty="0"/>
              <a:t> into </a:t>
            </a:r>
            <a:r>
              <a:rPr lang="en-US" b="1" i="1" dirty="0"/>
              <a:t>b</a:t>
            </a:r>
            <a:r>
              <a:rPr lang="en-US" i="1" dirty="0"/>
              <a:t> </a:t>
            </a:r>
            <a:r>
              <a:rPr lang="en-US" dirty="0"/>
              <a:t>bands of </a:t>
            </a:r>
            <a:r>
              <a:rPr lang="en-US" b="1" i="1" dirty="0"/>
              <a:t>r</a:t>
            </a:r>
            <a:r>
              <a:rPr lang="en-US" dirty="0"/>
              <a:t> rows</a:t>
            </a:r>
          </a:p>
          <a:p>
            <a:pPr lvl="8"/>
            <a:endParaRPr lang="en-US" dirty="0"/>
          </a:p>
          <a:p>
            <a:r>
              <a:rPr lang="en-US" dirty="0"/>
              <a:t>For each band, hash its portion of each column to a hash table with </a:t>
            </a:r>
            <a:r>
              <a:rPr lang="en-US" b="1" i="1" dirty="0"/>
              <a:t>k</a:t>
            </a:r>
            <a:r>
              <a:rPr lang="en-US" dirty="0"/>
              <a:t> buckets</a:t>
            </a:r>
          </a:p>
          <a:p>
            <a:pPr lvl="1"/>
            <a:r>
              <a:rPr lang="en-US" dirty="0"/>
              <a:t>Make </a:t>
            </a:r>
            <a:r>
              <a:rPr lang="en-US" b="1" i="1" dirty="0"/>
              <a:t>k</a:t>
            </a:r>
            <a:r>
              <a:rPr lang="en-US" dirty="0"/>
              <a:t> as large as possible</a:t>
            </a:r>
          </a:p>
          <a:p>
            <a:pPr lvl="8"/>
            <a:endParaRPr lang="en-US" dirty="0"/>
          </a:p>
          <a:p>
            <a:r>
              <a:rPr lang="en-US" b="1" i="1" dirty="0">
                <a:solidFill>
                  <a:srgbClr val="FF0066"/>
                </a:solidFill>
              </a:rPr>
              <a:t>Candidate</a:t>
            </a:r>
            <a:r>
              <a:rPr lang="en-US" dirty="0">
                <a:solidFill>
                  <a:srgbClr val="FF0066"/>
                </a:solidFill>
              </a:rPr>
              <a:t> </a:t>
            </a:r>
            <a:r>
              <a:rPr lang="en-US" dirty="0"/>
              <a:t>column pairs are those that hash to the same bucket for </a:t>
            </a:r>
            <a:r>
              <a:rPr lang="en-US" b="1" dirty="0">
                <a:latin typeface="Lucida Sans Unicode" pitchFamily="34" charset="0"/>
              </a:rPr>
              <a:t>≥</a:t>
            </a:r>
            <a:r>
              <a:rPr lang="en-US" b="1" dirty="0"/>
              <a:t> 1</a:t>
            </a:r>
            <a:r>
              <a:rPr lang="en-US" dirty="0"/>
              <a:t> band</a:t>
            </a:r>
          </a:p>
          <a:p>
            <a:pPr lvl="8"/>
            <a:endParaRPr lang="en-US" dirty="0"/>
          </a:p>
          <a:p>
            <a:r>
              <a:rPr lang="en-US" dirty="0"/>
              <a:t>Tune</a:t>
            </a:r>
            <a:r>
              <a:rPr lang="en-US" i="1" dirty="0"/>
              <a:t> </a:t>
            </a:r>
            <a:r>
              <a:rPr lang="en-US" b="1" i="1" dirty="0"/>
              <a:t>b</a:t>
            </a:r>
            <a:r>
              <a:rPr lang="en-US" dirty="0"/>
              <a:t> and </a:t>
            </a:r>
            <a:r>
              <a:rPr lang="en-US" b="1" i="1" dirty="0"/>
              <a:t>r</a:t>
            </a:r>
            <a:r>
              <a:rPr lang="en-US" dirty="0"/>
              <a:t> to catch most similar pairs, </a:t>
            </a:r>
            <a:br>
              <a:rPr lang="en-US" dirty="0"/>
            </a:br>
            <a:r>
              <a:rPr lang="en-US" dirty="0"/>
              <a:t>but few non-similar pairs</a:t>
            </a:r>
          </a:p>
          <a:p>
            <a:pPr algn="just"/>
            <a:endParaRPr lang="en-US" b="1" dirty="0">
              <a:solidFill>
                <a:srgbClr val="FF0066"/>
              </a:solidFill>
            </a:endParaRPr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82848E16-1279-1E42-5534-17990CF673DD}"/>
              </a:ext>
            </a:extLst>
          </p:cNvPr>
          <p:cNvGrpSpPr/>
          <p:nvPr/>
        </p:nvGrpSpPr>
        <p:grpSpPr>
          <a:xfrm>
            <a:off x="5116230" y="1334550"/>
            <a:ext cx="3582290" cy="3010936"/>
            <a:chOff x="1395412" y="1217612"/>
            <a:chExt cx="6529387" cy="5487988"/>
          </a:xfrm>
        </p:grpSpPr>
        <p:sp>
          <p:nvSpPr>
            <p:cNvPr id="67" name="Rectangle 2">
              <a:extLst>
                <a:ext uri="{FF2B5EF4-FFF2-40B4-BE49-F238E27FC236}">
                  <a16:creationId xmlns:a16="http://schemas.microsoft.com/office/drawing/2014/main" id="{E3AD8684-3276-DDC0-45E7-17DBD49F17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412" y="3352800"/>
              <a:ext cx="2819400" cy="3352800"/>
            </a:xfrm>
            <a:prstGeom prst="rect">
              <a:avLst/>
            </a:prstGeom>
            <a:solidFill>
              <a:srgbClr val="FFFF99">
                <a:alpha val="50195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68" name="Text Box 3">
              <a:extLst>
                <a:ext uri="{FF2B5EF4-FFF2-40B4-BE49-F238E27FC236}">
                  <a16:creationId xmlns:a16="http://schemas.microsoft.com/office/drawing/2014/main" id="{49DED2D6-B926-0994-D63F-D2F1E71D25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77497" y="2998597"/>
              <a:ext cx="1079142" cy="369332"/>
            </a:xfrm>
            <a:prstGeom prst="rect">
              <a:avLst/>
            </a:prstGeom>
            <a:noFill/>
            <a:ln w="9525">
              <a:noFill/>
              <a:prstDash val="dash"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b="1" dirty="0">
                  <a:solidFill>
                    <a:srgbClr val="008000"/>
                  </a:solidFill>
                  <a:latin typeface="+mj-lt"/>
                </a:rPr>
                <a:t>Matrix </a:t>
              </a:r>
              <a:r>
                <a:rPr lang="en-US" b="1" i="1" dirty="0">
                  <a:solidFill>
                    <a:srgbClr val="008000"/>
                  </a:solidFill>
                  <a:latin typeface="+mj-lt"/>
                </a:rPr>
                <a:t>M</a:t>
              </a:r>
            </a:p>
          </p:txBody>
        </p:sp>
        <p:sp>
          <p:nvSpPr>
            <p:cNvPr id="69" name="Text Box 4">
              <a:extLst>
                <a:ext uri="{FF2B5EF4-FFF2-40B4-BE49-F238E27FC236}">
                  <a16:creationId xmlns:a16="http://schemas.microsoft.com/office/drawing/2014/main" id="{668FAB62-51B2-D39A-C53E-2FD98793C8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16961" y="4541325"/>
              <a:ext cx="843501" cy="369331"/>
            </a:xfrm>
            <a:prstGeom prst="rect">
              <a:avLst/>
            </a:prstGeom>
            <a:noFill/>
            <a:ln w="9525">
              <a:noFill/>
              <a:prstDash val="dash"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b="1" i="1" dirty="0">
                  <a:solidFill>
                    <a:srgbClr val="008000"/>
                  </a:solidFill>
                  <a:latin typeface="+mj-lt"/>
                </a:rPr>
                <a:t>r </a:t>
              </a:r>
              <a:r>
                <a:rPr lang="en-US" b="1" dirty="0">
                  <a:solidFill>
                    <a:srgbClr val="008000"/>
                  </a:solidFill>
                  <a:latin typeface="+mj-lt"/>
                </a:rPr>
                <a:t> rows</a:t>
              </a:r>
            </a:p>
          </p:txBody>
        </p:sp>
        <p:sp>
          <p:nvSpPr>
            <p:cNvPr id="70" name="Line 5">
              <a:extLst>
                <a:ext uri="{FF2B5EF4-FFF2-40B4-BE49-F238E27FC236}">
                  <a16:creationId xmlns:a16="http://schemas.microsoft.com/office/drawing/2014/main" id="{63A54B21-BE2A-DB83-FBAE-C3AE23F330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5412" y="3962400"/>
              <a:ext cx="3505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Line 6">
              <a:extLst>
                <a:ext uri="{FF2B5EF4-FFF2-40B4-BE49-F238E27FC236}">
                  <a16:creationId xmlns:a16="http://schemas.microsoft.com/office/drawing/2014/main" id="{09911C77-3BA3-80D4-BCEA-7D7EA40B35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5412" y="4572000"/>
              <a:ext cx="3505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Line 7">
              <a:extLst>
                <a:ext uri="{FF2B5EF4-FFF2-40B4-BE49-F238E27FC236}">
                  <a16:creationId xmlns:a16="http://schemas.microsoft.com/office/drawing/2014/main" id="{BDBAABCA-810D-2FC1-A264-6C3897C813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5412" y="5257800"/>
              <a:ext cx="3505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Line 8">
              <a:extLst>
                <a:ext uri="{FF2B5EF4-FFF2-40B4-BE49-F238E27FC236}">
                  <a16:creationId xmlns:a16="http://schemas.microsoft.com/office/drawing/2014/main" id="{FC2D27B9-8CBE-63C2-4F52-F91F484CBA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5412" y="5943600"/>
              <a:ext cx="3505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Line 9">
              <a:extLst>
                <a:ext uri="{FF2B5EF4-FFF2-40B4-BE49-F238E27FC236}">
                  <a16:creationId xmlns:a16="http://schemas.microsoft.com/office/drawing/2014/main" id="{17C18B33-5888-0111-EC1A-B79F69BE9E7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51355" y="4567755"/>
              <a:ext cx="0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Line 10">
              <a:extLst>
                <a:ext uri="{FF2B5EF4-FFF2-40B4-BE49-F238E27FC236}">
                  <a16:creationId xmlns:a16="http://schemas.microsoft.com/office/drawing/2014/main" id="{91952073-2F57-5708-6D40-E9877D9FDE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51355" y="5024956"/>
              <a:ext cx="0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Line 11">
              <a:extLst>
                <a:ext uri="{FF2B5EF4-FFF2-40B4-BE49-F238E27FC236}">
                  <a16:creationId xmlns:a16="http://schemas.microsoft.com/office/drawing/2014/main" id="{D81BD142-E1DA-B266-FE2D-D6A9359306C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881812" y="3276600"/>
              <a:ext cx="0" cy="1066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Line 12">
              <a:extLst>
                <a:ext uri="{FF2B5EF4-FFF2-40B4-BE49-F238E27FC236}">
                  <a16:creationId xmlns:a16="http://schemas.microsoft.com/office/drawing/2014/main" id="{4D9D8021-1B34-8751-6BC0-DDA049E67C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12" y="5257800"/>
              <a:ext cx="0" cy="1371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Text Box 13">
              <a:extLst>
                <a:ext uri="{FF2B5EF4-FFF2-40B4-BE49-F238E27FC236}">
                  <a16:creationId xmlns:a16="http://schemas.microsoft.com/office/drawing/2014/main" id="{7BBDD350-124B-AC69-3456-2DF58049F2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17987" y="4501634"/>
              <a:ext cx="998992" cy="369331"/>
            </a:xfrm>
            <a:prstGeom prst="rect">
              <a:avLst/>
            </a:prstGeom>
            <a:noFill/>
            <a:ln w="9525">
              <a:noFill/>
              <a:prstDash val="dash"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b="1" i="1" dirty="0">
                  <a:solidFill>
                    <a:srgbClr val="008000"/>
                  </a:solidFill>
                  <a:latin typeface="+mj-lt"/>
                </a:rPr>
                <a:t>b </a:t>
              </a:r>
              <a:r>
                <a:rPr lang="en-US" b="1" dirty="0">
                  <a:solidFill>
                    <a:srgbClr val="008000"/>
                  </a:solidFill>
                  <a:latin typeface="+mj-lt"/>
                </a:rPr>
                <a:t> bands</a:t>
              </a:r>
            </a:p>
          </p:txBody>
        </p:sp>
        <p:sp>
          <p:nvSpPr>
            <p:cNvPr id="79" name="Rectangle 14">
              <a:extLst>
                <a:ext uri="{FF2B5EF4-FFF2-40B4-BE49-F238E27FC236}">
                  <a16:creationId xmlns:a16="http://schemas.microsoft.com/office/drawing/2014/main" id="{07B8BD2A-FD73-71F5-EE41-91D7BD3DF5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90812" y="3962400"/>
              <a:ext cx="152400" cy="609600"/>
            </a:xfrm>
            <a:prstGeom prst="rect">
              <a:avLst/>
            </a:prstGeom>
            <a:solidFill>
              <a:srgbClr val="FF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" name="Rectangle 15">
              <a:extLst>
                <a:ext uri="{FF2B5EF4-FFF2-40B4-BE49-F238E27FC236}">
                  <a16:creationId xmlns:a16="http://schemas.microsoft.com/office/drawing/2014/main" id="{1237B149-385E-60A1-63A7-5979157E9A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9812" y="3962400"/>
              <a:ext cx="152400" cy="609600"/>
            </a:xfrm>
            <a:prstGeom prst="rect">
              <a:avLst/>
            </a:prstGeom>
            <a:solidFill>
              <a:srgbClr val="FF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1" name="Rectangle 16">
              <a:extLst>
                <a:ext uri="{FF2B5EF4-FFF2-40B4-BE49-F238E27FC236}">
                  <a16:creationId xmlns:a16="http://schemas.microsoft.com/office/drawing/2014/main" id="{4329FA89-46A9-6BF5-FB30-E839C38E37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8812" y="3962400"/>
              <a:ext cx="152400" cy="609600"/>
            </a:xfrm>
            <a:prstGeom prst="rect">
              <a:avLst/>
            </a:prstGeom>
            <a:solidFill>
              <a:srgbClr val="FF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" name="Rectangle 17">
              <a:extLst>
                <a:ext uri="{FF2B5EF4-FFF2-40B4-BE49-F238E27FC236}">
                  <a16:creationId xmlns:a16="http://schemas.microsoft.com/office/drawing/2014/main" id="{683DDF67-C396-7BAF-02AA-8FDB0C6770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2812" y="3962400"/>
              <a:ext cx="152400" cy="609600"/>
            </a:xfrm>
            <a:prstGeom prst="rect">
              <a:avLst/>
            </a:prstGeom>
            <a:solidFill>
              <a:srgbClr val="FF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" name="Rectangle 18">
              <a:extLst>
                <a:ext uri="{FF2B5EF4-FFF2-40B4-BE49-F238E27FC236}">
                  <a16:creationId xmlns:a16="http://schemas.microsoft.com/office/drawing/2014/main" id="{67D09726-F618-C267-35AB-C89F896A4F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3812" y="3962400"/>
              <a:ext cx="152400" cy="609600"/>
            </a:xfrm>
            <a:prstGeom prst="rect">
              <a:avLst/>
            </a:prstGeom>
            <a:solidFill>
              <a:srgbClr val="FF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" name="Rectangle 19">
              <a:extLst>
                <a:ext uri="{FF2B5EF4-FFF2-40B4-BE49-F238E27FC236}">
                  <a16:creationId xmlns:a16="http://schemas.microsoft.com/office/drawing/2014/main" id="{395D78FA-6161-D9F9-F523-BB371BAA9C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1812" y="3962400"/>
              <a:ext cx="152400" cy="609600"/>
            </a:xfrm>
            <a:prstGeom prst="rect">
              <a:avLst/>
            </a:prstGeom>
            <a:solidFill>
              <a:srgbClr val="FF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" name="Rectangle 20">
              <a:extLst>
                <a:ext uri="{FF2B5EF4-FFF2-40B4-BE49-F238E27FC236}">
                  <a16:creationId xmlns:a16="http://schemas.microsoft.com/office/drawing/2014/main" id="{F8F5A6B9-106F-7BF2-2D2C-845F2ADDFA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812" y="3962400"/>
              <a:ext cx="152400" cy="609600"/>
            </a:xfrm>
            <a:prstGeom prst="rect">
              <a:avLst/>
            </a:prstGeom>
            <a:solidFill>
              <a:srgbClr val="FF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6" name="Rectangle 21">
              <a:extLst>
                <a:ext uri="{FF2B5EF4-FFF2-40B4-BE49-F238E27FC236}">
                  <a16:creationId xmlns:a16="http://schemas.microsoft.com/office/drawing/2014/main" id="{4D9E023B-DB62-519F-48E4-08A691E077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0212" y="1293812"/>
              <a:ext cx="2514600" cy="762000"/>
            </a:xfrm>
            <a:prstGeom prst="rect">
              <a:avLst/>
            </a:prstGeom>
            <a:solidFill>
              <a:schemeClr val="accent1">
                <a:alpha val="50195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j-lt"/>
                </a:rPr>
                <a:t>Buckets</a:t>
              </a:r>
              <a:endParaRPr lang="en-US" b="1" dirty="0">
                <a:latin typeface="+mj-lt"/>
              </a:endParaRPr>
            </a:p>
          </p:txBody>
        </p:sp>
        <p:sp>
          <p:nvSpPr>
            <p:cNvPr id="87" name="Line 22">
              <a:extLst>
                <a:ext uri="{FF2B5EF4-FFF2-40B4-BE49-F238E27FC236}">
                  <a16:creationId xmlns:a16="http://schemas.microsoft.com/office/drawing/2014/main" id="{BA918D42-5F36-2E96-5C08-98E2DB73F0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9812" y="1293812"/>
              <a:ext cx="0" cy="762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Line 23">
              <a:extLst>
                <a:ext uri="{FF2B5EF4-FFF2-40B4-BE49-F238E27FC236}">
                  <a16:creationId xmlns:a16="http://schemas.microsoft.com/office/drawing/2014/main" id="{9AF38C5E-3001-8664-7562-432F18BD7C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19412" y="1293812"/>
              <a:ext cx="0" cy="762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Line 24">
              <a:extLst>
                <a:ext uri="{FF2B5EF4-FFF2-40B4-BE49-F238E27FC236}">
                  <a16:creationId xmlns:a16="http://schemas.microsoft.com/office/drawing/2014/main" id="{3195D663-8B82-DE37-E98C-04DEB89C36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9012" y="1293812"/>
              <a:ext cx="0" cy="762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0" name="Line 25">
              <a:extLst>
                <a:ext uri="{FF2B5EF4-FFF2-40B4-BE49-F238E27FC236}">
                  <a16:creationId xmlns:a16="http://schemas.microsoft.com/office/drawing/2014/main" id="{E5626C0A-1DD2-0C06-E7CA-5052BEDAE6F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05012" y="1752600"/>
              <a:ext cx="457200" cy="2209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Line 26">
              <a:extLst>
                <a:ext uri="{FF2B5EF4-FFF2-40B4-BE49-F238E27FC236}">
                  <a16:creationId xmlns:a16="http://schemas.microsoft.com/office/drawing/2014/main" id="{8D96F853-FA6E-1FC1-3582-94751E723E8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86012" y="1676400"/>
              <a:ext cx="1447800" cy="22860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" name="Line 27">
              <a:extLst>
                <a:ext uri="{FF2B5EF4-FFF2-40B4-BE49-F238E27FC236}">
                  <a16:creationId xmlns:a16="http://schemas.microsoft.com/office/drawing/2014/main" id="{26D2E66E-7554-C819-1480-176453BEAD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852612" y="1524000"/>
              <a:ext cx="914400" cy="2438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Line 28">
              <a:extLst>
                <a:ext uri="{FF2B5EF4-FFF2-40B4-BE49-F238E27FC236}">
                  <a16:creationId xmlns:a16="http://schemas.microsoft.com/office/drawing/2014/main" id="{795BDCA8-1F47-680C-2934-DA7D819F81D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48012" y="1752600"/>
              <a:ext cx="152400" cy="2209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Line 29">
              <a:extLst>
                <a:ext uri="{FF2B5EF4-FFF2-40B4-BE49-F238E27FC236}">
                  <a16:creationId xmlns:a16="http://schemas.microsoft.com/office/drawing/2014/main" id="{1A3C1EAD-7811-6E5A-223A-290F2CF2754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690812" y="1828800"/>
              <a:ext cx="838200" cy="2133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5" name="Line 30">
              <a:extLst>
                <a:ext uri="{FF2B5EF4-FFF2-40B4-BE49-F238E27FC236}">
                  <a16:creationId xmlns:a16="http://schemas.microsoft.com/office/drawing/2014/main" id="{7511E5B6-C0CD-CF93-2F68-660EE4FA2C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10012" y="1524000"/>
              <a:ext cx="152400" cy="24384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Line 31">
              <a:extLst>
                <a:ext uri="{FF2B5EF4-FFF2-40B4-BE49-F238E27FC236}">
                  <a16:creationId xmlns:a16="http://schemas.microsoft.com/office/drawing/2014/main" id="{181BBBB2-D756-AD94-DB22-04A3AE22B86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300412" y="1371600"/>
              <a:ext cx="990600" cy="25908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97" name="Group 32">
              <a:extLst>
                <a:ext uri="{FF2B5EF4-FFF2-40B4-BE49-F238E27FC236}">
                  <a16:creationId xmlns:a16="http://schemas.microsoft.com/office/drawing/2014/main" id="{F08BE192-702F-0AD9-B71C-AB4EB382E08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14799" y="1217612"/>
              <a:ext cx="3810000" cy="915988"/>
              <a:chOff x="2385" y="260"/>
              <a:chExt cx="2400" cy="577"/>
            </a:xfrm>
          </p:grpSpPr>
          <p:sp>
            <p:nvSpPr>
              <p:cNvPr id="101" name="Text Box 33">
                <a:extLst>
                  <a:ext uri="{FF2B5EF4-FFF2-40B4-BE49-F238E27FC236}">
                    <a16:creationId xmlns:a16="http://schemas.microsoft.com/office/drawing/2014/main" id="{88C5FA92-A4C3-D03A-277A-03E73416B42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54" y="260"/>
                <a:ext cx="1531" cy="5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dirty="0">
                    <a:latin typeface="Arial" pitchFamily="34" charset="0"/>
                    <a:cs typeface="Arial" pitchFamily="34" charset="0"/>
                  </a:rPr>
                  <a:t>Columns 2 and 6</a:t>
                </a:r>
              </a:p>
              <a:p>
                <a:pPr eaLnBrk="0" hangingPunct="0"/>
                <a:r>
                  <a:rPr lang="en-US" dirty="0">
                    <a:latin typeface="Arial" pitchFamily="34" charset="0"/>
                    <a:cs typeface="Arial" pitchFamily="34" charset="0"/>
                  </a:rPr>
                  <a:t>are probably identical </a:t>
                </a:r>
              </a:p>
              <a:p>
                <a:pPr eaLnBrk="0" hangingPunct="0"/>
                <a:r>
                  <a:rPr lang="en-US" dirty="0">
                    <a:latin typeface="Arial" pitchFamily="34" charset="0"/>
                    <a:cs typeface="Arial" pitchFamily="34" charset="0"/>
                  </a:rPr>
                  <a:t>(</a:t>
                </a:r>
                <a:r>
                  <a:rPr lang="en-US" b="1" dirty="0">
                    <a:solidFill>
                      <a:srgbClr val="D60093"/>
                    </a:solidFill>
                    <a:latin typeface="Arial" pitchFamily="34" charset="0"/>
                    <a:cs typeface="Arial" pitchFamily="34" charset="0"/>
                  </a:rPr>
                  <a:t>candidate pair</a:t>
                </a:r>
                <a:r>
                  <a:rPr lang="en-US" dirty="0">
                    <a:latin typeface="Arial" pitchFamily="34" charset="0"/>
                    <a:cs typeface="Arial" pitchFamily="34" charset="0"/>
                  </a:rPr>
                  <a:t>)</a:t>
                </a:r>
              </a:p>
            </p:txBody>
          </p:sp>
          <p:sp>
            <p:nvSpPr>
              <p:cNvPr id="102" name="Line 34">
                <a:extLst>
                  <a:ext uri="{FF2B5EF4-FFF2-40B4-BE49-F238E27FC236}">
                    <a16:creationId xmlns:a16="http://schemas.microsoft.com/office/drawing/2014/main" id="{AAE67AAA-1EE5-9C16-E7B4-C2497D4428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385" y="480"/>
                <a:ext cx="831" cy="68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prstDash val="dash"/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>
                  <a:latin typeface="Arial" pitchFamily="34" charset="0"/>
                  <a:cs typeface="Arial" pitchFamily="34" charset="0"/>
                </a:endParaRPr>
              </a:p>
            </p:txBody>
          </p:sp>
        </p:grpSp>
        <p:grpSp>
          <p:nvGrpSpPr>
            <p:cNvPr id="98" name="Group 35">
              <a:extLst>
                <a:ext uri="{FF2B5EF4-FFF2-40B4-BE49-F238E27FC236}">
                  <a16:creationId xmlns:a16="http://schemas.microsoft.com/office/drawing/2014/main" id="{21B4CD28-0C24-75C5-3781-30160C4F522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62412" y="2395538"/>
              <a:ext cx="3757613" cy="646113"/>
              <a:chOff x="2352" y="933"/>
              <a:chExt cx="2367" cy="407"/>
            </a:xfrm>
          </p:grpSpPr>
          <p:sp>
            <p:nvSpPr>
              <p:cNvPr id="99" name="Text Box 36">
                <a:extLst>
                  <a:ext uri="{FF2B5EF4-FFF2-40B4-BE49-F238E27FC236}">
                    <a16:creationId xmlns:a16="http://schemas.microsoft.com/office/drawing/2014/main" id="{C8789367-3B3E-D5E1-307D-CDF7D130205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54" y="933"/>
                <a:ext cx="1465" cy="40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dirty="0">
                    <a:latin typeface="Arial" pitchFamily="34" charset="0"/>
                    <a:cs typeface="Arial" pitchFamily="34" charset="0"/>
                  </a:rPr>
                  <a:t>Columns 6 and 7 are</a:t>
                </a:r>
              </a:p>
              <a:p>
                <a:pPr eaLnBrk="0" hangingPunct="0"/>
                <a:r>
                  <a:rPr lang="en-US" dirty="0">
                    <a:latin typeface="Arial" pitchFamily="34" charset="0"/>
                    <a:cs typeface="Arial" pitchFamily="34" charset="0"/>
                  </a:rPr>
                  <a:t>surely different.</a:t>
                </a:r>
              </a:p>
            </p:txBody>
          </p:sp>
          <p:sp>
            <p:nvSpPr>
              <p:cNvPr id="100" name="Line 37">
                <a:extLst>
                  <a:ext uri="{FF2B5EF4-FFF2-40B4-BE49-F238E27FC236}">
                    <a16:creationId xmlns:a16="http://schemas.microsoft.com/office/drawing/2014/main" id="{AC4E5751-49CA-5376-48B8-4E7ACE412A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352" y="1056"/>
                <a:ext cx="720" cy="144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prstDash val="dash"/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>
                  <a:latin typeface="Arial" pitchFamily="34" charset="0"/>
                  <a:cs typeface="Arial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520068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72;p37">
            <a:extLst>
              <a:ext uri="{FF2B5EF4-FFF2-40B4-BE49-F238E27FC236}">
                <a16:creationId xmlns:a16="http://schemas.microsoft.com/office/drawing/2014/main" id="{53DFD194-7053-3F38-D38B-ABA2D448300B}"/>
              </a:ext>
            </a:extLst>
          </p:cNvPr>
          <p:cNvSpPr txBox="1">
            <a:spLocks/>
          </p:cNvSpPr>
          <p:nvPr/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2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 Medium"/>
              <a:buNone/>
              <a:defRPr sz="30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 Medium"/>
              <a:buNone/>
              <a:defRPr sz="30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 Medium"/>
              <a:buNone/>
              <a:defRPr sz="30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 Medium"/>
              <a:buNone/>
              <a:defRPr sz="30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 Medium"/>
              <a:buNone/>
              <a:defRPr sz="30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 Medium"/>
              <a:buNone/>
              <a:defRPr sz="30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 Medium"/>
              <a:buNone/>
              <a:defRPr sz="30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 Medium"/>
              <a:buNone/>
              <a:defRPr sz="30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9pPr>
          </a:lstStyle>
          <a:p>
            <a:pPr algn="l"/>
            <a:r>
              <a:rPr lang="en-US" dirty="0"/>
              <a:t>3.5 Distance Measures</a:t>
            </a:r>
          </a:p>
        </p:txBody>
      </p:sp>
      <p:sp>
        <p:nvSpPr>
          <p:cNvPr id="3" name="Google Shape;372;p37">
            <a:extLst>
              <a:ext uri="{FF2B5EF4-FFF2-40B4-BE49-F238E27FC236}">
                <a16:creationId xmlns:a16="http://schemas.microsoft.com/office/drawing/2014/main" id="{90EC829B-B962-419E-F462-7B0E4B265CB6}"/>
              </a:ext>
            </a:extLst>
          </p:cNvPr>
          <p:cNvSpPr txBox="1">
            <a:spLocks/>
          </p:cNvSpPr>
          <p:nvPr/>
        </p:nvSpPr>
        <p:spPr>
          <a:xfrm>
            <a:off x="166345" y="1280331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2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 Medium"/>
              <a:buNone/>
              <a:defRPr sz="30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 Medium"/>
              <a:buNone/>
              <a:defRPr sz="30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 Medium"/>
              <a:buNone/>
              <a:defRPr sz="30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 Medium"/>
              <a:buNone/>
              <a:defRPr sz="30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 Medium"/>
              <a:buNone/>
              <a:defRPr sz="30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 Medium"/>
              <a:buNone/>
              <a:defRPr sz="30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 Medium"/>
              <a:buNone/>
              <a:defRPr sz="30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 Medium"/>
              <a:buNone/>
              <a:defRPr sz="30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9pPr>
          </a:lstStyle>
          <a:p>
            <a:pPr algn="l"/>
            <a:r>
              <a:rPr lang="en-US" dirty="0"/>
              <a:t>3.5.1 Definition of A Distance Measures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1B565B-A717-49B4-CDAF-4B24349F987E}"/>
              </a:ext>
            </a:extLst>
          </p:cNvPr>
          <p:cNvSpPr txBox="1"/>
          <p:nvPr/>
        </p:nvSpPr>
        <p:spPr>
          <a:xfrm>
            <a:off x="295155" y="2047287"/>
            <a:ext cx="482664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 distance measure on this space is a function d(x, y) that takes two points in the space as arguments and produces a real number, and satisfies the following axioms: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d(x, y) ≥ 0 (no negative distances).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d(x, y) = 0 if and only if x = y (distances are positive, except for the distance from a point to itself).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d(x, y) = d(y, x) (distance is symmetric).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d(x, y) ≤ d(x, z) + d(z, y) (the triangle inequality).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EE8D757-7B64-5CFA-31ED-AB21A2FDB6C0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64473" r="3581"/>
          <a:stretch/>
        </p:blipFill>
        <p:spPr>
          <a:xfrm>
            <a:off x="5978324" y="3241942"/>
            <a:ext cx="2921120" cy="141927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9EC8EA5-B377-30FC-7271-D9BCBA0E261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080" r="35527"/>
          <a:stretch/>
        </p:blipFill>
        <p:spPr>
          <a:xfrm>
            <a:off x="5978324" y="2332000"/>
            <a:ext cx="2870521" cy="14192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2353D61-B523-B010-7FD4-A3185BA40F91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18018" r="66709"/>
          <a:stretch/>
        </p:blipFill>
        <p:spPr>
          <a:xfrm>
            <a:off x="5804703" y="1677778"/>
            <a:ext cx="3044142" cy="1163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52327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72;p37">
            <a:extLst>
              <a:ext uri="{FF2B5EF4-FFF2-40B4-BE49-F238E27FC236}">
                <a16:creationId xmlns:a16="http://schemas.microsoft.com/office/drawing/2014/main" id="{53DFD194-7053-3F38-D38B-ABA2D448300B}"/>
              </a:ext>
            </a:extLst>
          </p:cNvPr>
          <p:cNvSpPr txBox="1">
            <a:spLocks/>
          </p:cNvSpPr>
          <p:nvPr/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2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 Medium"/>
              <a:buNone/>
              <a:defRPr sz="30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 Medium"/>
              <a:buNone/>
              <a:defRPr sz="30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 Medium"/>
              <a:buNone/>
              <a:defRPr sz="30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 Medium"/>
              <a:buNone/>
              <a:defRPr sz="30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 Medium"/>
              <a:buNone/>
              <a:defRPr sz="30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 Medium"/>
              <a:buNone/>
              <a:defRPr sz="30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 Medium"/>
              <a:buNone/>
              <a:defRPr sz="30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 Medium"/>
              <a:buNone/>
              <a:defRPr sz="30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9pPr>
          </a:lstStyle>
          <a:p>
            <a:pPr algn="l"/>
            <a:r>
              <a:rPr lang="en-US" dirty="0"/>
              <a:t>3.5.2 </a:t>
            </a:r>
            <a:r>
              <a:rPr lang="en-US" dirty="0" err="1"/>
              <a:t>Eucledian</a:t>
            </a:r>
            <a:r>
              <a:rPr lang="en-US" dirty="0"/>
              <a:t> Distance</a:t>
            </a:r>
          </a:p>
        </p:txBody>
      </p:sp>
      <p:pic>
        <p:nvPicPr>
          <p:cNvPr id="6" name="Picture 47">
            <a:extLst>
              <a:ext uri="{FF2B5EF4-FFF2-40B4-BE49-F238E27FC236}">
                <a16:creationId xmlns:a16="http://schemas.microsoft.com/office/drawing/2014/main" id="{725CACC1-BEAC-ABED-3B33-D70268B978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111" y="2005718"/>
            <a:ext cx="2525644" cy="8772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5117454-FD87-3823-9800-A9EA2F2EE96D}"/>
              </a:ext>
            </a:extLst>
          </p:cNvPr>
          <p:cNvSpPr txBox="1"/>
          <p:nvPr/>
        </p:nvSpPr>
        <p:spPr>
          <a:xfrm>
            <a:off x="422233" y="1222221"/>
            <a:ext cx="424275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Euclidean</a:t>
            </a:r>
            <a:r>
              <a:rPr lang="tr-TR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distance</a:t>
            </a:r>
            <a:r>
              <a:rPr lang="en-US" dirty="0"/>
              <a:t>,</a:t>
            </a:r>
            <a:r>
              <a:rPr lang="tr-TR" dirty="0"/>
              <a:t> </a:t>
            </a:r>
            <a:r>
              <a:rPr lang="en-US" i="1" dirty="0">
                <a:solidFill>
                  <a:schemeClr val="accent1">
                    <a:lumMod val="75000"/>
                  </a:schemeClr>
                </a:solidFill>
              </a:rPr>
              <a:t>d</a:t>
            </a:r>
            <a:r>
              <a:rPr lang="en-US" dirty="0"/>
              <a:t> , between two points, </a:t>
            </a:r>
            <a:r>
              <a:rPr lang="en-US" i="1" dirty="0">
                <a:solidFill>
                  <a:schemeClr val="accent1">
                    <a:lumMod val="75000"/>
                  </a:schemeClr>
                </a:solidFill>
              </a:rPr>
              <a:t>x</a:t>
            </a:r>
            <a:r>
              <a:rPr lang="en-US" dirty="0"/>
              <a:t> and </a:t>
            </a:r>
            <a:r>
              <a:rPr lang="en-US" i="1" dirty="0">
                <a:solidFill>
                  <a:schemeClr val="accent1">
                    <a:lumMod val="75000"/>
                  </a:schemeClr>
                </a:solidFill>
              </a:rPr>
              <a:t>y</a:t>
            </a:r>
            <a:r>
              <a:rPr lang="en-US" dirty="0"/>
              <a:t> , in one-, two-, three-, or higher</a:t>
            </a:r>
            <a:r>
              <a:rPr lang="tr-TR" dirty="0"/>
              <a:t>-</a:t>
            </a:r>
            <a:r>
              <a:rPr lang="en-US" dirty="0"/>
              <a:t>dimensional</a:t>
            </a:r>
            <a:r>
              <a:rPr lang="tr-TR" dirty="0"/>
              <a:t> </a:t>
            </a:r>
            <a:r>
              <a:rPr lang="en-US" dirty="0"/>
              <a:t>space, is given by</a:t>
            </a:r>
            <a:endParaRPr lang="tr-TR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9F6DA7C-CFBB-5C24-CD48-D3FBF810F07F}"/>
              </a:ext>
            </a:extLst>
          </p:cNvPr>
          <p:cNvSpPr txBox="1"/>
          <p:nvPr/>
        </p:nvSpPr>
        <p:spPr>
          <a:xfrm>
            <a:off x="422233" y="3444225"/>
            <a:ext cx="4018031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dirty="0"/>
              <a:t>where </a:t>
            </a:r>
            <a:r>
              <a:rPr lang="en-US" i="1" dirty="0">
                <a:solidFill>
                  <a:schemeClr val="accent1">
                    <a:lumMod val="75000"/>
                  </a:schemeClr>
                </a:solidFill>
              </a:rPr>
              <a:t>n</a:t>
            </a:r>
            <a:r>
              <a:rPr lang="en-US" dirty="0"/>
              <a:t> is the number of dimensions (attributes) and </a:t>
            </a:r>
            <a:r>
              <a:rPr lang="en-US" i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</a:rPr>
              <a:t>x</a:t>
            </a:r>
            <a:r>
              <a:rPr lang="en-US" i="1" baseline="-25000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</a:rPr>
              <a:t>k</a:t>
            </a:r>
            <a:r>
              <a:rPr lang="en-US" dirty="0"/>
              <a:t> and </a:t>
            </a:r>
            <a:r>
              <a:rPr lang="en-US" i="1" dirty="0" err="1">
                <a:solidFill>
                  <a:schemeClr val="accent1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y</a:t>
            </a:r>
            <a:r>
              <a:rPr lang="en-US" i="1" baseline="-25000" dirty="0" err="1">
                <a:solidFill>
                  <a:schemeClr val="accent1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k</a:t>
            </a:r>
            <a:r>
              <a:rPr lang="en-US" i="1" baseline="-25000" dirty="0">
                <a:latin typeface="Times New Roman" panose="02020603050405020304" pitchFamily="18" charset="0"/>
              </a:rPr>
              <a:t> </a:t>
            </a:r>
            <a:r>
              <a:rPr lang="en-US" dirty="0"/>
              <a:t> are, respectively, the </a:t>
            </a:r>
            <a:r>
              <a:rPr lang="en-US" i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i="1" baseline="30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dirty="0"/>
              <a:t> attributes (components) o</a:t>
            </a:r>
            <a:r>
              <a:rPr lang="tr-TR" dirty="0"/>
              <a:t>f</a:t>
            </a:r>
            <a:r>
              <a:rPr lang="en-US" dirty="0"/>
              <a:t> data objects </a:t>
            </a:r>
            <a:r>
              <a:rPr lang="en-US" b="1" i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/>
              <a:t> and </a:t>
            </a:r>
            <a:r>
              <a:rPr lang="en-US" b="1" i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dirty="0"/>
              <a:t>.</a:t>
            </a:r>
          </a:p>
          <a:p>
            <a:pPr lvl="1"/>
            <a:endParaRPr lang="en-US" dirty="0"/>
          </a:p>
          <a:p>
            <a:r>
              <a:rPr lang="en-US" dirty="0"/>
              <a:t>Standardization is necessary, if scales differ.</a:t>
            </a:r>
            <a:endParaRPr lang="tr-TR" dirty="0"/>
          </a:p>
        </p:txBody>
      </p:sp>
      <p:graphicFrame>
        <p:nvGraphicFramePr>
          <p:cNvPr id="13" name="Object 3">
            <a:extLst>
              <a:ext uri="{FF2B5EF4-FFF2-40B4-BE49-F238E27FC236}">
                <a16:creationId xmlns:a16="http://schemas.microsoft.com/office/drawing/2014/main" id="{97A3C9B2-0C23-7E09-5113-112DDD26430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72000" y="932547"/>
          <a:ext cx="4242756" cy="30982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3631692" imgH="2656332" progId="Visio.Drawing.6">
                  <p:embed/>
                </p:oleObj>
              </mc:Choice>
              <mc:Fallback>
                <p:oleObj name="VISIO" r:id="rId4" imgW="3631692" imgH="2656332" progId="Visio.Drawing.6">
                  <p:embed/>
                  <p:pic>
                    <p:nvPicPr>
                      <p:cNvPr id="13" name="Object 3">
                        <a:extLst>
                          <a:ext uri="{FF2B5EF4-FFF2-40B4-BE49-F238E27FC236}">
                            <a16:creationId xmlns:a16="http://schemas.microsoft.com/office/drawing/2014/main" id="{97A3C9B2-0C23-7E09-5113-112DDD26430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932547"/>
                        <a:ext cx="4242756" cy="309822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4">
            <a:extLst>
              <a:ext uri="{FF2B5EF4-FFF2-40B4-BE49-F238E27FC236}">
                <a16:creationId xmlns:a16="http://schemas.microsoft.com/office/drawing/2014/main" id="{07D811FF-43DE-14DC-B9AA-44411950120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63789" y="3805945"/>
          <a:ext cx="3668767" cy="10166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6" imgW="3055925" imgH="846287" progId="Excel.Sheet.8">
                  <p:embed/>
                </p:oleObj>
              </mc:Choice>
              <mc:Fallback>
                <p:oleObj name="Worksheet" r:id="rId6" imgW="3055925" imgH="846287" progId="Excel.Sheet.8">
                  <p:embed/>
                  <p:pic>
                    <p:nvPicPr>
                      <p:cNvPr id="15" name="Object 14">
                        <a:extLst>
                          <a:ext uri="{FF2B5EF4-FFF2-40B4-BE49-F238E27FC236}">
                            <a16:creationId xmlns:a16="http://schemas.microsoft.com/office/drawing/2014/main" id="{07D811FF-43DE-14DC-B9AA-44411950120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63789" y="3805945"/>
                        <a:ext cx="3668767" cy="10166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042118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72;p37">
            <a:extLst>
              <a:ext uri="{FF2B5EF4-FFF2-40B4-BE49-F238E27FC236}">
                <a16:creationId xmlns:a16="http://schemas.microsoft.com/office/drawing/2014/main" id="{53DFD194-7053-3F38-D38B-ABA2D448300B}"/>
              </a:ext>
            </a:extLst>
          </p:cNvPr>
          <p:cNvSpPr txBox="1">
            <a:spLocks/>
          </p:cNvSpPr>
          <p:nvPr/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2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 Medium"/>
              <a:buNone/>
              <a:defRPr sz="30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 Medium"/>
              <a:buNone/>
              <a:defRPr sz="30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 Medium"/>
              <a:buNone/>
              <a:defRPr sz="30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 Medium"/>
              <a:buNone/>
              <a:defRPr sz="30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 Medium"/>
              <a:buNone/>
              <a:defRPr sz="30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 Medium"/>
              <a:buNone/>
              <a:defRPr sz="30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 Medium"/>
              <a:buNone/>
              <a:defRPr sz="30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 Medium"/>
              <a:buNone/>
              <a:defRPr sz="30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9pPr>
          </a:lstStyle>
          <a:p>
            <a:pPr algn="l"/>
            <a:r>
              <a:rPr lang="en-US" dirty="0"/>
              <a:t>3.5.3 Jaccard Distance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117454-FD87-3823-9800-A9EA2F2EE96D}"/>
              </a:ext>
            </a:extLst>
          </p:cNvPr>
          <p:cNvSpPr txBox="1"/>
          <p:nvPr/>
        </p:nvSpPr>
        <p:spPr>
          <a:xfrm>
            <a:off x="429983" y="935502"/>
            <a:ext cx="424275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Jaccard Similarity</a:t>
            </a:r>
            <a:endParaRPr lang="tr-TR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9F6DA7C-CFBB-5C24-CD48-D3FBF810F07F}"/>
              </a:ext>
            </a:extLst>
          </p:cNvPr>
          <p:cNvSpPr txBox="1"/>
          <p:nvPr/>
        </p:nvSpPr>
        <p:spPr>
          <a:xfrm>
            <a:off x="429983" y="1243279"/>
            <a:ext cx="4018031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</a:t>
            </a:r>
            <a:r>
              <a:rPr lang="en-US" dirty="0">
                <a:solidFill>
                  <a:srgbClr val="FF0000"/>
                </a:solidFill>
              </a:rPr>
              <a:t>Jaccard similarity (</a:t>
            </a:r>
            <a:r>
              <a:rPr lang="en-US" dirty="0">
                <a:solidFill>
                  <a:srgbClr val="0070C0"/>
                </a:solidFill>
              </a:rPr>
              <a:t>Jaccard coefficient</a:t>
            </a:r>
            <a:r>
              <a:rPr lang="en-US" dirty="0">
                <a:solidFill>
                  <a:srgbClr val="FF0000"/>
                </a:solidFill>
              </a:rPr>
              <a:t>) </a:t>
            </a:r>
            <a:r>
              <a:rPr lang="en-US" dirty="0"/>
              <a:t>of two sets </a:t>
            </a:r>
            <a:r>
              <a:rPr lang="en-US" dirty="0">
                <a:solidFill>
                  <a:srgbClr val="00B050"/>
                </a:solidFill>
              </a:rPr>
              <a:t>S</a:t>
            </a:r>
            <a:r>
              <a:rPr lang="en-US" baseline="-25000" dirty="0">
                <a:solidFill>
                  <a:srgbClr val="00B050"/>
                </a:solidFill>
              </a:rPr>
              <a:t>1</a:t>
            </a:r>
            <a:r>
              <a:rPr lang="en-US" dirty="0">
                <a:solidFill>
                  <a:srgbClr val="00B050"/>
                </a:solidFill>
              </a:rPr>
              <a:t>, S</a:t>
            </a:r>
            <a:r>
              <a:rPr lang="en-US" baseline="-25000" dirty="0">
                <a:solidFill>
                  <a:srgbClr val="00B050"/>
                </a:solidFill>
              </a:rPr>
              <a:t>2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/>
              <a:t>is the size of their </a:t>
            </a:r>
            <a:r>
              <a:rPr lang="en-US" dirty="0">
                <a:solidFill>
                  <a:srgbClr val="00B0F0"/>
                </a:solidFill>
              </a:rPr>
              <a:t>intersection </a:t>
            </a:r>
            <a:r>
              <a:rPr lang="en-US" dirty="0"/>
              <a:t>divided by the size of their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union</a:t>
            </a:r>
            <a:r>
              <a:rPr lang="en-US" dirty="0"/>
              <a:t>.</a:t>
            </a:r>
          </a:p>
          <a:p>
            <a:pPr lvl="1"/>
            <a:r>
              <a:rPr lang="en-US" dirty="0" err="1">
                <a:solidFill>
                  <a:srgbClr val="FF0000"/>
                </a:solidFill>
              </a:rPr>
              <a:t>JSim</a:t>
            </a:r>
            <a:r>
              <a:rPr lang="en-US" i="1" dirty="0"/>
              <a:t> </a:t>
            </a:r>
            <a:r>
              <a:rPr lang="en-US" dirty="0"/>
              <a:t>(S</a:t>
            </a:r>
            <a:r>
              <a:rPr lang="en-US" baseline="-25000" dirty="0"/>
              <a:t>1</a:t>
            </a:r>
            <a:r>
              <a:rPr lang="en-US" dirty="0"/>
              <a:t>, S</a:t>
            </a:r>
            <a:r>
              <a:rPr lang="en-US" baseline="-25000" dirty="0"/>
              <a:t>2</a:t>
            </a:r>
            <a:r>
              <a:rPr lang="en-US" dirty="0"/>
              <a:t>) = </a:t>
            </a:r>
            <a:r>
              <a:rPr lang="en-US" dirty="0">
                <a:solidFill>
                  <a:srgbClr val="00B0F0"/>
                </a:solidFill>
              </a:rPr>
              <a:t>|S</a:t>
            </a:r>
            <a:r>
              <a:rPr lang="en-US" baseline="-25000" dirty="0">
                <a:solidFill>
                  <a:srgbClr val="00B0F0"/>
                </a:solidFill>
              </a:rPr>
              <a:t>1</a:t>
            </a:r>
            <a:r>
              <a:rPr lang="en-US" dirty="0">
                <a:solidFill>
                  <a:srgbClr val="00B0F0"/>
                </a:solidFill>
                <a:sym typeface="Symbol" pitchFamily="18" charset="2"/>
              </a:rPr>
              <a:t>S</a:t>
            </a:r>
            <a:r>
              <a:rPr lang="en-US" baseline="-25000" dirty="0">
                <a:solidFill>
                  <a:srgbClr val="00B0F0"/>
                </a:solidFill>
                <a:sym typeface="Symbol" pitchFamily="18" charset="2"/>
              </a:rPr>
              <a:t>2</a:t>
            </a:r>
            <a:r>
              <a:rPr lang="en-US" dirty="0">
                <a:solidFill>
                  <a:srgbClr val="00B0F0"/>
                </a:solidFill>
                <a:sym typeface="Symbol" pitchFamily="18" charset="2"/>
              </a:rPr>
              <a:t>| </a:t>
            </a:r>
            <a:r>
              <a:rPr lang="en-US" dirty="0">
                <a:sym typeface="Symbol" pitchFamily="18" charset="2"/>
              </a:rPr>
              <a:t>/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sym typeface="Symbol" pitchFamily="18" charset="2"/>
              </a:rPr>
              <a:t>|S</a:t>
            </a:r>
            <a:r>
              <a:rPr lang="en-US" baseline="-25000" dirty="0">
                <a:solidFill>
                  <a:schemeClr val="accent6">
                    <a:lumMod val="75000"/>
                  </a:schemeClr>
                </a:solidFill>
                <a:sym typeface="Symbol" pitchFamily="18" charset="2"/>
              </a:rPr>
              <a:t>1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sym typeface="Symbol" pitchFamily="18" charset="2"/>
              </a:rPr>
              <a:t>S</a:t>
            </a:r>
            <a:r>
              <a:rPr lang="en-US" baseline="-25000" dirty="0">
                <a:solidFill>
                  <a:schemeClr val="accent6">
                    <a:lumMod val="75000"/>
                  </a:schemeClr>
                </a:solidFill>
                <a:sym typeface="Symbol" pitchFamily="18" charset="2"/>
              </a:rPr>
              <a:t>2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sym typeface="Symbol" pitchFamily="18" charset="2"/>
              </a:rPr>
              <a:t>|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.</a:t>
            </a:r>
          </a:p>
          <a:p>
            <a:pPr lvl="1"/>
            <a:endParaRPr lang="en-US" dirty="0">
              <a:solidFill>
                <a:srgbClr val="00B050"/>
              </a:solidFill>
            </a:endParaRPr>
          </a:p>
          <a:p>
            <a:pPr lvl="1"/>
            <a:endParaRPr lang="en-US" dirty="0">
              <a:solidFill>
                <a:srgbClr val="00B050"/>
              </a:solidFill>
            </a:endParaRPr>
          </a:p>
          <a:p>
            <a:pPr lvl="1"/>
            <a:endParaRPr lang="en-US" dirty="0">
              <a:solidFill>
                <a:srgbClr val="00B050"/>
              </a:solidFill>
            </a:endParaRPr>
          </a:p>
          <a:p>
            <a:pPr lvl="1"/>
            <a:endParaRPr lang="en-US" dirty="0">
              <a:solidFill>
                <a:srgbClr val="00B050"/>
              </a:solidFill>
            </a:endParaRPr>
          </a:p>
          <a:p>
            <a:pPr lvl="1"/>
            <a:endParaRPr lang="en-US" dirty="0">
              <a:solidFill>
                <a:srgbClr val="00B050"/>
              </a:solidFill>
            </a:endParaRP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Extreme behavior:</a:t>
            </a:r>
          </a:p>
          <a:p>
            <a:pPr lvl="2"/>
            <a:r>
              <a:rPr lang="en-US" dirty="0" err="1"/>
              <a:t>Jsim</a:t>
            </a:r>
            <a:r>
              <a:rPr lang="en-US" dirty="0"/>
              <a:t>(X,Y) = 1, </a:t>
            </a:r>
            <a:r>
              <a:rPr lang="en-US" dirty="0" err="1"/>
              <a:t>iff</a:t>
            </a:r>
            <a:r>
              <a:rPr lang="en-US" dirty="0"/>
              <a:t> X = Y</a:t>
            </a:r>
          </a:p>
          <a:p>
            <a:pPr lvl="2"/>
            <a:r>
              <a:rPr lang="en-US" dirty="0" err="1"/>
              <a:t>Jsim</a:t>
            </a:r>
            <a:r>
              <a:rPr lang="en-US" dirty="0"/>
              <a:t>(X,Y) = 0 </a:t>
            </a:r>
            <a:r>
              <a:rPr lang="en-US" dirty="0" err="1"/>
              <a:t>iff</a:t>
            </a:r>
            <a:r>
              <a:rPr lang="en-US" dirty="0"/>
              <a:t> X,Y have no elements in common</a:t>
            </a:r>
          </a:p>
          <a:p>
            <a:pPr lvl="1"/>
            <a:r>
              <a:rPr lang="en-US" dirty="0" err="1"/>
              <a:t>JSim</a:t>
            </a:r>
            <a:r>
              <a:rPr lang="en-US" dirty="0"/>
              <a:t> is symmetric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tr-TR" dirty="0"/>
          </a:p>
        </p:txBody>
      </p:sp>
      <p:sp>
        <p:nvSpPr>
          <p:cNvPr id="18" name="Text Box 13">
            <a:extLst>
              <a:ext uri="{FF2B5EF4-FFF2-40B4-BE49-F238E27FC236}">
                <a16:creationId xmlns:a16="http://schemas.microsoft.com/office/drawing/2014/main" id="{1BC36921-4E1F-2086-1FDF-9EFC44E728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2263" y="2539785"/>
            <a:ext cx="2711449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dirty="0"/>
              <a:t>3 in intersection.</a:t>
            </a:r>
          </a:p>
          <a:p>
            <a:r>
              <a:rPr lang="en-US" dirty="0"/>
              <a:t>8 in union.</a:t>
            </a:r>
          </a:p>
          <a:p>
            <a:r>
              <a:rPr lang="en-US" dirty="0"/>
              <a:t>Jaccard similarity = 3/8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4D69FF9-F076-F71F-9731-A57F22FB7B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752" y="2273892"/>
            <a:ext cx="2020511" cy="122118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B742024-B966-789E-28C0-9506AD2F3047}"/>
                  </a:ext>
                </a:extLst>
              </p:cNvPr>
              <p:cNvSpPr txBox="1"/>
              <p:nvPr/>
            </p:nvSpPr>
            <p:spPr>
              <a:xfrm>
                <a:off x="4672740" y="935502"/>
                <a:ext cx="482772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 dirty="0">
                    <a:solidFill>
                      <a:schemeClr val="bg2">
                        <a:lumMod val="10000"/>
                      </a:schemeClr>
                    </a:solidFill>
                  </a:rPr>
                  <a:t>Jaccard distance: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/>
                        </a:rPr>
                        <m:t>𝐽</m:t>
                      </m:r>
                      <m:r>
                        <a:rPr lang="en-US" b="0" i="1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/>
                        </a:rPr>
                        <m:t>𝐷</m:t>
                      </m:r>
                      <m:r>
                        <a:rPr lang="en-US" i="1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/>
                        </a:rPr>
                        <m:t>𝑖𝑠𝑡</m:t>
                      </m:r>
                      <m:r>
                        <a:rPr lang="en-US" i="1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/>
                        </a:rPr>
                        <m:t>(</m:t>
                      </m:r>
                      <m:r>
                        <a:rPr lang="en-US" i="1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/>
                        </a:rPr>
                        <m:t>𝑋</m:t>
                      </m:r>
                      <m:r>
                        <a:rPr lang="en-US" i="1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/>
                        </a:rPr>
                        <m:t>,</m:t>
                      </m:r>
                      <m:r>
                        <a:rPr lang="en-US" i="1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/>
                        </a:rPr>
                        <m:t>𝑌</m:t>
                      </m:r>
                      <m:r>
                        <a:rPr lang="en-US" i="1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/>
                        </a:rPr>
                        <m:t>) = 1 – </m:t>
                      </m:r>
                      <m:r>
                        <a:rPr lang="en-US" i="1" dirty="0" err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/>
                        </a:rPr>
                        <m:t>𝐽𝑆𝑖𝑚</m:t>
                      </m:r>
                      <m:r>
                        <a:rPr lang="en-US" i="1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/>
                        </a:rPr>
                        <m:t>(</m:t>
                      </m:r>
                      <m:r>
                        <a:rPr lang="en-US" i="1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/>
                        </a:rPr>
                        <m:t>𝑋</m:t>
                      </m:r>
                      <m:r>
                        <a:rPr lang="en-US" i="1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/>
                        </a:rPr>
                        <m:t>,</m:t>
                      </m:r>
                      <m:r>
                        <a:rPr lang="en-US" i="1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/>
                        </a:rPr>
                        <m:t>𝑌</m:t>
                      </m:r>
                      <m:r>
                        <a:rPr lang="en-US" i="1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B742024-B966-789E-28C0-9506AD2F30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2740" y="935502"/>
                <a:ext cx="4827722" cy="523220"/>
              </a:xfrm>
              <a:prstGeom prst="rect">
                <a:avLst/>
              </a:prstGeom>
              <a:blipFill>
                <a:blip r:embed="rId4"/>
                <a:stretch>
                  <a:fillRect l="-379" t="-1163" b="-46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BA11F4D5-2D33-DFE7-2F70-74E0418F6968}"/>
              </a:ext>
            </a:extLst>
          </p:cNvPr>
          <p:cNvSpPr txBox="1"/>
          <p:nvPr/>
        </p:nvSpPr>
        <p:spPr>
          <a:xfrm>
            <a:off x="4695988" y="1949199"/>
            <a:ext cx="4074212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JDist</a:t>
            </a:r>
            <a:r>
              <a:rPr lang="en-US" dirty="0"/>
              <a:t>(</a:t>
            </a:r>
            <a:r>
              <a:rPr lang="en-US" dirty="0" err="1"/>
              <a:t>x,x</a:t>
            </a:r>
            <a:r>
              <a:rPr lang="en-US" dirty="0"/>
              <a:t>) = 0  since </a:t>
            </a:r>
            <a:r>
              <a:rPr lang="en-US" dirty="0" err="1"/>
              <a:t>JSim</a:t>
            </a:r>
            <a:r>
              <a:rPr lang="en-US" dirty="0"/>
              <a:t>(</a:t>
            </a:r>
            <a:r>
              <a:rPr lang="en-US" dirty="0" err="1"/>
              <a:t>x,x</a:t>
            </a:r>
            <a:r>
              <a:rPr lang="en-US" dirty="0"/>
              <a:t>) = 1</a:t>
            </a:r>
            <a:endParaRPr lang="en-US" dirty="0">
              <a:sym typeface="Symbol" pitchFamily="18" charset="2"/>
            </a:endParaRPr>
          </a:p>
          <a:p>
            <a:endParaRPr lang="en-US" dirty="0">
              <a:sym typeface="Symbol" pitchFamily="18" charset="2"/>
            </a:endParaRPr>
          </a:p>
          <a:p>
            <a:r>
              <a:rPr lang="en-US" dirty="0" err="1">
                <a:sym typeface="Symbol" pitchFamily="18" charset="2"/>
              </a:rPr>
              <a:t>JDist</a:t>
            </a:r>
            <a:r>
              <a:rPr lang="en-US" dirty="0">
                <a:sym typeface="Symbol" pitchFamily="18" charset="2"/>
              </a:rPr>
              <a:t>(</a:t>
            </a:r>
            <a:r>
              <a:rPr lang="en-US" dirty="0" err="1">
                <a:sym typeface="Symbol" pitchFamily="18" charset="2"/>
              </a:rPr>
              <a:t>x,y</a:t>
            </a:r>
            <a:r>
              <a:rPr lang="en-US" dirty="0">
                <a:sym typeface="Symbol" pitchFamily="18" charset="2"/>
              </a:rPr>
              <a:t>) = </a:t>
            </a:r>
            <a:r>
              <a:rPr lang="en-US" dirty="0" err="1">
                <a:sym typeface="Symbol" pitchFamily="18" charset="2"/>
              </a:rPr>
              <a:t>JDist</a:t>
            </a:r>
            <a:r>
              <a:rPr lang="en-US" dirty="0">
                <a:sym typeface="Symbol" pitchFamily="18" charset="2"/>
              </a:rPr>
              <a:t>(</a:t>
            </a:r>
            <a:r>
              <a:rPr lang="en-US" dirty="0" err="1">
                <a:sym typeface="Symbol" pitchFamily="18" charset="2"/>
              </a:rPr>
              <a:t>y,x</a:t>
            </a:r>
            <a:r>
              <a:rPr lang="en-US" dirty="0">
                <a:sym typeface="Symbol" pitchFamily="18" charset="2"/>
              </a:rPr>
              <a:t>) by symmetry of intersection</a:t>
            </a:r>
          </a:p>
          <a:p>
            <a:endParaRPr lang="en-US" dirty="0">
              <a:sym typeface="Symbol" pitchFamily="18" charset="2"/>
            </a:endParaRPr>
          </a:p>
          <a:p>
            <a:r>
              <a:rPr lang="en-US" dirty="0" err="1">
                <a:sym typeface="Symbol" pitchFamily="18" charset="2"/>
              </a:rPr>
              <a:t>JDist</a:t>
            </a:r>
            <a:r>
              <a:rPr lang="en-US" dirty="0">
                <a:sym typeface="Symbol" pitchFamily="18" charset="2"/>
              </a:rPr>
              <a:t>(</a:t>
            </a:r>
            <a:r>
              <a:rPr lang="en-US" dirty="0" err="1">
                <a:sym typeface="Symbol" pitchFamily="18" charset="2"/>
              </a:rPr>
              <a:t>x,y</a:t>
            </a:r>
            <a:r>
              <a:rPr lang="en-US" dirty="0">
                <a:sym typeface="Symbol" pitchFamily="18" charset="2"/>
              </a:rPr>
              <a:t>) </a:t>
            </a:r>
            <a:r>
              <a:rPr lang="en-US" u="sng" dirty="0">
                <a:sym typeface="Symbol" pitchFamily="18" charset="2"/>
              </a:rPr>
              <a:t>&gt;</a:t>
            </a:r>
            <a:r>
              <a:rPr lang="en-US" dirty="0">
                <a:sym typeface="Symbol" pitchFamily="18" charset="2"/>
              </a:rPr>
              <a:t> 0 since intersection of X,Y cannot be bigger than the union.</a:t>
            </a:r>
          </a:p>
          <a:p>
            <a:endParaRPr lang="en-US" dirty="0">
              <a:solidFill>
                <a:srgbClr val="33CC33"/>
              </a:solidFill>
              <a:sym typeface="Symbol" pitchFamily="18" charset="2"/>
            </a:endParaRPr>
          </a:p>
          <a:p>
            <a:r>
              <a:rPr lang="en-US" dirty="0">
                <a:solidFill>
                  <a:srgbClr val="33CC33"/>
                </a:solidFill>
                <a:sym typeface="Symbol" pitchFamily="18" charset="2"/>
              </a:rPr>
              <a:t>Triangle inequality</a:t>
            </a:r>
            <a:r>
              <a:rPr lang="en-US" dirty="0">
                <a:sym typeface="Symbol" pitchFamily="18" charset="2"/>
              </a:rPr>
              <a:t>:</a:t>
            </a:r>
          </a:p>
          <a:p>
            <a:pPr lvl="1"/>
            <a:r>
              <a:rPr lang="en-US" dirty="0">
                <a:sym typeface="Symbol" pitchFamily="18" charset="2"/>
              </a:rPr>
              <a:t>Follows from the fact that </a:t>
            </a:r>
            <a:r>
              <a:rPr lang="en-US" dirty="0" err="1">
                <a:sym typeface="Symbol" pitchFamily="18" charset="2"/>
              </a:rPr>
              <a:t>JSim</a:t>
            </a:r>
            <a:r>
              <a:rPr lang="en-US" dirty="0">
                <a:sym typeface="Symbol" pitchFamily="18" charset="2"/>
              </a:rPr>
              <a:t>(X,Y) is the probability of randomly selected element from the union of X and Y to belong to the intersection</a:t>
            </a:r>
          </a:p>
        </p:txBody>
      </p:sp>
    </p:spTree>
    <p:extLst>
      <p:ext uri="{BB962C8B-B14F-4D97-AF65-F5344CB8AC3E}">
        <p14:creationId xmlns:p14="http://schemas.microsoft.com/office/powerpoint/2010/main" val="19377808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72;p37">
            <a:extLst>
              <a:ext uri="{FF2B5EF4-FFF2-40B4-BE49-F238E27FC236}">
                <a16:creationId xmlns:a16="http://schemas.microsoft.com/office/drawing/2014/main" id="{53DFD194-7053-3F38-D38B-ABA2D448300B}"/>
              </a:ext>
            </a:extLst>
          </p:cNvPr>
          <p:cNvSpPr txBox="1">
            <a:spLocks/>
          </p:cNvSpPr>
          <p:nvPr/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2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 Medium"/>
              <a:buNone/>
              <a:defRPr sz="30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 Medium"/>
              <a:buNone/>
              <a:defRPr sz="30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 Medium"/>
              <a:buNone/>
              <a:defRPr sz="30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 Medium"/>
              <a:buNone/>
              <a:defRPr sz="30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 Medium"/>
              <a:buNone/>
              <a:defRPr sz="30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 Medium"/>
              <a:buNone/>
              <a:defRPr sz="30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 Medium"/>
              <a:buNone/>
              <a:defRPr sz="30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 Medium"/>
              <a:buNone/>
              <a:defRPr sz="30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9pPr>
          </a:lstStyle>
          <a:p>
            <a:pPr algn="l"/>
            <a:r>
              <a:rPr lang="en-US" dirty="0"/>
              <a:t>3.5.4 Cosine Distance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117454-FD87-3823-9800-A9EA2F2EE96D}"/>
              </a:ext>
            </a:extLst>
          </p:cNvPr>
          <p:cNvSpPr txBox="1"/>
          <p:nvPr/>
        </p:nvSpPr>
        <p:spPr>
          <a:xfrm>
            <a:off x="429983" y="935502"/>
            <a:ext cx="424275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Cosine Similarity</a:t>
            </a:r>
            <a:endParaRPr lang="tr-TR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9F6DA7C-CFBB-5C24-CD48-D3FBF810F07F}"/>
              </a:ext>
            </a:extLst>
          </p:cNvPr>
          <p:cNvSpPr txBox="1"/>
          <p:nvPr/>
        </p:nvSpPr>
        <p:spPr>
          <a:xfrm>
            <a:off x="429983" y="1243279"/>
            <a:ext cx="4018031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Sim(X,Y) = cos(X,Y)</a:t>
            </a:r>
          </a:p>
          <a:p>
            <a:pPr lvl="1"/>
            <a:r>
              <a:rPr lang="en-US" dirty="0"/>
              <a:t>The cosine of the angle between X and Y</a:t>
            </a:r>
          </a:p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If the vectors are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aligned (correlated) </a:t>
            </a:r>
            <a:r>
              <a:rPr lang="en-US" dirty="0"/>
              <a:t>angle is </a:t>
            </a:r>
            <a:r>
              <a:rPr lang="en-US" dirty="0">
                <a:solidFill>
                  <a:srgbClr val="0070C0"/>
                </a:solidFill>
              </a:rPr>
              <a:t>zero degrees </a:t>
            </a:r>
            <a:r>
              <a:rPr lang="en-US" dirty="0"/>
              <a:t>and cos(X,Y)=1</a:t>
            </a:r>
          </a:p>
          <a:p>
            <a:r>
              <a:rPr lang="en-US" dirty="0"/>
              <a:t>If the vectors are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orthogonal </a:t>
            </a:r>
            <a:r>
              <a:rPr lang="en-US" dirty="0"/>
              <a:t>(no common coordinates) angle is </a:t>
            </a:r>
            <a:r>
              <a:rPr lang="en-US" dirty="0">
                <a:solidFill>
                  <a:srgbClr val="0070C0"/>
                </a:solidFill>
              </a:rPr>
              <a:t>90 degrees </a:t>
            </a:r>
            <a:r>
              <a:rPr lang="en-US" dirty="0"/>
              <a:t>and cos(X,Y) = 0</a:t>
            </a:r>
          </a:p>
          <a:p>
            <a:pPr marL="0" indent="0">
              <a:buFont typeface="Arial" pitchFamily="34" charset="0"/>
              <a:buNone/>
            </a:pPr>
            <a:endParaRPr lang="en-US" dirty="0"/>
          </a:p>
          <a:p>
            <a:r>
              <a:rPr lang="en-US" dirty="0"/>
              <a:t>Cosine is commonly used for comparing </a:t>
            </a:r>
            <a:r>
              <a:rPr lang="en-US" dirty="0">
                <a:solidFill>
                  <a:srgbClr val="0070C0"/>
                </a:solidFill>
              </a:rPr>
              <a:t>documents</a:t>
            </a:r>
            <a:r>
              <a:rPr lang="en-US" dirty="0"/>
              <a:t>, where we assume that the vectors are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normalized </a:t>
            </a:r>
            <a:r>
              <a:rPr lang="en-US" dirty="0"/>
              <a:t>by the document length, or words are </a:t>
            </a:r>
            <a:r>
              <a:rPr lang="en-US" dirty="0">
                <a:solidFill>
                  <a:srgbClr val="0070C0"/>
                </a:solidFill>
              </a:rPr>
              <a:t>weighted</a:t>
            </a:r>
            <a:r>
              <a:rPr lang="en-US" dirty="0"/>
              <a:t> by </a:t>
            </a:r>
            <a:r>
              <a:rPr lang="en-US" dirty="0" err="1"/>
              <a:t>tf-idf</a:t>
            </a:r>
            <a:r>
              <a:rPr lang="en-US" dirty="0"/>
              <a:t>.</a:t>
            </a:r>
          </a:p>
          <a:p>
            <a:pPr lvl="1"/>
            <a:endParaRPr lang="tr-TR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27D976E-710E-F711-9247-966C20DFEF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1769" y="1089390"/>
            <a:ext cx="3742248" cy="1704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48C171D-0D6B-E442-C928-7D52638BF1D9}"/>
                  </a:ext>
                </a:extLst>
              </p:cNvPr>
              <p:cNvSpPr txBox="1"/>
              <p:nvPr/>
            </p:nvSpPr>
            <p:spPr>
              <a:xfrm>
                <a:off x="4672740" y="3408380"/>
                <a:ext cx="4827722" cy="7386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 dirty="0">
                    <a:solidFill>
                      <a:srgbClr val="FFC000"/>
                    </a:solidFill>
                  </a:rPr>
                  <a:t>Cosine distance: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/>
                        </a:rPr>
                        <m:t>𝐷𝑖𝑠𝑡</m:t>
                      </m:r>
                      <m:r>
                        <a:rPr lang="en-US" i="1" dirty="0" smtClean="0">
                          <a:latin typeface="Cambria Math"/>
                        </a:rPr>
                        <m:t>(</m:t>
                      </m:r>
                      <m:r>
                        <a:rPr lang="en-US" i="1" dirty="0" smtClean="0">
                          <a:latin typeface="Cambria Math"/>
                        </a:rPr>
                        <m:t>𝑋</m:t>
                      </m:r>
                      <m:r>
                        <a:rPr lang="en-US" i="1" dirty="0" smtClean="0">
                          <a:latin typeface="Cambria Math"/>
                        </a:rPr>
                        <m:t>,</m:t>
                      </m:r>
                      <m:r>
                        <a:rPr lang="en-US" i="1" dirty="0" smtClean="0">
                          <a:latin typeface="Cambria Math"/>
                        </a:rPr>
                        <m:t>𝑌</m:t>
                      </m:r>
                      <m:r>
                        <a:rPr lang="en-US" i="1" dirty="0" smtClean="0">
                          <a:latin typeface="Cambria Math"/>
                        </a:rPr>
                        <m:t>) = 1−</m:t>
                      </m:r>
                      <m:r>
                        <m:rPr>
                          <m:sty m:val="p"/>
                        </m:rPr>
                        <a:rPr lang="en-US" i="1" dirty="0" err="1" smtClean="0">
                          <a:latin typeface="Cambria Math"/>
                        </a:rPr>
                        <m:t>cos</m:t>
                      </m:r>
                      <m:r>
                        <a:rPr lang="en-US" i="1" dirty="0" smtClean="0">
                          <a:latin typeface="Cambria Math"/>
                        </a:rPr>
                        <m:t>⁡(</m:t>
                      </m:r>
                      <m:r>
                        <a:rPr lang="en-US" i="1" dirty="0" smtClean="0">
                          <a:latin typeface="Cambria Math"/>
                        </a:rPr>
                        <m:t>𝑋</m:t>
                      </m:r>
                      <m:r>
                        <a:rPr lang="en-US" i="1" dirty="0" smtClean="0">
                          <a:latin typeface="Cambria Math"/>
                        </a:rPr>
                        <m:t>,</m:t>
                      </m:r>
                      <m:r>
                        <a:rPr lang="en-US" i="1" dirty="0" smtClean="0">
                          <a:latin typeface="Cambria Math"/>
                        </a:rPr>
                        <m:t>𝑌</m:t>
                      </m:r>
                      <m:r>
                        <a:rPr lang="en-US" i="1" dirty="0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Cosine distance is a </a:t>
                </a:r>
                <a:r>
                  <a:rPr lang="en-US" dirty="0">
                    <a:solidFill>
                      <a:srgbClr val="0070C0"/>
                    </a:solidFill>
                  </a:rPr>
                  <a:t>metric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48C171D-0D6B-E442-C928-7D52638BF1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2740" y="3408380"/>
                <a:ext cx="4827722" cy="738664"/>
              </a:xfrm>
              <a:prstGeom prst="rect">
                <a:avLst/>
              </a:prstGeom>
              <a:blipFill>
                <a:blip r:embed="rId4"/>
                <a:stretch>
                  <a:fillRect l="-379" t="-1653" b="-82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29086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72;p37">
            <a:extLst>
              <a:ext uri="{FF2B5EF4-FFF2-40B4-BE49-F238E27FC236}">
                <a16:creationId xmlns:a16="http://schemas.microsoft.com/office/drawing/2014/main" id="{53DFD194-7053-3F38-D38B-ABA2D448300B}"/>
              </a:ext>
            </a:extLst>
          </p:cNvPr>
          <p:cNvSpPr txBox="1">
            <a:spLocks/>
          </p:cNvSpPr>
          <p:nvPr/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2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 Medium"/>
              <a:buNone/>
              <a:defRPr sz="30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 Medium"/>
              <a:buNone/>
              <a:defRPr sz="30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 Medium"/>
              <a:buNone/>
              <a:defRPr sz="30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 Medium"/>
              <a:buNone/>
              <a:defRPr sz="30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 Medium"/>
              <a:buNone/>
              <a:defRPr sz="30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 Medium"/>
              <a:buNone/>
              <a:defRPr sz="30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 Medium"/>
              <a:buNone/>
              <a:defRPr sz="30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 Medium"/>
              <a:buNone/>
              <a:defRPr sz="30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9pPr>
          </a:lstStyle>
          <a:p>
            <a:pPr algn="l"/>
            <a:r>
              <a:rPr lang="en-US" dirty="0"/>
              <a:t>3.5.5 Edit Distance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117454-FD87-3823-9800-A9EA2F2EE96D}"/>
              </a:ext>
            </a:extLst>
          </p:cNvPr>
          <p:cNvSpPr txBox="1"/>
          <p:nvPr/>
        </p:nvSpPr>
        <p:spPr>
          <a:xfrm>
            <a:off x="429983" y="935502"/>
            <a:ext cx="424275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Distance between strings</a:t>
            </a:r>
            <a:endParaRPr lang="tr-TR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9F6DA7C-CFBB-5C24-CD48-D3FBF810F07F}"/>
              </a:ext>
            </a:extLst>
          </p:cNvPr>
          <p:cNvSpPr txBox="1"/>
          <p:nvPr/>
        </p:nvSpPr>
        <p:spPr>
          <a:xfrm>
            <a:off x="429983" y="1243279"/>
            <a:ext cx="4018031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How do we define similarity between strings?</a:t>
            </a:r>
          </a:p>
          <a:p>
            <a:r>
              <a:rPr lang="en-US" sz="1400" dirty="0">
                <a:solidFill>
                  <a:srgbClr val="0070C0"/>
                </a:solidFill>
              </a:rPr>
              <a:t>weird 	</a:t>
            </a:r>
            <a:r>
              <a:rPr lang="en-US" sz="1400" dirty="0" err="1">
                <a:solidFill>
                  <a:srgbClr val="0070C0"/>
                </a:solidFill>
              </a:rPr>
              <a:t>wierd</a:t>
            </a:r>
            <a:endParaRPr lang="en-US" sz="1400" dirty="0">
              <a:solidFill>
                <a:srgbClr val="0070C0"/>
              </a:solidFill>
            </a:endParaRPr>
          </a:p>
          <a:p>
            <a:r>
              <a:rPr lang="en-US" sz="1400" dirty="0">
                <a:solidFill>
                  <a:srgbClr val="0070C0"/>
                </a:solidFill>
              </a:rPr>
              <a:t>intelligent	unintelligent</a:t>
            </a:r>
          </a:p>
          <a:p>
            <a:r>
              <a:rPr lang="en-US" sz="1400" dirty="0">
                <a:solidFill>
                  <a:srgbClr val="0070C0"/>
                </a:solidFill>
              </a:rPr>
              <a:t>Athena	</a:t>
            </a:r>
            <a:r>
              <a:rPr lang="en-US" sz="1400" dirty="0" err="1">
                <a:solidFill>
                  <a:srgbClr val="0070C0"/>
                </a:solidFill>
              </a:rPr>
              <a:t>Athina</a:t>
            </a:r>
            <a:endParaRPr lang="en-US" sz="1400" dirty="0">
              <a:solidFill>
                <a:srgbClr val="0070C0"/>
              </a:solidFill>
            </a:endParaRPr>
          </a:p>
          <a:p>
            <a:endParaRPr lang="en-US" dirty="0"/>
          </a:p>
          <a:p>
            <a:r>
              <a:rPr lang="en-US" dirty="0"/>
              <a:t>The </a:t>
            </a:r>
            <a:r>
              <a:rPr lang="en-US" dirty="0">
                <a:solidFill>
                  <a:srgbClr val="FF0000"/>
                </a:solidFill>
              </a:rPr>
              <a:t>edit distance  </a:t>
            </a:r>
            <a:r>
              <a:rPr lang="en-US" dirty="0"/>
              <a:t>of two strings is the number of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inserts</a:t>
            </a:r>
            <a:r>
              <a:rPr lang="en-US" dirty="0"/>
              <a:t> and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deletes</a:t>
            </a:r>
            <a:r>
              <a:rPr lang="en-US" dirty="0"/>
              <a:t> of characters needed to turn one into the other. </a:t>
            </a:r>
          </a:p>
          <a:p>
            <a:r>
              <a:rPr lang="en-US" dirty="0"/>
              <a:t>Example: x = </a:t>
            </a:r>
            <a:r>
              <a:rPr lang="en-US" dirty="0" err="1">
                <a:solidFill>
                  <a:srgbClr val="0070C0"/>
                </a:solidFill>
              </a:rPr>
              <a:t>abcde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/>
              <a:t>; y = </a:t>
            </a:r>
            <a:r>
              <a:rPr lang="en-US" dirty="0" err="1">
                <a:solidFill>
                  <a:srgbClr val="0070C0"/>
                </a:solidFill>
              </a:rPr>
              <a:t>bcduve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Turn </a:t>
            </a:r>
            <a:r>
              <a:rPr lang="en-US" i="1" dirty="0"/>
              <a:t>x</a:t>
            </a:r>
            <a:r>
              <a:rPr lang="en-US" dirty="0"/>
              <a:t>  into </a:t>
            </a:r>
            <a:r>
              <a:rPr lang="en-US" i="1" dirty="0"/>
              <a:t>y</a:t>
            </a:r>
            <a:r>
              <a:rPr lang="en-US" dirty="0"/>
              <a:t>  by deleting </a:t>
            </a:r>
            <a:r>
              <a:rPr lang="en-US" dirty="0">
                <a:solidFill>
                  <a:srgbClr val="0070C0"/>
                </a:solidFill>
              </a:rPr>
              <a:t>a</a:t>
            </a:r>
            <a:r>
              <a:rPr lang="en-US" dirty="0"/>
              <a:t>, then inserting </a:t>
            </a:r>
            <a:r>
              <a:rPr lang="en-US" dirty="0">
                <a:solidFill>
                  <a:srgbClr val="0070C0"/>
                </a:solidFill>
              </a:rPr>
              <a:t>u</a:t>
            </a:r>
            <a:r>
              <a:rPr lang="en-US" dirty="0"/>
              <a:t>  and </a:t>
            </a:r>
            <a:r>
              <a:rPr lang="en-US" dirty="0">
                <a:solidFill>
                  <a:srgbClr val="0070C0"/>
                </a:solidFill>
              </a:rPr>
              <a:t>v</a:t>
            </a:r>
            <a:r>
              <a:rPr lang="en-US" dirty="0"/>
              <a:t>  after </a:t>
            </a:r>
            <a:r>
              <a:rPr lang="en-US" dirty="0">
                <a:solidFill>
                  <a:srgbClr val="0070C0"/>
                </a:solidFill>
              </a:rPr>
              <a:t>d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Edit distance = 3.</a:t>
            </a:r>
          </a:p>
          <a:p>
            <a:endParaRPr lang="en-US" dirty="0"/>
          </a:p>
          <a:p>
            <a:r>
              <a:rPr lang="en-US" dirty="0"/>
              <a:t>Minimum number of operations can be computed using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dynamic programming</a:t>
            </a:r>
          </a:p>
          <a:p>
            <a:r>
              <a:rPr lang="en-US" dirty="0"/>
              <a:t>Common distance measure for comparing DNA sequences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51CB4F-46CC-F10D-4820-F5DBB37A6B5F}"/>
              </a:ext>
            </a:extLst>
          </p:cNvPr>
          <p:cNvSpPr txBox="1"/>
          <p:nvPr/>
        </p:nvSpPr>
        <p:spPr>
          <a:xfrm>
            <a:off x="5211306" y="1243279"/>
            <a:ext cx="3600152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d(</a:t>
            </a:r>
            <a:r>
              <a:rPr lang="en-US" dirty="0" err="1"/>
              <a:t>x,x</a:t>
            </a:r>
            <a:r>
              <a:rPr lang="en-US" dirty="0"/>
              <a:t>) = 0 because 0 edits suffice.</a:t>
            </a:r>
            <a:endParaRPr lang="en-US" dirty="0">
              <a:sym typeface="Symbol" pitchFamily="18" charset="2"/>
            </a:endParaRPr>
          </a:p>
          <a:p>
            <a:r>
              <a:rPr lang="en-US" dirty="0">
                <a:sym typeface="Symbol" pitchFamily="18" charset="2"/>
              </a:rPr>
              <a:t>d(</a:t>
            </a:r>
            <a:r>
              <a:rPr lang="en-US" dirty="0" err="1">
                <a:sym typeface="Symbol" pitchFamily="18" charset="2"/>
              </a:rPr>
              <a:t>x,y</a:t>
            </a:r>
            <a:r>
              <a:rPr lang="en-US" dirty="0">
                <a:sym typeface="Symbol" pitchFamily="18" charset="2"/>
              </a:rPr>
              <a:t>) = d(</a:t>
            </a:r>
            <a:r>
              <a:rPr lang="en-US" dirty="0" err="1">
                <a:sym typeface="Symbol" pitchFamily="18" charset="2"/>
              </a:rPr>
              <a:t>y,x</a:t>
            </a:r>
            <a:r>
              <a:rPr lang="en-US" dirty="0">
                <a:sym typeface="Symbol" pitchFamily="18" charset="2"/>
              </a:rPr>
              <a:t>) because insert/delete are inverses of each other.</a:t>
            </a:r>
          </a:p>
          <a:p>
            <a:r>
              <a:rPr lang="en-US" dirty="0">
                <a:sym typeface="Symbol" pitchFamily="18" charset="2"/>
              </a:rPr>
              <a:t>d(</a:t>
            </a:r>
            <a:r>
              <a:rPr lang="en-US" dirty="0" err="1">
                <a:sym typeface="Symbol" pitchFamily="18" charset="2"/>
              </a:rPr>
              <a:t>x,y</a:t>
            </a:r>
            <a:r>
              <a:rPr lang="en-US" dirty="0">
                <a:sym typeface="Symbol" pitchFamily="18" charset="2"/>
              </a:rPr>
              <a:t>) </a:t>
            </a:r>
            <a:r>
              <a:rPr lang="en-US" u="sng" dirty="0">
                <a:sym typeface="Symbol" pitchFamily="18" charset="2"/>
              </a:rPr>
              <a:t>&gt;</a:t>
            </a:r>
            <a:r>
              <a:rPr lang="en-US" dirty="0">
                <a:sym typeface="Symbol" pitchFamily="18" charset="2"/>
              </a:rPr>
              <a:t> 0: no notion of negative edits.</a:t>
            </a:r>
          </a:p>
          <a:p>
            <a:r>
              <a:rPr lang="en-US" dirty="0">
                <a:solidFill>
                  <a:srgbClr val="33CC33"/>
                </a:solidFill>
                <a:sym typeface="Symbol" pitchFamily="18" charset="2"/>
              </a:rPr>
              <a:t>Triangle inequality</a:t>
            </a:r>
            <a:r>
              <a:rPr lang="en-US" dirty="0">
                <a:sym typeface="Symbol" pitchFamily="18" charset="2"/>
              </a:rPr>
              <a:t>: changing</a:t>
            </a:r>
            <a:r>
              <a:rPr lang="en-US" i="1" dirty="0">
                <a:sym typeface="Symbol" pitchFamily="18" charset="2"/>
              </a:rPr>
              <a:t> x</a:t>
            </a:r>
            <a:r>
              <a:rPr lang="en-US" dirty="0">
                <a:sym typeface="Symbol" pitchFamily="18" charset="2"/>
              </a:rPr>
              <a:t>  to </a:t>
            </a:r>
            <a:r>
              <a:rPr lang="en-US" i="1" dirty="0">
                <a:sym typeface="Symbol" pitchFamily="18" charset="2"/>
              </a:rPr>
              <a:t>z</a:t>
            </a:r>
            <a:r>
              <a:rPr lang="en-US" dirty="0">
                <a:sym typeface="Symbol" pitchFamily="18" charset="2"/>
              </a:rPr>
              <a:t> and then to </a:t>
            </a:r>
            <a:r>
              <a:rPr lang="en-US" i="1" dirty="0">
                <a:sym typeface="Symbol" pitchFamily="18" charset="2"/>
              </a:rPr>
              <a:t>y</a:t>
            </a:r>
            <a:r>
              <a:rPr lang="en-US" dirty="0">
                <a:sym typeface="Symbol" pitchFamily="18" charset="2"/>
              </a:rPr>
              <a:t>  is one way to change </a:t>
            </a:r>
            <a:r>
              <a:rPr lang="en-US" i="1" dirty="0">
                <a:sym typeface="Symbol" pitchFamily="18" charset="2"/>
              </a:rPr>
              <a:t>x</a:t>
            </a:r>
            <a:r>
              <a:rPr lang="en-US" dirty="0">
                <a:sym typeface="Symbol" pitchFamily="18" charset="2"/>
              </a:rPr>
              <a:t>  to </a:t>
            </a:r>
            <a:r>
              <a:rPr lang="en-US" i="1" dirty="0">
                <a:sym typeface="Symbol" pitchFamily="18" charset="2"/>
              </a:rPr>
              <a:t>y</a:t>
            </a:r>
            <a:r>
              <a:rPr lang="en-US" dirty="0">
                <a:sym typeface="Symbol" pitchFamily="18" charset="2"/>
              </a:rPr>
              <a:t>. The minimum is no more than that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C39196-06DF-5759-C703-732AE8C99B02}"/>
              </a:ext>
            </a:extLst>
          </p:cNvPr>
          <p:cNvSpPr txBox="1"/>
          <p:nvPr/>
        </p:nvSpPr>
        <p:spPr>
          <a:xfrm>
            <a:off x="5211306" y="935502"/>
            <a:ext cx="424275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Why Edit distance is a Matrix?</a:t>
            </a:r>
            <a:endParaRPr lang="tr-TR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EACEC0-7168-D58A-22C0-9C3BD15CD8F6}"/>
              </a:ext>
            </a:extLst>
          </p:cNvPr>
          <p:cNvSpPr txBox="1"/>
          <p:nvPr/>
        </p:nvSpPr>
        <p:spPr>
          <a:xfrm>
            <a:off x="5199166" y="3182270"/>
            <a:ext cx="4856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Variant Edit Distances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4AC519-8C17-F58F-20B4-4B9DC44334F1}"/>
              </a:ext>
            </a:extLst>
          </p:cNvPr>
          <p:cNvSpPr txBox="1"/>
          <p:nvPr/>
        </p:nvSpPr>
        <p:spPr>
          <a:xfrm>
            <a:off x="5199166" y="3516467"/>
            <a:ext cx="351485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Allow insert, delete, and </a:t>
            </a:r>
            <a:r>
              <a:rPr lang="en-US" dirty="0">
                <a:solidFill>
                  <a:srgbClr val="FF0000"/>
                </a:solidFill>
              </a:rPr>
              <a:t>mutate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Change one character into another.</a:t>
            </a:r>
          </a:p>
          <a:p>
            <a:r>
              <a:rPr lang="en-US" dirty="0"/>
              <a:t>Minimum number of inserts, deletes, and mutates also forms a distance measure.</a:t>
            </a:r>
          </a:p>
        </p:txBody>
      </p:sp>
    </p:spTree>
    <p:extLst>
      <p:ext uri="{BB962C8B-B14F-4D97-AF65-F5344CB8AC3E}">
        <p14:creationId xmlns:p14="http://schemas.microsoft.com/office/powerpoint/2010/main" val="28997835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72;p37">
            <a:extLst>
              <a:ext uri="{FF2B5EF4-FFF2-40B4-BE49-F238E27FC236}">
                <a16:creationId xmlns:a16="http://schemas.microsoft.com/office/drawing/2014/main" id="{53DFD194-7053-3F38-D38B-ABA2D448300B}"/>
              </a:ext>
            </a:extLst>
          </p:cNvPr>
          <p:cNvSpPr txBox="1">
            <a:spLocks/>
          </p:cNvSpPr>
          <p:nvPr/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2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 Medium"/>
              <a:buNone/>
              <a:defRPr sz="30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 Medium"/>
              <a:buNone/>
              <a:defRPr sz="30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 Medium"/>
              <a:buNone/>
              <a:defRPr sz="30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 Medium"/>
              <a:buNone/>
              <a:defRPr sz="30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 Medium"/>
              <a:buNone/>
              <a:defRPr sz="30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 Medium"/>
              <a:buNone/>
              <a:defRPr sz="30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 Medium"/>
              <a:buNone/>
              <a:defRPr sz="30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 Medium"/>
              <a:buNone/>
              <a:defRPr sz="30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9pPr>
          </a:lstStyle>
          <a:p>
            <a:pPr algn="l"/>
            <a:r>
              <a:rPr lang="en-US" dirty="0"/>
              <a:t>3.5.5 Hamming Distance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9F6DA7C-CFBB-5C24-CD48-D3FBF810F07F}"/>
                  </a:ext>
                </a:extLst>
              </p:cNvPr>
              <p:cNvSpPr txBox="1"/>
              <p:nvPr/>
            </p:nvSpPr>
            <p:spPr>
              <a:xfrm>
                <a:off x="429983" y="1017725"/>
                <a:ext cx="4018031" cy="37548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</a:rPr>
                  <a:t>Hamming distance  </a:t>
                </a:r>
                <a:r>
                  <a:rPr lang="en-US" dirty="0"/>
                  <a:t>is the number of positions in which bit-vectors differ.</a:t>
                </a:r>
              </a:p>
              <a:p>
                <a:pPr lvl="1"/>
                <a:r>
                  <a:rPr lang="en-US" dirty="0">
                    <a:solidFill>
                      <a:srgbClr val="33CC33"/>
                    </a:solidFill>
                  </a:rPr>
                  <a:t>Example</a:t>
                </a:r>
                <a:r>
                  <a:rPr lang="en-US" dirty="0"/>
                  <a:t>: </a:t>
                </a:r>
              </a:p>
              <a:p>
                <a:pPr lvl="2"/>
                <a:r>
                  <a:rPr lang="en-US" dirty="0"/>
                  <a:t>p</a:t>
                </a:r>
                <a:r>
                  <a:rPr lang="en-US" baseline="-25000" dirty="0"/>
                  <a:t>1</a:t>
                </a:r>
                <a:r>
                  <a:rPr lang="en-US" dirty="0"/>
                  <a:t> = 10101</a:t>
                </a:r>
              </a:p>
              <a:p>
                <a:pPr lvl="2"/>
                <a:r>
                  <a:rPr lang="en-US" dirty="0"/>
                  <a:t>p</a:t>
                </a:r>
                <a:r>
                  <a:rPr lang="en-US" baseline="-25000" dirty="0"/>
                  <a:t>2</a:t>
                </a:r>
                <a:r>
                  <a:rPr lang="en-US" dirty="0"/>
                  <a:t> = 10011.</a:t>
                </a:r>
              </a:p>
              <a:p>
                <a:pPr lvl="2"/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 baseline="-25000" dirty="0" err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 baseline="-25000" dirty="0" err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 = 2 </m:t>
                    </m:r>
                  </m:oMath>
                </a14:m>
                <a:r>
                  <a:rPr lang="en-US" dirty="0"/>
                  <a:t>because the bit-vectors differ in the 3</a:t>
                </a:r>
                <a:r>
                  <a:rPr lang="en-US" baseline="30000" dirty="0"/>
                  <a:t>rd</a:t>
                </a:r>
                <a:r>
                  <a:rPr lang="en-US" dirty="0"/>
                  <a:t> and 4</a:t>
                </a:r>
                <a:r>
                  <a:rPr lang="en-US" baseline="30000" dirty="0"/>
                  <a:t>th</a:t>
                </a:r>
                <a:r>
                  <a:rPr lang="en-US" dirty="0"/>
                  <a:t> positions.</a:t>
                </a:r>
              </a:p>
              <a:p>
                <a:pPr lvl="2"/>
                <a:r>
                  <a:rPr lang="en-US" dirty="0"/>
                  <a:t>The </a:t>
                </a:r>
                <a:r>
                  <a:rPr lang="en-US" dirty="0" err="1"/>
                  <a:t>L</a:t>
                </a:r>
                <a:r>
                  <a:rPr lang="en-US" baseline="-25000" dirty="0" err="1"/>
                  <a:t>1</a:t>
                </a:r>
                <a:r>
                  <a:rPr lang="en-US" dirty="0"/>
                  <a:t> norm for the binary vectors</a:t>
                </a:r>
              </a:p>
              <a:p>
                <a:endParaRPr lang="en-US" dirty="0">
                  <a:solidFill>
                    <a:srgbClr val="FF0000"/>
                  </a:solidFill>
                </a:endParaRPr>
              </a:p>
              <a:p>
                <a:r>
                  <a:rPr lang="en-US" dirty="0">
                    <a:solidFill>
                      <a:srgbClr val="FF0000"/>
                    </a:solidFill>
                  </a:rPr>
                  <a:t>Hamming distance </a:t>
                </a:r>
                <a:r>
                  <a:rPr lang="en-US" dirty="0"/>
                  <a:t>between two vectors of </a:t>
                </a:r>
                <a:r>
                  <a:rPr lang="en-US" dirty="0">
                    <a:solidFill>
                      <a:srgbClr val="0070C0"/>
                    </a:solidFill>
                  </a:rPr>
                  <a:t>categorical attributes</a:t>
                </a:r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/>
                  <a:t>is the number of positions in which they differ.</a:t>
                </a:r>
              </a:p>
              <a:p>
                <a:pPr lvl="1"/>
                <a:r>
                  <a:rPr lang="en-US" dirty="0">
                    <a:solidFill>
                      <a:srgbClr val="33CC33"/>
                    </a:solidFill>
                  </a:rPr>
                  <a:t>Example</a:t>
                </a:r>
                <a:r>
                  <a:rPr lang="en-US" dirty="0"/>
                  <a:t>: </a:t>
                </a:r>
              </a:p>
              <a:p>
                <a:pPr lvl="2"/>
                <a:r>
                  <a:rPr lang="en-US" dirty="0"/>
                  <a:t>x = (married, low income, cheat) </a:t>
                </a:r>
              </a:p>
              <a:p>
                <a:pPr lvl="2"/>
                <a:r>
                  <a:rPr lang="en-US" dirty="0"/>
                  <a:t>y = (single,    low income, not cheat)</a:t>
                </a:r>
              </a:p>
              <a:p>
                <a:pPr lvl="2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 err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dirty="0" err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 dirty="0" err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) = 2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9F6DA7C-CFBB-5C24-CD48-D3FBF810F0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983" y="1017725"/>
                <a:ext cx="4018031" cy="3754874"/>
              </a:xfrm>
              <a:prstGeom prst="rect">
                <a:avLst/>
              </a:prstGeom>
              <a:blipFill>
                <a:blip r:embed="rId3"/>
                <a:stretch>
                  <a:fillRect l="-455" t="-325" r="-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DE51CB4F-46CC-F10D-4820-F5DBB37A6B5F}"/>
              </a:ext>
            </a:extLst>
          </p:cNvPr>
          <p:cNvSpPr txBox="1"/>
          <p:nvPr/>
        </p:nvSpPr>
        <p:spPr>
          <a:xfrm>
            <a:off x="5211306" y="1243279"/>
            <a:ext cx="3600152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d(</a:t>
            </a:r>
            <a:r>
              <a:rPr lang="en-US" dirty="0" err="1"/>
              <a:t>x,x</a:t>
            </a:r>
            <a:r>
              <a:rPr lang="en-US" dirty="0"/>
              <a:t>) = 0 since no positions differ.</a:t>
            </a:r>
            <a:endParaRPr lang="en-US" dirty="0">
              <a:sym typeface="Symbol" pitchFamily="18" charset="2"/>
            </a:endParaRPr>
          </a:p>
          <a:p>
            <a:r>
              <a:rPr lang="en-US" dirty="0">
                <a:sym typeface="Symbol" pitchFamily="18" charset="2"/>
              </a:rPr>
              <a:t>d(</a:t>
            </a:r>
            <a:r>
              <a:rPr lang="en-US" dirty="0" err="1">
                <a:sym typeface="Symbol" pitchFamily="18" charset="2"/>
              </a:rPr>
              <a:t>x,y</a:t>
            </a:r>
            <a:r>
              <a:rPr lang="en-US" dirty="0">
                <a:sym typeface="Symbol" pitchFamily="18" charset="2"/>
              </a:rPr>
              <a:t>) = d(</a:t>
            </a:r>
            <a:r>
              <a:rPr lang="en-US" dirty="0" err="1">
                <a:sym typeface="Symbol" pitchFamily="18" charset="2"/>
              </a:rPr>
              <a:t>y,x</a:t>
            </a:r>
            <a:r>
              <a:rPr lang="en-US" dirty="0">
                <a:sym typeface="Symbol" pitchFamily="18" charset="2"/>
              </a:rPr>
              <a:t>) by symmetry of “different from.”</a:t>
            </a:r>
          </a:p>
          <a:p>
            <a:r>
              <a:rPr lang="en-US" dirty="0">
                <a:sym typeface="Symbol" pitchFamily="18" charset="2"/>
              </a:rPr>
              <a:t>d(</a:t>
            </a:r>
            <a:r>
              <a:rPr lang="en-US" dirty="0" err="1">
                <a:sym typeface="Symbol" pitchFamily="18" charset="2"/>
              </a:rPr>
              <a:t>x,y</a:t>
            </a:r>
            <a:r>
              <a:rPr lang="en-US" dirty="0">
                <a:sym typeface="Symbol" pitchFamily="18" charset="2"/>
              </a:rPr>
              <a:t>) </a:t>
            </a:r>
            <a:r>
              <a:rPr lang="en-US" u="sng" dirty="0">
                <a:sym typeface="Symbol" pitchFamily="18" charset="2"/>
              </a:rPr>
              <a:t>&gt;</a:t>
            </a:r>
            <a:r>
              <a:rPr lang="en-US" dirty="0">
                <a:sym typeface="Symbol" pitchFamily="18" charset="2"/>
              </a:rPr>
              <a:t> 0 since strings cannot differ in a negative number of positions.</a:t>
            </a:r>
          </a:p>
          <a:p>
            <a:r>
              <a:rPr lang="en-US" dirty="0">
                <a:solidFill>
                  <a:srgbClr val="33CC33"/>
                </a:solidFill>
                <a:sym typeface="Symbol" pitchFamily="18" charset="2"/>
              </a:rPr>
              <a:t>Triangle inequality</a:t>
            </a:r>
            <a:r>
              <a:rPr lang="en-US" dirty="0">
                <a:sym typeface="Symbol" pitchFamily="18" charset="2"/>
              </a:rPr>
              <a:t>: changing</a:t>
            </a:r>
            <a:r>
              <a:rPr lang="en-US" i="1" dirty="0">
                <a:sym typeface="Symbol" pitchFamily="18" charset="2"/>
              </a:rPr>
              <a:t> x</a:t>
            </a:r>
            <a:r>
              <a:rPr lang="en-US" dirty="0">
                <a:sym typeface="Symbol" pitchFamily="18" charset="2"/>
              </a:rPr>
              <a:t>  to </a:t>
            </a:r>
            <a:r>
              <a:rPr lang="en-US" i="1" dirty="0">
                <a:sym typeface="Symbol" pitchFamily="18" charset="2"/>
              </a:rPr>
              <a:t>z</a:t>
            </a:r>
            <a:r>
              <a:rPr lang="en-US" dirty="0">
                <a:sym typeface="Symbol" pitchFamily="18" charset="2"/>
              </a:rPr>
              <a:t> and then to </a:t>
            </a:r>
            <a:r>
              <a:rPr lang="en-US" i="1" dirty="0">
                <a:sym typeface="Symbol" pitchFamily="18" charset="2"/>
              </a:rPr>
              <a:t>y</a:t>
            </a:r>
            <a:r>
              <a:rPr lang="en-US" dirty="0">
                <a:sym typeface="Symbol" pitchFamily="18" charset="2"/>
              </a:rPr>
              <a:t>  is one way to change </a:t>
            </a:r>
            <a:r>
              <a:rPr lang="en-US" i="1" dirty="0">
                <a:sym typeface="Symbol" pitchFamily="18" charset="2"/>
              </a:rPr>
              <a:t>x</a:t>
            </a:r>
            <a:r>
              <a:rPr lang="en-US" dirty="0">
                <a:sym typeface="Symbol" pitchFamily="18" charset="2"/>
              </a:rPr>
              <a:t>  to </a:t>
            </a:r>
            <a:r>
              <a:rPr lang="en-US" i="1" dirty="0">
                <a:sym typeface="Symbol" pitchFamily="18" charset="2"/>
              </a:rPr>
              <a:t>y</a:t>
            </a:r>
            <a:r>
              <a:rPr lang="en-US" dirty="0">
                <a:sym typeface="Symbol" pitchFamily="18" charset="2"/>
              </a:rPr>
              <a:t>.</a:t>
            </a:r>
          </a:p>
          <a:p>
            <a:endParaRPr lang="en-US" dirty="0">
              <a:sym typeface="Symbol" pitchFamily="18" charset="2"/>
            </a:endParaRPr>
          </a:p>
          <a:p>
            <a:r>
              <a:rPr lang="en-US" dirty="0">
                <a:sym typeface="Symbol" pitchFamily="18" charset="2"/>
              </a:rPr>
              <a:t>For binary vectors if follows from the fact that L</a:t>
            </a:r>
            <a:r>
              <a:rPr lang="en-US" baseline="-25000" dirty="0">
                <a:sym typeface="Symbol" pitchFamily="18" charset="2"/>
              </a:rPr>
              <a:t>1</a:t>
            </a:r>
            <a:r>
              <a:rPr lang="en-US" dirty="0">
                <a:sym typeface="Symbol" pitchFamily="18" charset="2"/>
              </a:rPr>
              <a:t> norm is a metric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C39196-06DF-5759-C703-732AE8C99B02}"/>
              </a:ext>
            </a:extLst>
          </p:cNvPr>
          <p:cNvSpPr txBox="1"/>
          <p:nvPr/>
        </p:nvSpPr>
        <p:spPr>
          <a:xfrm>
            <a:off x="5211306" y="935502"/>
            <a:ext cx="424275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Why Hamming distance is a Matrix?</a:t>
            </a:r>
            <a:endParaRPr lang="tr-TR" b="1" dirty="0"/>
          </a:p>
        </p:txBody>
      </p:sp>
    </p:spTree>
    <p:extLst>
      <p:ext uri="{BB962C8B-B14F-4D97-AF65-F5344CB8AC3E}">
        <p14:creationId xmlns:p14="http://schemas.microsoft.com/office/powerpoint/2010/main" val="18128404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39"/>
          <p:cNvSpPr txBox="1">
            <a:spLocks noGrp="1"/>
          </p:cNvSpPr>
          <p:nvPr>
            <p:ph type="title"/>
          </p:nvPr>
        </p:nvSpPr>
        <p:spPr>
          <a:xfrm>
            <a:off x="3862975" y="1655500"/>
            <a:ext cx="4567800" cy="116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Thanks!</a:t>
            </a:r>
            <a:endParaRPr dirty="0"/>
          </a:p>
        </p:txBody>
      </p:sp>
      <p:grpSp>
        <p:nvGrpSpPr>
          <p:cNvPr id="406" name="Google Shape;406;p39"/>
          <p:cNvGrpSpPr/>
          <p:nvPr/>
        </p:nvGrpSpPr>
        <p:grpSpPr>
          <a:xfrm>
            <a:off x="-541907" y="-622274"/>
            <a:ext cx="4136119" cy="6091167"/>
            <a:chOff x="-541907" y="-622274"/>
            <a:chExt cx="4136119" cy="6091167"/>
          </a:xfrm>
        </p:grpSpPr>
        <p:sp>
          <p:nvSpPr>
            <p:cNvPr id="407" name="Google Shape;407;p39"/>
            <p:cNvSpPr/>
            <p:nvPr/>
          </p:nvSpPr>
          <p:spPr>
            <a:xfrm rot="10800000">
              <a:off x="84193" y="4041766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39"/>
            <p:cNvSpPr/>
            <p:nvPr/>
          </p:nvSpPr>
          <p:spPr>
            <a:xfrm rot="10800000">
              <a:off x="993581" y="456941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39"/>
            <p:cNvSpPr/>
            <p:nvPr/>
          </p:nvSpPr>
          <p:spPr>
            <a:xfrm rot="10800000">
              <a:off x="2040588" y="96213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39"/>
            <p:cNvSpPr/>
            <p:nvPr/>
          </p:nvSpPr>
          <p:spPr>
            <a:xfrm rot="10800000">
              <a:off x="-541907" y="962141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39"/>
            <p:cNvSpPr/>
            <p:nvPr/>
          </p:nvSpPr>
          <p:spPr>
            <a:xfrm flipH="1">
              <a:off x="993584" y="3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39"/>
            <p:cNvSpPr/>
            <p:nvPr/>
          </p:nvSpPr>
          <p:spPr>
            <a:xfrm flipH="1">
              <a:off x="713235" y="227519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39"/>
            <p:cNvSpPr/>
            <p:nvPr/>
          </p:nvSpPr>
          <p:spPr>
            <a:xfrm flipH="1">
              <a:off x="421473" y="1778853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39"/>
            <p:cNvSpPr/>
            <p:nvPr/>
          </p:nvSpPr>
          <p:spPr>
            <a:xfrm flipH="1">
              <a:off x="1611716" y="147497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39"/>
            <p:cNvSpPr/>
            <p:nvPr/>
          </p:nvSpPr>
          <p:spPr>
            <a:xfrm flipH="1">
              <a:off x="2597873" y="-622274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39"/>
            <p:cNvSpPr/>
            <p:nvPr/>
          </p:nvSpPr>
          <p:spPr>
            <a:xfrm flipH="1">
              <a:off x="1260177" y="265125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39"/>
            <p:cNvSpPr/>
            <p:nvPr/>
          </p:nvSpPr>
          <p:spPr>
            <a:xfrm flipH="1">
              <a:off x="2180770" y="-13821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39"/>
            <p:cNvSpPr/>
            <p:nvPr/>
          </p:nvSpPr>
          <p:spPr>
            <a:xfrm rot="10800000">
              <a:off x="1759176" y="404513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39"/>
            <p:cNvSpPr/>
            <p:nvPr/>
          </p:nvSpPr>
          <p:spPr>
            <a:xfrm rot="10800000">
              <a:off x="2367643" y="2651241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39"/>
            <p:cNvSpPr/>
            <p:nvPr/>
          </p:nvSpPr>
          <p:spPr>
            <a:xfrm rot="10800000">
              <a:off x="503546" y="3557703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39"/>
            <p:cNvSpPr/>
            <p:nvPr/>
          </p:nvSpPr>
          <p:spPr>
            <a:xfrm rot="10800000">
              <a:off x="1759170" y="4500771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39"/>
            <p:cNvSpPr/>
            <p:nvPr/>
          </p:nvSpPr>
          <p:spPr>
            <a:xfrm flipH="1">
              <a:off x="-125473" y="539494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39"/>
            <p:cNvSpPr/>
            <p:nvPr/>
          </p:nvSpPr>
          <p:spPr>
            <a:xfrm flipH="1">
              <a:off x="2755502" y="3194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424" name="Google Shape;424;p39"/>
          <p:cNvCxnSpPr/>
          <p:nvPr/>
        </p:nvCxnSpPr>
        <p:spPr>
          <a:xfrm>
            <a:off x="3967400" y="1655488"/>
            <a:ext cx="3735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Subtitle 2">
            <a:extLst>
              <a:ext uri="{FF2B5EF4-FFF2-40B4-BE49-F238E27FC236}">
                <a16:creationId xmlns:a16="http://schemas.microsoft.com/office/drawing/2014/main" id="{473DB756-DD7F-2A40-CE2A-F96B61C05C5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ta Collection and Analysis - Master of Science in Community Health and Prevention Research by Slidesgo">
  <a:themeElements>
    <a:clrScheme name="Simple Light">
      <a:dk1>
        <a:srgbClr val="384655"/>
      </a:dk1>
      <a:lt1>
        <a:srgbClr val="FFFFFF"/>
      </a:lt1>
      <a:dk2>
        <a:srgbClr val="AFC7FF"/>
      </a:dk2>
      <a:lt2>
        <a:srgbClr val="9FCBFD"/>
      </a:lt2>
      <a:accent1>
        <a:srgbClr val="68DAF8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8465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1557</Words>
  <Application>Microsoft Office PowerPoint</Application>
  <PresentationFormat>On-screen Show (16:9)</PresentationFormat>
  <Paragraphs>210</Paragraphs>
  <Slides>13</Slides>
  <Notes>13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5" baseType="lpstr">
      <vt:lpstr>Arial</vt:lpstr>
      <vt:lpstr>Tahoma</vt:lpstr>
      <vt:lpstr>Lucida Sans Unicode</vt:lpstr>
      <vt:lpstr>Outfit</vt:lpstr>
      <vt:lpstr>Wingdings</vt:lpstr>
      <vt:lpstr>DM Sans</vt:lpstr>
      <vt:lpstr>Times New Roman</vt:lpstr>
      <vt:lpstr>Cambria Math</vt:lpstr>
      <vt:lpstr>Symbol</vt:lpstr>
      <vt:lpstr>Data Collection and Analysis - Master of Science in Community Health and Prevention Research by Slidesgo</vt:lpstr>
      <vt:lpstr>VISIO</vt:lpstr>
      <vt:lpstr>Worksheet</vt:lpstr>
      <vt:lpstr>Chap 3.  Finding Similar Items  </vt:lpstr>
      <vt:lpstr>Why we need to extend Minhashing?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Gabriella Pasya Irianti</cp:lastModifiedBy>
  <cp:revision>1</cp:revision>
  <dcterms:modified xsi:type="dcterms:W3CDTF">2024-09-29T13:10:28Z</dcterms:modified>
</cp:coreProperties>
</file>