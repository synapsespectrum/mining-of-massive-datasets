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8" r:id="rId10"/>
    <p:sldId id="262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B94DB-05CB-8F42-A860-B2E7B981DE6A}" type="datetimeFigureOut">
              <a:rPr lang="de-DE" smtClean="0"/>
              <a:t>23.09.24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04245-8C7A-DF43-83DB-AEDABF3CF0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70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Zusammenfassung in einem Satz: This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measure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measures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importance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of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words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within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documents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04245-8C7A-DF43-83DB-AEDABF3CF02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228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24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0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9/23/24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2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7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686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25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59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7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76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9/23/24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77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3" descr="Sphäre aus Gitter und Knoten">
            <a:extLst>
              <a:ext uri="{FF2B5EF4-FFF2-40B4-BE49-F238E27FC236}">
                <a16:creationId xmlns:a16="http://schemas.microsoft.com/office/drawing/2014/main" id="{FBD53891-0DC1-BE1A-8213-8E04197E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84" r="-1" b="-1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Freeform: Shape 12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3249BC-C69F-2340-C4BD-56199D23A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772" y="1346268"/>
            <a:ext cx="6826101" cy="3066706"/>
          </a:xfrm>
        </p:spPr>
        <p:txBody>
          <a:bodyPr anchor="b">
            <a:normAutofit/>
          </a:bodyPr>
          <a:lstStyle/>
          <a:p>
            <a:r>
              <a:rPr lang="de-DE" sz="2000" u="sng" dirty="0" err="1"/>
              <a:t>Advanced</a:t>
            </a:r>
            <a:r>
              <a:rPr lang="de-DE" sz="2000" u="sng" dirty="0"/>
              <a:t> Big Data Analysis</a:t>
            </a:r>
            <a:br>
              <a:rPr lang="de-DE" sz="6000" dirty="0"/>
            </a:br>
            <a:r>
              <a:rPr lang="de-DE" sz="2800" dirty="0"/>
              <a:t>Chapter 1.3 </a:t>
            </a:r>
            <a:br>
              <a:rPr lang="de-DE" sz="3800" dirty="0"/>
            </a:br>
            <a:r>
              <a:rPr lang="de-DE" sz="3800" dirty="0"/>
              <a:t>Things </a:t>
            </a:r>
            <a:r>
              <a:rPr lang="en-GB" sz="3800" dirty="0"/>
              <a:t>Useful</a:t>
            </a:r>
            <a:r>
              <a:rPr lang="de-DE" sz="3800" dirty="0"/>
              <a:t> </a:t>
            </a:r>
            <a:r>
              <a:rPr lang="de-DE" sz="3800" dirty="0" err="1"/>
              <a:t>to</a:t>
            </a:r>
            <a:r>
              <a:rPr lang="de-DE" sz="3800" dirty="0"/>
              <a:t> </a:t>
            </a:r>
            <a:r>
              <a:rPr lang="de-DE" sz="3800" dirty="0" err="1"/>
              <a:t>Know</a:t>
            </a:r>
            <a:endParaRPr lang="de-DE" sz="3800" dirty="0"/>
          </a:p>
        </p:txBody>
      </p:sp>
    </p:spTree>
    <p:extLst>
      <p:ext uri="{BB962C8B-B14F-4D97-AF65-F5344CB8AC3E}">
        <p14:creationId xmlns:p14="http://schemas.microsoft.com/office/powerpoint/2010/main" val="134939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ACF6A-91FE-1FBD-E4CB-2997C579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chapter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9DBAB0-88D5-8824-4369-85298931B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TF.IDF</a:t>
            </a:r>
            <a:r>
              <a:rPr lang="de-DE" b="1" dirty="0">
                <a:effectLst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Hash </a:t>
            </a:r>
            <a:r>
              <a:rPr lang="de-DE" sz="1800" b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Functions</a:t>
            </a:r>
            <a:r>
              <a:rPr lang="de-DE" b="1" dirty="0">
                <a:effectLst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Index</a:t>
            </a:r>
            <a:endParaRPr lang="de-DE" b="1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800" b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Secondary</a:t>
            </a:r>
            <a:r>
              <a:rPr lang="de-DE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Storage (Disk</a:t>
            </a:r>
            <a:r>
              <a:rPr lang="de-DE" sz="1800" b="1" dirty="0"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Base 'e' and Natural Logarithms</a:t>
            </a:r>
            <a:r>
              <a:rPr lang="de-DE" b="1" dirty="0">
                <a:effectLst/>
              </a:rPr>
              <a:t> </a:t>
            </a:r>
            <a:endParaRPr lang="de-DE" b="1" dirty="0">
              <a:effectLst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Power Laws</a:t>
            </a:r>
            <a:r>
              <a:rPr lang="de-DE" b="1" dirty="0">
                <a:effectLst/>
              </a:rPr>
              <a:t> 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405607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BEFA7-ED0A-015E-2098-42C6EEBE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TF.IDF</a:t>
            </a:r>
            <a:r>
              <a:rPr lang="de-DE" dirty="0">
                <a:effectLst/>
              </a:rPr>
              <a:t> </a:t>
            </a:r>
            <a:br>
              <a:rPr lang="de-DE" dirty="0">
                <a:effectLst/>
              </a:rPr>
            </a:br>
            <a:r>
              <a:rPr lang="de-DE" sz="2200" dirty="0">
                <a:effectLst/>
              </a:rPr>
              <a:t>(Term </a:t>
            </a:r>
            <a:r>
              <a:rPr lang="de-DE" sz="2200" dirty="0" err="1">
                <a:effectLst/>
              </a:rPr>
              <a:t>Frequency</a:t>
            </a:r>
            <a:r>
              <a:rPr lang="de-DE" sz="2200" dirty="0"/>
              <a:t> . Inverse </a:t>
            </a:r>
            <a:r>
              <a:rPr lang="de-DE" sz="2200" dirty="0" err="1"/>
              <a:t>Document</a:t>
            </a:r>
            <a:r>
              <a:rPr lang="de-DE" sz="2200" dirty="0"/>
              <a:t> </a:t>
            </a:r>
            <a:r>
              <a:rPr lang="de-DE" sz="2200" dirty="0" err="1"/>
              <a:t>Frequency</a:t>
            </a:r>
            <a:r>
              <a:rPr lang="de-DE" sz="2200" dirty="0"/>
              <a:t>)</a:t>
            </a:r>
            <a:endParaRPr lang="en-GB" sz="22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5CFDC1-C965-761F-DADA-4645C8916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400"/>
            <a:ext cx="4160520" cy="2335620"/>
          </a:xfrm>
        </p:spPr>
        <p:txBody>
          <a:bodyPr>
            <a:normAutofit fontScale="92500" lnSpcReduction="10000"/>
          </a:bodyPr>
          <a:lstStyle/>
          <a:p>
            <a:r>
              <a:rPr lang="en-GB" u="sng" dirty="0"/>
              <a:t>Term Frequency (TF):</a:t>
            </a:r>
            <a:r>
              <a:rPr lang="en-GB" dirty="0"/>
              <a:t> </a:t>
            </a:r>
          </a:p>
          <a:p>
            <a:r>
              <a:rPr lang="en-GB" dirty="0"/>
              <a:t>Measures how frequently a term (word) appears in a document.</a:t>
            </a:r>
          </a:p>
          <a:p>
            <a:endParaRPr lang="en-GB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9472ADA-15D1-72FB-A093-70EC85010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300006" cy="2431313"/>
          </a:xfrm>
        </p:spPr>
        <p:txBody>
          <a:bodyPr>
            <a:normAutofit fontScale="92500" lnSpcReduction="10000"/>
          </a:bodyPr>
          <a:lstStyle/>
          <a:p>
            <a:r>
              <a:rPr lang="en-GB" u="sng" dirty="0"/>
              <a:t>Inverse Document Frequency (IDF):</a:t>
            </a:r>
            <a:r>
              <a:rPr lang="en-GB" dirty="0"/>
              <a:t> </a:t>
            </a:r>
          </a:p>
          <a:p>
            <a:r>
              <a:rPr lang="en-GB" dirty="0"/>
              <a:t>Measures the importance of a term by considering how many documents it appears in. Rarer terms get higher IDF values.</a:t>
            </a:r>
          </a:p>
          <a:p>
            <a:endParaRPr lang="en-GB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B2FA48C-46D5-294B-9618-BC80805A2107}"/>
              </a:ext>
            </a:extLst>
          </p:cNvPr>
          <p:cNvSpPr txBox="1"/>
          <p:nvPr/>
        </p:nvSpPr>
        <p:spPr>
          <a:xfrm>
            <a:off x="4618845" y="5520622"/>
            <a:ext cx="337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Formula: TF-IDF = TF * IDF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3AFF7380-E2A3-985C-D7BC-863D8B75F8AD}"/>
              </a:ext>
            </a:extLst>
          </p:cNvPr>
          <p:cNvSpPr/>
          <p:nvPr/>
        </p:nvSpPr>
        <p:spPr>
          <a:xfrm>
            <a:off x="4550735" y="5424931"/>
            <a:ext cx="3444949" cy="539934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90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FE1DA-0724-8169-622F-7D851952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and Application of TF.IDF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F56F48-E387-C491-AC10-73A0F6A34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400"/>
            <a:ext cx="8770570" cy="1463750"/>
          </a:xfrm>
        </p:spPr>
        <p:txBody>
          <a:bodyPr>
            <a:normAutofit/>
          </a:bodyPr>
          <a:lstStyle/>
          <a:p>
            <a:r>
              <a:rPr lang="en-GB" b="1" dirty="0"/>
              <a:t>Example</a:t>
            </a:r>
            <a:r>
              <a:rPr lang="en-GB" dirty="0"/>
              <a:t>: Classifying documents by topic, terms with high TF-IDF scores can indicate the topic (</a:t>
            </a:r>
            <a:r>
              <a:rPr lang="en-GB" dirty="0" err="1"/>
              <a:t>e.g.,”football</a:t>
            </a:r>
            <a:r>
              <a:rPr lang="en-GB" dirty="0"/>
              <a:t>", "goal", "referee" for documents about soccer).</a:t>
            </a:r>
          </a:p>
          <a:p>
            <a:endParaRPr lang="en-GB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F015E0-6E54-5036-C2BD-FA08D8C5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239" y="4189228"/>
            <a:ext cx="8770571" cy="1906772"/>
          </a:xfrm>
        </p:spPr>
        <p:txBody>
          <a:bodyPr>
            <a:normAutofit/>
          </a:bodyPr>
          <a:lstStyle/>
          <a:p>
            <a:r>
              <a:rPr lang="en-GB" b="1" dirty="0"/>
              <a:t>Application</a:t>
            </a:r>
            <a:r>
              <a:rPr lang="en-GB" dirty="0"/>
              <a:t>: Used in search engines and information retrieval systems to find and classify relevant documents.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431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70A23-6638-A4A2-272F-2D3B1F5F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Hash Functions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7A2DDD-C268-344A-A05F-BA4CBD107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 A hash function maps a key (hash-key) to a number (bucket number) for efficient data storage and retrieval.</a:t>
            </a:r>
          </a:p>
          <a:p>
            <a:endParaRPr lang="en-GB" dirty="0"/>
          </a:p>
          <a:p>
            <a:r>
              <a:rPr lang="en-GB" b="1" dirty="0"/>
              <a:t>Properties: </a:t>
            </a:r>
            <a:r>
              <a:rPr lang="en-GB" dirty="0"/>
              <a:t>A good hash function distributes keys as evenly as possible across buckets.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643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4E8FD-7D52-547C-A38A-02A4FD0A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and Application of Hash Functions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F6FE97-C66F-56B3-21F8-B53B0C455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42364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sz="1500" b="1" dirty="0"/>
              <a:t>Examples of Hash Functions: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500" b="1" i="0" u="none" strike="noStrike" dirty="0">
                <a:solidFill>
                  <a:srgbClr val="000000"/>
                </a:solidFill>
                <a:effectLst/>
              </a:rPr>
              <a:t>Division Method (Modulo): 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The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key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is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divided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by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number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buckets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, and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remainder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is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used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as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bucket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index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Let's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say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we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have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10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buckets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(0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through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9) and a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key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value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1234.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1234 % 10 = 4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So, 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key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1234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would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be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placed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in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bucket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number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 4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b="1" dirty="0"/>
              <a:t>Cryptographic Hash Functions (SHA256): </a:t>
            </a:r>
            <a:r>
              <a:rPr lang="en-US" sz="1500" dirty="0"/>
              <a:t>Creates a unique ‘fingerprint’ of the data that is difficult to reverse. Useful for Data Integrity Checks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SHA-256(‘Hello </a:t>
            </a:r>
            <a:r>
              <a:rPr lang="de-DE" sz="1500" b="0" i="0" u="none" strike="noStrike" dirty="0" err="1">
                <a:solidFill>
                  <a:srgbClr val="000000"/>
                </a:solidFill>
                <a:effectLst/>
              </a:rPr>
              <a:t>world</a:t>
            </a:r>
            <a:r>
              <a:rPr lang="de-DE" sz="1500" b="0" i="0" u="none" strike="noStrike" dirty="0">
                <a:solidFill>
                  <a:srgbClr val="000000"/>
                </a:solidFill>
                <a:effectLst/>
              </a:rPr>
              <a:t>!’) = ‘dffd6021bb2bd5b0af676290809ec3a53191dd81c7f70a4b28688a36239a7fef’</a:t>
            </a:r>
            <a:endParaRPr lang="en-US" sz="1500" dirty="0"/>
          </a:p>
          <a:p>
            <a:pPr algn="l"/>
            <a:r>
              <a:rPr lang="en-US" sz="1500" b="1" dirty="0"/>
              <a:t>Application</a:t>
            </a:r>
            <a:r>
              <a:rPr lang="en-US" sz="1500" dirty="0"/>
              <a:t>: Hash functions are used in hash tables, data structures, and data mining algorithms.</a:t>
            </a:r>
            <a:endParaRPr lang="en-US" sz="1500" b="1" i="0" u="none" strike="noStrike" dirty="0">
              <a:solidFill>
                <a:srgbClr val="000000"/>
              </a:solidFill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81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B05B44-2772-A62D-4BD9-7EBC1B7EF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Indexes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78ECFE-6672-28DA-3064-08CCDEAF0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400"/>
            <a:ext cx="8770570" cy="1575460"/>
          </a:xfrm>
        </p:spPr>
        <p:txBody>
          <a:bodyPr/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A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data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structure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that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allows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objects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be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efficiently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searched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based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on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value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one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or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more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their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elements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29594F-896D-3570-4A26-68E217DA0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239" y="4203864"/>
            <a:ext cx="8770571" cy="1892135"/>
          </a:xfrm>
        </p:spPr>
        <p:txBody>
          <a:bodyPr/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Advantages: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Dramatically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speeds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up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data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retrieval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compared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scanning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entire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074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FE1DA-0724-8169-622F-7D851952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Implementation and Application of Indexes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F56F48-E387-C491-AC10-73A0F6A34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400"/>
            <a:ext cx="8770570" cy="1463750"/>
          </a:xfrm>
        </p:spPr>
        <p:txBody>
          <a:bodyPr>
            <a:norm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Implementation: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 Hash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tables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are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one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way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implement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indexes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. The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field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(s)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being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indexed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form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hash-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key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, and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records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are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stored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in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buckets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based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on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their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hash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value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GB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F015E0-6E54-5036-C2BD-FA08D8C5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239" y="4189228"/>
            <a:ext cx="8770571" cy="1906772"/>
          </a:xfrm>
        </p:spPr>
        <p:txBody>
          <a:bodyPr>
            <a:normAutofit/>
          </a:bodyPr>
          <a:lstStyle/>
          <a:p>
            <a:r>
              <a:rPr lang="de-DE" b="1" dirty="0" err="1"/>
              <a:t>Application</a:t>
            </a:r>
            <a:r>
              <a:rPr lang="de-DE" b="1" dirty="0"/>
              <a:t>:</a:t>
            </a:r>
            <a:r>
              <a:rPr lang="de-DE" dirty="0"/>
              <a:t> </a:t>
            </a:r>
            <a:r>
              <a:rPr lang="de-DE" dirty="0" err="1"/>
              <a:t>Widely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databases</a:t>
            </a:r>
            <a:r>
              <a:rPr lang="de-DE" dirty="0"/>
              <a:t> and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fast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lookup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critical</a:t>
            </a:r>
            <a:r>
              <a:rPr lang="de-DE" dirty="0"/>
              <a:t>.</a:t>
            </a:r>
          </a:p>
          <a:p>
            <a:br>
              <a:rPr lang="de-DE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104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FE1DA-0724-8169-622F-7D851952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of Hash Functions and Indexes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D07762B-B2C3-4DBA-B9DE-467A69D46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39" y="2438399"/>
            <a:ext cx="8770571" cy="365760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1500" b="1" dirty="0"/>
              <a:t>Example:</a:t>
            </a:r>
            <a:r>
              <a:rPr lang="en-US" sz="1500" dirty="0"/>
              <a:t> Searching in a Telephone Book </a:t>
            </a:r>
          </a:p>
          <a:p>
            <a:pPr algn="l"/>
            <a:r>
              <a:rPr lang="en-US" sz="1500" dirty="0"/>
              <a:t>We have a Dataset with with 10.000 Data records, each record hast Phone Number and Name </a:t>
            </a:r>
          </a:p>
          <a:p>
            <a:pPr algn="ctr"/>
            <a:r>
              <a:rPr lang="en-US" sz="16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Sequential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10,000 entries would have to be checked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takes an estimated 10 seconds</a:t>
            </a:r>
          </a:p>
          <a:p>
            <a:pPr algn="ctr"/>
            <a:r>
              <a:rPr lang="en-US" sz="16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Hashtable</a:t>
            </a:r>
            <a:r>
              <a:rPr lang="en-US" sz="16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hash function that uses the last three digits of the phone number to determine the bucket number /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hash table has 1,000 buckets, which means that each bucket contains an average of 10 entries =&gt; reduces the search time to 0,1 seconds</a:t>
            </a: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381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0B86F-AAAA-B7D9-6AE4-C7253A4A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Secondary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 Storage (Disk)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3F0752-3900-EC1C-2813-26D1BD057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43076" y="2537918"/>
            <a:ext cx="4160520" cy="2097975"/>
          </a:xfrm>
        </p:spPr>
        <p:txBody>
          <a:bodyPr/>
          <a:lstStyle/>
          <a:p>
            <a:r>
              <a:rPr lang="de-DE" b="1" dirty="0"/>
              <a:t>Definition:</a:t>
            </a:r>
            <a:r>
              <a:rPr lang="de-DE" dirty="0"/>
              <a:t> </a:t>
            </a:r>
            <a:r>
              <a:rPr lang="de-DE" dirty="0" err="1"/>
              <a:t>Unlike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memory</a:t>
            </a:r>
            <a:r>
              <a:rPr lang="de-DE" dirty="0"/>
              <a:t> (RAM), </a:t>
            </a:r>
            <a:r>
              <a:rPr lang="de-DE" dirty="0" err="1"/>
              <a:t>secondary</a:t>
            </a:r>
            <a:r>
              <a:rPr lang="de-DE" dirty="0"/>
              <a:t> </a:t>
            </a:r>
            <a:r>
              <a:rPr lang="de-DE" dirty="0" err="1"/>
              <a:t>storage</a:t>
            </a:r>
            <a:r>
              <a:rPr lang="de-DE" dirty="0"/>
              <a:t> (e.g., </a:t>
            </a:r>
            <a:r>
              <a:rPr lang="de-DE" dirty="0" err="1"/>
              <a:t>hard</a:t>
            </a:r>
            <a:r>
              <a:rPr lang="de-DE" dirty="0"/>
              <a:t> </a:t>
            </a:r>
            <a:r>
              <a:rPr lang="de-DE" dirty="0" err="1"/>
              <a:t>disk</a:t>
            </a:r>
            <a:r>
              <a:rPr lang="de-DE" dirty="0"/>
              <a:t>)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slower</a:t>
            </a:r>
            <a:r>
              <a:rPr lang="de-DE" dirty="0"/>
              <a:t> but </a:t>
            </a:r>
            <a:r>
              <a:rPr lang="de-DE" dirty="0" err="1"/>
              <a:t>offers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storage</a:t>
            </a:r>
            <a:r>
              <a:rPr lang="de-DE" dirty="0"/>
              <a:t> </a:t>
            </a:r>
            <a:r>
              <a:rPr lang="de-DE" dirty="0" err="1"/>
              <a:t>capacity</a:t>
            </a:r>
            <a:r>
              <a:rPr lang="de-DE" dirty="0"/>
              <a:t>.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D43BF6-966B-E1D6-A3CA-DCBD0148C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2097975"/>
          </a:xfrm>
        </p:spPr>
        <p:txBody>
          <a:bodyPr/>
          <a:lstStyle/>
          <a:p>
            <a:r>
              <a:rPr lang="de-DE" b="1" dirty="0"/>
              <a:t>Time:</a:t>
            </a:r>
            <a:r>
              <a:rPr lang="de-DE" dirty="0"/>
              <a:t> </a:t>
            </a:r>
            <a:r>
              <a:rPr lang="de-DE" dirty="0" err="1"/>
              <a:t>Accessing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on </a:t>
            </a:r>
            <a:r>
              <a:rPr lang="de-DE" dirty="0" err="1"/>
              <a:t>disk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 </a:t>
            </a:r>
            <a:r>
              <a:rPr lang="de-DE" dirty="0" err="1"/>
              <a:t>slower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accessing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in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memory</a:t>
            </a:r>
            <a:r>
              <a:rPr lang="de-DE" dirty="0"/>
              <a:t>.</a:t>
            </a:r>
            <a:r>
              <a:rPr lang="de-DE" b="1" dirty="0"/>
              <a:t> </a:t>
            </a:r>
            <a:endParaRPr lang="de-DE" dirty="0"/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AB83C55C-1469-C8F0-7CC4-4DB29FA96DA7}"/>
              </a:ext>
            </a:extLst>
          </p:cNvPr>
          <p:cNvSpPr txBox="1">
            <a:spLocks/>
          </p:cNvSpPr>
          <p:nvPr/>
        </p:nvSpPr>
        <p:spPr>
          <a:xfrm>
            <a:off x="6530290" y="4692132"/>
            <a:ext cx="4160520" cy="1699897"/>
          </a:xfrm>
          <a:prstGeom prst="rect">
            <a:avLst/>
          </a:prstGeom>
        </p:spPr>
        <p:txBody>
          <a:bodyPr vert="horz" lIns="109728" tIns="109728" rIns="109728" bIns="9144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 err="1"/>
              <a:t>Optimization</a:t>
            </a:r>
            <a:r>
              <a:rPr lang="de-DE" b="1" dirty="0"/>
              <a:t>:</a:t>
            </a:r>
            <a:r>
              <a:rPr lang="de-DE" dirty="0"/>
              <a:t> Data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organized</a:t>
            </a:r>
            <a:r>
              <a:rPr lang="de-DE" dirty="0"/>
              <a:t> on </a:t>
            </a:r>
            <a:r>
              <a:rPr lang="de-DE" dirty="0" err="1"/>
              <a:t>cylinders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minimize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disk</a:t>
            </a:r>
            <a:r>
              <a:rPr lang="de-DE" dirty="0"/>
              <a:t> </a:t>
            </a:r>
            <a:r>
              <a:rPr lang="de-DE" dirty="0" err="1"/>
              <a:t>accesses</a:t>
            </a:r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5B6DCAC-69DB-F2D2-205B-32096C6A143A}"/>
              </a:ext>
            </a:extLst>
          </p:cNvPr>
          <p:cNvSpPr txBox="1">
            <a:spLocks/>
          </p:cNvSpPr>
          <p:nvPr/>
        </p:nvSpPr>
        <p:spPr>
          <a:xfrm>
            <a:off x="2043076" y="4754950"/>
            <a:ext cx="4160520" cy="2097975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Impact:</a:t>
            </a:r>
            <a:r>
              <a:rPr lang="de-DE" dirty="0"/>
              <a:t> Disk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greatly</a:t>
            </a:r>
            <a:r>
              <a:rPr lang="de-DE" dirty="0"/>
              <a:t> </a:t>
            </a:r>
            <a:r>
              <a:rPr lang="de-DE" dirty="0" err="1"/>
              <a:t>impact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time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996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411DA-5F15-4045-08F8-95694854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0" u="none" strike="noStrike" dirty="0">
                <a:solidFill>
                  <a:srgbClr val="000000"/>
                </a:solidFill>
                <a:effectLst/>
              </a:rPr>
              <a:t>Base '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e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' and Natural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Logarithms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B25F15-D4C6-806F-F945-F44754974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8770570" cy="990601"/>
          </a:xfrm>
        </p:spPr>
        <p:txBody>
          <a:bodyPr/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 '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' (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Euler's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number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)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is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base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natural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logarithm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E8EC75F-0F3D-F6F0-951D-EAD4D00283BC}"/>
              </a:ext>
            </a:extLst>
          </p:cNvPr>
          <p:cNvSpPr txBox="1"/>
          <p:nvPr/>
        </p:nvSpPr>
        <p:spPr>
          <a:xfrm>
            <a:off x="1920240" y="3710578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i="0" u="none" strike="noStrike" dirty="0" err="1">
                <a:solidFill>
                  <a:srgbClr val="000000"/>
                </a:solidFill>
                <a:effectLst/>
              </a:rPr>
              <a:t>Example</a:t>
            </a:r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 e^0.5 ≈ 1.64844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37F07CA-C1F1-C85C-7640-FCDB1D512A92}"/>
              </a:ext>
            </a:extLst>
          </p:cNvPr>
          <p:cNvSpPr txBox="1"/>
          <p:nvPr/>
        </p:nvSpPr>
        <p:spPr>
          <a:xfrm>
            <a:off x="1803449" y="5329676"/>
            <a:ext cx="8812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>
                <a:solidFill>
                  <a:srgbClr val="000000"/>
                </a:solidFill>
              </a:rPr>
              <a:t>Various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Applications</a:t>
            </a:r>
            <a:r>
              <a:rPr lang="de-DE" b="1" dirty="0">
                <a:solidFill>
                  <a:srgbClr val="000000"/>
                </a:solidFill>
              </a:rPr>
              <a:t> in </a:t>
            </a:r>
            <a:r>
              <a:rPr lang="de-DE" b="1" dirty="0" err="1">
                <a:solidFill>
                  <a:srgbClr val="000000"/>
                </a:solidFill>
              </a:rPr>
              <a:t>the</a:t>
            </a:r>
            <a:r>
              <a:rPr lang="de-DE" b="1" dirty="0">
                <a:solidFill>
                  <a:srgbClr val="000000"/>
                </a:solidFill>
              </a:rPr>
              <a:t> Data Mining Field: </a:t>
            </a:r>
            <a:r>
              <a:rPr lang="de-DE" dirty="0" err="1">
                <a:solidFill>
                  <a:srgbClr val="000000"/>
                </a:solidFill>
              </a:rPr>
              <a:t>Probability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distributions</a:t>
            </a:r>
            <a:r>
              <a:rPr lang="de-DE" dirty="0">
                <a:solidFill>
                  <a:srgbClr val="000000"/>
                </a:solidFill>
              </a:rPr>
              <a:t>, </a:t>
            </a:r>
            <a:r>
              <a:rPr lang="de-DE" dirty="0" err="1">
                <a:solidFill>
                  <a:srgbClr val="000000"/>
                </a:solidFill>
              </a:rPr>
              <a:t>Neural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networks</a:t>
            </a:r>
            <a:r>
              <a:rPr lang="de-DE" dirty="0">
                <a:solidFill>
                  <a:srgbClr val="000000"/>
                </a:solidFill>
              </a:rPr>
              <a:t>, </a:t>
            </a:r>
            <a:r>
              <a:rPr lang="de-DE" dirty="0" err="1">
                <a:solidFill>
                  <a:srgbClr val="000000"/>
                </a:solidFill>
              </a:rPr>
              <a:t>Decision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trees</a:t>
            </a:r>
            <a:r>
              <a:rPr lang="de-DE" dirty="0">
                <a:solidFill>
                  <a:srgbClr val="000000"/>
                </a:solidFill>
              </a:rPr>
              <a:t> and Clustering </a:t>
            </a:r>
            <a:r>
              <a:rPr lang="de-DE" dirty="0" err="1">
                <a:solidFill>
                  <a:srgbClr val="000000"/>
                </a:solidFill>
              </a:rPr>
              <a:t>algorithms</a:t>
            </a:r>
            <a:endParaRPr lang="de-DE" dirty="0"/>
          </a:p>
        </p:txBody>
      </p:sp>
      <p:pic>
        <p:nvPicPr>
          <p:cNvPr id="1028" name="Picture 4" descr="Graph of part of the natural logarithm function.">
            <a:extLst>
              <a:ext uri="{FF2B5EF4-FFF2-40B4-BE49-F238E27FC236}">
                <a16:creationId xmlns:a16="http://schemas.microsoft.com/office/drawing/2014/main" id="{F5887FC9-3EC3-CF0C-B897-68A70029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753" y="3037255"/>
            <a:ext cx="2227416" cy="221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630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FE1DA-0724-8169-622F-7D851952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Power Laws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F56F48-E387-C491-AC10-73A0F6A34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400"/>
            <a:ext cx="8770570" cy="1463750"/>
          </a:xfrm>
        </p:spPr>
        <p:txBody>
          <a:bodyPr>
            <a:norm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Describe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relationships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between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two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variables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where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logarithm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one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variable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is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linearly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related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logarithm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other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GB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F015E0-6E54-5036-C2BD-FA08D8C5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239" y="4189228"/>
            <a:ext cx="8770571" cy="1906772"/>
          </a:xfrm>
        </p:spPr>
        <p:txBody>
          <a:bodyPr>
            <a:norm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General Form: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y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= c *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x^a</a:t>
            </a:r>
            <a:br>
              <a:rPr lang="de-DE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2088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FE1DA-0724-8169-622F-7D851952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and Application of Power Laws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F56F48-E387-C491-AC10-73A0F6A34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400"/>
            <a:ext cx="7721301" cy="3013096"/>
          </a:xfrm>
        </p:spPr>
        <p:txBody>
          <a:bodyPr>
            <a:normAutofit fontScale="85000" lnSpcReduction="20000"/>
          </a:bodyPr>
          <a:lstStyle/>
          <a:p>
            <a:r>
              <a:rPr lang="de-DE" b="1" i="0" u="none" strike="noStrike" dirty="0" err="1">
                <a:solidFill>
                  <a:srgbClr val="000000"/>
                </a:solidFill>
                <a:effectLst/>
              </a:rPr>
              <a:t>Example</a:t>
            </a:r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 Book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sales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y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) in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relation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sales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rank (x)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can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 follow a power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</a:rPr>
              <a:t>law</a:t>
            </a:r>
            <a:r>
              <a:rPr lang="de-DE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Top-</a:t>
            </a:r>
            <a:r>
              <a:rPr lang="de-DE" dirty="0" err="1"/>
              <a:t>selling</a:t>
            </a:r>
            <a:r>
              <a:rPr lang="de-DE" dirty="0"/>
              <a:t> </a:t>
            </a:r>
            <a:r>
              <a:rPr lang="de-DE" dirty="0" err="1"/>
              <a:t>book</a:t>
            </a:r>
            <a:r>
              <a:rPr lang="de-DE" dirty="0"/>
              <a:t> (rank 1) </a:t>
            </a:r>
            <a:r>
              <a:rPr lang="de-DE" dirty="0" err="1"/>
              <a:t>sells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1,000,000 </a:t>
            </a:r>
            <a:r>
              <a:rPr lang="de-DE" dirty="0" err="1"/>
              <a:t>copies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10th best-</a:t>
            </a:r>
            <a:r>
              <a:rPr lang="de-DE" dirty="0" err="1"/>
              <a:t>selling</a:t>
            </a:r>
            <a:r>
              <a:rPr lang="de-DE" dirty="0"/>
              <a:t> </a:t>
            </a:r>
            <a:r>
              <a:rPr lang="de-DE" dirty="0" err="1"/>
              <a:t>book</a:t>
            </a:r>
            <a:r>
              <a:rPr lang="de-DE" dirty="0"/>
              <a:t> </a:t>
            </a:r>
            <a:r>
              <a:rPr lang="de-DE" dirty="0" err="1"/>
              <a:t>sells</a:t>
            </a:r>
            <a:r>
              <a:rPr lang="de-DE" dirty="0"/>
              <a:t> </a:t>
            </a:r>
            <a:r>
              <a:rPr lang="de-DE" dirty="0" err="1"/>
              <a:t>approximately</a:t>
            </a:r>
            <a:r>
              <a:rPr lang="de-DE" dirty="0"/>
              <a:t> 30,000 </a:t>
            </a:r>
            <a:r>
              <a:rPr lang="de-DE" dirty="0" err="1"/>
              <a:t>copies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100th best-</a:t>
            </a:r>
            <a:r>
              <a:rPr lang="de-DE" dirty="0" err="1"/>
              <a:t>selling</a:t>
            </a:r>
            <a:r>
              <a:rPr lang="de-DE" dirty="0"/>
              <a:t> </a:t>
            </a:r>
            <a:r>
              <a:rPr lang="de-DE" dirty="0" err="1"/>
              <a:t>book</a:t>
            </a:r>
            <a:r>
              <a:rPr lang="de-DE" dirty="0"/>
              <a:t> </a:t>
            </a:r>
            <a:r>
              <a:rPr lang="de-DE" dirty="0" err="1"/>
              <a:t>sells</a:t>
            </a:r>
            <a:r>
              <a:rPr lang="de-DE" dirty="0"/>
              <a:t> </a:t>
            </a:r>
            <a:r>
              <a:rPr lang="de-DE" dirty="0" err="1"/>
              <a:t>roughly</a:t>
            </a:r>
            <a:r>
              <a:rPr lang="de-DE" dirty="0"/>
              <a:t> 600 </a:t>
            </a:r>
            <a:r>
              <a:rPr lang="de-DE" dirty="0" err="1"/>
              <a:t>copies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As </a:t>
            </a:r>
            <a:r>
              <a:rPr lang="de-DE" dirty="0" err="1"/>
              <a:t>the</a:t>
            </a:r>
            <a:r>
              <a:rPr lang="de-DE" dirty="0"/>
              <a:t> rank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, 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sales</a:t>
            </a:r>
            <a:r>
              <a:rPr lang="de-DE" dirty="0"/>
              <a:t> </a:t>
            </a:r>
            <a:r>
              <a:rPr lang="de-DE" dirty="0" err="1"/>
              <a:t>drop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, </a:t>
            </a:r>
            <a:r>
              <a:rPr lang="de-DE" dirty="0" err="1"/>
              <a:t>showcasing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"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tail</a:t>
            </a:r>
            <a:r>
              <a:rPr lang="de-DE" dirty="0"/>
              <a:t>" </a:t>
            </a:r>
            <a:r>
              <a:rPr lang="de-DE" dirty="0" err="1"/>
              <a:t>phenomenon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a large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books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relatively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sales</a:t>
            </a:r>
            <a:r>
              <a:rPr lang="de-DE" dirty="0"/>
              <a:t>.</a:t>
            </a:r>
            <a:endParaRPr lang="en-GB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F015E0-6E54-5036-C2BD-FA08D8C5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239" y="5451496"/>
            <a:ext cx="8770571" cy="1906772"/>
          </a:xfrm>
        </p:spPr>
        <p:txBody>
          <a:bodyPr>
            <a:noAutofit/>
          </a:bodyPr>
          <a:lstStyle/>
          <a:p>
            <a:r>
              <a:rPr lang="de-DE" b="1" i="0" u="none" strike="noStrike" dirty="0" err="1">
                <a:solidFill>
                  <a:srgbClr val="000000"/>
                </a:solidFill>
                <a:effectLst/>
              </a:rPr>
              <a:t>Applications</a:t>
            </a:r>
            <a:r>
              <a:rPr lang="de-DE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Frequent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occurrence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Recognising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patterns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Prediction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modelling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 and 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Anomaly</a:t>
            </a:r>
            <a:r>
              <a:rPr lang="de-DE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i="0" u="none" strike="noStrike" dirty="0" err="1">
                <a:solidFill>
                  <a:srgbClr val="000000"/>
                </a:solidFill>
                <a:effectLst/>
              </a:rPr>
              <a:t>detection</a:t>
            </a:r>
            <a:br>
              <a:rPr lang="de-DE" dirty="0"/>
            </a:br>
            <a:endParaRPr lang="en-GB" dirty="0"/>
          </a:p>
        </p:txBody>
      </p:sp>
      <p:pic>
        <p:nvPicPr>
          <p:cNvPr id="6" name="Grafik 5" descr="Ein Bild, das Text, Screenshot, Schrift, Diagramm enthält.&#10;&#10;Automatisch generierte Beschreibung">
            <a:extLst>
              <a:ext uri="{FF2B5EF4-FFF2-40B4-BE49-F238E27FC236}">
                <a16:creationId xmlns:a16="http://schemas.microsoft.com/office/drawing/2014/main" id="{B371EDAA-4D41-0F68-BB01-F02209A1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254" y="3041762"/>
            <a:ext cx="2033899" cy="20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4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08D2E6-1F3D-4494-BDE3-23062BD1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listening! </a:t>
            </a:r>
          </a:p>
        </p:txBody>
      </p:sp>
    </p:spTree>
    <p:extLst>
      <p:ext uri="{BB962C8B-B14F-4D97-AF65-F5344CB8AC3E}">
        <p14:creationId xmlns:p14="http://schemas.microsoft.com/office/powerpoint/2010/main" val="408622467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Microsoft Macintosh PowerPoint</Application>
  <PresentationFormat>Breitbild</PresentationFormat>
  <Paragraphs>68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Meiryo</vt:lpstr>
      <vt:lpstr>Aptos</vt:lpstr>
      <vt:lpstr>Arial</vt:lpstr>
      <vt:lpstr>Corbel</vt:lpstr>
      <vt:lpstr>Times New Roman</vt:lpstr>
      <vt:lpstr>SketchLinesVTI</vt:lpstr>
      <vt:lpstr>Advanced Big Data Analysis Chapter 1.3  Things Useful to Know</vt:lpstr>
      <vt:lpstr>Topics in this chapter</vt:lpstr>
      <vt:lpstr>TF.IDF  (Term Frequency . Inverse Document Frequency)</vt:lpstr>
      <vt:lpstr>Example and Application of TF.IDF</vt:lpstr>
      <vt:lpstr>Hash Functions</vt:lpstr>
      <vt:lpstr>Example and Application of Hash Functions</vt:lpstr>
      <vt:lpstr>Indexes</vt:lpstr>
      <vt:lpstr>Implementation and Application of Indexes</vt:lpstr>
      <vt:lpstr>Example of Hash Functions and Indexes</vt:lpstr>
      <vt:lpstr>Secondary Storage (Disk)</vt:lpstr>
      <vt:lpstr>Base 'e' and Natural Logarithms</vt:lpstr>
      <vt:lpstr>Power Laws</vt:lpstr>
      <vt:lpstr>Example and Application of Power Laws</vt:lpstr>
      <vt:lpstr>Thanks for listening!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Mezger</dc:creator>
  <cp:lastModifiedBy>Niklas Mezger</cp:lastModifiedBy>
  <cp:revision>8</cp:revision>
  <dcterms:created xsi:type="dcterms:W3CDTF">2024-09-08T09:10:19Z</dcterms:created>
  <dcterms:modified xsi:type="dcterms:W3CDTF">2024-09-23T05:59:39Z</dcterms:modified>
</cp:coreProperties>
</file>