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56" r:id="rId4"/>
    <p:sldId id="258" r:id="rId5"/>
    <p:sldId id="259" r:id="rId6"/>
    <p:sldId id="274" r:id="rId7"/>
    <p:sldId id="260" r:id="rId8"/>
    <p:sldId id="268" r:id="rId9"/>
    <p:sldId id="263" r:id="rId10"/>
    <p:sldId id="261" r:id="rId11"/>
    <p:sldId id="272" r:id="rId12"/>
    <p:sldId id="264" r:id="rId13"/>
    <p:sldId id="273" r:id="rId14"/>
    <p:sldId id="265" r:id="rId15"/>
    <p:sldId id="270" r:id="rId16"/>
    <p:sldId id="271" r:id="rId17"/>
    <p:sldId id="266" r:id="rId18"/>
    <p:sldId id="269" r:id="rId1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4343"/>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44" autoAdjust="0"/>
  </p:normalViewPr>
  <p:slideViewPr>
    <p:cSldViewPr snapToGrid="0">
      <p:cViewPr varScale="1">
        <p:scale>
          <a:sx n="90" d="100"/>
          <a:sy n="90" d="100"/>
        </p:scale>
        <p:origin x="37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63F680-3381-0034-F19E-115B3813F63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ko-KR" altLang="en-US"/>
          </a:p>
        </p:txBody>
      </p:sp>
      <p:sp>
        <p:nvSpPr>
          <p:cNvPr id="3" name="副标题 2">
            <a:extLst>
              <a:ext uri="{FF2B5EF4-FFF2-40B4-BE49-F238E27FC236}">
                <a16:creationId xmlns:a16="http://schemas.microsoft.com/office/drawing/2014/main" id="{FF252071-894C-C836-86C7-B8D1EEE26A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ko-KR" altLang="en-US"/>
          </a:p>
        </p:txBody>
      </p:sp>
      <p:sp>
        <p:nvSpPr>
          <p:cNvPr id="4" name="日期占位符 3">
            <a:extLst>
              <a:ext uri="{FF2B5EF4-FFF2-40B4-BE49-F238E27FC236}">
                <a16:creationId xmlns:a16="http://schemas.microsoft.com/office/drawing/2014/main" id="{70583192-0556-C3E9-100A-7BCE228C51DE}"/>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5" name="页脚占位符 4">
            <a:extLst>
              <a:ext uri="{FF2B5EF4-FFF2-40B4-BE49-F238E27FC236}">
                <a16:creationId xmlns:a16="http://schemas.microsoft.com/office/drawing/2014/main" id="{53CC6A56-3E18-33D2-DBE4-6821917A7CC2}"/>
              </a:ext>
            </a:extLst>
          </p:cNvPr>
          <p:cNvSpPr>
            <a:spLocks noGrp="1"/>
          </p:cNvSpPr>
          <p:nvPr>
            <p:ph type="ftr" sz="quarter" idx="11"/>
          </p:nvPr>
        </p:nvSpPr>
        <p:spPr/>
        <p:txBody>
          <a:bodyPr/>
          <a:lstStyle/>
          <a:p>
            <a:endParaRPr lang="ko-KR" altLang="en-US"/>
          </a:p>
        </p:txBody>
      </p:sp>
      <p:sp>
        <p:nvSpPr>
          <p:cNvPr id="6" name="灯片编号占位符 5">
            <a:extLst>
              <a:ext uri="{FF2B5EF4-FFF2-40B4-BE49-F238E27FC236}">
                <a16:creationId xmlns:a16="http://schemas.microsoft.com/office/drawing/2014/main" id="{F0E3863A-92CC-0582-BF3F-2118A9C55881}"/>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668732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113F0F-1604-B142-663D-1D6484F04D33}"/>
              </a:ext>
            </a:extLst>
          </p:cNvPr>
          <p:cNvSpPr>
            <a:spLocks noGrp="1"/>
          </p:cNvSpPr>
          <p:nvPr>
            <p:ph type="title"/>
          </p:nvPr>
        </p:nvSpPr>
        <p:spPr/>
        <p:txBody>
          <a:bodyPr/>
          <a:lstStyle/>
          <a:p>
            <a:r>
              <a:rPr lang="zh-CN" altLang="en-US"/>
              <a:t>单击此处编辑母版标题样式</a:t>
            </a:r>
            <a:endParaRPr lang="ko-KR" altLang="en-US"/>
          </a:p>
        </p:txBody>
      </p:sp>
      <p:sp>
        <p:nvSpPr>
          <p:cNvPr id="3" name="内容占位符 2">
            <a:extLst>
              <a:ext uri="{FF2B5EF4-FFF2-40B4-BE49-F238E27FC236}">
                <a16:creationId xmlns:a16="http://schemas.microsoft.com/office/drawing/2014/main" id="{09F9DAC6-BDF2-747A-7BBD-6666D642C3E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4" name="日期占位符 3">
            <a:extLst>
              <a:ext uri="{FF2B5EF4-FFF2-40B4-BE49-F238E27FC236}">
                <a16:creationId xmlns:a16="http://schemas.microsoft.com/office/drawing/2014/main" id="{D986A109-F971-F7F7-6397-17D2B198C50F}"/>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5" name="页脚占位符 4">
            <a:extLst>
              <a:ext uri="{FF2B5EF4-FFF2-40B4-BE49-F238E27FC236}">
                <a16:creationId xmlns:a16="http://schemas.microsoft.com/office/drawing/2014/main" id="{C308440E-6B2B-D806-D093-FF3A09A62CC3}"/>
              </a:ext>
            </a:extLst>
          </p:cNvPr>
          <p:cNvSpPr>
            <a:spLocks noGrp="1"/>
          </p:cNvSpPr>
          <p:nvPr>
            <p:ph type="ftr" sz="quarter" idx="11"/>
          </p:nvPr>
        </p:nvSpPr>
        <p:spPr/>
        <p:txBody>
          <a:bodyPr/>
          <a:lstStyle/>
          <a:p>
            <a:endParaRPr lang="ko-KR" altLang="en-US"/>
          </a:p>
        </p:txBody>
      </p:sp>
      <p:sp>
        <p:nvSpPr>
          <p:cNvPr id="6" name="灯片编号占位符 5">
            <a:extLst>
              <a:ext uri="{FF2B5EF4-FFF2-40B4-BE49-F238E27FC236}">
                <a16:creationId xmlns:a16="http://schemas.microsoft.com/office/drawing/2014/main" id="{03E92766-CCB8-B293-1E19-B17E727CEDC6}"/>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2786804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7FCD4-12EE-DFDC-075D-F8933A72CB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ko-KR" altLang="en-US"/>
          </a:p>
        </p:txBody>
      </p:sp>
      <p:sp>
        <p:nvSpPr>
          <p:cNvPr id="3" name="文本占位符 2">
            <a:extLst>
              <a:ext uri="{FF2B5EF4-FFF2-40B4-BE49-F238E27FC236}">
                <a16:creationId xmlns:a16="http://schemas.microsoft.com/office/drawing/2014/main" id="{67B8AC70-F231-6838-E281-7D74848BA2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7169919-ED79-CC64-426A-A45CFE62EB27}"/>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5" name="页脚占位符 4">
            <a:extLst>
              <a:ext uri="{FF2B5EF4-FFF2-40B4-BE49-F238E27FC236}">
                <a16:creationId xmlns:a16="http://schemas.microsoft.com/office/drawing/2014/main" id="{3162CB4E-93DF-FF12-2E9C-A3A69BFE59BC}"/>
              </a:ext>
            </a:extLst>
          </p:cNvPr>
          <p:cNvSpPr>
            <a:spLocks noGrp="1"/>
          </p:cNvSpPr>
          <p:nvPr>
            <p:ph type="ftr" sz="quarter" idx="11"/>
          </p:nvPr>
        </p:nvSpPr>
        <p:spPr/>
        <p:txBody>
          <a:bodyPr/>
          <a:lstStyle/>
          <a:p>
            <a:endParaRPr lang="ko-KR" altLang="en-US"/>
          </a:p>
        </p:txBody>
      </p:sp>
      <p:sp>
        <p:nvSpPr>
          <p:cNvPr id="6" name="灯片编号占位符 5">
            <a:extLst>
              <a:ext uri="{FF2B5EF4-FFF2-40B4-BE49-F238E27FC236}">
                <a16:creationId xmlns:a16="http://schemas.microsoft.com/office/drawing/2014/main" id="{1E109F6B-51E0-37FC-8A66-1B492B4B0CCB}"/>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3490231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B4B79D-FDC4-5C5D-8184-31C664595A53}"/>
              </a:ext>
            </a:extLst>
          </p:cNvPr>
          <p:cNvSpPr>
            <a:spLocks noGrp="1"/>
          </p:cNvSpPr>
          <p:nvPr>
            <p:ph type="title"/>
          </p:nvPr>
        </p:nvSpPr>
        <p:spPr/>
        <p:txBody>
          <a:bodyPr/>
          <a:lstStyle/>
          <a:p>
            <a:r>
              <a:rPr lang="zh-CN" altLang="en-US"/>
              <a:t>单击此处编辑母版标题样式</a:t>
            </a:r>
            <a:endParaRPr lang="ko-KR" altLang="en-US"/>
          </a:p>
        </p:txBody>
      </p:sp>
      <p:sp>
        <p:nvSpPr>
          <p:cNvPr id="3" name="内容占位符 2">
            <a:extLst>
              <a:ext uri="{FF2B5EF4-FFF2-40B4-BE49-F238E27FC236}">
                <a16:creationId xmlns:a16="http://schemas.microsoft.com/office/drawing/2014/main" id="{EAF0141E-7A27-B002-60ED-41BC46EF4EF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4" name="内容占位符 3">
            <a:extLst>
              <a:ext uri="{FF2B5EF4-FFF2-40B4-BE49-F238E27FC236}">
                <a16:creationId xmlns:a16="http://schemas.microsoft.com/office/drawing/2014/main" id="{012C3A80-AAEC-9656-F8E6-B5EA2BA00D9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5" name="日期占位符 4">
            <a:extLst>
              <a:ext uri="{FF2B5EF4-FFF2-40B4-BE49-F238E27FC236}">
                <a16:creationId xmlns:a16="http://schemas.microsoft.com/office/drawing/2014/main" id="{BEE4ABBF-9CDA-7CC0-2406-7A8A3979313F}"/>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6" name="页脚占位符 5">
            <a:extLst>
              <a:ext uri="{FF2B5EF4-FFF2-40B4-BE49-F238E27FC236}">
                <a16:creationId xmlns:a16="http://schemas.microsoft.com/office/drawing/2014/main" id="{6D6D382A-FFD4-FDFF-4BC2-3CA26B9F877E}"/>
              </a:ext>
            </a:extLst>
          </p:cNvPr>
          <p:cNvSpPr>
            <a:spLocks noGrp="1"/>
          </p:cNvSpPr>
          <p:nvPr>
            <p:ph type="ftr" sz="quarter" idx="11"/>
          </p:nvPr>
        </p:nvSpPr>
        <p:spPr/>
        <p:txBody>
          <a:bodyPr/>
          <a:lstStyle/>
          <a:p>
            <a:endParaRPr lang="ko-KR" altLang="en-US"/>
          </a:p>
        </p:txBody>
      </p:sp>
      <p:sp>
        <p:nvSpPr>
          <p:cNvPr id="7" name="灯片编号占位符 6">
            <a:extLst>
              <a:ext uri="{FF2B5EF4-FFF2-40B4-BE49-F238E27FC236}">
                <a16:creationId xmlns:a16="http://schemas.microsoft.com/office/drawing/2014/main" id="{A3600A3A-3134-5733-0DA5-22157DC064EE}"/>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3432870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FA027A-20B0-4CC3-1757-BCC372CB9984}"/>
              </a:ext>
            </a:extLst>
          </p:cNvPr>
          <p:cNvSpPr>
            <a:spLocks noGrp="1"/>
          </p:cNvSpPr>
          <p:nvPr>
            <p:ph type="title"/>
          </p:nvPr>
        </p:nvSpPr>
        <p:spPr>
          <a:xfrm>
            <a:off x="839788" y="365125"/>
            <a:ext cx="10515600" cy="1325563"/>
          </a:xfrm>
        </p:spPr>
        <p:txBody>
          <a:bodyPr/>
          <a:lstStyle/>
          <a:p>
            <a:r>
              <a:rPr lang="zh-CN" altLang="en-US"/>
              <a:t>单击此处编辑母版标题样式</a:t>
            </a:r>
            <a:endParaRPr lang="ko-KR" altLang="en-US"/>
          </a:p>
        </p:txBody>
      </p:sp>
      <p:sp>
        <p:nvSpPr>
          <p:cNvPr id="3" name="文本占位符 2">
            <a:extLst>
              <a:ext uri="{FF2B5EF4-FFF2-40B4-BE49-F238E27FC236}">
                <a16:creationId xmlns:a16="http://schemas.microsoft.com/office/drawing/2014/main" id="{E82C7230-0F7F-6924-6F54-057EF1015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4D17F0B-6500-9EB7-9DEC-0A304E87D01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5" name="文本占位符 4">
            <a:extLst>
              <a:ext uri="{FF2B5EF4-FFF2-40B4-BE49-F238E27FC236}">
                <a16:creationId xmlns:a16="http://schemas.microsoft.com/office/drawing/2014/main" id="{0FD07263-B5A5-3B12-6282-7C015C08B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8767650-AC6C-69C9-DE03-4A0768549BF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7" name="日期占位符 6">
            <a:extLst>
              <a:ext uri="{FF2B5EF4-FFF2-40B4-BE49-F238E27FC236}">
                <a16:creationId xmlns:a16="http://schemas.microsoft.com/office/drawing/2014/main" id="{55EDB77B-EA6A-8BF2-FF0E-B35BD6825B68}"/>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8" name="页脚占位符 7">
            <a:extLst>
              <a:ext uri="{FF2B5EF4-FFF2-40B4-BE49-F238E27FC236}">
                <a16:creationId xmlns:a16="http://schemas.microsoft.com/office/drawing/2014/main" id="{805E668D-D544-C6C7-3C45-B6B8750B5A77}"/>
              </a:ext>
            </a:extLst>
          </p:cNvPr>
          <p:cNvSpPr>
            <a:spLocks noGrp="1"/>
          </p:cNvSpPr>
          <p:nvPr>
            <p:ph type="ftr" sz="quarter" idx="11"/>
          </p:nvPr>
        </p:nvSpPr>
        <p:spPr/>
        <p:txBody>
          <a:bodyPr/>
          <a:lstStyle/>
          <a:p>
            <a:endParaRPr lang="ko-KR" altLang="en-US"/>
          </a:p>
        </p:txBody>
      </p:sp>
      <p:sp>
        <p:nvSpPr>
          <p:cNvPr id="9" name="灯片编号占位符 8">
            <a:extLst>
              <a:ext uri="{FF2B5EF4-FFF2-40B4-BE49-F238E27FC236}">
                <a16:creationId xmlns:a16="http://schemas.microsoft.com/office/drawing/2014/main" id="{484E9F1F-579E-0DFF-2FB8-BAFA851889D1}"/>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1797984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8A6667-E152-5FE5-F44D-ADFC99CC440A}"/>
              </a:ext>
            </a:extLst>
          </p:cNvPr>
          <p:cNvSpPr>
            <a:spLocks noGrp="1"/>
          </p:cNvSpPr>
          <p:nvPr>
            <p:ph type="title"/>
          </p:nvPr>
        </p:nvSpPr>
        <p:spPr/>
        <p:txBody>
          <a:bodyPr/>
          <a:lstStyle/>
          <a:p>
            <a:r>
              <a:rPr lang="zh-CN" altLang="en-US"/>
              <a:t>单击此处编辑母版标题样式</a:t>
            </a:r>
            <a:endParaRPr lang="ko-KR" altLang="en-US"/>
          </a:p>
        </p:txBody>
      </p:sp>
      <p:sp>
        <p:nvSpPr>
          <p:cNvPr id="3" name="日期占位符 2">
            <a:extLst>
              <a:ext uri="{FF2B5EF4-FFF2-40B4-BE49-F238E27FC236}">
                <a16:creationId xmlns:a16="http://schemas.microsoft.com/office/drawing/2014/main" id="{D6AB3C67-63F4-4797-EB96-6BD91D9C4DD9}"/>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4" name="页脚占位符 3">
            <a:extLst>
              <a:ext uri="{FF2B5EF4-FFF2-40B4-BE49-F238E27FC236}">
                <a16:creationId xmlns:a16="http://schemas.microsoft.com/office/drawing/2014/main" id="{35E4AEE8-10D0-B0C3-D376-1D72610A8036}"/>
              </a:ext>
            </a:extLst>
          </p:cNvPr>
          <p:cNvSpPr>
            <a:spLocks noGrp="1"/>
          </p:cNvSpPr>
          <p:nvPr>
            <p:ph type="ftr" sz="quarter" idx="11"/>
          </p:nvPr>
        </p:nvSpPr>
        <p:spPr/>
        <p:txBody>
          <a:bodyPr/>
          <a:lstStyle/>
          <a:p>
            <a:endParaRPr lang="ko-KR" altLang="en-US"/>
          </a:p>
        </p:txBody>
      </p:sp>
      <p:sp>
        <p:nvSpPr>
          <p:cNvPr id="5" name="灯片编号占位符 4">
            <a:extLst>
              <a:ext uri="{FF2B5EF4-FFF2-40B4-BE49-F238E27FC236}">
                <a16:creationId xmlns:a16="http://schemas.microsoft.com/office/drawing/2014/main" id="{241AE950-A488-1B61-4DB8-45DD188A1F75}"/>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2376325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CE95B17-5EA0-4E35-666A-95219FEAA36A}"/>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3" name="页脚占位符 2">
            <a:extLst>
              <a:ext uri="{FF2B5EF4-FFF2-40B4-BE49-F238E27FC236}">
                <a16:creationId xmlns:a16="http://schemas.microsoft.com/office/drawing/2014/main" id="{FDA39596-209B-D622-22B1-0F1D8BD83C69}"/>
              </a:ext>
            </a:extLst>
          </p:cNvPr>
          <p:cNvSpPr>
            <a:spLocks noGrp="1"/>
          </p:cNvSpPr>
          <p:nvPr>
            <p:ph type="ftr" sz="quarter" idx="11"/>
          </p:nvPr>
        </p:nvSpPr>
        <p:spPr/>
        <p:txBody>
          <a:bodyPr/>
          <a:lstStyle/>
          <a:p>
            <a:endParaRPr lang="ko-KR" altLang="en-US"/>
          </a:p>
        </p:txBody>
      </p:sp>
      <p:sp>
        <p:nvSpPr>
          <p:cNvPr id="4" name="灯片编号占位符 3">
            <a:extLst>
              <a:ext uri="{FF2B5EF4-FFF2-40B4-BE49-F238E27FC236}">
                <a16:creationId xmlns:a16="http://schemas.microsoft.com/office/drawing/2014/main" id="{5AC7C695-4434-F22A-6C80-46C0AFB37435}"/>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3085654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1ABB21-C8DF-A1C4-ED39-4D8E86FA7BE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ko-KR" altLang="en-US"/>
          </a:p>
        </p:txBody>
      </p:sp>
      <p:sp>
        <p:nvSpPr>
          <p:cNvPr id="3" name="内容占位符 2">
            <a:extLst>
              <a:ext uri="{FF2B5EF4-FFF2-40B4-BE49-F238E27FC236}">
                <a16:creationId xmlns:a16="http://schemas.microsoft.com/office/drawing/2014/main" id="{F44112E9-02C1-9BC8-5498-11EED5FF27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4" name="文本占位符 3">
            <a:extLst>
              <a:ext uri="{FF2B5EF4-FFF2-40B4-BE49-F238E27FC236}">
                <a16:creationId xmlns:a16="http://schemas.microsoft.com/office/drawing/2014/main" id="{0931716F-2801-3EAB-0B6C-5B3A2E5B62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FC9B262-C221-D7A4-9AE3-E2C670041563}"/>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6" name="页脚占位符 5">
            <a:extLst>
              <a:ext uri="{FF2B5EF4-FFF2-40B4-BE49-F238E27FC236}">
                <a16:creationId xmlns:a16="http://schemas.microsoft.com/office/drawing/2014/main" id="{8B665D83-B893-2A61-B652-5173DBD0409A}"/>
              </a:ext>
            </a:extLst>
          </p:cNvPr>
          <p:cNvSpPr>
            <a:spLocks noGrp="1"/>
          </p:cNvSpPr>
          <p:nvPr>
            <p:ph type="ftr" sz="quarter" idx="11"/>
          </p:nvPr>
        </p:nvSpPr>
        <p:spPr/>
        <p:txBody>
          <a:bodyPr/>
          <a:lstStyle/>
          <a:p>
            <a:endParaRPr lang="ko-KR" altLang="en-US"/>
          </a:p>
        </p:txBody>
      </p:sp>
      <p:sp>
        <p:nvSpPr>
          <p:cNvPr id="7" name="灯片编号占位符 6">
            <a:extLst>
              <a:ext uri="{FF2B5EF4-FFF2-40B4-BE49-F238E27FC236}">
                <a16:creationId xmlns:a16="http://schemas.microsoft.com/office/drawing/2014/main" id="{3E77DCF1-20FD-4278-9344-F12DEE1DD03D}"/>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2459110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545FD-5B55-84FE-04B5-9EDC0B46A4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ko-KR" altLang="en-US"/>
          </a:p>
        </p:txBody>
      </p:sp>
      <p:sp>
        <p:nvSpPr>
          <p:cNvPr id="3" name="图片占位符 2">
            <a:extLst>
              <a:ext uri="{FF2B5EF4-FFF2-40B4-BE49-F238E27FC236}">
                <a16:creationId xmlns:a16="http://schemas.microsoft.com/office/drawing/2014/main" id="{6017F69F-8EF6-AF07-4BEB-EA7894594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文本占位符 3">
            <a:extLst>
              <a:ext uri="{FF2B5EF4-FFF2-40B4-BE49-F238E27FC236}">
                <a16:creationId xmlns:a16="http://schemas.microsoft.com/office/drawing/2014/main" id="{FA139682-0FCB-F50D-8852-78A6BAB40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C0B774A-ACEB-4128-D638-A1F4605BE5DD}"/>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6" name="页脚占位符 5">
            <a:extLst>
              <a:ext uri="{FF2B5EF4-FFF2-40B4-BE49-F238E27FC236}">
                <a16:creationId xmlns:a16="http://schemas.microsoft.com/office/drawing/2014/main" id="{FB80F6F0-9E74-A253-E392-7DDEEAD3534B}"/>
              </a:ext>
            </a:extLst>
          </p:cNvPr>
          <p:cNvSpPr>
            <a:spLocks noGrp="1"/>
          </p:cNvSpPr>
          <p:nvPr>
            <p:ph type="ftr" sz="quarter" idx="11"/>
          </p:nvPr>
        </p:nvSpPr>
        <p:spPr/>
        <p:txBody>
          <a:bodyPr/>
          <a:lstStyle/>
          <a:p>
            <a:endParaRPr lang="ko-KR" altLang="en-US"/>
          </a:p>
        </p:txBody>
      </p:sp>
      <p:sp>
        <p:nvSpPr>
          <p:cNvPr id="7" name="灯片编号占位符 6">
            <a:extLst>
              <a:ext uri="{FF2B5EF4-FFF2-40B4-BE49-F238E27FC236}">
                <a16:creationId xmlns:a16="http://schemas.microsoft.com/office/drawing/2014/main" id="{BD1B2883-CD4A-772A-0092-ECDB34C80F78}"/>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1870132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FB718A-A050-CA92-C86D-10D859BC6C57}"/>
              </a:ext>
            </a:extLst>
          </p:cNvPr>
          <p:cNvSpPr>
            <a:spLocks noGrp="1"/>
          </p:cNvSpPr>
          <p:nvPr>
            <p:ph type="title"/>
          </p:nvPr>
        </p:nvSpPr>
        <p:spPr/>
        <p:txBody>
          <a:bodyPr/>
          <a:lstStyle/>
          <a:p>
            <a:r>
              <a:rPr lang="zh-CN" altLang="en-US"/>
              <a:t>单击此处编辑母版标题样式</a:t>
            </a:r>
            <a:endParaRPr lang="ko-KR" altLang="en-US"/>
          </a:p>
        </p:txBody>
      </p:sp>
      <p:sp>
        <p:nvSpPr>
          <p:cNvPr id="3" name="竖排文字占位符 2">
            <a:extLst>
              <a:ext uri="{FF2B5EF4-FFF2-40B4-BE49-F238E27FC236}">
                <a16:creationId xmlns:a16="http://schemas.microsoft.com/office/drawing/2014/main" id="{F517638F-EC57-50E3-79FC-80275676572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4" name="日期占位符 3">
            <a:extLst>
              <a:ext uri="{FF2B5EF4-FFF2-40B4-BE49-F238E27FC236}">
                <a16:creationId xmlns:a16="http://schemas.microsoft.com/office/drawing/2014/main" id="{4A3F1C8F-D918-7B66-3486-D1B32E560A66}"/>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5" name="页脚占位符 4">
            <a:extLst>
              <a:ext uri="{FF2B5EF4-FFF2-40B4-BE49-F238E27FC236}">
                <a16:creationId xmlns:a16="http://schemas.microsoft.com/office/drawing/2014/main" id="{A8F8A2D3-1AF6-31FF-FCD7-B32D5B433FFE}"/>
              </a:ext>
            </a:extLst>
          </p:cNvPr>
          <p:cNvSpPr>
            <a:spLocks noGrp="1"/>
          </p:cNvSpPr>
          <p:nvPr>
            <p:ph type="ftr" sz="quarter" idx="11"/>
          </p:nvPr>
        </p:nvSpPr>
        <p:spPr/>
        <p:txBody>
          <a:bodyPr/>
          <a:lstStyle/>
          <a:p>
            <a:endParaRPr lang="ko-KR" altLang="en-US"/>
          </a:p>
        </p:txBody>
      </p:sp>
      <p:sp>
        <p:nvSpPr>
          <p:cNvPr id="6" name="灯片编号占位符 5">
            <a:extLst>
              <a:ext uri="{FF2B5EF4-FFF2-40B4-BE49-F238E27FC236}">
                <a16:creationId xmlns:a16="http://schemas.microsoft.com/office/drawing/2014/main" id="{8CF1E792-22B0-3325-36CB-18F383C06A43}"/>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3646779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0F3F0B3-45A9-2F07-C060-62133BFDC76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ko-KR" altLang="en-US"/>
          </a:p>
        </p:txBody>
      </p:sp>
      <p:sp>
        <p:nvSpPr>
          <p:cNvPr id="3" name="竖排文字占位符 2">
            <a:extLst>
              <a:ext uri="{FF2B5EF4-FFF2-40B4-BE49-F238E27FC236}">
                <a16:creationId xmlns:a16="http://schemas.microsoft.com/office/drawing/2014/main" id="{DB25220B-09DB-6331-62EC-4E2FA1EC5B6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4" name="日期占位符 3">
            <a:extLst>
              <a:ext uri="{FF2B5EF4-FFF2-40B4-BE49-F238E27FC236}">
                <a16:creationId xmlns:a16="http://schemas.microsoft.com/office/drawing/2014/main" id="{F2AE23A7-2D68-A446-8794-602200BC311A}"/>
              </a:ext>
            </a:extLst>
          </p:cNvPr>
          <p:cNvSpPr>
            <a:spLocks noGrp="1"/>
          </p:cNvSpPr>
          <p:nvPr>
            <p:ph type="dt" sz="half" idx="10"/>
          </p:nvPr>
        </p:nvSpPr>
        <p:spPr/>
        <p:txBody>
          <a:bodyPr/>
          <a:lstStyle/>
          <a:p>
            <a:fld id="{D147D389-FADB-42CB-A0F4-9C92B3071EC1}" type="datetimeFigureOut">
              <a:rPr lang="ko-KR" altLang="en-US" smtClean="0"/>
              <a:t>2024-12-09</a:t>
            </a:fld>
            <a:endParaRPr lang="ko-KR" altLang="en-US"/>
          </a:p>
        </p:txBody>
      </p:sp>
      <p:sp>
        <p:nvSpPr>
          <p:cNvPr id="5" name="页脚占位符 4">
            <a:extLst>
              <a:ext uri="{FF2B5EF4-FFF2-40B4-BE49-F238E27FC236}">
                <a16:creationId xmlns:a16="http://schemas.microsoft.com/office/drawing/2014/main" id="{D4F138AA-43ED-1A62-B48F-6D7EE9AB7AAE}"/>
              </a:ext>
            </a:extLst>
          </p:cNvPr>
          <p:cNvSpPr>
            <a:spLocks noGrp="1"/>
          </p:cNvSpPr>
          <p:nvPr>
            <p:ph type="ftr" sz="quarter" idx="11"/>
          </p:nvPr>
        </p:nvSpPr>
        <p:spPr/>
        <p:txBody>
          <a:bodyPr/>
          <a:lstStyle/>
          <a:p>
            <a:endParaRPr lang="ko-KR" altLang="en-US"/>
          </a:p>
        </p:txBody>
      </p:sp>
      <p:sp>
        <p:nvSpPr>
          <p:cNvPr id="6" name="灯片编号占位符 5">
            <a:extLst>
              <a:ext uri="{FF2B5EF4-FFF2-40B4-BE49-F238E27FC236}">
                <a16:creationId xmlns:a16="http://schemas.microsoft.com/office/drawing/2014/main" id="{E3BA5ABC-C2F2-7148-33FD-7A076E74123D}"/>
              </a:ext>
            </a:extLst>
          </p:cNvPr>
          <p:cNvSpPr>
            <a:spLocks noGrp="1"/>
          </p:cNvSpPr>
          <p:nvPr>
            <p:ph type="sldNum" sz="quarter" idx="12"/>
          </p:nvPr>
        </p:nvSpPr>
        <p:spPr/>
        <p:txBody>
          <a:body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1886684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BF40C4F-FA55-07A2-920D-3ECC188D6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ko-KR" altLang="en-US"/>
          </a:p>
        </p:txBody>
      </p:sp>
      <p:sp>
        <p:nvSpPr>
          <p:cNvPr id="3" name="文本占位符 2">
            <a:extLst>
              <a:ext uri="{FF2B5EF4-FFF2-40B4-BE49-F238E27FC236}">
                <a16:creationId xmlns:a16="http://schemas.microsoft.com/office/drawing/2014/main" id="{6FB4B00A-DD36-FD89-D613-47CEFEFF18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ko-KR" altLang="en-US"/>
          </a:p>
        </p:txBody>
      </p:sp>
      <p:sp>
        <p:nvSpPr>
          <p:cNvPr id="4" name="日期占位符 3">
            <a:extLst>
              <a:ext uri="{FF2B5EF4-FFF2-40B4-BE49-F238E27FC236}">
                <a16:creationId xmlns:a16="http://schemas.microsoft.com/office/drawing/2014/main" id="{4DB647D6-7C33-9489-76C5-27CEC8FE45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47D389-FADB-42CB-A0F4-9C92B3071EC1}" type="datetimeFigureOut">
              <a:rPr lang="ko-KR" altLang="en-US" smtClean="0"/>
              <a:t>2024-12-09</a:t>
            </a:fld>
            <a:endParaRPr lang="ko-KR" altLang="en-US"/>
          </a:p>
        </p:txBody>
      </p:sp>
      <p:sp>
        <p:nvSpPr>
          <p:cNvPr id="5" name="页脚占位符 4">
            <a:extLst>
              <a:ext uri="{FF2B5EF4-FFF2-40B4-BE49-F238E27FC236}">
                <a16:creationId xmlns:a16="http://schemas.microsoft.com/office/drawing/2014/main" id="{79F25E5C-41C6-559D-F73A-52321EBA1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灯片编号占位符 5">
            <a:extLst>
              <a:ext uri="{FF2B5EF4-FFF2-40B4-BE49-F238E27FC236}">
                <a16:creationId xmlns:a16="http://schemas.microsoft.com/office/drawing/2014/main" id="{0F5A0243-40F7-DF99-5A82-603FB00FA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D4B857-9316-42F4-8E2C-C378BBA7BE92}" type="slidenum">
              <a:rPr lang="ko-KR" altLang="en-US" smtClean="0"/>
              <a:t>‹#›</a:t>
            </a:fld>
            <a:endParaRPr lang="ko-KR" altLang="en-US"/>
          </a:p>
        </p:txBody>
      </p:sp>
    </p:spTree>
    <p:extLst>
      <p:ext uri="{BB962C8B-B14F-4D97-AF65-F5344CB8AC3E}">
        <p14:creationId xmlns:p14="http://schemas.microsoft.com/office/powerpoint/2010/main" val="2754833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30A5072-0730-AC3B-D3B7-4279F5BFD2FF}"/>
              </a:ext>
            </a:extLst>
          </p:cNvPr>
          <p:cNvPicPr>
            <a:picLocks noChangeAspect="1"/>
          </p:cNvPicPr>
          <p:nvPr/>
        </p:nvPicPr>
        <p:blipFill>
          <a:blip r:embed="rId2"/>
          <a:srcRect t="2716" b="2593"/>
          <a:stretch/>
        </p:blipFill>
        <p:spPr>
          <a:xfrm>
            <a:off x="0" y="-1060"/>
            <a:ext cx="12192000" cy="6859059"/>
          </a:xfrm>
          <a:prstGeom prst="rect">
            <a:avLst/>
          </a:prstGeom>
        </p:spPr>
      </p:pic>
      <p:sp>
        <p:nvSpPr>
          <p:cNvPr id="6" name="Google Shape;150;p7">
            <a:extLst>
              <a:ext uri="{FF2B5EF4-FFF2-40B4-BE49-F238E27FC236}">
                <a16:creationId xmlns:a16="http://schemas.microsoft.com/office/drawing/2014/main" id="{59D6B696-5F6A-57BD-BCFF-4C2278B30B04}"/>
              </a:ext>
            </a:extLst>
          </p:cNvPr>
          <p:cNvSpPr txBox="1">
            <a:spLocks/>
          </p:cNvSpPr>
          <p:nvPr/>
        </p:nvSpPr>
        <p:spPr>
          <a:xfrm>
            <a:off x="415650" y="2325057"/>
            <a:ext cx="11360700" cy="1280501"/>
          </a:xfrm>
          <a:prstGeom prst="rect">
            <a:avLst/>
          </a:prstGeom>
        </p:spPr>
        <p:txBody>
          <a:bodyPr spcFirstLastPara="1" vert="horz" wrap="square" lIns="121900" tIns="121900" rIns="121900" bIns="121900" rtlCol="0" anchor="t" anchorCtr="0">
            <a:no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pPr>
              <a:lnSpc>
                <a:spcPct val="80000"/>
              </a:lnSpc>
              <a:spcBef>
                <a:spcPts val="0"/>
              </a:spcBef>
            </a:pPr>
            <a:r>
              <a:rPr lang="en-US" altLang="ko-KR" sz="4400" dirty="0">
                <a:latin typeface="Calibri" panose="020F0502020204030204" pitchFamily="34" charset="0"/>
                <a:ea typeface="Calibri" panose="020F0502020204030204" pitchFamily="34" charset="0"/>
                <a:cs typeface="Calibri" panose="020F0502020204030204" pitchFamily="34" charset="0"/>
              </a:rPr>
              <a:t>10.1 Social Networks as Graphs</a:t>
            </a:r>
            <a:br>
              <a:rPr lang="en-US" altLang="ko-KR" dirty="0">
                <a:latin typeface="Calibri" panose="020F0502020204030204" pitchFamily="34" charset="0"/>
                <a:ea typeface="Calibri" panose="020F0502020204030204" pitchFamily="34" charset="0"/>
                <a:cs typeface="Calibri" panose="020F0502020204030204" pitchFamily="34" charset="0"/>
              </a:rPr>
            </a:br>
            <a:r>
              <a:rPr lang="en-US" altLang="ko-KR" sz="4400" dirty="0">
                <a:latin typeface="Calibri" panose="020F0502020204030204" pitchFamily="34" charset="0"/>
                <a:ea typeface="Calibri" panose="020F0502020204030204" pitchFamily="34" charset="0"/>
                <a:cs typeface="Calibri" panose="020F0502020204030204" pitchFamily="34" charset="0"/>
              </a:rPr>
              <a:t>10.2 Clustering of Social-Network Graphs</a:t>
            </a:r>
            <a:endParaRPr lang="en-US" sz="4400" dirty="0">
              <a:solidFill>
                <a:schemeClr val="accent4"/>
              </a:solidFill>
              <a:latin typeface="Calibri" panose="020F0502020204030204" pitchFamily="34" charset="0"/>
              <a:ea typeface="Calibri" panose="020F0502020204030204" pitchFamily="34" charset="0"/>
              <a:cs typeface="Calibri" panose="020F0502020204030204" pitchFamily="34" charset="0"/>
            </a:endParaRPr>
          </a:p>
        </p:txBody>
      </p:sp>
      <p:sp>
        <p:nvSpPr>
          <p:cNvPr id="2" name="文本框 1">
            <a:extLst>
              <a:ext uri="{FF2B5EF4-FFF2-40B4-BE49-F238E27FC236}">
                <a16:creationId xmlns:a16="http://schemas.microsoft.com/office/drawing/2014/main" id="{F3356FC6-DFA9-FCEA-EB3A-80F84D3882C9}"/>
              </a:ext>
            </a:extLst>
          </p:cNvPr>
          <p:cNvSpPr txBox="1"/>
          <p:nvPr/>
        </p:nvSpPr>
        <p:spPr>
          <a:xfrm>
            <a:off x="4280958" y="4055534"/>
            <a:ext cx="3630083" cy="400110"/>
          </a:xfrm>
          <a:prstGeom prst="rect">
            <a:avLst/>
          </a:prstGeom>
          <a:noFill/>
        </p:spPr>
        <p:txBody>
          <a:bodyPr wrap="square" rtlCol="0">
            <a:spAutoFit/>
          </a:bodyPr>
          <a:lstStyle/>
          <a:p>
            <a:r>
              <a:rPr lang="en-US" altLang="ko-KR" sz="2000" dirty="0">
                <a:latin typeface="Calibri" panose="020F0502020204030204" pitchFamily="34" charset="0"/>
                <a:ea typeface="Calibri" panose="020F0502020204030204" pitchFamily="34" charset="0"/>
                <a:cs typeface="Calibri" panose="020F0502020204030204" pitchFamily="34" charset="0"/>
              </a:rPr>
              <a:t>ZHU MEIYAN / C</a:t>
            </a:r>
            <a:r>
              <a:rPr lang="en-US" altLang="zh-CN" sz="2000" dirty="0">
                <a:latin typeface="Calibri" panose="020F0502020204030204" pitchFamily="34" charset="0"/>
                <a:ea typeface="Calibri" panose="020F0502020204030204" pitchFamily="34" charset="0"/>
                <a:cs typeface="Calibri" panose="020F0502020204030204" pitchFamily="34" charset="0"/>
              </a:rPr>
              <a:t>lothing &amp; Textiles</a:t>
            </a:r>
            <a:endParaRPr lang="ko-KR" altLang="en-US" sz="2000" dirty="0">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D93E82B9-8C7B-6154-1C18-B1EB334240BE}"/>
              </a:ext>
            </a:extLst>
          </p:cNvPr>
          <p:cNvSpPr txBox="1"/>
          <p:nvPr/>
        </p:nvSpPr>
        <p:spPr>
          <a:xfrm>
            <a:off x="1126067" y="127001"/>
            <a:ext cx="2142066" cy="276999"/>
          </a:xfrm>
          <a:prstGeom prst="rect">
            <a:avLst/>
          </a:prstGeom>
          <a:noFill/>
        </p:spPr>
        <p:txBody>
          <a:bodyPr wrap="square" rtlCol="0">
            <a:spAutoFit/>
          </a:bodyPr>
          <a:lstStyle/>
          <a:p>
            <a:r>
              <a:rPr lang="en-US" altLang="ko-KR" sz="1200" dirty="0">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02029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CCE82E-5D3F-96C6-EDA8-6D4AEC326F32}"/>
              </a:ext>
            </a:extLst>
          </p:cNvPr>
          <p:cNvSpPr>
            <a:spLocks noGrp="1"/>
          </p:cNvSpPr>
          <p:nvPr>
            <p:ph type="title"/>
          </p:nvPr>
        </p:nvSpPr>
        <p:spPr>
          <a:xfrm>
            <a:off x="1062747" y="2766218"/>
            <a:ext cx="10066506" cy="1325563"/>
          </a:xfrm>
        </p:spPr>
        <p:txBody>
          <a:bodyPr>
            <a:normAutofit/>
          </a:bodyPr>
          <a:lstStyle/>
          <a:p>
            <a:r>
              <a:rPr lang="en-US" altLang="ko-KR" sz="6000" b="1" dirty="0">
                <a:solidFill>
                  <a:schemeClr val="bg1"/>
                </a:solidFill>
                <a:latin typeface="Calibri" panose="020F0502020204030204" pitchFamily="34" charset="0"/>
                <a:ea typeface="Calibri" panose="020F0502020204030204" pitchFamily="34" charset="0"/>
                <a:cs typeface="Calibri" panose="020F0502020204030204" pitchFamily="34" charset="0"/>
              </a:rPr>
              <a:t>10.1 Social Networks as Graphs</a:t>
            </a:r>
            <a:endParaRPr lang="ko-KR" altLang="en-US" sz="6000" b="1" dirty="0">
              <a:solidFill>
                <a:schemeClr val="bg1"/>
              </a:solidFill>
            </a:endParaRPr>
          </a:p>
        </p:txBody>
      </p:sp>
    </p:spTree>
    <p:extLst>
      <p:ext uri="{BB962C8B-B14F-4D97-AF65-F5344CB8AC3E}">
        <p14:creationId xmlns:p14="http://schemas.microsoft.com/office/powerpoint/2010/main" val="2636802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AAFEF0C-BAC4-A8DC-5F48-402B707DEBA7}"/>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9C8AE2E3-C65C-A98F-3345-E39D6898CA9F}"/>
              </a:ext>
            </a:extLst>
          </p:cNvPr>
          <p:cNvSpPr txBox="1"/>
          <p:nvPr/>
        </p:nvSpPr>
        <p:spPr>
          <a:xfrm>
            <a:off x="1083734" y="138441"/>
            <a:ext cx="2099733" cy="276999"/>
          </a:xfrm>
          <a:prstGeom prst="rect">
            <a:avLst/>
          </a:prstGeom>
          <a:noFill/>
        </p:spPr>
        <p:txBody>
          <a:bodyPr wrap="square" rtlCol="0">
            <a:spAutoFit/>
          </a:bodyPr>
          <a:lstStyle/>
          <a:p>
            <a:r>
              <a:rPr lang="en-US" altLang="ko-KR" sz="1200" dirty="0">
                <a:solidFill>
                  <a:schemeClr val="bg1"/>
                </a:solidFill>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solidFill>
                <a:schemeClr val="bg1"/>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3360DC17-E010-86BC-61D8-DE38B0965FD0}"/>
              </a:ext>
            </a:extLst>
          </p:cNvPr>
          <p:cNvSpPr txBox="1"/>
          <p:nvPr/>
        </p:nvSpPr>
        <p:spPr>
          <a:xfrm>
            <a:off x="3725333" y="138441"/>
            <a:ext cx="2142067" cy="276999"/>
          </a:xfrm>
          <a:prstGeom prst="rect">
            <a:avLst/>
          </a:prstGeom>
          <a:noFill/>
        </p:spPr>
        <p:txBody>
          <a:bodyPr wrap="square" rtlCol="0">
            <a:spAutoFit/>
          </a:bodyPr>
          <a:lstStyle/>
          <a:p>
            <a:r>
              <a:rPr lang="en-US" altLang="ko-KR" sz="1200" dirty="0">
                <a:latin typeface="Calibri" panose="020F0502020204030204" pitchFamily="34" charset="0"/>
                <a:ea typeface="Calibri" panose="020F0502020204030204" pitchFamily="34" charset="0"/>
                <a:cs typeface="Calibri" panose="020F0502020204030204" pitchFamily="34" charset="0"/>
              </a:rPr>
              <a:t>10.1 Social Networks as Graphs</a:t>
            </a:r>
            <a:endParaRPr lang="ko-KR" altLang="en-US" sz="1200" dirty="0">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BF276CAD-8C6D-B30F-B64A-9CA36B3ADBEC}"/>
              </a:ext>
            </a:extLst>
          </p:cNvPr>
          <p:cNvSpPr txBox="1"/>
          <p:nvPr/>
        </p:nvSpPr>
        <p:spPr>
          <a:xfrm>
            <a:off x="4171949" y="1501576"/>
            <a:ext cx="3390901" cy="461665"/>
          </a:xfrm>
          <a:prstGeom prst="rect">
            <a:avLst/>
          </a:prstGeom>
          <a:noFill/>
        </p:spPr>
        <p:txBody>
          <a:bodyPr wrap="square" rtlCol="0">
            <a:spAutoFit/>
          </a:bodyPr>
          <a:lstStyle/>
          <a:p>
            <a:r>
              <a:rPr lang="en-US" altLang="ko-KR" sz="2400" b="1" dirty="0">
                <a:latin typeface="Calibri" panose="020F0502020204030204" pitchFamily="34" charset="0"/>
                <a:ea typeface="Calibri" panose="020F0502020204030204" pitchFamily="34" charset="0"/>
                <a:cs typeface="Calibri" panose="020F0502020204030204" pitchFamily="34" charset="0"/>
              </a:rPr>
              <a:t>What is a Social Network?</a:t>
            </a:r>
          </a:p>
        </p:txBody>
      </p:sp>
      <p:sp>
        <p:nvSpPr>
          <p:cNvPr id="6" name="文本框 5">
            <a:extLst>
              <a:ext uri="{FF2B5EF4-FFF2-40B4-BE49-F238E27FC236}">
                <a16:creationId xmlns:a16="http://schemas.microsoft.com/office/drawing/2014/main" id="{9113F0BD-AC8C-A322-2E1E-663E278460B4}"/>
              </a:ext>
            </a:extLst>
          </p:cNvPr>
          <p:cNvSpPr txBox="1"/>
          <p:nvPr/>
        </p:nvSpPr>
        <p:spPr>
          <a:xfrm>
            <a:off x="933449" y="2622112"/>
            <a:ext cx="10325101" cy="2814617"/>
          </a:xfrm>
          <a:prstGeom prst="rect">
            <a:avLst/>
          </a:prstGeom>
          <a:noFill/>
        </p:spPr>
        <p:txBody>
          <a:bodyPr wrap="square" rtlCol="0">
            <a:spAutoFit/>
          </a:bodyPr>
          <a:lstStyle/>
          <a:p>
            <a:pPr>
              <a:lnSpc>
                <a:spcPct val="150000"/>
              </a:lnSpc>
            </a:pPr>
            <a:r>
              <a:rPr lang="en-US" altLang="ko-KR" sz="2000" dirty="0">
                <a:latin typeface="Calibri" panose="020F0502020204030204" pitchFamily="34" charset="0"/>
                <a:ea typeface="Calibri" panose="020F0502020204030204" pitchFamily="34" charset="0"/>
                <a:cs typeface="Calibri" panose="020F0502020204030204" pitchFamily="34" charset="0"/>
              </a:rPr>
              <a:t>A social network consists of:</a:t>
            </a:r>
          </a:p>
          <a:p>
            <a:pPr marL="457200" indent="-457200">
              <a:lnSpc>
                <a:spcPct val="150000"/>
              </a:lnSpc>
              <a:buFont typeface="+mj-ea"/>
              <a:buAutoNum type="circleNumDbPlain"/>
            </a:pPr>
            <a:r>
              <a:rPr lang="en-US" altLang="ko-KR" sz="2000" dirty="0">
                <a:solidFill>
                  <a:srgbClr val="00B050"/>
                </a:solidFill>
                <a:latin typeface="Calibri" panose="020F0502020204030204" pitchFamily="34" charset="0"/>
                <a:ea typeface="Calibri" panose="020F0502020204030204" pitchFamily="34" charset="0"/>
                <a:cs typeface="Calibri" panose="020F0502020204030204" pitchFamily="34" charset="0"/>
              </a:rPr>
              <a:t>Entities (nodes): </a:t>
            </a:r>
            <a:r>
              <a:rPr lang="en-US" altLang="ko-KR" sz="2000" dirty="0">
                <a:latin typeface="Calibri" panose="020F0502020204030204" pitchFamily="34" charset="0"/>
                <a:ea typeface="Calibri" panose="020F0502020204030204" pitchFamily="34" charset="0"/>
                <a:cs typeface="Calibri" panose="020F0502020204030204" pitchFamily="34" charset="0"/>
              </a:rPr>
              <a:t>typically individuals, but could include other entities like products or articles.</a:t>
            </a:r>
          </a:p>
          <a:p>
            <a:pPr marL="342900" indent="-342900">
              <a:lnSpc>
                <a:spcPct val="150000"/>
              </a:lnSpc>
              <a:buFont typeface="+mj-ea"/>
              <a:buAutoNum type="circleNumDbPlain"/>
            </a:pPr>
            <a:r>
              <a:rPr lang="en-US" altLang="ko-KR" sz="2000" dirty="0">
                <a:solidFill>
                  <a:srgbClr val="00B050"/>
                </a:solidFill>
                <a:latin typeface="Calibri" panose="020F0502020204030204" pitchFamily="34" charset="0"/>
                <a:ea typeface="Calibri" panose="020F0502020204030204" pitchFamily="34" charset="0"/>
                <a:cs typeface="Calibri" panose="020F0502020204030204" pitchFamily="34" charset="0"/>
              </a:rPr>
              <a:t>Relationships (edges): </a:t>
            </a:r>
            <a:r>
              <a:rPr lang="en-US" altLang="ko-KR" sz="2000" dirty="0">
                <a:latin typeface="Calibri" panose="020F0502020204030204" pitchFamily="34" charset="0"/>
                <a:ea typeface="Calibri" panose="020F0502020204030204" pitchFamily="34" charset="0"/>
                <a:cs typeface="Calibri" panose="020F0502020204030204" pitchFamily="34" charset="0"/>
              </a:rPr>
              <a:t>connections between entities, which might be binary (connected or not) or weighted (e.g., frequency of interaction)</a:t>
            </a:r>
          </a:p>
          <a:p>
            <a:pPr marL="342900" indent="-342900">
              <a:lnSpc>
                <a:spcPct val="150000"/>
              </a:lnSpc>
              <a:buFont typeface="+mj-ea"/>
              <a:buAutoNum type="circleNumDbPlain"/>
            </a:pPr>
            <a:r>
              <a:rPr lang="en-US" altLang="ko-KR" sz="2000" dirty="0">
                <a:solidFill>
                  <a:srgbClr val="00B050"/>
                </a:solidFill>
                <a:latin typeface="Calibri" panose="020F0502020204030204" pitchFamily="34" charset="0"/>
                <a:ea typeface="Calibri" panose="020F0502020204030204" pitchFamily="34" charset="0"/>
                <a:cs typeface="Calibri" panose="020F0502020204030204" pitchFamily="34" charset="0"/>
              </a:rPr>
              <a:t>Locality (non-randomness): </a:t>
            </a:r>
            <a:r>
              <a:rPr lang="en-US" altLang="ko-KR" sz="2000" dirty="0">
                <a:latin typeface="Calibri" panose="020F0502020204030204" pitchFamily="34" charset="0"/>
                <a:ea typeface="Calibri" panose="020F0502020204030204" pitchFamily="34" charset="0"/>
                <a:cs typeface="Calibri" panose="020F0502020204030204" pitchFamily="34" charset="0"/>
              </a:rPr>
              <a:t>relationships tend to cluster. If A is connected to both B and C, B and C are more likely to be connected.</a:t>
            </a:r>
            <a:endParaRPr lang="ko-KR" alt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6009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EE723-4052-585E-3C8A-209C3B580952}"/>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8A27DB7B-3573-7B74-3FBF-C920391A82A7}"/>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2306F676-840D-9B79-938E-EFE610AF5956}"/>
              </a:ext>
            </a:extLst>
          </p:cNvPr>
          <p:cNvSpPr txBox="1"/>
          <p:nvPr/>
        </p:nvSpPr>
        <p:spPr>
          <a:xfrm>
            <a:off x="1083734" y="138441"/>
            <a:ext cx="2099733" cy="276999"/>
          </a:xfrm>
          <a:prstGeom prst="rect">
            <a:avLst/>
          </a:prstGeom>
          <a:noFill/>
        </p:spPr>
        <p:txBody>
          <a:bodyPr wrap="square" rtlCol="0">
            <a:spAutoFit/>
          </a:bodyPr>
          <a:lstStyle/>
          <a:p>
            <a:r>
              <a:rPr lang="en-US" altLang="ko-KR" sz="1200" dirty="0">
                <a:solidFill>
                  <a:schemeClr val="bg1"/>
                </a:solidFill>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solidFill>
                <a:schemeClr val="bg1"/>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F5325B2C-3EE6-405D-0CC7-1D2497CA9919}"/>
              </a:ext>
            </a:extLst>
          </p:cNvPr>
          <p:cNvSpPr txBox="1"/>
          <p:nvPr/>
        </p:nvSpPr>
        <p:spPr>
          <a:xfrm>
            <a:off x="3725333" y="138441"/>
            <a:ext cx="2142067" cy="276999"/>
          </a:xfrm>
          <a:prstGeom prst="rect">
            <a:avLst/>
          </a:prstGeom>
          <a:noFill/>
        </p:spPr>
        <p:txBody>
          <a:bodyPr wrap="square" rtlCol="0">
            <a:spAutoFit/>
          </a:bodyPr>
          <a:lstStyle/>
          <a:p>
            <a:r>
              <a:rPr lang="en-US" altLang="ko-KR" sz="1200" dirty="0">
                <a:latin typeface="Calibri" panose="020F0502020204030204" pitchFamily="34" charset="0"/>
                <a:ea typeface="Calibri" panose="020F0502020204030204" pitchFamily="34" charset="0"/>
                <a:cs typeface="Calibri" panose="020F0502020204030204" pitchFamily="34" charset="0"/>
              </a:rPr>
              <a:t>10.1 Social Networks as Graphs</a:t>
            </a:r>
            <a:endParaRPr lang="ko-KR" altLang="en-US" sz="1200" dirty="0">
              <a:latin typeface="Calibri" panose="020F0502020204030204" pitchFamily="34" charset="0"/>
              <a:cs typeface="Calibri" panose="020F0502020204030204" pitchFamily="34" charset="0"/>
            </a:endParaRPr>
          </a:p>
        </p:txBody>
      </p:sp>
      <p:sp>
        <p:nvSpPr>
          <p:cNvPr id="7" name="文本框 6">
            <a:extLst>
              <a:ext uri="{FF2B5EF4-FFF2-40B4-BE49-F238E27FC236}">
                <a16:creationId xmlns:a16="http://schemas.microsoft.com/office/drawing/2014/main" id="{41CD9C71-09B1-F4FE-FEBB-387E3A872A7E}"/>
              </a:ext>
            </a:extLst>
          </p:cNvPr>
          <p:cNvSpPr txBox="1"/>
          <p:nvPr/>
        </p:nvSpPr>
        <p:spPr>
          <a:xfrm>
            <a:off x="4098921" y="1501575"/>
            <a:ext cx="3536953" cy="461665"/>
          </a:xfrm>
          <a:prstGeom prst="rect">
            <a:avLst/>
          </a:prstGeom>
          <a:noFill/>
        </p:spPr>
        <p:txBody>
          <a:bodyPr wrap="square" rtlCol="0">
            <a:spAutoFit/>
          </a:bodyPr>
          <a:lstStyle/>
          <a:p>
            <a:r>
              <a:rPr lang="en-US" altLang="ko-KR" sz="2400" b="1" dirty="0">
                <a:latin typeface="Calibri" panose="020F0502020204030204" pitchFamily="34" charset="0"/>
                <a:ea typeface="Calibri" panose="020F0502020204030204" pitchFamily="34" charset="0"/>
                <a:cs typeface="Calibri" panose="020F0502020204030204" pitchFamily="34" charset="0"/>
              </a:rPr>
              <a:t>Social Networks as Graphs</a:t>
            </a:r>
            <a:endParaRPr lang="ko-KR" altLang="en-US" sz="2400" b="1" dirty="0">
              <a:latin typeface="Calibri" panose="020F0502020204030204" pitchFamily="34" charset="0"/>
              <a:cs typeface="Calibri" panose="020F0502020204030204" pitchFamily="34" charset="0"/>
            </a:endParaRPr>
          </a:p>
        </p:txBody>
      </p:sp>
      <p:pic>
        <p:nvPicPr>
          <p:cNvPr id="47" name="图片 46">
            <a:extLst>
              <a:ext uri="{FF2B5EF4-FFF2-40B4-BE49-F238E27FC236}">
                <a16:creationId xmlns:a16="http://schemas.microsoft.com/office/drawing/2014/main" id="{7F5D8EFF-4FD4-BBC6-65A6-AB04F0148217}"/>
              </a:ext>
            </a:extLst>
          </p:cNvPr>
          <p:cNvPicPr>
            <a:picLocks noChangeAspect="1"/>
          </p:cNvPicPr>
          <p:nvPr/>
        </p:nvPicPr>
        <p:blipFill>
          <a:blip r:embed="rId3"/>
          <a:stretch>
            <a:fillRect/>
          </a:stretch>
        </p:blipFill>
        <p:spPr>
          <a:xfrm>
            <a:off x="569382" y="3483126"/>
            <a:ext cx="4084674" cy="2042337"/>
          </a:xfrm>
          <a:prstGeom prst="rect">
            <a:avLst/>
          </a:prstGeom>
        </p:spPr>
      </p:pic>
      <p:sp>
        <p:nvSpPr>
          <p:cNvPr id="48" name="文本框 47">
            <a:extLst>
              <a:ext uri="{FF2B5EF4-FFF2-40B4-BE49-F238E27FC236}">
                <a16:creationId xmlns:a16="http://schemas.microsoft.com/office/drawing/2014/main" id="{23280732-2876-ABAE-3384-9BBBDCC1B6A8}"/>
              </a:ext>
            </a:extLst>
          </p:cNvPr>
          <p:cNvSpPr txBox="1"/>
          <p:nvPr/>
        </p:nvSpPr>
        <p:spPr>
          <a:xfrm>
            <a:off x="569382" y="2261518"/>
            <a:ext cx="11053235" cy="923330"/>
          </a:xfrm>
          <a:prstGeom prst="rect">
            <a:avLst/>
          </a:prstGeom>
          <a:noFill/>
        </p:spPr>
        <p:txBody>
          <a:bodyPr wrap="square" rtlCol="0">
            <a:spAutoFit/>
          </a:bodyPr>
          <a:lstStyle/>
          <a:p>
            <a:r>
              <a:rPr lang="en-US" altLang="ko-KR" dirty="0">
                <a:latin typeface="Calibri" panose="020F0502020204030204" pitchFamily="34" charset="0"/>
                <a:cs typeface="Calibri" panose="020F0502020204030204" pitchFamily="34" charset="0"/>
              </a:rPr>
              <a:t>Social networks are often represented as graphs, called social graphs, where nodes represent entities and edges represent relationships. If the relationships have degrees, they are labeled on the edges. Social graphs are typically undirected, like Facebook’s friends graph, but they can also be directed, such as Twitter or Google+ follower graphs.</a:t>
            </a:r>
            <a:endParaRPr lang="ko-KR" altLang="en-US" dirty="0">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E8A85169-0422-3343-9B06-A705BCD8D339}"/>
              </a:ext>
            </a:extLst>
          </p:cNvPr>
          <p:cNvSpPr txBox="1"/>
          <p:nvPr/>
        </p:nvSpPr>
        <p:spPr>
          <a:xfrm>
            <a:off x="5037667" y="3904129"/>
            <a:ext cx="6584950" cy="1200329"/>
          </a:xfrm>
          <a:prstGeom prst="rect">
            <a:avLst/>
          </a:prstGeom>
          <a:noFill/>
        </p:spPr>
        <p:txBody>
          <a:bodyPr wrap="square" rtlCol="0">
            <a:spAutoFit/>
          </a:bodyPr>
          <a:lstStyle/>
          <a:p>
            <a:r>
              <a:rPr lang="en-US" altLang="ko-KR" b="1" dirty="0">
                <a:latin typeface="Calibri" panose="020F0502020204030204" pitchFamily="34" charset="0"/>
                <a:ea typeface="Calibri" panose="020F0502020204030204" pitchFamily="34" charset="0"/>
                <a:cs typeface="Calibri" panose="020F0502020204030204" pitchFamily="34" charset="0"/>
              </a:rPr>
              <a:t>an example of a tiny social network</a:t>
            </a:r>
          </a:p>
          <a:p>
            <a:r>
              <a:rPr lang="en-US" altLang="ko-KR" dirty="0">
                <a:latin typeface="Calibri" panose="020F0502020204030204" pitchFamily="34" charset="0"/>
                <a:ea typeface="Calibri" panose="020F0502020204030204" pitchFamily="34" charset="0"/>
                <a:cs typeface="Calibri" panose="020F0502020204030204" pitchFamily="34" charset="0"/>
              </a:rPr>
              <a:t>The entities are the nodes A through G. The relationship, which we might think of as “friends,” is represented by the edges. For instance, B is friends with A, C, and D.</a:t>
            </a:r>
          </a:p>
        </p:txBody>
      </p:sp>
    </p:spTree>
    <p:extLst>
      <p:ext uri="{BB962C8B-B14F-4D97-AF65-F5344CB8AC3E}">
        <p14:creationId xmlns:p14="http://schemas.microsoft.com/office/powerpoint/2010/main" val="648442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17FE3-509A-FC71-317B-215EDA6C4A7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3E3A8E7-B422-A172-6C44-5BB77D310D32}"/>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8466AE21-15F0-45D2-523F-3B41E893EA67}"/>
              </a:ext>
            </a:extLst>
          </p:cNvPr>
          <p:cNvSpPr txBox="1"/>
          <p:nvPr/>
        </p:nvSpPr>
        <p:spPr>
          <a:xfrm>
            <a:off x="1083734" y="138441"/>
            <a:ext cx="2099733" cy="276999"/>
          </a:xfrm>
          <a:prstGeom prst="rect">
            <a:avLst/>
          </a:prstGeom>
          <a:noFill/>
        </p:spPr>
        <p:txBody>
          <a:bodyPr wrap="square" rtlCol="0">
            <a:spAutoFit/>
          </a:bodyPr>
          <a:lstStyle/>
          <a:p>
            <a:r>
              <a:rPr lang="en-US" altLang="ko-KR" sz="1200" dirty="0">
                <a:solidFill>
                  <a:schemeClr val="bg1"/>
                </a:solidFill>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solidFill>
                <a:schemeClr val="bg1"/>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8D25E667-C31E-6CC8-D61A-603EF3BA6D20}"/>
              </a:ext>
            </a:extLst>
          </p:cNvPr>
          <p:cNvSpPr txBox="1"/>
          <p:nvPr/>
        </p:nvSpPr>
        <p:spPr>
          <a:xfrm>
            <a:off x="3725333" y="138441"/>
            <a:ext cx="2142067" cy="276999"/>
          </a:xfrm>
          <a:prstGeom prst="rect">
            <a:avLst/>
          </a:prstGeom>
          <a:noFill/>
        </p:spPr>
        <p:txBody>
          <a:bodyPr wrap="square" rtlCol="0">
            <a:spAutoFit/>
          </a:bodyPr>
          <a:lstStyle/>
          <a:p>
            <a:r>
              <a:rPr lang="en-US" altLang="ko-KR" sz="1200" dirty="0">
                <a:latin typeface="Calibri" panose="020F0502020204030204" pitchFamily="34" charset="0"/>
                <a:ea typeface="Calibri" panose="020F0502020204030204" pitchFamily="34" charset="0"/>
                <a:cs typeface="Calibri" panose="020F0502020204030204" pitchFamily="34" charset="0"/>
              </a:rPr>
              <a:t>10.1 Social Networks as Graphs</a:t>
            </a:r>
            <a:endParaRPr lang="ko-KR" altLang="en-US" sz="1200" dirty="0">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E99154E9-65F5-82E7-410B-C3B36A5A09F3}"/>
              </a:ext>
            </a:extLst>
          </p:cNvPr>
          <p:cNvSpPr txBox="1"/>
          <p:nvPr/>
        </p:nvSpPr>
        <p:spPr>
          <a:xfrm>
            <a:off x="4167715" y="1374577"/>
            <a:ext cx="3856568" cy="589072"/>
          </a:xfrm>
          <a:prstGeom prst="rect">
            <a:avLst/>
          </a:prstGeom>
          <a:noFill/>
        </p:spPr>
        <p:txBody>
          <a:bodyPr wrap="square" rtlCol="0">
            <a:spAutoFit/>
          </a:bodyPr>
          <a:lstStyle/>
          <a:p>
            <a:pPr>
              <a:lnSpc>
                <a:spcPct val="150000"/>
              </a:lnSpc>
            </a:pPr>
            <a:r>
              <a:rPr lang="en-US" altLang="ko-KR" sz="2400" b="1" dirty="0">
                <a:latin typeface="Calibri" panose="020F0502020204030204" pitchFamily="34" charset="0"/>
                <a:ea typeface="Calibri" panose="020F0502020204030204" pitchFamily="34" charset="0"/>
                <a:cs typeface="Calibri" panose="020F0502020204030204" pitchFamily="34" charset="0"/>
              </a:rPr>
              <a:t>Examples of Social Networks</a:t>
            </a:r>
          </a:p>
        </p:txBody>
      </p:sp>
      <p:sp>
        <p:nvSpPr>
          <p:cNvPr id="6" name="文本框 5">
            <a:extLst>
              <a:ext uri="{FF2B5EF4-FFF2-40B4-BE49-F238E27FC236}">
                <a16:creationId xmlns:a16="http://schemas.microsoft.com/office/drawing/2014/main" id="{288EE239-DE70-87C9-415B-99FF5D275BFC}"/>
              </a:ext>
            </a:extLst>
          </p:cNvPr>
          <p:cNvSpPr txBox="1"/>
          <p:nvPr/>
        </p:nvSpPr>
        <p:spPr>
          <a:xfrm>
            <a:off x="193672" y="1963649"/>
            <a:ext cx="11804653" cy="5224764"/>
          </a:xfrm>
          <a:prstGeom prst="rect">
            <a:avLst/>
          </a:prstGeom>
          <a:noFill/>
        </p:spPr>
        <p:txBody>
          <a:bodyPr wrap="square" rtlCol="0">
            <a:spAutoFit/>
          </a:bodyPr>
          <a:lstStyle/>
          <a:p>
            <a:pPr marL="342900" indent="-342900">
              <a:lnSpc>
                <a:spcPct val="150000"/>
              </a:lnSpc>
              <a:buFont typeface="+mj-ea"/>
              <a:buAutoNum type="circleNumDbPlain"/>
            </a:pPr>
            <a:r>
              <a:rPr lang="en-US" altLang="ko-KR" sz="1600" dirty="0">
                <a:solidFill>
                  <a:srgbClr val="00B050"/>
                </a:solidFill>
                <a:latin typeface="Calibri" panose="020F0502020204030204" pitchFamily="34" charset="0"/>
                <a:ea typeface="Calibri" panose="020F0502020204030204" pitchFamily="34" charset="0"/>
                <a:cs typeface="Calibri" panose="020F0502020204030204" pitchFamily="34" charset="0"/>
              </a:rPr>
              <a:t>Telephone Networks: </a:t>
            </a:r>
            <a:r>
              <a:rPr lang="en-US" altLang="ko-KR" sz="1600" dirty="0">
                <a:latin typeface="Calibri" panose="020F0502020204030204" pitchFamily="34" charset="0"/>
                <a:ea typeface="Calibri" panose="020F0502020204030204" pitchFamily="34" charset="0"/>
                <a:cs typeface="Calibri" panose="020F0502020204030204" pitchFamily="34" charset="0"/>
              </a:rPr>
              <a:t>Nodes in a telephone network represent phone numbers. Edges connect numbers with call history, weighted by call frequency. Communities form among frequently communicating groups like friends, club members, or colleagues.</a:t>
            </a:r>
          </a:p>
          <a:p>
            <a:pPr marL="342900" indent="-342900">
              <a:lnSpc>
                <a:spcPct val="150000"/>
              </a:lnSpc>
              <a:buFont typeface="+mj-ea"/>
              <a:buAutoNum type="circleNumDbPlain"/>
            </a:pPr>
            <a:r>
              <a:rPr lang="en-US" altLang="ko-KR" sz="1600" dirty="0">
                <a:solidFill>
                  <a:srgbClr val="00B050"/>
                </a:solidFill>
                <a:latin typeface="Calibri" panose="020F0502020204030204" pitchFamily="34" charset="0"/>
                <a:ea typeface="Calibri" panose="020F0502020204030204" pitchFamily="34" charset="0"/>
                <a:cs typeface="Calibri" panose="020F0502020204030204" pitchFamily="34" charset="0"/>
              </a:rPr>
              <a:t>Email Networks: </a:t>
            </a:r>
            <a:r>
              <a:rPr lang="en-US" altLang="ko-KR" sz="1600" dirty="0">
                <a:latin typeface="Calibri" panose="020F0502020204030204" pitchFamily="34" charset="0"/>
                <a:ea typeface="Calibri" panose="020F0502020204030204" pitchFamily="34" charset="0"/>
                <a:cs typeface="Calibri" panose="020F0502020204030204" pitchFamily="34" charset="0"/>
              </a:rPr>
              <a:t>Nodes represent email addresses (individuals), and edges indicate email exchanges. Edges can reflect mutual communication or one-way communication, helping to distinguish spammers from genuine connections. Communities form similarly to those in telephone or texting networks, based on frequent interactions.</a:t>
            </a:r>
          </a:p>
          <a:p>
            <a:pPr marL="342900" indent="-342900">
              <a:lnSpc>
                <a:spcPct val="150000"/>
              </a:lnSpc>
              <a:buFont typeface="+mj-ea"/>
              <a:buAutoNum type="circleNumDbPlain" startAt="3"/>
            </a:pPr>
            <a:r>
              <a:rPr lang="en-US" altLang="ko-KR" sz="1600" dirty="0">
                <a:solidFill>
                  <a:srgbClr val="00B050"/>
                </a:solidFill>
                <a:latin typeface="Calibri" panose="020F0502020204030204" pitchFamily="34" charset="0"/>
                <a:ea typeface="Calibri" panose="020F0502020204030204" pitchFamily="34" charset="0"/>
                <a:cs typeface="Calibri" panose="020F0502020204030204" pitchFamily="34" charset="0"/>
              </a:rPr>
              <a:t>Collaboration Networks: </a:t>
            </a:r>
          </a:p>
          <a:p>
            <a:pPr marL="742950" lvl="1" indent="-285750">
              <a:lnSpc>
                <a:spcPct val="150000"/>
              </a:lnSpc>
              <a:buFont typeface="Arial" panose="020B0604020202020204" pitchFamily="34" charset="0"/>
              <a:buChar char="•"/>
            </a:pPr>
            <a:r>
              <a:rPr lang="en-US" altLang="ko-KR" sz="1600" dirty="0">
                <a:solidFill>
                  <a:srgbClr val="00B050"/>
                </a:solidFill>
                <a:latin typeface="Calibri" panose="020F0502020204030204" pitchFamily="34" charset="0"/>
                <a:ea typeface="Calibri" panose="020F0502020204030204" pitchFamily="34" charset="0"/>
                <a:cs typeface="Calibri" panose="020F0502020204030204" pitchFamily="34" charset="0"/>
              </a:rPr>
              <a:t>Author-Paper Networks: </a:t>
            </a:r>
            <a:r>
              <a:rPr lang="en-US" altLang="ko-KR" sz="1600" dirty="0">
                <a:latin typeface="Calibri" panose="020F0502020204030204" pitchFamily="34" charset="0"/>
                <a:ea typeface="Calibri" panose="020F0502020204030204" pitchFamily="34" charset="0"/>
                <a:cs typeface="Calibri" panose="020F0502020204030204" pitchFamily="34" charset="0"/>
              </a:rPr>
              <a:t>Nodes represent authors or papers. Authors are connected if they co-authored papers, forming communities based on shared research topics. Papers are connected if they share authors, creating communities of papers on similar topics.</a:t>
            </a:r>
          </a:p>
          <a:p>
            <a:pPr marL="742950" lvl="1" indent="-285750">
              <a:lnSpc>
                <a:spcPct val="150000"/>
              </a:lnSpc>
              <a:buFont typeface="Arial" panose="020B0604020202020204" pitchFamily="34" charset="0"/>
              <a:buChar char="•"/>
            </a:pPr>
            <a:r>
              <a:rPr lang="en-US" altLang="ko-KR" sz="1600" dirty="0">
                <a:solidFill>
                  <a:srgbClr val="00B050"/>
                </a:solidFill>
                <a:latin typeface="Calibri" panose="020F0502020204030204" pitchFamily="34" charset="0"/>
                <a:ea typeface="Calibri" panose="020F0502020204030204" pitchFamily="34" charset="0"/>
                <a:cs typeface="Calibri" panose="020F0502020204030204" pitchFamily="34" charset="0"/>
              </a:rPr>
              <a:t>Dual Networks in Other Contexts: </a:t>
            </a:r>
            <a:r>
              <a:rPr lang="en-US" altLang="ko-KR" sz="1600" dirty="0">
                <a:latin typeface="Calibri" panose="020F0502020204030204" pitchFamily="34" charset="0"/>
                <a:ea typeface="Calibri" panose="020F0502020204030204" pitchFamily="34" charset="0"/>
                <a:cs typeface="Calibri" panose="020F0502020204030204" pitchFamily="34" charset="0"/>
              </a:rPr>
              <a:t>Examples include Wikipedia editors and articles or customers and products. Editors are connected if they edit the same articles, forming communities by interest. Articles are connected if edited by the same people, forming topic-based groups. Similarly, customers and products can form networks for collaborative filtering: customers with similar preferences or products frequently bought together create communities.</a:t>
            </a:r>
          </a:p>
          <a:p>
            <a:pPr marL="342900" indent="-342900">
              <a:lnSpc>
                <a:spcPct val="150000"/>
              </a:lnSpc>
              <a:buFont typeface="+mj-ea"/>
              <a:buAutoNum type="circleNumDbPlain"/>
            </a:pPr>
            <a:endParaRPr lang="en-US" altLang="ko-KR"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2837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8A393-6122-56C5-2F1E-730A516BFE3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66D1CB80-27A2-524B-2A6C-4BF9D7344C03}"/>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6940D41B-7B86-47F8-850B-71732535AD7D}"/>
              </a:ext>
            </a:extLst>
          </p:cNvPr>
          <p:cNvSpPr txBox="1"/>
          <p:nvPr/>
        </p:nvSpPr>
        <p:spPr>
          <a:xfrm>
            <a:off x="1083734" y="138441"/>
            <a:ext cx="2099733" cy="276999"/>
          </a:xfrm>
          <a:prstGeom prst="rect">
            <a:avLst/>
          </a:prstGeom>
          <a:noFill/>
        </p:spPr>
        <p:txBody>
          <a:bodyPr wrap="square" rtlCol="0">
            <a:spAutoFit/>
          </a:bodyPr>
          <a:lstStyle/>
          <a:p>
            <a:r>
              <a:rPr lang="en-US" altLang="ko-KR" sz="1200" dirty="0">
                <a:solidFill>
                  <a:schemeClr val="bg1"/>
                </a:solidFill>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solidFill>
                <a:schemeClr val="bg1"/>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2A98C5E5-F8D0-C43A-9B0E-9ABE99D20515}"/>
              </a:ext>
            </a:extLst>
          </p:cNvPr>
          <p:cNvSpPr txBox="1"/>
          <p:nvPr/>
        </p:nvSpPr>
        <p:spPr>
          <a:xfrm>
            <a:off x="3725333" y="138441"/>
            <a:ext cx="2142067" cy="276999"/>
          </a:xfrm>
          <a:prstGeom prst="rect">
            <a:avLst/>
          </a:prstGeom>
          <a:noFill/>
        </p:spPr>
        <p:txBody>
          <a:bodyPr wrap="square" rtlCol="0">
            <a:spAutoFit/>
          </a:bodyPr>
          <a:lstStyle/>
          <a:p>
            <a:r>
              <a:rPr lang="en-US" altLang="ko-KR" sz="1200" dirty="0">
                <a:latin typeface="Calibri" panose="020F0502020204030204" pitchFamily="34" charset="0"/>
                <a:ea typeface="Calibri" panose="020F0502020204030204" pitchFamily="34" charset="0"/>
                <a:cs typeface="Calibri" panose="020F0502020204030204" pitchFamily="34" charset="0"/>
              </a:rPr>
              <a:t>10.1 Social Networks as Graphs</a:t>
            </a:r>
            <a:endParaRPr lang="ko-KR" altLang="en-US" sz="1200" dirty="0">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5EC6B47E-A638-5AB0-D380-C317FE83C096}"/>
              </a:ext>
            </a:extLst>
          </p:cNvPr>
          <p:cNvSpPr txBox="1"/>
          <p:nvPr/>
        </p:nvSpPr>
        <p:spPr>
          <a:xfrm>
            <a:off x="4167715" y="1374577"/>
            <a:ext cx="3856568" cy="589072"/>
          </a:xfrm>
          <a:prstGeom prst="rect">
            <a:avLst/>
          </a:prstGeom>
          <a:noFill/>
        </p:spPr>
        <p:txBody>
          <a:bodyPr wrap="square" rtlCol="0">
            <a:spAutoFit/>
          </a:bodyPr>
          <a:lstStyle/>
          <a:p>
            <a:pPr>
              <a:lnSpc>
                <a:spcPct val="150000"/>
              </a:lnSpc>
            </a:pPr>
            <a:r>
              <a:rPr lang="en-US" altLang="ko-KR" sz="2400" b="1" dirty="0">
                <a:latin typeface="Calibri" panose="020F0502020204030204" pitchFamily="34" charset="0"/>
                <a:ea typeface="Calibri" panose="020F0502020204030204" pitchFamily="34" charset="0"/>
                <a:cs typeface="Calibri" panose="020F0502020204030204" pitchFamily="34" charset="0"/>
              </a:rPr>
              <a:t>Examples of Social Networks</a:t>
            </a:r>
          </a:p>
        </p:txBody>
      </p:sp>
      <p:sp>
        <p:nvSpPr>
          <p:cNvPr id="7" name="文本框 6">
            <a:extLst>
              <a:ext uri="{FF2B5EF4-FFF2-40B4-BE49-F238E27FC236}">
                <a16:creationId xmlns:a16="http://schemas.microsoft.com/office/drawing/2014/main" id="{07A8837E-AC02-752A-1343-E44EF2B19F0D}"/>
              </a:ext>
            </a:extLst>
          </p:cNvPr>
          <p:cNvSpPr txBox="1"/>
          <p:nvPr/>
        </p:nvSpPr>
        <p:spPr>
          <a:xfrm>
            <a:off x="304799" y="2663277"/>
            <a:ext cx="11582400" cy="2126864"/>
          </a:xfrm>
          <a:prstGeom prst="rect">
            <a:avLst/>
          </a:prstGeom>
          <a:noFill/>
        </p:spPr>
        <p:txBody>
          <a:bodyPr wrap="square" rtlCol="0">
            <a:spAutoFit/>
          </a:bodyPr>
          <a:lstStyle/>
          <a:p>
            <a:pPr marL="342900" indent="-342900">
              <a:lnSpc>
                <a:spcPct val="150000"/>
              </a:lnSpc>
              <a:buFont typeface="+mj-ea"/>
              <a:buAutoNum type="circleNumDbPlain" startAt="3"/>
            </a:pPr>
            <a:r>
              <a:rPr lang="en-US" altLang="ko-KR" dirty="0">
                <a:solidFill>
                  <a:srgbClr val="00B050"/>
                </a:solidFill>
                <a:latin typeface="Calibri" panose="020F0502020204030204" pitchFamily="34" charset="0"/>
                <a:ea typeface="Calibri" panose="020F0502020204030204" pitchFamily="34" charset="0"/>
                <a:cs typeface="Calibri" panose="020F0502020204030204" pitchFamily="34" charset="0"/>
              </a:rPr>
              <a:t>Other Examples:</a:t>
            </a:r>
          </a:p>
          <a:p>
            <a:pPr>
              <a:lnSpc>
                <a:spcPct val="150000"/>
              </a:lnSpc>
            </a:pPr>
            <a:r>
              <a:rPr lang="en-US" altLang="ko-KR" dirty="0">
                <a:latin typeface="Calibri" panose="020F0502020204030204" pitchFamily="34" charset="0"/>
                <a:ea typeface="Calibri" panose="020F0502020204030204" pitchFamily="34" charset="0"/>
                <a:cs typeface="Calibri" panose="020F0502020204030204" pitchFamily="34" charset="0"/>
              </a:rPr>
              <a:t>Many phenomena produce graphs resembling social networks, often exhibiting locality. Examples include information networks like documents, web graphs, and patents; infrastructure networks such as roads, air routes, water systems, and power grids; biological networks involving gene and protein interactions or food webs; and other types like product co-purchasing networks (e.g., Groupon).</a:t>
            </a:r>
          </a:p>
        </p:txBody>
      </p:sp>
    </p:spTree>
    <p:extLst>
      <p:ext uri="{BB962C8B-B14F-4D97-AF65-F5344CB8AC3E}">
        <p14:creationId xmlns:p14="http://schemas.microsoft.com/office/powerpoint/2010/main" val="767271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0E55A-B039-4B8D-CA67-E3EBCBFB3929}"/>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85BC3CA-D93B-8EB6-EF25-29227781A6FE}"/>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7C992859-B451-AB3E-C6D2-0DF93B2E9D86}"/>
              </a:ext>
            </a:extLst>
          </p:cNvPr>
          <p:cNvSpPr txBox="1"/>
          <p:nvPr/>
        </p:nvSpPr>
        <p:spPr>
          <a:xfrm>
            <a:off x="1083734" y="138441"/>
            <a:ext cx="2099733" cy="276999"/>
          </a:xfrm>
          <a:prstGeom prst="rect">
            <a:avLst/>
          </a:prstGeom>
          <a:noFill/>
        </p:spPr>
        <p:txBody>
          <a:bodyPr wrap="square" rtlCol="0">
            <a:spAutoFit/>
          </a:bodyPr>
          <a:lstStyle/>
          <a:p>
            <a:r>
              <a:rPr lang="en-US" altLang="ko-KR" sz="1200" dirty="0">
                <a:solidFill>
                  <a:schemeClr val="bg1"/>
                </a:solidFill>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solidFill>
                <a:schemeClr val="bg1"/>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66A33A3A-41CB-82B1-0B76-17BC78C03A5D}"/>
              </a:ext>
            </a:extLst>
          </p:cNvPr>
          <p:cNvSpPr txBox="1"/>
          <p:nvPr/>
        </p:nvSpPr>
        <p:spPr>
          <a:xfrm>
            <a:off x="3725333" y="138441"/>
            <a:ext cx="2142067" cy="276999"/>
          </a:xfrm>
          <a:prstGeom prst="rect">
            <a:avLst/>
          </a:prstGeom>
          <a:noFill/>
        </p:spPr>
        <p:txBody>
          <a:bodyPr wrap="square" rtlCol="0">
            <a:spAutoFit/>
          </a:bodyPr>
          <a:lstStyle/>
          <a:p>
            <a:r>
              <a:rPr lang="en-US" altLang="ko-KR" sz="1200" dirty="0">
                <a:latin typeface="Calibri" panose="020F0502020204030204" pitchFamily="34" charset="0"/>
                <a:ea typeface="Calibri" panose="020F0502020204030204" pitchFamily="34" charset="0"/>
                <a:cs typeface="Calibri" panose="020F0502020204030204" pitchFamily="34" charset="0"/>
              </a:rPr>
              <a:t>10.1 Social Networks as Graphs</a:t>
            </a:r>
            <a:endParaRPr lang="ko-KR" altLang="en-US" sz="1200" dirty="0">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103656CB-7207-CCED-4956-3EB1AB48C454}"/>
              </a:ext>
            </a:extLst>
          </p:cNvPr>
          <p:cNvSpPr txBox="1"/>
          <p:nvPr/>
        </p:nvSpPr>
        <p:spPr>
          <a:xfrm>
            <a:off x="3938055" y="1374577"/>
            <a:ext cx="4315885" cy="589072"/>
          </a:xfrm>
          <a:prstGeom prst="rect">
            <a:avLst/>
          </a:prstGeom>
          <a:noFill/>
        </p:spPr>
        <p:txBody>
          <a:bodyPr wrap="square" rtlCol="0">
            <a:spAutoFit/>
          </a:bodyPr>
          <a:lstStyle/>
          <a:p>
            <a:pPr>
              <a:lnSpc>
                <a:spcPct val="150000"/>
              </a:lnSpc>
            </a:pPr>
            <a:r>
              <a:rPr lang="en-US" altLang="ko-KR" sz="2400" b="1" dirty="0">
                <a:latin typeface="Calibri" panose="020F0502020204030204" pitchFamily="34" charset="0"/>
                <a:ea typeface="Calibri" panose="020F0502020204030204" pitchFamily="34" charset="0"/>
                <a:cs typeface="Calibri" panose="020F0502020204030204" pitchFamily="34" charset="0"/>
              </a:rPr>
              <a:t>Graphs With Several Node Types</a:t>
            </a:r>
          </a:p>
        </p:txBody>
      </p:sp>
      <p:sp>
        <p:nvSpPr>
          <p:cNvPr id="6" name="文本框 5">
            <a:extLst>
              <a:ext uri="{FF2B5EF4-FFF2-40B4-BE49-F238E27FC236}">
                <a16:creationId xmlns:a16="http://schemas.microsoft.com/office/drawing/2014/main" id="{E205012F-9382-6E96-3283-673B9CE83D89}"/>
              </a:ext>
            </a:extLst>
          </p:cNvPr>
          <p:cNvSpPr txBox="1"/>
          <p:nvPr/>
        </p:nvSpPr>
        <p:spPr>
          <a:xfrm>
            <a:off x="734479" y="2230843"/>
            <a:ext cx="10723035" cy="4619854"/>
          </a:xfrm>
          <a:prstGeom prst="rect">
            <a:avLst/>
          </a:prstGeom>
          <a:noFill/>
        </p:spPr>
        <p:txBody>
          <a:bodyPr wrap="square" rtlCol="0">
            <a:spAutoFit/>
          </a:bodyPr>
          <a:lstStyle/>
          <a:p>
            <a:pPr>
              <a:lnSpc>
                <a:spcPct val="150000"/>
              </a:lnSpc>
            </a:pPr>
            <a:r>
              <a:rPr lang="en-US" altLang="ko-KR" b="1" dirty="0">
                <a:latin typeface="Calibri" panose="020F0502020204030204" pitchFamily="34" charset="0"/>
                <a:ea typeface="Calibri" panose="020F0502020204030204" pitchFamily="34" charset="0"/>
                <a:cs typeface="Calibri" panose="020F0502020204030204" pitchFamily="34" charset="0"/>
              </a:rPr>
              <a:t>Different Types of Graphs:</a:t>
            </a:r>
          </a:p>
          <a:p>
            <a:pPr marL="742950" lvl="1" indent="-285750">
              <a:lnSpc>
                <a:spcPct val="150000"/>
              </a:lnSpc>
              <a:buFont typeface="Arial" panose="020B0604020202020204" pitchFamily="34" charset="0"/>
              <a:buChar char="•"/>
            </a:pPr>
            <a:r>
              <a:rPr lang="en-US" altLang="ko-KR" dirty="0">
                <a:latin typeface="Calibri" panose="020F0502020204030204" pitchFamily="34" charset="0"/>
                <a:ea typeface="Calibri" panose="020F0502020204030204" pitchFamily="34" charset="0"/>
                <a:cs typeface="Calibri" panose="020F0502020204030204" pitchFamily="34" charset="0"/>
              </a:rPr>
              <a:t>Collaboration networks often involve two types of nodes, such as author nodes and paper nodes, which form bipartite graphs (k=2).</a:t>
            </a:r>
          </a:p>
          <a:p>
            <a:pPr marL="742950" lvl="1" indent="-285750">
              <a:lnSpc>
                <a:spcPct val="150000"/>
              </a:lnSpc>
              <a:buFont typeface="Arial" panose="020B0604020202020204" pitchFamily="34" charset="0"/>
              <a:buChar char="•"/>
            </a:pPr>
            <a:r>
              <a:rPr lang="en-US" altLang="ko-KR" dirty="0">
                <a:latin typeface="Calibri" panose="020F0502020204030204" pitchFamily="34" charset="0"/>
                <a:ea typeface="Calibri" panose="020F0502020204030204" pitchFamily="34" charset="0"/>
                <a:cs typeface="Calibri" panose="020F0502020204030204" pitchFamily="34" charset="0"/>
              </a:rPr>
              <a:t>Instead of simplifying the graph by removing one type of node, the full structure can be analyzed.</a:t>
            </a:r>
          </a:p>
          <a:p>
            <a:pPr>
              <a:lnSpc>
                <a:spcPct val="150000"/>
              </a:lnSpc>
            </a:pPr>
            <a:endParaRPr lang="en-US" altLang="ko-KR" dirty="0">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altLang="ko-KR" b="1" dirty="0">
                <a:latin typeface="Calibri" panose="020F0502020204030204" pitchFamily="34" charset="0"/>
                <a:ea typeface="Calibri" panose="020F0502020204030204" pitchFamily="34" charset="0"/>
                <a:cs typeface="Calibri" panose="020F0502020204030204" pitchFamily="34" charset="0"/>
              </a:rPr>
              <a:t>Example: Tagging Systems</a:t>
            </a:r>
          </a:p>
          <a:p>
            <a:pPr marL="742950" lvl="1" indent="-285750">
              <a:lnSpc>
                <a:spcPct val="150000"/>
              </a:lnSpc>
              <a:buFont typeface="Arial" panose="020B0604020202020204" pitchFamily="34" charset="0"/>
              <a:buChar char="•"/>
            </a:pPr>
            <a:r>
              <a:rPr lang="en-US" altLang="ko-KR" dirty="0">
                <a:latin typeface="Calibri" panose="020F0502020204030204" pitchFamily="34" charset="0"/>
                <a:ea typeface="Calibri" panose="020F0502020204030204" pitchFamily="34" charset="0"/>
                <a:cs typeface="Calibri" panose="020F0502020204030204" pitchFamily="34" charset="0"/>
              </a:rPr>
              <a:t>Sites like del.icio.us involve three types of entities: users, tags, and web pages.</a:t>
            </a:r>
          </a:p>
          <a:p>
            <a:pPr marL="742950" lvl="1" indent="-285750">
              <a:lnSpc>
                <a:spcPct val="150000"/>
              </a:lnSpc>
              <a:buFont typeface="Arial" panose="020B0604020202020204" pitchFamily="34" charset="0"/>
              <a:buChar char="•"/>
            </a:pPr>
            <a:r>
              <a:rPr lang="en-US" altLang="ko-KR" dirty="0">
                <a:latin typeface="Calibri" panose="020F0502020204030204" pitchFamily="34" charset="0"/>
                <a:ea typeface="Calibri" panose="020F0502020204030204" pitchFamily="34" charset="0"/>
                <a:cs typeface="Calibri" panose="020F0502020204030204" pitchFamily="34" charset="0"/>
              </a:rPr>
              <a:t>Users may be connected by shared tag usage or by tagging the same pages.</a:t>
            </a:r>
          </a:p>
          <a:p>
            <a:pPr marL="742950" lvl="1" indent="-285750">
              <a:lnSpc>
                <a:spcPct val="150000"/>
              </a:lnSpc>
              <a:buFont typeface="Arial" panose="020B0604020202020204" pitchFamily="34" charset="0"/>
              <a:buChar char="•"/>
            </a:pPr>
            <a:r>
              <a:rPr lang="en-US" altLang="ko-KR" dirty="0">
                <a:latin typeface="Calibri" panose="020F0502020204030204" pitchFamily="34" charset="0"/>
                <a:ea typeface="Calibri" panose="020F0502020204030204" pitchFamily="34" charset="0"/>
                <a:cs typeface="Calibri" panose="020F0502020204030204" pitchFamily="34" charset="0"/>
              </a:rPr>
              <a:t>Tags may be linked by their appearance on the same pages or by being used by the same users.</a:t>
            </a:r>
          </a:p>
          <a:p>
            <a:pPr marL="742950" lvl="1" indent="-285750">
              <a:lnSpc>
                <a:spcPct val="150000"/>
              </a:lnSpc>
              <a:buFont typeface="Arial" panose="020B0604020202020204" pitchFamily="34" charset="0"/>
              <a:buChar char="•"/>
            </a:pPr>
            <a:r>
              <a:rPr lang="en-US" altLang="ko-KR" dirty="0">
                <a:latin typeface="Calibri" panose="020F0502020204030204" pitchFamily="34" charset="0"/>
                <a:ea typeface="Calibri" panose="020F0502020204030204" pitchFamily="34" charset="0"/>
                <a:cs typeface="Calibri" panose="020F0502020204030204" pitchFamily="34" charset="0"/>
              </a:rPr>
              <a:t>Pages may be related through shared tags or users who tag them.</a:t>
            </a:r>
          </a:p>
          <a:p>
            <a:pPr marL="285750" indent="-285750">
              <a:lnSpc>
                <a:spcPct val="150000"/>
              </a:lnSpc>
              <a:buFont typeface="Arial" panose="020B0604020202020204" pitchFamily="34" charset="0"/>
              <a:buChar char="•"/>
            </a:pPr>
            <a:endParaRPr lang="en-US" altLang="ko-K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432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ED0EF-744B-9D76-B597-CAFAF0D5950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41BB394-AB19-1A1C-9FDB-EFD51BC949FE}"/>
              </a:ext>
            </a:extLst>
          </p:cNvPr>
          <p:cNvPicPr>
            <a:picLocks noChangeAspect="1"/>
          </p:cNvPicPr>
          <p:nvPr/>
        </p:nvPicPr>
        <p:blipFill>
          <a:blip r:embed="rId2"/>
          <a:srcRect t="2593" b="1358"/>
          <a:stretch/>
        </p:blipFill>
        <p:spPr>
          <a:xfrm>
            <a:off x="0" y="19293"/>
            <a:ext cx="12192000" cy="6858000"/>
          </a:xfrm>
          <a:prstGeom prst="rect">
            <a:avLst/>
          </a:prstGeom>
        </p:spPr>
      </p:pic>
      <p:sp>
        <p:nvSpPr>
          <p:cNvPr id="2" name="文本框 1">
            <a:extLst>
              <a:ext uri="{FF2B5EF4-FFF2-40B4-BE49-F238E27FC236}">
                <a16:creationId xmlns:a16="http://schemas.microsoft.com/office/drawing/2014/main" id="{DF5706DD-7C74-1241-4528-8110F74EE048}"/>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9A05C3AC-1B4D-6F55-2817-914E955F6069}"/>
              </a:ext>
            </a:extLst>
          </p:cNvPr>
          <p:cNvSpPr txBox="1"/>
          <p:nvPr/>
        </p:nvSpPr>
        <p:spPr>
          <a:xfrm>
            <a:off x="3725333" y="138441"/>
            <a:ext cx="2142067"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10.1 Social Networks as Graphs</a:t>
            </a:r>
            <a:endParaRPr kumimoji="0" lang="ko-KR" altLang="en-US" sz="12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C10E6F41-5654-5A9E-764F-9DF48ECF668F}"/>
              </a:ext>
            </a:extLst>
          </p:cNvPr>
          <p:cNvSpPr txBox="1"/>
          <p:nvPr/>
        </p:nvSpPr>
        <p:spPr>
          <a:xfrm>
            <a:off x="3938055" y="1374577"/>
            <a:ext cx="4315885" cy="589072"/>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Graphs With Several Node Types</a:t>
            </a:r>
          </a:p>
        </p:txBody>
      </p:sp>
      <p:pic>
        <p:nvPicPr>
          <p:cNvPr id="8" name="图片 7">
            <a:extLst>
              <a:ext uri="{FF2B5EF4-FFF2-40B4-BE49-F238E27FC236}">
                <a16:creationId xmlns:a16="http://schemas.microsoft.com/office/drawing/2014/main" id="{AB02D5BD-6EF0-35EC-66BA-8AFEAE677ACE}"/>
              </a:ext>
            </a:extLst>
          </p:cNvPr>
          <p:cNvPicPr>
            <a:picLocks noChangeAspect="1"/>
          </p:cNvPicPr>
          <p:nvPr/>
        </p:nvPicPr>
        <p:blipFill>
          <a:blip r:embed="rId3"/>
          <a:stretch>
            <a:fillRect/>
          </a:stretch>
        </p:blipFill>
        <p:spPr>
          <a:xfrm>
            <a:off x="154517" y="2261879"/>
            <a:ext cx="3619500" cy="3857625"/>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4D65D1B-F3A2-9034-849E-7F6A6DF7F99E}"/>
                  </a:ext>
                </a:extLst>
              </p:cNvPr>
              <p:cNvSpPr txBox="1"/>
              <p:nvPr/>
            </p:nvSpPr>
            <p:spPr>
              <a:xfrm>
                <a:off x="3530600" y="2158313"/>
                <a:ext cx="8157634" cy="4524315"/>
              </a:xfrm>
              <a:prstGeom prst="rect">
                <a:avLst/>
              </a:prstGeom>
              <a:noFill/>
            </p:spPr>
            <p:txBody>
              <a:bodyPr wrap="square" rtlCol="0">
                <a:spAutoFit/>
              </a:bodyPr>
              <a:lstStyle/>
              <a:p>
                <a:r>
                  <a:rPr lang="en-US" altLang="ko-KR" sz="1600" dirty="0"/>
                  <a:t>An example of a tripartite graph (the case k = 3 of a k-partite graph).</a:t>
                </a:r>
              </a:p>
              <a:p>
                <a:endParaRPr lang="en-US" altLang="ko-KR" sz="1600" dirty="0"/>
              </a:p>
              <a:p>
                <a:r>
                  <a:rPr lang="en-US" altLang="ko-KR" sz="1600" dirty="0"/>
                  <a:t>three sets of nodes:</a:t>
                </a:r>
              </a:p>
              <a:p>
                <a:pPr marL="742950" lvl="1" indent="-285750">
                  <a:buFont typeface="Arial" panose="020B0604020202020204" pitchFamily="34" charset="0"/>
                  <a:buChar char="•"/>
                </a:pPr>
                <a:r>
                  <a:rPr lang="en-US" altLang="ko-KR" sz="1600" dirty="0"/>
                  <a:t>Users: </a:t>
                </a:r>
                <a14:m>
                  <m:oMath xmlns:m="http://schemas.openxmlformats.org/officeDocument/2006/math">
                    <m:d>
                      <m:dPr>
                        <m:begChr m:val="{"/>
                        <m:endChr m:val="}"/>
                        <m:ctrlPr>
                          <a:rPr lang="en-US" altLang="ko-KR" sz="1600" i="1" smtClean="0">
                            <a:latin typeface="Cambria Math" panose="02040503050406030204" pitchFamily="18" charset="0"/>
                          </a:rPr>
                        </m:ctrlPr>
                      </m:dPr>
                      <m:e>
                        <m:sSub>
                          <m:sSubPr>
                            <m:ctrlPr>
                              <a:rPr lang="en-US" altLang="ko-KR" sz="1600" i="1" smtClean="0">
                                <a:latin typeface="Cambria Math" panose="02040503050406030204" pitchFamily="18" charset="0"/>
                              </a:rPr>
                            </m:ctrlPr>
                          </m:sSubPr>
                          <m:e>
                            <m:r>
                              <a:rPr lang="en-US" altLang="ko-KR" sz="1600" b="0" i="1" smtClean="0">
                                <a:latin typeface="Cambria Math" panose="02040503050406030204" pitchFamily="18" charset="0"/>
                              </a:rPr>
                              <m:t>𝑈</m:t>
                            </m:r>
                          </m:e>
                          <m:sub>
                            <m:r>
                              <a:rPr lang="en-US" altLang="ko-KR" sz="1600" b="0" i="1" smtClean="0">
                                <a:latin typeface="Cambria Math" panose="02040503050406030204" pitchFamily="18" charset="0"/>
                              </a:rPr>
                              <m:t>1</m:t>
                            </m:r>
                          </m:sub>
                        </m:sSub>
                        <m:r>
                          <a:rPr lang="en-US" altLang="ko-KR" sz="1600" b="0" i="1" smtClean="0">
                            <a:latin typeface="Cambria Math" panose="02040503050406030204" pitchFamily="18" charset="0"/>
                          </a:rPr>
                          <m:t>,</m:t>
                        </m:r>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𝑈</m:t>
                            </m:r>
                          </m:e>
                          <m:sub>
                            <m:r>
                              <a:rPr lang="en-US" altLang="ko-KR" sz="1600" b="0" i="1" smtClean="0">
                                <a:latin typeface="Cambria Math" panose="02040503050406030204" pitchFamily="18" charset="0"/>
                              </a:rPr>
                              <m:t>2</m:t>
                            </m:r>
                          </m:sub>
                        </m:sSub>
                      </m:e>
                    </m:d>
                  </m:oMath>
                </a14:m>
                <a:endParaRPr lang="en-US" altLang="ko-KR" sz="1600" dirty="0"/>
              </a:p>
              <a:p>
                <a:pPr marL="742950" lvl="1" indent="-285750">
                  <a:buFont typeface="Arial" panose="020B0604020202020204" pitchFamily="34" charset="0"/>
                  <a:buChar char="•"/>
                </a:pPr>
                <a:r>
                  <a:rPr lang="en-US" altLang="ko-KR" sz="1600" dirty="0"/>
                  <a:t>Tags: </a:t>
                </a:r>
                <a14:m>
                  <m:oMath xmlns:m="http://schemas.openxmlformats.org/officeDocument/2006/math">
                    <m:d>
                      <m:dPr>
                        <m:begChr m:val="{"/>
                        <m:endChr m:val="}"/>
                        <m:ctrlPr>
                          <a:rPr lang="en-US" altLang="ko-KR" sz="1600" i="1" smtClean="0">
                            <a:latin typeface="Cambria Math" panose="02040503050406030204" pitchFamily="18" charset="0"/>
                          </a:rPr>
                        </m:ctrlPr>
                      </m:dPr>
                      <m:e>
                        <m:sSub>
                          <m:sSubPr>
                            <m:ctrlPr>
                              <a:rPr lang="en-US" altLang="ko-KR" sz="1600" b="0" i="1" smtClean="0">
                                <a:latin typeface="Cambria Math" panose="02040503050406030204" pitchFamily="18" charset="0"/>
                              </a:rPr>
                            </m:ctrlPr>
                          </m:sSubPr>
                          <m:e>
                            <m:r>
                              <m:rPr>
                                <m:sty m:val="p"/>
                              </m:rPr>
                              <a:rPr lang="el-GR" altLang="ko-KR" sz="1600" b="0" i="1" smtClean="0">
                                <a:latin typeface="Cambria Math" panose="02040503050406030204" pitchFamily="18" charset="0"/>
                                <a:ea typeface="Cambria Math" panose="02040503050406030204" pitchFamily="18" charset="0"/>
                              </a:rPr>
                              <m:t>Τ</m:t>
                            </m:r>
                          </m:e>
                          <m:sub>
                            <m:r>
                              <a:rPr lang="en-US" altLang="ko-KR" sz="1600" b="0" i="1" smtClean="0">
                                <a:latin typeface="Cambria Math" panose="02040503050406030204" pitchFamily="18" charset="0"/>
                              </a:rPr>
                              <m:t>1</m:t>
                            </m:r>
                          </m:sub>
                        </m:sSub>
                        <m:r>
                          <a:rPr lang="en-US" altLang="ko-KR" sz="1600" b="0" i="1" smtClean="0">
                            <a:latin typeface="Cambria Math" panose="02040503050406030204" pitchFamily="18" charset="0"/>
                          </a:rPr>
                          <m:t>, </m:t>
                        </m:r>
                        <m:sSub>
                          <m:sSubPr>
                            <m:ctrlPr>
                              <a:rPr lang="en-US" altLang="ko-KR" sz="1600" b="0" i="1" smtClean="0">
                                <a:latin typeface="Cambria Math" panose="02040503050406030204" pitchFamily="18" charset="0"/>
                              </a:rPr>
                            </m:ctrlPr>
                          </m:sSubPr>
                          <m:e>
                            <m:r>
                              <m:rPr>
                                <m:sty m:val="p"/>
                              </m:rPr>
                              <a:rPr lang="el-GR" altLang="ko-KR" sz="1600" b="0" i="1" smtClean="0">
                                <a:latin typeface="Cambria Math" panose="02040503050406030204" pitchFamily="18" charset="0"/>
                                <a:ea typeface="Cambria Math" panose="02040503050406030204" pitchFamily="18" charset="0"/>
                              </a:rPr>
                              <m:t>Τ</m:t>
                            </m:r>
                          </m:e>
                          <m:sub>
                            <m:r>
                              <a:rPr lang="en-US" altLang="ko-KR" sz="1600" b="0" i="1" smtClean="0">
                                <a:latin typeface="Cambria Math" panose="02040503050406030204" pitchFamily="18" charset="0"/>
                              </a:rPr>
                              <m:t>2</m:t>
                            </m:r>
                          </m:sub>
                        </m:sSub>
                        <m:r>
                          <a:rPr lang="en-US" altLang="ko-KR" sz="1600" b="0" i="1" smtClean="0">
                            <a:latin typeface="Cambria Math" panose="02040503050406030204" pitchFamily="18" charset="0"/>
                          </a:rPr>
                          <m:t> </m:t>
                        </m:r>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m:t>
                            </m:r>
                            <m:r>
                              <m:rPr>
                                <m:sty m:val="p"/>
                              </m:rPr>
                              <a:rPr lang="el-GR" altLang="ko-KR" sz="1600" b="0" i="1" smtClean="0">
                                <a:latin typeface="Cambria Math" panose="02040503050406030204" pitchFamily="18" charset="0"/>
                                <a:ea typeface="Cambria Math" panose="02040503050406030204" pitchFamily="18" charset="0"/>
                              </a:rPr>
                              <m:t>Τ</m:t>
                            </m:r>
                          </m:e>
                          <m:sub>
                            <m:r>
                              <a:rPr lang="en-US" altLang="ko-KR" sz="1600" b="0" i="1" smtClean="0">
                                <a:latin typeface="Cambria Math" panose="02040503050406030204" pitchFamily="18" charset="0"/>
                              </a:rPr>
                              <m:t>3</m:t>
                            </m:r>
                          </m:sub>
                        </m:sSub>
                        <m:r>
                          <a:rPr lang="en-US" altLang="ko-KR" sz="1600" b="0" i="1" smtClean="0">
                            <a:latin typeface="Cambria Math" panose="02040503050406030204" pitchFamily="18" charset="0"/>
                          </a:rPr>
                          <m:t>,</m:t>
                        </m:r>
                        <m:sSub>
                          <m:sSubPr>
                            <m:ctrlPr>
                              <a:rPr lang="en-US" altLang="ko-KR" sz="1600" b="0" i="1" smtClean="0">
                                <a:latin typeface="Cambria Math" panose="02040503050406030204" pitchFamily="18" charset="0"/>
                              </a:rPr>
                            </m:ctrlPr>
                          </m:sSubPr>
                          <m:e>
                            <m:r>
                              <m:rPr>
                                <m:sty m:val="p"/>
                              </m:rPr>
                              <a:rPr lang="el-GR" altLang="ko-KR" sz="1600" b="0" i="1" smtClean="0">
                                <a:latin typeface="Cambria Math" panose="02040503050406030204" pitchFamily="18" charset="0"/>
                                <a:ea typeface="Cambria Math" panose="02040503050406030204" pitchFamily="18" charset="0"/>
                              </a:rPr>
                              <m:t>Τ</m:t>
                            </m:r>
                          </m:e>
                          <m:sub>
                            <m:r>
                              <a:rPr lang="en-US" altLang="ko-KR" sz="1600" b="0" i="1" smtClean="0">
                                <a:latin typeface="Cambria Math" panose="02040503050406030204" pitchFamily="18" charset="0"/>
                              </a:rPr>
                              <m:t>4</m:t>
                            </m:r>
                          </m:sub>
                        </m:sSub>
                      </m:e>
                    </m:d>
                  </m:oMath>
                </a14:m>
                <a:endParaRPr lang="en-US" altLang="ko-KR" sz="1600" dirty="0"/>
              </a:p>
              <a:p>
                <a:pPr marL="742950" lvl="1" indent="-285750">
                  <a:buFont typeface="Arial" panose="020B0604020202020204" pitchFamily="34" charset="0"/>
                  <a:buChar char="•"/>
                </a:pPr>
                <a:r>
                  <a:rPr lang="en-US" altLang="ko-KR" sz="1600" dirty="0"/>
                  <a:t>Web Pages: </a:t>
                </a:r>
                <a14:m>
                  <m:oMath xmlns:m="http://schemas.openxmlformats.org/officeDocument/2006/math">
                    <m:d>
                      <m:dPr>
                        <m:begChr m:val="{"/>
                        <m:endChr m:val="}"/>
                        <m:ctrlPr>
                          <a:rPr lang="en-US" altLang="ko-KR" sz="1600" i="1" smtClean="0">
                            <a:latin typeface="Cambria Math" panose="02040503050406030204" pitchFamily="18" charset="0"/>
                          </a:rPr>
                        </m:ctrlPr>
                      </m:dPr>
                      <m:e>
                        <m:sSub>
                          <m:sSubPr>
                            <m:ctrlPr>
                              <a:rPr lang="en-US" altLang="ko-KR" sz="1600" i="1" smtClean="0">
                                <a:latin typeface="Cambria Math" panose="02040503050406030204" pitchFamily="18" charset="0"/>
                              </a:rPr>
                            </m:ctrlPr>
                          </m:sSubPr>
                          <m:e>
                            <m:r>
                              <a:rPr lang="en-US" altLang="ko-KR" sz="1600" b="0" i="1" smtClean="0">
                                <a:latin typeface="Cambria Math" panose="02040503050406030204" pitchFamily="18" charset="0"/>
                              </a:rPr>
                              <m:t>𝑊</m:t>
                            </m:r>
                          </m:e>
                          <m:sub>
                            <m:r>
                              <a:rPr lang="en-US" altLang="ko-KR" sz="1600" b="0" i="1" smtClean="0">
                                <a:latin typeface="Cambria Math" panose="02040503050406030204" pitchFamily="18" charset="0"/>
                              </a:rPr>
                              <m:t>1</m:t>
                            </m:r>
                          </m:sub>
                        </m:sSub>
                        <m:r>
                          <a:rPr lang="en-US" altLang="ko-KR" sz="1600" b="0" i="1" smtClean="0">
                            <a:latin typeface="Cambria Math" panose="02040503050406030204" pitchFamily="18" charset="0"/>
                          </a:rPr>
                          <m:t>,</m:t>
                        </m:r>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𝑊</m:t>
                            </m:r>
                          </m:e>
                          <m:sub>
                            <m:r>
                              <a:rPr lang="en-US" altLang="ko-KR" sz="1600" b="0" i="1" smtClean="0">
                                <a:latin typeface="Cambria Math" panose="02040503050406030204" pitchFamily="18" charset="0"/>
                              </a:rPr>
                              <m:t>2</m:t>
                            </m:r>
                          </m:sub>
                        </m:sSub>
                        <m:r>
                          <a:rPr lang="en-US" altLang="ko-KR" sz="1600" b="0" i="1" smtClean="0">
                            <a:latin typeface="Cambria Math" panose="02040503050406030204" pitchFamily="18" charset="0"/>
                          </a:rPr>
                          <m:t>,</m:t>
                        </m:r>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𝑊</m:t>
                            </m:r>
                          </m:e>
                          <m:sub>
                            <m:r>
                              <a:rPr lang="en-US" altLang="ko-KR" sz="1600" b="0" i="1" smtClean="0">
                                <a:latin typeface="Cambria Math" panose="02040503050406030204" pitchFamily="18" charset="0"/>
                              </a:rPr>
                              <m:t>3</m:t>
                            </m:r>
                          </m:sub>
                        </m:sSub>
                      </m:e>
                    </m:d>
                  </m:oMath>
                </a14:m>
                <a:endParaRPr lang="en-US" altLang="ko-KR" sz="1600" dirty="0"/>
              </a:p>
              <a:p>
                <a:r>
                  <a:rPr lang="en-US" altLang="ko-KR" sz="1600" dirty="0"/>
                  <a:t>Notice that all edges connect nodes from two different sets. We may assume this graph represents information about the three kinds of entities.</a:t>
                </a:r>
              </a:p>
              <a:p>
                <a:endParaRPr lang="en-US" altLang="ko-KR" sz="1600" dirty="0"/>
              </a:p>
              <a:p>
                <a:r>
                  <a:rPr lang="en-US" altLang="ko-KR" sz="1600" dirty="0"/>
                  <a:t>Meaning of Edges:</a:t>
                </a:r>
              </a:p>
              <a:p>
                <a:r>
                  <a:rPr lang="en-US" altLang="ko-KR" sz="1600" dirty="0"/>
                  <a:t>An edge, such as(</a:t>
                </a:r>
                <a14:m>
                  <m:oMath xmlns:m="http://schemas.openxmlformats.org/officeDocument/2006/math">
                    <m:sSub>
                      <m:sSubPr>
                        <m:ctrlPr>
                          <a:rPr lang="en-US" altLang="ko-KR" sz="1600" i="1" smtClean="0">
                            <a:latin typeface="Cambria Math" panose="02040503050406030204" pitchFamily="18" charset="0"/>
                          </a:rPr>
                        </m:ctrlPr>
                      </m:sSubPr>
                      <m:e>
                        <m:r>
                          <a:rPr lang="en-US" altLang="ko-KR" sz="1600" b="0" i="1" smtClean="0">
                            <a:latin typeface="Cambria Math" panose="02040503050406030204" pitchFamily="18" charset="0"/>
                          </a:rPr>
                          <m:t>𝑈</m:t>
                        </m:r>
                      </m:e>
                      <m:sub>
                        <m:r>
                          <a:rPr lang="en-US" altLang="ko-KR" sz="1600" b="0" i="1" smtClean="0">
                            <a:latin typeface="Cambria Math" panose="02040503050406030204" pitchFamily="18" charset="0"/>
                          </a:rPr>
                          <m:t>1</m:t>
                        </m:r>
                      </m:sub>
                    </m:sSub>
                    <m:r>
                      <a:rPr lang="en-US" altLang="ko-KR" sz="1600" b="0" i="1" smtClean="0">
                        <a:latin typeface="Cambria Math" panose="02040503050406030204" pitchFamily="18" charset="0"/>
                      </a:rPr>
                      <m:t>,</m:t>
                    </m:r>
                    <m:sSub>
                      <m:sSubPr>
                        <m:ctrlPr>
                          <a:rPr lang="en-US" altLang="ko-KR" sz="1600" b="0" i="1" smtClean="0">
                            <a:latin typeface="Cambria Math" panose="02040503050406030204" pitchFamily="18" charset="0"/>
                          </a:rPr>
                        </m:ctrlPr>
                      </m:sSubPr>
                      <m:e>
                        <m:r>
                          <a:rPr lang="en-US" altLang="ko-KR" sz="1600" b="0" i="1" smtClean="0">
                            <a:latin typeface="Cambria Math" panose="02040503050406030204" pitchFamily="18" charset="0"/>
                          </a:rPr>
                          <m:t>𝑇</m:t>
                        </m:r>
                      </m:e>
                      <m:sub>
                        <m:r>
                          <a:rPr lang="en-US" altLang="ko-KR" sz="1600" b="0" i="1" smtClean="0">
                            <a:latin typeface="Cambria Math" panose="02040503050406030204" pitchFamily="18" charset="0"/>
                          </a:rPr>
                          <m:t>2</m:t>
                        </m:r>
                      </m:sub>
                    </m:sSub>
                  </m:oMath>
                </a14:m>
                <a:r>
                  <a:rPr lang="en-US" altLang="ko-KR" sz="1600" dirty="0"/>
                  <a:t>) , represents that user </a:t>
                </a:r>
                <a14:m>
                  <m:oMath xmlns:m="http://schemas.openxmlformats.org/officeDocument/2006/math">
                    <m:sSub>
                      <m:sSubPr>
                        <m:ctrlPr>
                          <a:rPr lang="en-US" altLang="ko-KR" sz="1600" i="1" smtClean="0">
                            <a:latin typeface="Cambria Math" panose="02040503050406030204" pitchFamily="18" charset="0"/>
                          </a:rPr>
                        </m:ctrlPr>
                      </m:sSubPr>
                      <m:e>
                        <m:r>
                          <a:rPr lang="en-US" altLang="ko-KR" sz="1600" b="0" i="1" smtClean="0">
                            <a:latin typeface="Cambria Math" panose="02040503050406030204" pitchFamily="18" charset="0"/>
                          </a:rPr>
                          <m:t>𝑈</m:t>
                        </m:r>
                      </m:e>
                      <m:sub>
                        <m:r>
                          <a:rPr lang="en-US" altLang="ko-KR" sz="1600" b="0" i="1" smtClean="0">
                            <a:latin typeface="Cambria Math" panose="02040503050406030204" pitchFamily="18" charset="0"/>
                          </a:rPr>
                          <m:t>1</m:t>
                        </m:r>
                      </m:sub>
                    </m:sSub>
                  </m:oMath>
                </a14:m>
                <a:r>
                  <a:rPr lang="en-US" altLang="ko-KR" sz="1600" dirty="0"/>
                  <a:t> has applied the tag </a:t>
                </a:r>
                <a14:m>
                  <m:oMath xmlns:m="http://schemas.openxmlformats.org/officeDocument/2006/math">
                    <m:sSub>
                      <m:sSubPr>
                        <m:ctrlPr>
                          <a:rPr lang="en-US" altLang="ko-KR" sz="1600" i="1" smtClean="0">
                            <a:latin typeface="Cambria Math" panose="02040503050406030204" pitchFamily="18" charset="0"/>
                          </a:rPr>
                        </m:ctrlPr>
                      </m:sSubPr>
                      <m:e>
                        <m:r>
                          <a:rPr lang="en-US" altLang="ko-KR" sz="1600" b="0" i="1" smtClean="0">
                            <a:latin typeface="Cambria Math" panose="02040503050406030204" pitchFamily="18" charset="0"/>
                          </a:rPr>
                          <m:t>𝑇</m:t>
                        </m:r>
                      </m:e>
                      <m:sub>
                        <m:r>
                          <a:rPr lang="en-US" altLang="ko-KR" sz="1600" b="0" i="1" smtClean="0">
                            <a:latin typeface="Cambria Math" panose="02040503050406030204" pitchFamily="18" charset="0"/>
                          </a:rPr>
                          <m:t>2</m:t>
                        </m:r>
                      </m:sub>
                    </m:sSub>
                  </m:oMath>
                </a14:m>
                <a:r>
                  <a:rPr lang="en-US" altLang="ko-KR" sz="1600" dirty="0"/>
                  <a:t> to at least one web page.</a:t>
                </a:r>
              </a:p>
              <a:p>
                <a:endParaRPr lang="en-US" altLang="ko-KR" sz="1600" dirty="0"/>
              </a:p>
              <a:p>
                <a:r>
                  <a:rPr lang="en-US" altLang="ko-KR" sz="1600" dirty="0"/>
                  <a:t>Limitations:</a:t>
                </a:r>
              </a:p>
              <a:p>
                <a:pPr marL="742950" lvl="1" indent="-285750">
                  <a:buFont typeface="Arial" panose="020B0604020202020204" pitchFamily="34" charset="0"/>
                  <a:buChar char="•"/>
                </a:pPr>
                <a:r>
                  <a:rPr lang="en-US" altLang="ko-KR" sz="1600" dirty="0"/>
                  <a:t>This representation does not capture the specific details of which user applied which tag to which web page.</a:t>
                </a:r>
              </a:p>
              <a:p>
                <a:pPr marL="742950" lvl="1" indent="-285750">
                  <a:buFont typeface="Arial" panose="020B0604020202020204" pitchFamily="34" charset="0"/>
                  <a:buChar char="•"/>
                </a:pPr>
                <a:r>
                  <a:rPr lang="en-US" altLang="ko-KR" sz="1600" dirty="0"/>
                  <a:t>For a more detailed representation of such ternary relationships, a database-like structure with three columns (users, tags, and pages) would be needed.</a:t>
                </a:r>
                <a:endParaRPr lang="ko-KR" altLang="en-US" sz="1600" dirty="0"/>
              </a:p>
            </p:txBody>
          </p:sp>
        </mc:Choice>
        <mc:Fallback xmlns="">
          <p:sp>
            <p:nvSpPr>
              <p:cNvPr id="9" name="文本框 8">
                <a:extLst>
                  <a:ext uri="{FF2B5EF4-FFF2-40B4-BE49-F238E27FC236}">
                    <a16:creationId xmlns:a16="http://schemas.microsoft.com/office/drawing/2014/main" id="{04D65D1B-F3A2-9034-849E-7F6A6DF7F99E}"/>
                  </a:ext>
                </a:extLst>
              </p:cNvPr>
              <p:cNvSpPr txBox="1">
                <a:spLocks noRot="1" noChangeAspect="1" noMove="1" noResize="1" noEditPoints="1" noAdjustHandles="1" noChangeArrowheads="1" noChangeShapeType="1" noTextEdit="1"/>
              </p:cNvSpPr>
              <p:nvPr/>
            </p:nvSpPr>
            <p:spPr>
              <a:xfrm>
                <a:off x="3530600" y="2158313"/>
                <a:ext cx="8157634" cy="4524315"/>
              </a:xfrm>
              <a:prstGeom prst="rect">
                <a:avLst/>
              </a:prstGeom>
              <a:blipFill>
                <a:blip r:embed="rId4"/>
                <a:stretch>
                  <a:fillRect l="-374" t="-404" b="-80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4196410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
          <a:extLst>
            <a:ext uri="{FF2B5EF4-FFF2-40B4-BE49-F238E27FC236}">
              <a16:creationId xmlns:a16="http://schemas.microsoft.com/office/drawing/2014/main" id="{0D19E7B0-C0C2-4706-1FDA-6A64A1BBCB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6175911-68AB-453C-A033-589F4A3910CF}"/>
              </a:ext>
            </a:extLst>
          </p:cNvPr>
          <p:cNvSpPr>
            <a:spLocks noGrp="1"/>
          </p:cNvSpPr>
          <p:nvPr>
            <p:ph type="title"/>
          </p:nvPr>
        </p:nvSpPr>
        <p:spPr>
          <a:xfrm>
            <a:off x="185793" y="2766218"/>
            <a:ext cx="11820413" cy="1325563"/>
          </a:xfrm>
        </p:spPr>
        <p:txBody>
          <a:bodyPr>
            <a:normAutofit fontScale="90000"/>
          </a:bodyPr>
          <a:lstStyle/>
          <a:p>
            <a:r>
              <a:rPr lang="en-US" altLang="ko-KR" sz="6000" b="1" dirty="0">
                <a:solidFill>
                  <a:schemeClr val="bg1"/>
                </a:solidFill>
                <a:latin typeface="Calibri" panose="020F0502020204030204" pitchFamily="34" charset="0"/>
                <a:ea typeface="Calibri" panose="020F0502020204030204" pitchFamily="34" charset="0"/>
                <a:cs typeface="Calibri" panose="020F0502020204030204" pitchFamily="34" charset="0"/>
              </a:rPr>
              <a:t>10.2 Clustering of Social-Network Graphs</a:t>
            </a:r>
            <a:endParaRPr lang="ko-KR" altLang="en-US" sz="6000" b="1" dirty="0">
              <a:solidFill>
                <a:schemeClr val="bg1"/>
              </a:solidFill>
            </a:endParaRPr>
          </a:p>
        </p:txBody>
      </p:sp>
    </p:spTree>
    <p:extLst>
      <p:ext uri="{BB962C8B-B14F-4D97-AF65-F5344CB8AC3E}">
        <p14:creationId xmlns:p14="http://schemas.microsoft.com/office/powerpoint/2010/main" val="1621848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E68F5-2DB5-3EF3-1473-5B552DE08135}"/>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14D8C92-1ACA-0C39-94D2-3D7CBFF22B57}"/>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7C0D4941-043C-CBFF-FC6C-A7A230F19892}"/>
              </a:ext>
            </a:extLst>
          </p:cNvPr>
          <p:cNvSpPr txBox="1"/>
          <p:nvPr/>
        </p:nvSpPr>
        <p:spPr>
          <a:xfrm>
            <a:off x="1083734" y="138441"/>
            <a:ext cx="2099733" cy="276999"/>
          </a:xfrm>
          <a:prstGeom prst="rect">
            <a:avLst/>
          </a:prstGeom>
          <a:noFill/>
        </p:spPr>
        <p:txBody>
          <a:bodyPr wrap="square" rtlCol="0">
            <a:spAutoFit/>
          </a:bodyPr>
          <a:lstStyle/>
          <a:p>
            <a:r>
              <a:rPr lang="en-US" altLang="ko-KR" sz="1200" dirty="0">
                <a:solidFill>
                  <a:schemeClr val="bg1"/>
                </a:solidFill>
                <a:latin typeface="Calibri" panose="020F0502020204030204" pitchFamily="34" charset="0"/>
                <a:ea typeface="Calibri" panose="020F0502020204030204" pitchFamily="34" charset="0"/>
                <a:cs typeface="Calibri" panose="020F0502020204030204" pitchFamily="34" charset="0"/>
              </a:rPr>
              <a:t>Mining Social-Network Graphs</a:t>
            </a:r>
            <a:endParaRPr lang="ko-KR" altLang="en-US" sz="1200" dirty="0">
              <a:solidFill>
                <a:schemeClr val="bg1"/>
              </a:solidFill>
              <a:latin typeface="Calibri" panose="020F0502020204030204" pitchFamily="34" charset="0"/>
              <a:cs typeface="Calibri" panose="020F0502020204030204" pitchFamily="34" charset="0"/>
            </a:endParaRPr>
          </a:p>
        </p:txBody>
      </p:sp>
      <p:sp>
        <p:nvSpPr>
          <p:cNvPr id="3" name="文本框 2">
            <a:extLst>
              <a:ext uri="{FF2B5EF4-FFF2-40B4-BE49-F238E27FC236}">
                <a16:creationId xmlns:a16="http://schemas.microsoft.com/office/drawing/2014/main" id="{9AA6724D-D7A5-9D8B-F8E0-AA1448D70E54}"/>
              </a:ext>
            </a:extLst>
          </p:cNvPr>
          <p:cNvSpPr txBox="1"/>
          <p:nvPr/>
        </p:nvSpPr>
        <p:spPr>
          <a:xfrm>
            <a:off x="3623734" y="67254"/>
            <a:ext cx="2353732" cy="430887"/>
          </a:xfrm>
          <a:prstGeom prst="rect">
            <a:avLst/>
          </a:prstGeom>
          <a:noFill/>
        </p:spPr>
        <p:txBody>
          <a:bodyPr wrap="square" rtlCol="0">
            <a:spAutoFit/>
          </a:bodyPr>
          <a:lstStyle/>
          <a:p>
            <a:r>
              <a:rPr lang="en-US" altLang="ko-KR" sz="1100" dirty="0">
                <a:latin typeface="Calibri" panose="020F0502020204030204" pitchFamily="34" charset="0"/>
                <a:ea typeface="Calibri" panose="020F0502020204030204" pitchFamily="34" charset="0"/>
                <a:cs typeface="Calibri" panose="020F0502020204030204" pitchFamily="34" charset="0"/>
              </a:rPr>
              <a:t>10.2 </a:t>
            </a:r>
            <a:r>
              <a:rPr lang="en-US" altLang="ko-KR" sz="1100" dirty="0"/>
              <a:t>Clustering of Social-Network Graphs</a:t>
            </a:r>
            <a:endParaRPr lang="ko-KR" altLang="en-US" sz="1100" dirty="0">
              <a:latin typeface="Calibri" panose="020F0502020204030204" pitchFamily="34" charset="0"/>
              <a:cs typeface="Calibri" panose="020F0502020204030204" pitchFamily="34" charset="0"/>
            </a:endParaRPr>
          </a:p>
        </p:txBody>
      </p:sp>
      <p:sp>
        <p:nvSpPr>
          <p:cNvPr id="4" name="文本框 3">
            <a:extLst>
              <a:ext uri="{FF2B5EF4-FFF2-40B4-BE49-F238E27FC236}">
                <a16:creationId xmlns:a16="http://schemas.microsoft.com/office/drawing/2014/main" id="{2A48447F-2F5F-09F5-1F5C-CC79B020908A}"/>
              </a:ext>
            </a:extLst>
          </p:cNvPr>
          <p:cNvSpPr txBox="1"/>
          <p:nvPr/>
        </p:nvSpPr>
        <p:spPr>
          <a:xfrm>
            <a:off x="3097209" y="1374577"/>
            <a:ext cx="5997577" cy="589072"/>
          </a:xfrm>
          <a:prstGeom prst="rect">
            <a:avLst/>
          </a:prstGeom>
          <a:noFill/>
        </p:spPr>
        <p:txBody>
          <a:bodyPr wrap="square" rtlCol="0">
            <a:spAutoFit/>
          </a:bodyPr>
          <a:lstStyle/>
          <a:p>
            <a:pPr>
              <a:lnSpc>
                <a:spcPct val="150000"/>
              </a:lnSpc>
            </a:pPr>
            <a:r>
              <a:rPr lang="en-US" altLang="ko-KR" sz="2400" b="1" dirty="0">
                <a:latin typeface="Calibri" panose="020F0502020204030204" pitchFamily="34" charset="0"/>
                <a:ea typeface="Calibri" panose="020F0502020204030204" pitchFamily="34" charset="0"/>
                <a:cs typeface="Calibri" panose="020F0502020204030204" pitchFamily="34" charset="0"/>
              </a:rPr>
              <a:t>Distance Measures for Social-Network Graphs</a:t>
            </a:r>
          </a:p>
        </p:txBody>
      </p:sp>
      <p:sp>
        <p:nvSpPr>
          <p:cNvPr id="7" name="文本框 6">
            <a:extLst>
              <a:ext uri="{FF2B5EF4-FFF2-40B4-BE49-F238E27FC236}">
                <a16:creationId xmlns:a16="http://schemas.microsoft.com/office/drawing/2014/main" id="{C1ECF4FB-7066-CC2C-F1AC-0860DBA26397}"/>
              </a:ext>
            </a:extLst>
          </p:cNvPr>
          <p:cNvSpPr txBox="1"/>
          <p:nvPr/>
        </p:nvSpPr>
        <p:spPr>
          <a:xfrm>
            <a:off x="734479" y="2188344"/>
            <a:ext cx="10723035" cy="4204356"/>
          </a:xfrm>
          <a:prstGeom prst="rect">
            <a:avLst/>
          </a:prstGeom>
          <a:noFill/>
        </p:spPr>
        <p:txBody>
          <a:bodyPr wrap="square" rtlCol="0">
            <a:spAutoFit/>
          </a:bodyPr>
          <a:lstStyle/>
          <a:p>
            <a:pPr marR="0" lvl="0" algn="l" defTabSz="914400" rtl="0" eaLnBrk="1" fontAlgn="auto" latinLnBrk="1" hangingPunct="1">
              <a:lnSpc>
                <a:spcPct val="15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Edge Labels as Distance Measures:</a:t>
            </a:r>
            <a:endParaRPr lang="en-US" altLang="ko-KR"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If graph edges have labels, these can sometimes be used as distance measures, depending on their meaning.</a:t>
            </a: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In unlabeled graphs (e.g., a “friends” graph), defining distance is more challenging.</a:t>
            </a:r>
          </a:p>
          <a:p>
            <a:pPr marR="0" lvl="0" algn="l" defTabSz="914400" rtl="0" eaLnBrk="1" fontAlgn="auto" latinLnBrk="1" hangingPunct="1">
              <a:lnSpc>
                <a:spcPct val="15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Initial Approach to Distance:</a:t>
            </a:r>
            <a:endParaRPr lang="en-US" altLang="ko-KR"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1" fontAlgn="auto" latinLnBrk="1" hangingPunct="1">
              <a:lnSpc>
                <a:spcPct val="150000"/>
              </a:lnSpc>
              <a:spcBef>
                <a:spcPts val="0"/>
              </a:spcBef>
              <a:spcAft>
                <a:spcPts val="0"/>
              </a:spcAft>
              <a:buClrTx/>
              <a:buSzTx/>
              <a:tabLst/>
              <a:defRPr/>
            </a:pPr>
            <a:r>
              <a:rPr kumimoji="0" lang="en-US" altLang="ko-K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 simple distance measure could assign:</a:t>
            </a: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0 if there is an edge between nodes (</a:t>
            </a:r>
            <a:r>
              <a:rPr kumimoji="0" lang="en-US" altLang="ko-KR"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x,y</a:t>
            </a: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t>
            </a: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 if there is no edge.</a:t>
            </a: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1" fontAlgn="auto" latinLnBrk="1" hangingPunct="1">
              <a:lnSpc>
                <a:spcPct val="150000"/>
              </a:lnSpc>
              <a:spcBef>
                <a:spcPts val="0"/>
              </a:spcBef>
              <a:spcAft>
                <a:spcPts val="0"/>
              </a:spcAft>
              <a:buClrTx/>
              <a:buSzTx/>
              <a:tabLst/>
              <a:defRPr/>
            </a:pPr>
            <a:r>
              <a:rPr kumimoji="0" lang="en-US" altLang="ko-KR"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Alternatively, values like 1 (for an edge) and ∞ (for no edge) can be used, as long as the distance is smaller when there is an edge.</a:t>
            </a:r>
          </a:p>
        </p:txBody>
      </p:sp>
    </p:spTree>
    <p:extLst>
      <p:ext uri="{BB962C8B-B14F-4D97-AF65-F5344CB8AC3E}">
        <p14:creationId xmlns:p14="http://schemas.microsoft.com/office/powerpoint/2010/main" val="2226991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5900-739F-9D90-4C2D-587608436E2F}"/>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6614855-6E8E-DD1E-D1BE-F4CCDC1FF006}"/>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8DA24881-FF54-63FA-98D7-7A9328DCBFE6}"/>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A4743887-729F-8C85-880B-51ACD107F395}"/>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6" name="文本框 5">
            <a:extLst>
              <a:ext uri="{FF2B5EF4-FFF2-40B4-BE49-F238E27FC236}">
                <a16:creationId xmlns:a16="http://schemas.microsoft.com/office/drawing/2014/main" id="{4D7DED43-0C9B-A2CF-68A2-63B4C0E71097}"/>
              </a:ext>
            </a:extLst>
          </p:cNvPr>
          <p:cNvSpPr txBox="1"/>
          <p:nvPr/>
        </p:nvSpPr>
        <p:spPr>
          <a:xfrm>
            <a:off x="528107" y="2590159"/>
            <a:ext cx="11135786" cy="2957861"/>
          </a:xfrm>
          <a:prstGeom prst="rect">
            <a:avLst/>
          </a:prstGeom>
          <a:noFill/>
        </p:spPr>
        <p:txBody>
          <a:bodyPr wrap="square" rtlCol="0">
            <a:spAutoFit/>
          </a:bodyPr>
          <a:lstStyle/>
          <a:p>
            <a:pPr marR="0" lvl="0" algn="l" defTabSz="914400" rtl="0" eaLnBrk="1" fontAlgn="auto" latinLnBrk="1" hangingPunct="1">
              <a:lnSpc>
                <a:spcPct val="15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Problems with Two-Valued Distance Measures:</a:t>
            </a:r>
            <a:endParaRPr lang="en-US" altLang="ko-KR"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1" fontAlgn="auto" latinLnBrk="1" hangingPunct="1">
              <a:lnSpc>
                <a:spcPct val="150000"/>
              </a:lnSpc>
              <a:spcBef>
                <a:spcPts val="0"/>
              </a:spcBef>
              <a:spcAft>
                <a:spcPts val="0"/>
              </a:spcAft>
              <a:buClrTx/>
              <a:buSzTx/>
              <a:tabLst/>
              <a:defRPr/>
            </a:pPr>
            <a:r>
              <a:rPr kumimoji="0" lang="en-US" altLang="ko-KR" sz="18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These measures violate the triangle inequality</a:t>
            </a:r>
            <a:endParaRPr lang="en-US" altLang="ko-KR" dirty="0">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Example: For three nodes (A,B,C), if edges(A,B) and (B,C) exist but (A,C) does not, the distance from A to C exceeds the sum of A</a:t>
            </a:r>
            <a:r>
              <a:rPr kumimoji="0" lang="en-US" altLang="ko-KR" i="0" u="none" strike="noStrike" kern="1200" cap="none" spc="0" normalizeH="0" baseline="0" noProof="0" dirty="0">
                <a:ln>
                  <a:noFill/>
                </a:ln>
                <a:effectLst/>
                <a:uLnTx/>
                <a:uFillTx/>
                <a:latin typeface="Calibri Light" panose="020F0302020204030204" pitchFamily="34" charset="0"/>
                <a:ea typeface="Calibri Light" panose="020F0302020204030204" pitchFamily="34" charset="0"/>
                <a:cs typeface="Calibri Light" panose="020F0302020204030204" pitchFamily="34" charset="0"/>
              </a:rPr>
              <a:t>→B </a:t>
            </a: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and B</a:t>
            </a:r>
            <a:r>
              <a:rPr kumimoji="0" lang="en-US" altLang="ko-KR" i="0" u="none" strike="noStrike" kern="1200" cap="none" spc="0" normalizeH="0" baseline="0" noProof="0" dirty="0">
                <a:ln>
                  <a:noFill/>
                </a:ln>
                <a:effectLst/>
                <a:uLnTx/>
                <a:uFillTx/>
                <a:latin typeface="Calibri Light" panose="020F0302020204030204" pitchFamily="34" charset="0"/>
                <a:ea typeface="Calibri Light" panose="020F0302020204030204" pitchFamily="34" charset="0"/>
                <a:cs typeface="Calibri Light" panose="020F0302020204030204" pitchFamily="34" charset="0"/>
              </a:rPr>
              <a:t>→C</a:t>
            </a: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a:t>
            </a:r>
          </a:p>
          <a:p>
            <a:pPr>
              <a:lnSpc>
                <a:spcPct val="150000"/>
              </a:lnSpc>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To fix this, one could use values like 1 (for an edge) and 1.5 (for no edge).</a:t>
            </a:r>
          </a:p>
          <a:p>
            <a:pPr>
              <a:lnSpc>
                <a:spcPct val="150000"/>
              </a:lnSpc>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Limitations Beyond the Triangle Inequality:</a:t>
            </a:r>
            <a:endParaRPr lang="en-US" altLang="ko-KR" b="1" dirty="0">
              <a:solidFill>
                <a:srgbClr val="00B050"/>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issues with two-valued distance measures are not confined to the triangle inequality. </a:t>
            </a:r>
          </a:p>
        </p:txBody>
      </p:sp>
      <p:sp>
        <p:nvSpPr>
          <p:cNvPr id="7" name="文本框 6">
            <a:extLst>
              <a:ext uri="{FF2B5EF4-FFF2-40B4-BE49-F238E27FC236}">
                <a16:creationId xmlns:a16="http://schemas.microsoft.com/office/drawing/2014/main" id="{D5BEC3C0-C9BE-65E7-DD6F-5DC5978D5A2F}"/>
              </a:ext>
            </a:extLst>
          </p:cNvPr>
          <p:cNvSpPr txBox="1"/>
          <p:nvPr/>
        </p:nvSpPr>
        <p:spPr>
          <a:xfrm>
            <a:off x="3097209" y="1374577"/>
            <a:ext cx="5997577" cy="589072"/>
          </a:xfrm>
          <a:prstGeom prst="rect">
            <a:avLst/>
          </a:prstGeom>
          <a:noFill/>
        </p:spPr>
        <p:txBody>
          <a:bodyPr wrap="square" rtlCol="0">
            <a:spAutoFit/>
          </a:bodyPr>
          <a:lstStyle/>
          <a:p>
            <a:pPr>
              <a:lnSpc>
                <a:spcPct val="150000"/>
              </a:lnSpc>
            </a:pPr>
            <a:r>
              <a:rPr lang="en-US" altLang="ko-KR" sz="2400" b="1" dirty="0">
                <a:latin typeface="Calibri" panose="020F0502020204030204" pitchFamily="34" charset="0"/>
                <a:ea typeface="Calibri" panose="020F0502020204030204" pitchFamily="34" charset="0"/>
                <a:cs typeface="Calibri" panose="020F0502020204030204" pitchFamily="34" charset="0"/>
              </a:rPr>
              <a:t>Distance Measures for Social-Network Graphs</a:t>
            </a:r>
          </a:p>
        </p:txBody>
      </p:sp>
    </p:spTree>
    <p:extLst>
      <p:ext uri="{BB962C8B-B14F-4D97-AF65-F5344CB8AC3E}">
        <p14:creationId xmlns:p14="http://schemas.microsoft.com/office/powerpoint/2010/main" val="3294005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22D0B-A001-E255-42AE-906A894B459A}"/>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104C02E4-0FCF-92E6-32B1-BE5BB57862AE}"/>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D7CEFFD9-5ED5-08A7-609A-3BC7B18B422C}"/>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14DB57B4-EA06-7893-17E2-85695C7A3900}"/>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54706DD7-9AA3-E6F7-FC2E-8E0D69F6043D}"/>
              </a:ext>
            </a:extLst>
          </p:cNvPr>
          <p:cNvSpPr txBox="1"/>
          <p:nvPr/>
        </p:nvSpPr>
        <p:spPr>
          <a:xfrm>
            <a:off x="3444344" y="1383045"/>
            <a:ext cx="5066244" cy="589072"/>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2400" b="1" dirty="0">
                <a:latin typeface="Calibri" panose="020F0502020204030204" pitchFamily="34" charset="0"/>
                <a:ea typeface="Calibri" panose="020F0502020204030204" pitchFamily="34" charset="0"/>
                <a:cs typeface="Calibri" panose="020F0502020204030204" pitchFamily="34" charset="0"/>
              </a:rPr>
              <a:t>Applying Standard Clustering Methods</a:t>
            </a:r>
            <a:endPar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37C793BB-BDFB-33BE-59A0-E68FDC861F68}"/>
              </a:ext>
            </a:extLst>
          </p:cNvPr>
          <p:cNvSpPr txBox="1"/>
          <p:nvPr/>
        </p:nvSpPr>
        <p:spPr>
          <a:xfrm>
            <a:off x="1221316" y="2688834"/>
            <a:ext cx="9512300" cy="2862322"/>
          </a:xfrm>
          <a:prstGeom prst="rect">
            <a:avLst/>
          </a:prstGeom>
          <a:noFill/>
        </p:spPr>
        <p:txBody>
          <a:bodyPr wrap="square" rtlCol="0">
            <a:spAutoFit/>
          </a:bodyPr>
          <a:lstStyle/>
          <a:p>
            <a:r>
              <a:rPr lang="en-US" altLang="ko-KR" sz="2000" dirty="0">
                <a:latin typeface="Calibri" panose="020F0502020204030204" pitchFamily="34" charset="0"/>
                <a:ea typeface="Calibri" panose="020F0502020204030204" pitchFamily="34" charset="0"/>
                <a:cs typeface="Calibri" panose="020F0502020204030204" pitchFamily="34" charset="0"/>
              </a:rPr>
              <a:t>There are two main approaches:</a:t>
            </a:r>
          </a:p>
          <a:p>
            <a:r>
              <a:rPr lang="en-US" altLang="ko-KR" sz="2000" dirty="0">
                <a:latin typeface="Calibri" panose="020F0502020204030204" pitchFamily="34" charset="0"/>
                <a:ea typeface="Calibri" panose="020F0502020204030204" pitchFamily="34" charset="0"/>
                <a:cs typeface="Calibri" panose="020F0502020204030204" pitchFamily="34" charset="0"/>
              </a:rPr>
              <a:t>hierarchical (agglomerative) and point-assignment.</a:t>
            </a:r>
          </a:p>
          <a:p>
            <a:endParaRPr lang="en-US" altLang="ko-KR" sz="2000" dirty="0">
              <a:latin typeface="Calibri" panose="020F0502020204030204" pitchFamily="34" charset="0"/>
              <a:ea typeface="Calibri" panose="020F0502020204030204" pitchFamily="34" charset="0"/>
              <a:cs typeface="Calibri" panose="020F0502020204030204" pitchFamily="34" charset="0"/>
            </a:endParaRPr>
          </a:p>
          <a:p>
            <a:r>
              <a:rPr lang="en-US" altLang="ko-KR" sz="2000" dirty="0">
                <a:latin typeface="Calibri" panose="020F0502020204030204" pitchFamily="34" charset="0"/>
                <a:ea typeface="Calibri" panose="020F0502020204030204" pitchFamily="34" charset="0"/>
                <a:cs typeface="Calibri" panose="020F0502020204030204" pitchFamily="34" charset="0"/>
              </a:rPr>
              <a:t>For hierarchical clustering in a social-network graph, we can use the minimum distance between nodes of two clusters as the </a:t>
            </a:r>
            <a:r>
              <a:rPr lang="en-US" altLang="ko-KR" sz="2000" dirty="0" err="1">
                <a:latin typeface="Calibri" panose="020F0502020204030204" pitchFamily="34" charset="0"/>
                <a:ea typeface="Calibri" panose="020F0502020204030204" pitchFamily="34" charset="0"/>
                <a:cs typeface="Calibri" panose="020F0502020204030204" pitchFamily="34" charset="0"/>
              </a:rPr>
              <a:t>intercluster</a:t>
            </a:r>
            <a:r>
              <a:rPr lang="en-US" altLang="ko-KR" sz="2000" dirty="0">
                <a:latin typeface="Calibri" panose="020F0502020204030204" pitchFamily="34" charset="0"/>
                <a:ea typeface="Calibri" panose="020F0502020204030204" pitchFamily="34" charset="0"/>
                <a:cs typeface="Calibri" panose="020F0502020204030204" pitchFamily="34" charset="0"/>
              </a:rPr>
              <a:t> distance. The process begins by combining two connected nodes. Then, edges not within the same cluster are randomly chosen to merge the clusters connected by those edges. This randomness arises because all edge distances are equal in this context.</a:t>
            </a:r>
          </a:p>
          <a:p>
            <a:endParaRPr lang="ko-KR" alt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1447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87E6-7715-C406-010A-D35AB24D316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1CD92C9D-27B8-C83B-8868-2F23B29B5270}"/>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CCF2A8B8-2ED3-6829-D93C-E35EAA45A735}"/>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AA465D63-933D-848E-827B-4430E236B66F}"/>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DBE08BF6-B580-CF37-6CE1-F8490F550C57}"/>
              </a:ext>
            </a:extLst>
          </p:cNvPr>
          <p:cNvSpPr txBox="1"/>
          <p:nvPr/>
        </p:nvSpPr>
        <p:spPr>
          <a:xfrm>
            <a:off x="3444344" y="1383045"/>
            <a:ext cx="5066244" cy="589072"/>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2400" b="1" dirty="0">
                <a:latin typeface="Calibri" panose="020F0502020204030204" pitchFamily="34" charset="0"/>
                <a:ea typeface="Calibri" panose="020F0502020204030204" pitchFamily="34" charset="0"/>
                <a:cs typeface="Calibri" panose="020F0502020204030204" pitchFamily="34" charset="0"/>
              </a:rPr>
              <a:t>Applying Standard Clustering Methods</a:t>
            </a:r>
            <a:endPar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EB982FBC-FF23-BB36-70A2-74CCDE4F1360}"/>
              </a:ext>
            </a:extLst>
          </p:cNvPr>
          <p:cNvSpPr txBox="1"/>
          <p:nvPr/>
        </p:nvSpPr>
        <p:spPr>
          <a:xfrm>
            <a:off x="940858" y="2495736"/>
            <a:ext cx="10310283" cy="1323439"/>
          </a:xfrm>
          <a:prstGeom prst="rect">
            <a:avLst/>
          </a:prstGeom>
          <a:noFill/>
        </p:spPr>
        <p:txBody>
          <a:bodyPr wrap="square" rtlCol="0">
            <a:spAutoFit/>
          </a:bodyPr>
          <a:lstStyle/>
          <a:p>
            <a:r>
              <a:rPr lang="en-US" altLang="ko-KR" sz="2000" dirty="0">
                <a:latin typeface="Calibri" panose="020F0502020204030204" pitchFamily="34" charset="0"/>
                <a:ea typeface="Calibri" panose="020F0502020204030204" pitchFamily="34" charset="0"/>
                <a:cs typeface="Calibri" panose="020F0502020204030204" pitchFamily="34" charset="0"/>
              </a:rPr>
              <a:t>In </a:t>
            </a:r>
            <a:r>
              <a:rPr lang="en-US" altLang="zh-CN" sz="2000" dirty="0">
                <a:latin typeface="Calibri" panose="020F0502020204030204" pitchFamily="34" charset="0"/>
                <a:ea typeface="Calibri" panose="020F0502020204030204" pitchFamily="34" charset="0"/>
                <a:cs typeface="Calibri" panose="020F0502020204030204" pitchFamily="34" charset="0"/>
              </a:rPr>
              <a:t>this</a:t>
            </a:r>
            <a:r>
              <a:rPr lang="en-US" altLang="ko-KR" sz="2000" dirty="0">
                <a:latin typeface="Calibri" panose="020F0502020204030204" pitchFamily="34" charset="0"/>
                <a:ea typeface="Calibri" panose="020F0502020204030204" pitchFamily="34" charset="0"/>
                <a:cs typeface="Calibri" panose="020F0502020204030204" pitchFamily="34" charset="0"/>
              </a:rPr>
              <a:t> graph, we can identify communities at different levels.</a:t>
            </a:r>
          </a:p>
          <a:p>
            <a:r>
              <a:rPr lang="en-US" altLang="ko-KR" sz="2000" dirty="0">
                <a:latin typeface="Calibri" panose="020F0502020204030204" pitchFamily="34" charset="0"/>
                <a:cs typeface="Calibri" panose="020F0502020204030204" pitchFamily="34" charset="0"/>
              </a:rPr>
              <a:t>At the highest level, there are two main communities: {A, B, C} and {D, E, F, G}. Within {D, E, F, G}, we can identify two overlapping subcommunities: {D, E, F} and {D, F, G}, which cannot be captured by a pure clustering algorithm due to the overlap.</a:t>
            </a:r>
            <a:endParaRPr lang="ko-KR" altLang="en-US" sz="2000" dirty="0">
              <a:latin typeface="Calibri" panose="020F0502020204030204" pitchFamily="34" charset="0"/>
              <a:cs typeface="Calibri" panose="020F0502020204030204" pitchFamily="34" charset="0"/>
            </a:endParaRPr>
          </a:p>
        </p:txBody>
      </p:sp>
      <p:pic>
        <p:nvPicPr>
          <p:cNvPr id="7" name="图片 6">
            <a:extLst>
              <a:ext uri="{FF2B5EF4-FFF2-40B4-BE49-F238E27FC236}">
                <a16:creationId xmlns:a16="http://schemas.microsoft.com/office/drawing/2014/main" id="{E51B95F1-8E25-390B-3700-07912EFBD40F}"/>
              </a:ext>
            </a:extLst>
          </p:cNvPr>
          <p:cNvPicPr>
            <a:picLocks noChangeAspect="1"/>
          </p:cNvPicPr>
          <p:nvPr/>
        </p:nvPicPr>
        <p:blipFill>
          <a:blip r:embed="rId3"/>
          <a:stretch>
            <a:fillRect/>
          </a:stretch>
        </p:blipFill>
        <p:spPr>
          <a:xfrm>
            <a:off x="3935129" y="4052413"/>
            <a:ext cx="4084674" cy="2042337"/>
          </a:xfrm>
          <a:prstGeom prst="rect">
            <a:avLst/>
          </a:prstGeom>
        </p:spPr>
      </p:pic>
    </p:spTree>
    <p:extLst>
      <p:ext uri="{BB962C8B-B14F-4D97-AF65-F5344CB8AC3E}">
        <p14:creationId xmlns:p14="http://schemas.microsoft.com/office/powerpoint/2010/main" val="3342193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52F34-D051-3B91-8BFE-89A0F997B0D6}"/>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DA742D27-B9D9-5B3D-192F-DE23F6672FF3}"/>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A02AC15D-6822-B719-06F2-074063FD2598}"/>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B1584BB2-EC3E-A100-6DCE-AC64659C7D3E}"/>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DF8EA9D1-E8DE-6351-8C04-866F8825BBC5}"/>
              </a:ext>
            </a:extLst>
          </p:cNvPr>
          <p:cNvSpPr txBox="1"/>
          <p:nvPr/>
        </p:nvSpPr>
        <p:spPr>
          <a:xfrm>
            <a:off x="5023377" y="1374578"/>
            <a:ext cx="1908177" cy="586058"/>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2400" b="1" dirty="0">
                <a:latin typeface="Calibri" panose="020F0502020204030204" pitchFamily="34" charset="0"/>
                <a:ea typeface="Calibri" panose="020F0502020204030204" pitchFamily="34" charset="0"/>
                <a:cs typeface="Calibri" panose="020F0502020204030204" pitchFamily="34" charset="0"/>
              </a:rPr>
              <a:t>Betweenness</a:t>
            </a:r>
            <a:endPar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CCA13026-1A3F-E9B1-BEF1-1CB5A38FA533}"/>
              </a:ext>
            </a:extLst>
          </p:cNvPr>
          <p:cNvSpPr txBox="1"/>
          <p:nvPr/>
        </p:nvSpPr>
        <p:spPr>
          <a:xfrm>
            <a:off x="734482" y="2307140"/>
            <a:ext cx="10723035" cy="4204356"/>
          </a:xfrm>
          <a:prstGeom prst="rect">
            <a:avLst/>
          </a:prstGeom>
          <a:noFill/>
        </p:spPr>
        <p:txBody>
          <a:bodyPr wrap="square" rtlCol="0">
            <a:spAutoFit/>
          </a:bodyPr>
          <a:lstStyle/>
          <a:p>
            <a:pPr marR="0" lvl="0" algn="l" defTabSz="914400" rtl="0" eaLnBrk="1" fontAlgn="auto" latinLnBrk="1" hangingPunct="1">
              <a:lnSpc>
                <a:spcPct val="15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Edge Betweenness:</a:t>
            </a: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betweenness of an edge(</a:t>
            </a:r>
            <a:r>
              <a:rPr kumimoji="0" lang="en-US" altLang="ko-KR"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a,b</a:t>
            </a: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is defined as the number of node pairs (</a:t>
            </a:r>
            <a:r>
              <a:rPr kumimoji="0" lang="en-US" altLang="ko-KR"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x,y</a:t>
            </a: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for which the edge lies on the shortest path between  x and y.</a:t>
            </a: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If there are multiple shortest paths between  x and y, the edge is assigned a fractional score proportional to the number of shortest paths that include it.</a:t>
            </a:r>
          </a:p>
          <a:p>
            <a:pPr marR="0" lvl="0" algn="l" defTabSz="914400" rtl="0" eaLnBrk="1" fontAlgn="auto" latinLnBrk="1" hangingPunct="1">
              <a:lnSpc>
                <a:spcPct val="150000"/>
              </a:lnSpc>
              <a:spcBef>
                <a:spcPts val="0"/>
              </a:spcBef>
              <a:spcAft>
                <a:spcPts val="0"/>
              </a:spcAft>
              <a:buClrTx/>
              <a:buSzTx/>
              <a:tabLst/>
              <a:defRPr/>
            </a:pPr>
            <a:r>
              <a:rPr kumimoji="0" lang="en-US" altLang="ko-KR" sz="1800"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Interpretation of Betweenness:</a:t>
            </a: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 high betweenness score indicates that the edge likely connects two different communities, meaning  and  belong to different groups.</a:t>
            </a: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Edges with high betweenness scores are often removed to separate the graph into communities.</a:t>
            </a:r>
          </a:p>
          <a:p>
            <a:pPr marR="0" lvl="0" algn="l" defTabSz="914400" rtl="0" eaLnBrk="1" fontAlgn="auto" latinLnBrk="1" hangingPunct="1">
              <a:lnSpc>
                <a:spcPct val="150000"/>
              </a:lnSpc>
              <a:spcBef>
                <a:spcPts val="0"/>
              </a:spcBef>
              <a:spcAft>
                <a:spcPts val="0"/>
              </a:spcAft>
              <a:buClrTx/>
              <a:buSzTx/>
              <a:tabLst/>
              <a:defRPr/>
            </a:pP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3020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9AA-625B-D8C5-960A-7958ED6857D3}"/>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A5EA34C-F7B1-AFD2-2A2C-475E3B4BCF6E}"/>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A9969BCF-434C-5B8C-85FE-E52BDC2EE3CA}"/>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7BBD6DF5-7909-D3BC-7BAB-E791B0768ECA}"/>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CA8CFC89-854D-96BE-23B7-A99C40179E82}"/>
              </a:ext>
            </a:extLst>
          </p:cNvPr>
          <p:cNvSpPr txBox="1"/>
          <p:nvPr/>
        </p:nvSpPr>
        <p:spPr>
          <a:xfrm>
            <a:off x="5023377" y="1374578"/>
            <a:ext cx="1908177" cy="586058"/>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2400" b="1" dirty="0">
                <a:latin typeface="Calibri" panose="020F0502020204030204" pitchFamily="34" charset="0"/>
                <a:ea typeface="Calibri" panose="020F0502020204030204" pitchFamily="34" charset="0"/>
                <a:cs typeface="Calibri" panose="020F0502020204030204" pitchFamily="34" charset="0"/>
              </a:rPr>
              <a:t>Betweenness</a:t>
            </a:r>
            <a:endPar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2DC69C1-310A-C63A-11D5-C2F6C75FA8D6}"/>
                  </a:ext>
                </a:extLst>
              </p:cNvPr>
              <p:cNvSpPr txBox="1"/>
              <p:nvPr/>
            </p:nvSpPr>
            <p:spPr>
              <a:xfrm>
                <a:off x="430741" y="2423553"/>
                <a:ext cx="11330518" cy="1295868"/>
              </a:xfrm>
              <a:prstGeom prst="rect">
                <a:avLst/>
              </a:prstGeom>
              <a:noFill/>
            </p:spPr>
            <p:txBody>
              <a:bodyPr wrap="square" rtlCol="0">
                <a:spAutoFit/>
              </a:bodyPr>
              <a:lstStyle/>
              <a:p>
                <a:pPr marR="0" lvl="0" algn="l" defTabSz="914400" rtl="0" eaLnBrk="1" fontAlgn="auto" latinLnBrk="1" hangingPunct="1">
                  <a:lnSpc>
                    <a:spcPct val="150000"/>
                  </a:lnSpc>
                  <a:spcBef>
                    <a:spcPts val="0"/>
                  </a:spcBef>
                  <a:spcAft>
                    <a:spcPts val="0"/>
                  </a:spcAft>
                  <a:buClrTx/>
                  <a:buSzTx/>
                  <a:tabLst/>
                  <a:defRPr/>
                </a:pPr>
                <a:r>
                  <a:rPr kumimoji="0" lang="en-US" altLang="ko-KR" sz="18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In Figure, the edge(B,D)  has the highest betweenness score because it lies on every shortest path between nodes A,B,C and D,E,F,G. Its score is </a:t>
                </a:r>
                <a14:m>
                  <m:oMath xmlns:m="http://schemas.openxmlformats.org/officeDocument/2006/math">
                    <m:r>
                      <a:rPr kumimoji="0" lang="en-US" altLang="ko-KR" sz="1800" b="0" i="1" u="none" strike="noStrike" kern="1200" cap="none" spc="0" normalizeH="0" baseline="0" noProof="0" smtClean="0">
                        <a:ln>
                          <a:noFill/>
                        </a:ln>
                        <a:effectLst/>
                        <a:uLnTx/>
                        <a:uFillTx/>
                        <a:latin typeface="Cambria Math" panose="02040503050406030204" pitchFamily="18" charset="0"/>
                        <a:ea typeface="Calibri" panose="020F0502020204030204" pitchFamily="34" charset="0"/>
                        <a:cs typeface="Calibri" panose="020F0502020204030204" pitchFamily="34" charset="0"/>
                      </a:rPr>
                      <m:t>3</m:t>
                    </m:r>
                    <m:r>
                      <a:rPr kumimoji="0" lang="en-US" altLang="ko-KR" sz="1800" b="0" i="1" u="none" strike="noStrike" kern="1200" cap="none" spc="0" normalizeH="0" baseline="0" noProof="0" smtClean="0">
                        <a:ln>
                          <a:noFill/>
                        </a:ln>
                        <a:effectLst/>
                        <a:uLnTx/>
                        <a:uFillTx/>
                        <a:latin typeface="Cambria Math" panose="02040503050406030204" pitchFamily="18" charset="0"/>
                        <a:ea typeface="Cambria Math" panose="02040503050406030204" pitchFamily="18" charset="0"/>
                        <a:cs typeface="Calibri" panose="020F0502020204030204" pitchFamily="34" charset="0"/>
                      </a:rPr>
                      <m:t>×4=12</m:t>
                    </m:r>
                  </m:oMath>
                </a14:m>
                <a:r>
                  <a:rPr kumimoji="0" lang="en-US" altLang="ko-KR" sz="18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 .</a:t>
                </a:r>
                <a:endParaRPr lang="en-US" altLang="ko-KR" dirty="0">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1" fontAlgn="auto" latinLnBrk="1" hangingPunct="1">
                  <a:lnSpc>
                    <a:spcPct val="150000"/>
                  </a:lnSpc>
                  <a:spcBef>
                    <a:spcPts val="0"/>
                  </a:spcBef>
                  <a:spcAft>
                    <a:spcPts val="0"/>
                  </a:spcAft>
                  <a:buClrTx/>
                  <a:buSzTx/>
                  <a:tabLst/>
                  <a:defRPr/>
                </a:pPr>
                <a:r>
                  <a:rPr kumimoji="0" lang="en-US" altLang="ko-KR" sz="180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In contrast, the edge(D,F)  is only part of four shortest paths (from A,B,C,D to F).</a:t>
                </a:r>
                <a:endParaRPr lang="en-US" altLang="ko-KR"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 name="文本框 5">
                <a:extLst>
                  <a:ext uri="{FF2B5EF4-FFF2-40B4-BE49-F238E27FC236}">
                    <a16:creationId xmlns:a16="http://schemas.microsoft.com/office/drawing/2014/main" id="{12DC69C1-310A-C63A-11D5-C2F6C75FA8D6}"/>
                  </a:ext>
                </a:extLst>
              </p:cNvPr>
              <p:cNvSpPr txBox="1">
                <a:spLocks noRot="1" noChangeAspect="1" noMove="1" noResize="1" noEditPoints="1" noAdjustHandles="1" noChangeArrowheads="1" noChangeShapeType="1" noTextEdit="1"/>
              </p:cNvSpPr>
              <p:nvPr/>
            </p:nvSpPr>
            <p:spPr>
              <a:xfrm>
                <a:off x="430741" y="2423553"/>
                <a:ext cx="11330518" cy="1295868"/>
              </a:xfrm>
              <a:prstGeom prst="rect">
                <a:avLst/>
              </a:prstGeom>
              <a:blipFill>
                <a:blip r:embed="rId3"/>
                <a:stretch>
                  <a:fillRect l="-484" r="-377" b="-7075"/>
                </a:stretch>
              </a:blipFill>
            </p:spPr>
            <p:txBody>
              <a:bodyPr/>
              <a:lstStyle/>
              <a:p>
                <a:r>
                  <a:rPr lang="ko-KR" altLang="en-US">
                    <a:noFill/>
                  </a:rPr>
                  <a:t> </a:t>
                </a:r>
              </a:p>
            </p:txBody>
          </p:sp>
        </mc:Fallback>
      </mc:AlternateContent>
      <p:pic>
        <p:nvPicPr>
          <p:cNvPr id="7" name="图片 6">
            <a:extLst>
              <a:ext uri="{FF2B5EF4-FFF2-40B4-BE49-F238E27FC236}">
                <a16:creationId xmlns:a16="http://schemas.microsoft.com/office/drawing/2014/main" id="{D05EE19F-9C17-3942-D29E-BD7F9423975E}"/>
              </a:ext>
            </a:extLst>
          </p:cNvPr>
          <p:cNvPicPr>
            <a:picLocks noChangeAspect="1"/>
          </p:cNvPicPr>
          <p:nvPr/>
        </p:nvPicPr>
        <p:blipFill>
          <a:blip r:embed="rId4"/>
          <a:stretch>
            <a:fillRect/>
          </a:stretch>
        </p:blipFill>
        <p:spPr>
          <a:xfrm>
            <a:off x="3935128" y="4120147"/>
            <a:ext cx="4084674" cy="2042337"/>
          </a:xfrm>
          <a:prstGeom prst="rect">
            <a:avLst/>
          </a:prstGeom>
        </p:spPr>
      </p:pic>
    </p:spTree>
    <p:extLst>
      <p:ext uri="{BB962C8B-B14F-4D97-AF65-F5344CB8AC3E}">
        <p14:creationId xmlns:p14="http://schemas.microsoft.com/office/powerpoint/2010/main" val="323844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B7747-2EA3-A71E-1F02-58D97F622386}"/>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9CEA654-CDDD-CB28-F691-9501659EB946}"/>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5D7F1025-121F-5281-7D16-452E02AD445F}"/>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EF855D47-D59A-4787-C1C9-002F7A94D40A}"/>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02E32535-9B40-049A-3426-98C1A1F30EA2}"/>
              </a:ext>
            </a:extLst>
          </p:cNvPr>
          <p:cNvSpPr txBox="1"/>
          <p:nvPr/>
        </p:nvSpPr>
        <p:spPr>
          <a:xfrm>
            <a:off x="3906571" y="1368818"/>
            <a:ext cx="4141790" cy="589072"/>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2400" b="1" dirty="0">
                <a:latin typeface="Calibri" panose="020F0502020204030204" pitchFamily="34" charset="0"/>
                <a:ea typeface="Calibri" panose="020F0502020204030204" pitchFamily="34" charset="0"/>
                <a:cs typeface="Calibri" panose="020F0502020204030204" pitchFamily="34" charset="0"/>
              </a:rPr>
              <a:t>The Girvan-Newman Algorithm</a:t>
            </a:r>
            <a:endPar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217B8E67-3565-7183-71F5-2996AC2593D7}"/>
              </a:ext>
            </a:extLst>
          </p:cNvPr>
          <p:cNvSpPr txBox="1"/>
          <p:nvPr/>
        </p:nvSpPr>
        <p:spPr>
          <a:xfrm>
            <a:off x="370813" y="2284286"/>
            <a:ext cx="11450374" cy="4247317"/>
          </a:xfrm>
          <a:prstGeom prst="rect">
            <a:avLst/>
          </a:prstGeom>
          <a:noFill/>
        </p:spPr>
        <p:txBody>
          <a:bodyPr wrap="square" rtlCol="0">
            <a:spAutoFit/>
          </a:bodyPr>
          <a:lstStyle/>
          <a:p>
            <a:pPr marR="0" lvl="0" algn="l" defTabSz="914400" rtl="0" eaLnBrk="1" fontAlgn="auto" latinLnBrk="1" hangingPunct="1">
              <a:spcBef>
                <a:spcPts val="0"/>
              </a:spcBef>
              <a:spcAft>
                <a:spcPts val="0"/>
              </a:spcAft>
              <a:buClrTx/>
              <a:buSzTx/>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Purpose of the Algorithm:</a:t>
            </a:r>
          </a:p>
          <a:p>
            <a:pPr marR="0" lvl="0" algn="l" defTabSz="914400" rtl="0" eaLnBrk="1" fontAlgn="auto" latinLnBrk="1" hangingPunct="1">
              <a:spcBef>
                <a:spcPts val="0"/>
              </a:spcBef>
              <a:spcAft>
                <a:spcPts val="0"/>
              </a:spcAft>
              <a:buClrTx/>
              <a:buSzTx/>
              <a:tabLst/>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GN algorithm determines the betweenness of edges by counting the number of shortest paths that pass through each edge in the graph.</a:t>
            </a:r>
          </a:p>
          <a:p>
            <a:pPr marR="0" lvl="0" algn="l" defTabSz="914400" rtl="0" eaLnBrk="1" fontAlgn="auto" latinLnBrk="1" hangingPunct="1">
              <a:spcBef>
                <a:spcPts val="0"/>
              </a:spcBef>
              <a:spcAft>
                <a:spcPts val="0"/>
              </a:spcAft>
              <a:buClrTx/>
              <a:buSzTx/>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Algorithm Overview:</a:t>
            </a:r>
          </a:p>
          <a:p>
            <a:pPr marR="0" lvl="0" algn="l" defTabSz="914400" rtl="0" eaLnBrk="1" fontAlgn="auto" latinLnBrk="1" hangingPunct="1">
              <a:spcBef>
                <a:spcPts val="0"/>
              </a:spcBef>
              <a:spcAft>
                <a:spcPts val="0"/>
              </a:spcAft>
              <a:buClrTx/>
              <a:buSzTx/>
              <a:tabLst/>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algorithm processes one node X at a time.</a:t>
            </a:r>
            <a:r>
              <a:rPr lang="en-US" altLang="ko-KR" dirty="0">
                <a:latin typeface="Calibri" panose="020F0502020204030204" pitchFamily="34" charset="0"/>
                <a:ea typeface="Calibri" panose="020F0502020204030204" pitchFamily="34" charset="0"/>
                <a:cs typeface="Calibri" panose="020F0502020204030204" pitchFamily="34" charset="0"/>
              </a:rPr>
              <a:t> </a:t>
            </a: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It uses breadth-first search (BFS) starting from X to explore the graph and calculate shortest paths.</a:t>
            </a:r>
          </a:p>
          <a:p>
            <a:pPr marR="0" lvl="0" algn="l" defTabSz="914400" rtl="0" eaLnBrk="1" fontAlgn="auto" latinLnBrk="1" hangingPunct="1">
              <a:spcBef>
                <a:spcPts val="0"/>
              </a:spcBef>
              <a:spcAft>
                <a:spcPts val="0"/>
              </a:spcAft>
              <a:buClrTx/>
              <a:buSzTx/>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BFS and Node Levels:</a:t>
            </a:r>
          </a:p>
          <a:p>
            <a:pPr marR="0" lvl="0" algn="l" defTabSz="914400" rtl="0" eaLnBrk="1" fontAlgn="auto" latinLnBrk="1" hangingPunct="1">
              <a:spcBef>
                <a:spcPts val="0"/>
              </a:spcBef>
              <a:spcAft>
                <a:spcPts val="0"/>
              </a:spcAft>
              <a:buClrTx/>
              <a:buSzTx/>
              <a:tabLst/>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The BFS assigns each node a level, which corresponds to the shortest path distance from the root node X.</a:t>
            </a:r>
            <a:r>
              <a:rPr lang="en-US" altLang="ko-KR" dirty="0">
                <a:latin typeface="Calibri" panose="020F0502020204030204" pitchFamily="34" charset="0"/>
                <a:ea typeface="Calibri" panose="020F0502020204030204" pitchFamily="34" charset="0"/>
                <a:cs typeface="Calibri" panose="020F0502020204030204" pitchFamily="34" charset="0"/>
              </a:rPr>
              <a:t> </a:t>
            </a: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Edges connecting nodes at the same level are not part of any shortest path starting at X.</a:t>
            </a:r>
          </a:p>
          <a:p>
            <a:pPr marR="0" lvl="0" algn="l" defTabSz="914400" rtl="0" eaLnBrk="1" fontAlgn="auto" latinLnBrk="1" hangingPunct="1">
              <a:spcBef>
                <a:spcPts val="0"/>
              </a:spcBef>
              <a:spcAft>
                <a:spcPts val="0"/>
              </a:spcAft>
              <a:buClrTx/>
              <a:buSzTx/>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DAG Edges:</a:t>
            </a:r>
          </a:p>
          <a:p>
            <a:pPr marR="0" lvl="0" algn="l" defTabSz="914400" rtl="0" eaLnBrk="1" fontAlgn="auto" latinLnBrk="1" hangingPunct="1">
              <a:spcBef>
                <a:spcPts val="0"/>
              </a:spcBef>
              <a:spcAft>
                <a:spcPts val="0"/>
              </a:spcAft>
              <a:buClrTx/>
              <a:buSzTx/>
              <a:tabLst/>
              <a:defRPr/>
            </a:pPr>
            <a:r>
              <a:rPr lang="en-US" altLang="ko-KR" dirty="0">
                <a:latin typeface="Calibri" panose="020F0502020204030204" pitchFamily="34" charset="0"/>
                <a:ea typeface="Calibri" panose="020F0502020204030204" pitchFamily="34" charset="0"/>
                <a:cs typeface="Calibri" panose="020F0502020204030204" pitchFamily="34" charset="0"/>
              </a:rPr>
              <a:t>Edges between nodes at different levels are called DAG edges (Directed Acyclic Graph). These edges represent paths in the graph where one node (parent) is closer to the root and the other (child) is farther away.</a:t>
            </a:r>
          </a:p>
          <a:p>
            <a:pPr marR="0" lvl="0" algn="l" defTabSz="914400" rtl="0" eaLnBrk="1" fontAlgn="auto" latinLnBrk="1" hangingPunct="1">
              <a:spcBef>
                <a:spcPts val="0"/>
              </a:spcBef>
              <a:spcAft>
                <a:spcPts val="0"/>
              </a:spcAft>
              <a:buClrTx/>
              <a:buSzTx/>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Parent-Child Relationships:</a:t>
            </a:r>
          </a:p>
          <a:p>
            <a:pPr marR="0" lvl="0" algn="l" defTabSz="914400" rtl="0" eaLnBrk="1" fontAlgn="auto" latinLnBrk="1" hangingPunct="1">
              <a:spcBef>
                <a:spcPts val="0"/>
              </a:spcBef>
              <a:spcAft>
                <a:spcPts val="0"/>
              </a:spcAft>
              <a:buClrTx/>
              <a:buSzTx/>
              <a:tabLst/>
              <a:defRPr/>
            </a:pP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If there is a DAG edge (Y,Z)  where Y is one level above Z,  Y is a parent of Z, and Z is a child of Y.</a:t>
            </a:r>
            <a:r>
              <a:rPr lang="en-US" altLang="ko-KR" dirty="0">
                <a:latin typeface="Calibri" panose="020F0502020204030204" pitchFamily="34" charset="0"/>
                <a:ea typeface="Calibri" panose="020F0502020204030204" pitchFamily="34" charset="0"/>
                <a:cs typeface="Calibri" panose="020F0502020204030204" pitchFamily="34" charset="0"/>
              </a:rPr>
              <a:t> </a:t>
            </a:r>
            <a:r>
              <a:rPr kumimoji="0" lang="en-US" altLang="ko-KR"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Unlike in a tree, nodes in a DAG can have multiple parents.</a:t>
            </a:r>
          </a:p>
        </p:txBody>
      </p:sp>
    </p:spTree>
    <p:extLst>
      <p:ext uri="{BB962C8B-B14F-4D97-AF65-F5344CB8AC3E}">
        <p14:creationId xmlns:p14="http://schemas.microsoft.com/office/powerpoint/2010/main" val="224908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8758A-67DB-B369-5A5B-C2F4266DFBA8}"/>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A9106FE9-091D-123E-FB6D-E1450C6964F2}"/>
              </a:ext>
            </a:extLst>
          </p:cNvPr>
          <p:cNvPicPr>
            <a:picLocks noChangeAspect="1"/>
          </p:cNvPicPr>
          <p:nvPr/>
        </p:nvPicPr>
        <p:blipFill>
          <a:blip r:embed="rId2"/>
          <a:srcRect t="2593" b="1358"/>
          <a:stretch/>
        </p:blipFill>
        <p:spPr>
          <a:xfrm>
            <a:off x="0" y="0"/>
            <a:ext cx="12192000" cy="6858000"/>
          </a:xfrm>
          <a:prstGeom prst="rect">
            <a:avLst/>
          </a:prstGeom>
        </p:spPr>
      </p:pic>
      <p:sp>
        <p:nvSpPr>
          <p:cNvPr id="2" name="文本框 1">
            <a:extLst>
              <a:ext uri="{FF2B5EF4-FFF2-40B4-BE49-F238E27FC236}">
                <a16:creationId xmlns:a16="http://schemas.microsoft.com/office/drawing/2014/main" id="{5DC151A7-CD50-AEBC-F608-16F1091D6178}"/>
              </a:ext>
            </a:extLst>
          </p:cNvPr>
          <p:cNvSpPr txBox="1"/>
          <p:nvPr/>
        </p:nvSpPr>
        <p:spPr>
          <a:xfrm>
            <a:off x="1083734" y="138441"/>
            <a:ext cx="2099733" cy="276999"/>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Calibri" panose="020F0502020204030204" pitchFamily="34" charset="0"/>
              </a:rPr>
              <a:t>Mining Social-Network Graphs</a:t>
            </a:r>
            <a:endParaRPr kumimoji="0" lang="ko-KR" altLang="en-US" sz="1200" b="0" i="0" u="none" strike="noStrike" kern="1200" cap="none" spc="0" normalizeH="0" baseline="0" noProof="0" dirty="0">
              <a:ln>
                <a:noFill/>
              </a:ln>
              <a:solidFill>
                <a:prstClr val="white"/>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3" name="文本框 2">
            <a:extLst>
              <a:ext uri="{FF2B5EF4-FFF2-40B4-BE49-F238E27FC236}">
                <a16:creationId xmlns:a16="http://schemas.microsoft.com/office/drawing/2014/main" id="{DB564288-A2A8-9F2C-E4E9-5A85B058E87B}"/>
              </a:ext>
            </a:extLst>
          </p:cNvPr>
          <p:cNvSpPr txBox="1"/>
          <p:nvPr/>
        </p:nvSpPr>
        <p:spPr>
          <a:xfrm>
            <a:off x="3623734" y="67254"/>
            <a:ext cx="2353732" cy="430887"/>
          </a:xfrm>
          <a:prstGeom prst="rect">
            <a:avLst/>
          </a:prstGeom>
          <a:noFill/>
        </p:spPr>
        <p:txBody>
          <a:bodyPr wrap="squar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10.2 </a:t>
            </a:r>
            <a:r>
              <a:rPr kumimoji="0" lang="en-US" altLang="ko-KR" sz="1100" b="0" i="0" u="none" strike="noStrike" kern="1200" cap="none" spc="0" normalizeH="0" baseline="0" noProof="0" dirty="0">
                <a:ln>
                  <a:noFill/>
                </a:ln>
                <a:solidFill>
                  <a:prstClr val="black"/>
                </a:solidFill>
                <a:effectLst/>
                <a:uLnTx/>
                <a:uFillTx/>
                <a:latin typeface="맑은 고딕" panose="02110004020202020204"/>
                <a:ea typeface="맑은 고딕" panose="020B0503020000020004" pitchFamily="50" charset="-127"/>
                <a:cs typeface="+mn-cs"/>
              </a:rPr>
              <a:t>Clustering of Social-Network Graphs</a:t>
            </a:r>
            <a:endParaRPr kumimoji="0" lang="ko-KR" altLang="en-US" sz="1100" b="0" i="0" u="none" strike="noStrike" kern="1200" cap="none" spc="0" normalizeH="0" baseline="0" noProof="0" dirty="0">
              <a:ln>
                <a:noFill/>
              </a:ln>
              <a:solidFill>
                <a:prstClr val="black"/>
              </a:solidFill>
              <a:effectLst/>
              <a:uLnTx/>
              <a:uFillTx/>
              <a:latin typeface="Calibri" panose="020F0502020204030204" pitchFamily="34" charset="0"/>
              <a:ea typeface="맑은 고딕" panose="020B0503020000020004" pitchFamily="50" charset="-127"/>
              <a:cs typeface="Calibri" panose="020F0502020204030204" pitchFamily="34" charset="0"/>
            </a:endParaRPr>
          </a:p>
        </p:txBody>
      </p:sp>
      <p:sp>
        <p:nvSpPr>
          <p:cNvPr id="4" name="文本框 3">
            <a:extLst>
              <a:ext uri="{FF2B5EF4-FFF2-40B4-BE49-F238E27FC236}">
                <a16:creationId xmlns:a16="http://schemas.microsoft.com/office/drawing/2014/main" id="{DEF90862-E8DB-8498-90BD-1F080BBD971D}"/>
              </a:ext>
            </a:extLst>
          </p:cNvPr>
          <p:cNvSpPr txBox="1"/>
          <p:nvPr/>
        </p:nvSpPr>
        <p:spPr>
          <a:xfrm>
            <a:off x="3418943" y="1383045"/>
            <a:ext cx="5354110" cy="589072"/>
          </a:xfrm>
          <a:prstGeom prst="rect">
            <a:avLst/>
          </a:prstGeom>
          <a:noFill/>
        </p:spPr>
        <p:txBody>
          <a:bodyPr wrap="square" rtlCol="0">
            <a:spAutoFit/>
          </a:bodyPr>
          <a:lstStyle/>
          <a:p>
            <a:pPr marL="0" marR="0" lvl="0" indent="0" algn="l" defTabSz="914400" rtl="0" eaLnBrk="1" fontAlgn="auto" latinLnBrk="1" hangingPunct="1">
              <a:lnSpc>
                <a:spcPct val="150000"/>
              </a:lnSpc>
              <a:spcBef>
                <a:spcPts val="0"/>
              </a:spcBef>
              <a:spcAft>
                <a:spcPts val="0"/>
              </a:spcAft>
              <a:buClrTx/>
              <a:buSzTx/>
              <a:buFontTx/>
              <a:buNone/>
              <a:tabLst/>
              <a:defRPr/>
            </a:pPr>
            <a:r>
              <a:rPr lang="en-US" altLang="ko-KR" sz="2400" b="1" dirty="0">
                <a:latin typeface="Calibri" panose="020F0502020204030204" pitchFamily="34" charset="0"/>
                <a:ea typeface="Calibri" panose="020F0502020204030204" pitchFamily="34" charset="0"/>
                <a:cs typeface="Calibri" panose="020F0502020204030204" pitchFamily="34" charset="0"/>
              </a:rPr>
              <a:t>Using Betweenness to Find Communities</a:t>
            </a:r>
            <a:endParaRPr kumimoji="0" lang="en-US" altLang="ko-KR"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文本框 5">
            <a:extLst>
              <a:ext uri="{FF2B5EF4-FFF2-40B4-BE49-F238E27FC236}">
                <a16:creationId xmlns:a16="http://schemas.microsoft.com/office/drawing/2014/main" id="{97C3CA1D-C86F-5E0D-B178-FC2EA75ADA20}"/>
              </a:ext>
            </a:extLst>
          </p:cNvPr>
          <p:cNvSpPr txBox="1"/>
          <p:nvPr/>
        </p:nvSpPr>
        <p:spPr>
          <a:xfrm>
            <a:off x="267489" y="2099705"/>
            <a:ext cx="11657017" cy="4619854"/>
          </a:xfrm>
          <a:prstGeom prst="rect">
            <a:avLst/>
          </a:prstGeom>
          <a:noFill/>
        </p:spPr>
        <p:txBody>
          <a:bodyPr wrap="square" rtlCol="0">
            <a:spAutoFit/>
          </a:bodyPr>
          <a:lstStyle/>
          <a:p>
            <a:pPr marL="342900" marR="0" lvl="0" indent="-342900" algn="l" defTabSz="914400" rtl="0" eaLnBrk="1" fontAlgn="auto" latinLnBrk="1" hangingPunct="1">
              <a:lnSpc>
                <a:spcPct val="150000"/>
              </a:lnSpc>
              <a:spcBef>
                <a:spcPts val="0"/>
              </a:spcBef>
              <a:spcAft>
                <a:spcPts val="0"/>
              </a:spcAft>
              <a:buClrTx/>
              <a:buSzTx/>
              <a:buFont typeface="+mj-ea"/>
              <a:buAutoNum type="circleNumDbPlain"/>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Edge Betweenness as a Measure:</a:t>
            </a: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Betweenness scores for edges act somewhat like a distance measure between nodes, though they are not true distances.</a:t>
            </a: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They are undefined for unconnected node pairs and may not satisfy the triangle inequality.</a:t>
            </a:r>
          </a:p>
          <a:p>
            <a:pPr marL="342900" marR="0" lvl="0" indent="-342900" algn="l" defTabSz="914400" rtl="0" eaLnBrk="1" fontAlgn="auto" latinLnBrk="1" hangingPunct="1">
              <a:lnSpc>
                <a:spcPct val="150000"/>
              </a:lnSpc>
              <a:spcBef>
                <a:spcPts val="0"/>
              </a:spcBef>
              <a:spcAft>
                <a:spcPts val="0"/>
              </a:spcAft>
              <a:buClrTx/>
              <a:buSzTx/>
              <a:buFont typeface="+mj-ea"/>
              <a:buAutoNum type="circleNumDbPlain" startAt="2"/>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Clustering by Adding Edges:</a:t>
            </a:r>
          </a:p>
          <a:p>
            <a:pPr marL="742950" lvl="1" indent="-285750">
              <a:lnSpc>
                <a:spcPct val="150000"/>
              </a:lnSpc>
              <a:buFont typeface="Arial" panose="020B0604020202020204" pitchFamily="34" charset="0"/>
              <a:buChar char="•"/>
              <a:defRPr/>
            </a:pPr>
            <a:r>
              <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rPr>
              <a:t>Edges are added in increasing order of betweenness scores.</a:t>
            </a:r>
          </a:p>
          <a:p>
            <a:pPr marL="742950" lvl="1" indent="-285750">
              <a:lnSpc>
                <a:spcPct val="150000"/>
              </a:lnSpc>
              <a:buFont typeface="Arial" panose="020B0604020202020204" pitchFamily="34" charset="0"/>
              <a:buChar char="•"/>
              <a:defRPr/>
            </a:pPr>
            <a:r>
              <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rPr>
              <a:t>At each step, the graph’s connected components represent clusters.</a:t>
            </a:r>
          </a:p>
          <a:p>
            <a:pPr marL="742950" lvl="1" indent="-285750">
              <a:lnSpc>
                <a:spcPct val="150000"/>
              </a:lnSpc>
              <a:buFont typeface="Arial" panose="020B0604020202020204" pitchFamily="34" charset="0"/>
              <a:buChar char="•"/>
              <a:defRPr/>
            </a:pPr>
            <a:r>
              <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rPr>
              <a:t>Allowing higher betweenness scores results in more edges and larger clusters.</a:t>
            </a:r>
          </a:p>
          <a:p>
            <a:pPr marL="342900" marR="0" lvl="0" indent="-342900" algn="l" defTabSz="914400" rtl="0" eaLnBrk="1" fontAlgn="auto" latinLnBrk="1" hangingPunct="1">
              <a:lnSpc>
                <a:spcPct val="150000"/>
              </a:lnSpc>
              <a:spcBef>
                <a:spcPts val="0"/>
              </a:spcBef>
              <a:spcAft>
                <a:spcPts val="0"/>
              </a:spcAft>
              <a:buClrTx/>
              <a:buSzTx/>
              <a:buFont typeface="+mj-ea"/>
              <a:buAutoNum type="circleNumDbPlain" startAt="3"/>
              <a:tabLst/>
              <a:defRPr/>
            </a:pPr>
            <a:r>
              <a:rPr kumimoji="0" lang="en-US" altLang="ko-KR" b="1" i="0" u="none" strike="noStrike" kern="1200" cap="none" spc="0" normalizeH="0" baseline="0" noProof="0" dirty="0">
                <a:ln>
                  <a:noFill/>
                </a:ln>
                <a:solidFill>
                  <a:srgbClr val="00B050"/>
                </a:solidFill>
                <a:effectLst/>
                <a:uLnTx/>
                <a:uFillTx/>
                <a:latin typeface="Calibri" panose="020F0502020204030204" pitchFamily="34" charset="0"/>
                <a:ea typeface="Calibri" panose="020F0502020204030204" pitchFamily="34" charset="0"/>
                <a:cs typeface="Calibri" panose="020F0502020204030204" pitchFamily="34" charset="0"/>
              </a:rPr>
              <a:t>Clustering by Removing Edges:</a:t>
            </a: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More commonly, clustering is done by removing edges with the highest betweenness scores.</a:t>
            </a:r>
            <a:endParaRPr lang="en-US" altLang="ko-KR" dirty="0">
              <a:solidFill>
                <a:prstClr val="black"/>
              </a:solidFill>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50000"/>
              </a:lnSpc>
              <a:buFont typeface="Arial" panose="020B0604020202020204" pitchFamily="34" charset="0"/>
              <a:buChar char="•"/>
              <a:defRPr/>
            </a:pPr>
            <a:r>
              <a:rPr kumimoji="0" lang="en-US" altLang="ko-KR"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process continues until the graph breaks into a desired number of connected components, forming clusters.</a:t>
            </a:r>
          </a:p>
        </p:txBody>
      </p:sp>
    </p:spTree>
    <p:extLst>
      <p:ext uri="{BB962C8B-B14F-4D97-AF65-F5344CB8AC3E}">
        <p14:creationId xmlns:p14="http://schemas.microsoft.com/office/powerpoint/2010/main" val="3942978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34343"/>
        </a:solidFill>
        <a:effectLst/>
      </p:bgPr>
    </p:bg>
    <p:spTree>
      <p:nvGrpSpPr>
        <p:cNvPr id="1" name="">
          <a:extLst>
            <a:ext uri="{FF2B5EF4-FFF2-40B4-BE49-F238E27FC236}">
              <a16:creationId xmlns:a16="http://schemas.microsoft.com/office/drawing/2014/main" id="{A624A0B5-9642-DEB5-BC38-667F4A3654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CF9E806-827C-36C1-8DC9-E9015A2B41F1}"/>
              </a:ext>
            </a:extLst>
          </p:cNvPr>
          <p:cNvSpPr>
            <a:spLocks noGrp="1"/>
          </p:cNvSpPr>
          <p:nvPr>
            <p:ph type="title"/>
          </p:nvPr>
        </p:nvSpPr>
        <p:spPr>
          <a:xfrm>
            <a:off x="2010596" y="2766218"/>
            <a:ext cx="8170807" cy="1325563"/>
          </a:xfrm>
        </p:spPr>
        <p:txBody>
          <a:bodyPr>
            <a:normAutofit fontScale="90000"/>
          </a:bodyPr>
          <a:lstStyle/>
          <a:p>
            <a:r>
              <a:rPr lang="en-US" altLang="ko-KR" sz="8000" b="1" dirty="0">
                <a:solidFill>
                  <a:schemeClr val="bg1"/>
                </a:solidFill>
                <a:latin typeface="Calibri" panose="020F0502020204030204" pitchFamily="34" charset="0"/>
                <a:ea typeface="Calibri" panose="020F0502020204030204" pitchFamily="34" charset="0"/>
                <a:cs typeface="Calibri" panose="020F0502020204030204" pitchFamily="34" charset="0"/>
              </a:rPr>
              <a:t>Thanks for listening!</a:t>
            </a:r>
            <a:endParaRPr lang="ko-KR" altLang="en-US" sz="80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42683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600</TotalTime>
  <Words>1806</Words>
  <Application>Microsoft Office PowerPoint</Application>
  <PresentationFormat>宽屏</PresentationFormat>
  <Paragraphs>133</Paragraphs>
  <Slides>18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18</vt:i4>
      </vt:variant>
    </vt:vector>
  </HeadingPairs>
  <TitlesOfParts>
    <vt:vector size="24" baseType="lpstr">
      <vt:lpstr>맑은 고딕</vt:lpstr>
      <vt:lpstr>Arial</vt:lpstr>
      <vt:lpstr>Calibri</vt:lpstr>
      <vt:lpstr>Calibri Light</vt:lpstr>
      <vt:lpstr>Cambria Math</vt:lpstr>
      <vt:lpstr>Office 主题​​</vt:lpstr>
      <vt:lpstr>PowerPoint 演示文稿</vt:lpstr>
      <vt:lpstr>10.1 Social Networks as Graphs</vt:lpstr>
      <vt:lpstr>PowerPoint 演示文稿</vt:lpstr>
      <vt:lpstr>PowerPoint 演示文稿</vt:lpstr>
      <vt:lpstr>PowerPoint 演示文稿</vt:lpstr>
      <vt:lpstr>PowerPoint 演示文稿</vt:lpstr>
      <vt:lpstr>PowerPoint 演示文稿</vt:lpstr>
      <vt:lpstr>PowerPoint 演示文稿</vt:lpstr>
      <vt:lpstr>10.2 Clustering of Social-Network Graphs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미연 주</dc:creator>
  <cp:lastModifiedBy>미연 주</cp:lastModifiedBy>
  <cp:revision>65</cp:revision>
  <dcterms:created xsi:type="dcterms:W3CDTF">2024-12-03T01:09:58Z</dcterms:created>
  <dcterms:modified xsi:type="dcterms:W3CDTF">2024-12-09T02:04:23Z</dcterms:modified>
</cp:coreProperties>
</file>